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Proxima Nova"/>
      <p:regular r:id="rId63"/>
      <p:bold r:id="rId64"/>
      <p:italic r:id="rId65"/>
      <p:boldItalic r:id="rId66"/>
    </p:embeddedFont>
    <p:embeddedFont>
      <p:font typeface="Nunit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80">
          <p15:clr>
            <a:srgbClr val="747775"/>
          </p15:clr>
        </p15:guide>
        <p15:guide id="2" pos="5306">
          <p15:clr>
            <a:srgbClr val="747775"/>
          </p15:clr>
        </p15:guide>
        <p15:guide id="3" orient="horz" pos="17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A48F90-766A-4CB9-ACC6-7E40890A2968}">
  <a:tblStyle styleId="{CAA48F90-766A-4CB9-ACC6-7E40890A29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80" orient="horz"/>
        <p:guide pos="5306"/>
        <p:guide pos="17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Nunito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ProximaNova-bold.fntdata"/><Relationship Id="rId63" Type="http://schemas.openxmlformats.org/officeDocument/2006/relationships/font" Target="fonts/ProximaNova-regular.fntdata"/><Relationship Id="rId22" Type="http://schemas.openxmlformats.org/officeDocument/2006/relationships/slide" Target="slides/slide16.xml"/><Relationship Id="rId66" Type="http://schemas.openxmlformats.org/officeDocument/2006/relationships/font" Target="fonts/ProximaNova-boldItalic.fntdata"/><Relationship Id="rId21" Type="http://schemas.openxmlformats.org/officeDocument/2006/relationships/slide" Target="slides/slide15.xml"/><Relationship Id="rId65" Type="http://schemas.openxmlformats.org/officeDocument/2006/relationships/font" Target="fonts/ProximaNova-italic.fntdata"/><Relationship Id="rId24" Type="http://schemas.openxmlformats.org/officeDocument/2006/relationships/slide" Target="slides/slide18.xml"/><Relationship Id="rId68" Type="http://schemas.openxmlformats.org/officeDocument/2006/relationships/font" Target="fonts/Nunito-bold.fntdata"/><Relationship Id="rId23" Type="http://schemas.openxmlformats.org/officeDocument/2006/relationships/slide" Target="slides/slide17.xml"/><Relationship Id="rId67" Type="http://schemas.openxmlformats.org/officeDocument/2006/relationships/font" Target="fonts/Nunito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Nuni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bab1e6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bab1e6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dbab1e62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dbab1e62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48f5997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48f599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848f59970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848f59970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848f59970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848f59970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848f59970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848f59970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will jump into this later in our course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48f59970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48f59970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848f599706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848f599706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Briefly describe each of these components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75e4da2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f75e4da2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848f599706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848f599706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48f599706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848f599706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dea4d872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6dea4d872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dea4d8724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dea4d8724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75e4da2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f75e4da2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75e4da23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75e4da23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75e4da23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75e4da23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75e4da23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75e4da23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75e4da23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f75e4da23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5dbab1e62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5dbab1e62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dbab1e6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5dbab1e6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Check how he says it on week 1: Steps of an ML project to build your notes here.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848f59970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848f59970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Check how he says it on week 1: Steps of an ML project to build your notes here.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848f599706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848f59970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Check how he says it on week 1: Steps of an ML project to build your notes here.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848f599706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848f599706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Check how he says it on week 1: Steps of an ML project to build your notes here.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5dbab1e62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5dbab1e62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6dea4d8724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6dea4d8724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6dea4d872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6dea4d872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6dea4d8724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6dea4d8724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dea4d8724_1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dea4d8724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dbab1e62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5dbab1e62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You spell with a right pronanciation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dea4d8724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6dea4d8724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848f599706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848f59970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6dea4d8724_1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6dea4d8724_1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75e4da23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75e4da23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5dbab1e62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5dbab1e62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will talk about this later in more detail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848f599706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848f599706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will talk about this later in more detail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848f599706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848f599706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will talk about this later in more detail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848f599706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848f599706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will talk about this later in more detail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5dbab1e62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5dbab1e62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 will talk about this later in more detail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5db6420d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5db6420d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5db6420d2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5db6420d2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848f599706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848f599706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db6420d2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5db6420d2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5db6420d2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5db6420d2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5db6420d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5db6420d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db6420d2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db6420d2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Week 1: Deployment -&gt; deployment patterns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848f599706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848f599706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Week 1: Deployment -&gt; deployment patterns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db6420d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db6420d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5db6420d2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5db6420d2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5db6420d2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5db6420d2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5db6420d2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5db6420d2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5db6420d2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5db6420d2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f75e4da23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2f75e4da23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f75e4da23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f75e4da23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f75e4da23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f75e4da23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f75e4da23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f75e4da23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848f599706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848f599706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for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Course 2: </a:t>
            </a:r>
            <a:r>
              <a:rPr lang="el">
                <a:solidFill>
                  <a:srgbClr val="FF00FF"/>
                </a:solidFill>
              </a:rPr>
              <a:t>Intro to MLOps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75" y="4041963"/>
            <a:ext cx="8547614" cy="1211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0" y="4435375"/>
            <a:ext cx="2750100" cy="61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Filotas Theodosiou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225" y="4152422"/>
            <a:ext cx="1101225" cy="9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150850"/>
            <a:ext cx="85206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First of all, any questions?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did we learn in the first lecture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50"/>
            <a:ext cx="4961057" cy="50613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5441050" y="1069875"/>
            <a:ext cx="3222000" cy="20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AI value creation by 2030</a:t>
            </a:r>
            <a:endParaRPr b="1"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l" sz="2500">
                <a:latin typeface="Nunito"/>
                <a:ea typeface="Nunito"/>
                <a:cs typeface="Nunito"/>
                <a:sym typeface="Nunito"/>
              </a:rPr>
              <a:t>13 trillion USD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l" sz="1800">
                <a:latin typeface="Nunito"/>
                <a:ea typeface="Nunito"/>
                <a:cs typeface="Nunito"/>
                <a:sym typeface="Nunito"/>
              </a:rPr>
              <a:t>Most of it will be outside the consumer internet industry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 ML Systems Design?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ML algorithms is the less problematic part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The hard part is to make algorithms work with other parts in order to solve real-world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Most failures in real-world applications are caused by non-ML components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Introduction to MLOps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MLOps </a:t>
            </a:r>
            <a:r>
              <a:rPr lang="el" sz="1600"/>
              <a:t>(Machine Learning Operations) is a set of practises for collaboration and communication between data scientists and operations professionals that aims to deploy and maintain Machine Learning models in production reliably and efficiently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600" y="2649226"/>
            <a:ext cx="7978825" cy="16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28641" l="15460" r="15886" t="29429"/>
          <a:stretch/>
        </p:blipFill>
        <p:spPr>
          <a:xfrm>
            <a:off x="1896075" y="2382875"/>
            <a:ext cx="2612300" cy="18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Example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4">
            <a:alphaModFix/>
          </a:blip>
          <a:srcRect b="0" l="30842" r="31863" t="0"/>
          <a:stretch/>
        </p:blipFill>
        <p:spPr>
          <a:xfrm>
            <a:off x="405100" y="1999237"/>
            <a:ext cx="1310526" cy="26355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180575" y="4591350"/>
            <a:ext cx="185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Photo from a camera</a:t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-52500" y="907025"/>
            <a:ext cx="7636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Use computer vision on a production line to inspect if phones have defects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Detect scratches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Add a boundary box </a:t>
            </a:r>
            <a:endParaRPr/>
          </a:p>
          <a:p>
            <a:pPr indent="-186099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l">
                <a:solidFill>
                  <a:srgbClr val="FF0000"/>
                </a:solidFill>
              </a:rPr>
              <a:t>How do you use this model in production?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1104325" y="3801475"/>
            <a:ext cx="335900" cy="309225"/>
          </a:xfrm>
          <a:custGeom>
            <a:rect b="b" l="l" r="r" t="t"/>
            <a:pathLst>
              <a:path extrusionOk="0" h="12369" w="13436">
                <a:moveTo>
                  <a:pt x="0" y="12281"/>
                </a:moveTo>
                <a:cubicBezTo>
                  <a:pt x="1540" y="12211"/>
                  <a:pt x="7488" y="12702"/>
                  <a:pt x="9237" y="11862"/>
                </a:cubicBezTo>
                <a:cubicBezTo>
                  <a:pt x="10986" y="11022"/>
                  <a:pt x="10426" y="9203"/>
                  <a:pt x="10496" y="7243"/>
                </a:cubicBezTo>
                <a:cubicBezTo>
                  <a:pt x="10566" y="5284"/>
                  <a:pt x="9167" y="315"/>
                  <a:pt x="9657" y="105"/>
                </a:cubicBezTo>
                <a:cubicBezTo>
                  <a:pt x="10147" y="-105"/>
                  <a:pt x="12806" y="5003"/>
                  <a:pt x="13436" y="5983"/>
                </a:cubicBezTo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8" name="Google Shape;98;p19"/>
          <p:cNvSpPr/>
          <p:nvPr/>
        </p:nvSpPr>
        <p:spPr>
          <a:xfrm>
            <a:off x="1036025" y="3719838"/>
            <a:ext cx="472500" cy="47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6583675" y="1988125"/>
            <a:ext cx="2466900" cy="285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6583675" y="1999325"/>
            <a:ext cx="1752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Edge Device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6846025" y="2408825"/>
            <a:ext cx="1920900" cy="218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6846025" y="2434263"/>
            <a:ext cx="12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Inspection Software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5">
            <a:alphaModFix/>
          </a:blip>
          <a:srcRect b="33457" l="10604" r="11761" t="26400"/>
          <a:stretch/>
        </p:blipFill>
        <p:spPr>
          <a:xfrm>
            <a:off x="7177276" y="3199476"/>
            <a:ext cx="5657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7062975" y="3129325"/>
            <a:ext cx="153270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7758875" y="3187000"/>
            <a:ext cx="1091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Camera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7275" y="3824381"/>
            <a:ext cx="565700" cy="5190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7062975" y="3801475"/>
            <a:ext cx="153270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627875" y="3772950"/>
            <a:ext cx="1091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Control Software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71800" y="3107569"/>
            <a:ext cx="472500" cy="78750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2944300" y="3196050"/>
            <a:ext cx="997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Prediction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Server</a:t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2408975" y="3119425"/>
            <a:ext cx="1605600" cy="787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4532838" y="3702025"/>
            <a:ext cx="1794900" cy="30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 rot="10800000">
            <a:off x="4454138" y="3006975"/>
            <a:ext cx="1794900" cy="30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5078675" y="2710875"/>
            <a:ext cx="5658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API</a:t>
            </a:r>
            <a:endParaRPr b="1" sz="1600"/>
          </a:p>
        </p:txBody>
      </p:sp>
      <p:sp>
        <p:nvSpPr>
          <p:cNvPr id="115" name="Google Shape;115;p19"/>
          <p:cNvSpPr txBox="1"/>
          <p:nvPr/>
        </p:nvSpPr>
        <p:spPr>
          <a:xfrm>
            <a:off x="4890825" y="3895075"/>
            <a:ext cx="13104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/>
              <a:t>Predict</a:t>
            </a:r>
            <a:endParaRPr b="1" sz="1600"/>
          </a:p>
        </p:txBody>
      </p:sp>
      <p:sp>
        <p:nvSpPr>
          <p:cNvPr id="116" name="Google Shape;116;p19"/>
          <p:cNvSpPr txBox="1"/>
          <p:nvPr/>
        </p:nvSpPr>
        <p:spPr>
          <a:xfrm>
            <a:off x="2282825" y="4394850"/>
            <a:ext cx="18579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model: F(X) =&gt; Y</a:t>
            </a:r>
            <a:endParaRPr/>
          </a:p>
        </p:txBody>
      </p:sp>
      <p:cxnSp>
        <p:nvCxnSpPr>
          <p:cNvPr id="117" name="Google Shape;117;p19"/>
          <p:cNvCxnSpPr/>
          <p:nvPr/>
        </p:nvCxnSpPr>
        <p:spPr>
          <a:xfrm>
            <a:off x="3098700" y="4110700"/>
            <a:ext cx="0" cy="4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9"/>
          <p:cNvSpPr/>
          <p:nvPr/>
        </p:nvSpPr>
        <p:spPr>
          <a:xfrm>
            <a:off x="3634050" y="2156075"/>
            <a:ext cx="409375" cy="356900"/>
          </a:xfrm>
          <a:custGeom>
            <a:rect b="b" l="l" r="r" t="t"/>
            <a:pathLst>
              <a:path extrusionOk="0" h="14276" w="16375">
                <a:moveTo>
                  <a:pt x="0" y="14276"/>
                </a:moveTo>
                <a:cubicBezTo>
                  <a:pt x="490" y="12457"/>
                  <a:pt x="210" y="5738"/>
                  <a:pt x="2939" y="3359"/>
                </a:cubicBezTo>
                <a:cubicBezTo>
                  <a:pt x="5668" y="980"/>
                  <a:pt x="14136" y="560"/>
                  <a:pt x="16375" y="0"/>
                </a:cubicBezTo>
              </a:path>
            </a:pathLst>
          </a:cu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stealth"/>
            <a:tailEnd len="med" w="med" type="none"/>
          </a:ln>
        </p:spPr>
      </p:sp>
      <p:sp>
        <p:nvSpPr>
          <p:cNvPr id="119" name="Google Shape;119;p19"/>
          <p:cNvSpPr txBox="1"/>
          <p:nvPr/>
        </p:nvSpPr>
        <p:spPr>
          <a:xfrm>
            <a:off x="4463300" y="2051100"/>
            <a:ext cx="47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4014575" y="1923250"/>
            <a:ext cx="1490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server</a:t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8167175" y="2749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1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644475" y="2696025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2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823600" y="2749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3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161575" y="3421100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4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7799125" y="4343425"/>
            <a:ext cx="275100" cy="309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1952750" y="1868450"/>
            <a:ext cx="7147800" cy="3275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6772625" y="795825"/>
            <a:ext cx="2204400" cy="48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A complete ML system</a:t>
            </a:r>
            <a:endParaRPr sz="1500"/>
          </a:p>
        </p:txBody>
      </p:sp>
      <p:cxnSp>
        <p:nvCxnSpPr>
          <p:cNvPr id="128" name="Google Shape;128;p19"/>
          <p:cNvCxnSpPr>
            <a:stCxn id="127" idx="2"/>
          </p:cNvCxnSpPr>
          <p:nvPr/>
        </p:nvCxnSpPr>
        <p:spPr>
          <a:xfrm>
            <a:off x="7874825" y="1278825"/>
            <a:ext cx="10500" cy="5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requirements surrounding ML infrastructure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9305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152400" y="4828150"/>
            <a:ext cx="7578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000"/>
              <a:t>D. Sculley et al NIPS 2015: Hidden Technical Dept in Machine Learning Systems</a:t>
            </a:r>
            <a:endParaRPr sz="1000"/>
          </a:p>
        </p:txBody>
      </p:sp>
      <p:sp>
        <p:nvSpPr>
          <p:cNvPr id="136" name="Google Shape;136;p20"/>
          <p:cNvSpPr txBox="1"/>
          <p:nvPr/>
        </p:nvSpPr>
        <p:spPr>
          <a:xfrm>
            <a:off x="233025" y="4255450"/>
            <a:ext cx="789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Requires the collaboration of different teams like </a:t>
            </a:r>
            <a:r>
              <a:rPr lang="el" sz="1500" u="sng"/>
              <a:t>Project Managers, Data Analysts, Data Engineers, Data scientists and ML engineers</a:t>
            </a:r>
            <a:endParaRPr sz="1500" u="sn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142" name="Google Shape;142;p21"/>
          <p:cNvGraphicFramePr/>
          <p:nvPr/>
        </p:nvGraphicFramePr>
        <p:xfrm>
          <a:off x="562263" y="1369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{CAA48F90-766A-4CB9-ACC6-7E40890A2968}</a:tableStyleId>
              </a:tblPr>
              <a:tblGrid>
                <a:gridCol w="2014150"/>
                <a:gridCol w="2523600"/>
                <a:gridCol w="2906900"/>
              </a:tblGrid>
              <a:tr h="47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Research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Production</a:t>
                      </a:r>
                      <a:endParaRPr b="1" sz="1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Objectives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Good Model Performance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Different Managers -&gt; Different Objectives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Computational priority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Not this important.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Fast. Users should be happy.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Data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Static -&gt; Fixed Dataset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Constantly changing (possibly daily)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Fairness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Good to have (sadly)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Important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Interpretability*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Good to have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3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Important</a:t>
                      </a:r>
                      <a:endParaRPr sz="13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43" name="Google Shape;14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in research vs. in production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are we going to talk about today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lifecycle of a ML system</a:t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25" y="1305626"/>
            <a:ext cx="7978825" cy="16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442975" y="3153275"/>
            <a:ext cx="83892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We are going to explain every stage step by step!</a:t>
            </a:r>
            <a:endParaRPr sz="1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10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in production: expectation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675175"/>
            <a:ext cx="8520600" cy="3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Collect data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Train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Deploy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t/>
            </a:r>
            <a:endParaRPr sz="1300"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375" y="1484800"/>
            <a:ext cx="4032900" cy="18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7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in production: reality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647850"/>
            <a:ext cx="8520600" cy="4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Choose a metric to optimize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Collect data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Train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Realize many labels are wrong -&gt; relabel data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Train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Model performs poorly on one class -&gt; collect more data for that class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Train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Model performs poorly on most recent data -&gt; collect more recent data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Train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Deploy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Dream about $$$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Wake up at 2am to complaints that model biases against one group -&gt; revert to older version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Get more data, train more, do more testing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Deploy model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Pray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Model performs well but revenue decreasing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Cry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Choose a different metric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l" sz="1300"/>
              <a:t>Start over</a:t>
            </a:r>
            <a:endParaRPr sz="1300"/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5469600" y="950425"/>
            <a:ext cx="2609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Step 15 and 17 are essential</a:t>
            </a:r>
            <a:endParaRPr sz="170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Taxonomy of Data Disciplines: 2019</a:t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6500" y="2202162"/>
            <a:ext cx="1095000" cy="13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707900" y="1500600"/>
            <a:ext cx="40956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Data Scientist: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His role in our company: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Data Collection &amp; Cleaning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Exploratory Data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Model Development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Prototype Deployment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Communication &amp; Reporting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Taxonomy of Data Disciplines: 2024</a:t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150" y="1367941"/>
            <a:ext cx="1236925" cy="1588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100" y="1367950"/>
            <a:ext cx="1262047" cy="15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875" y="1367950"/>
            <a:ext cx="1236925" cy="158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129313" y="3158825"/>
            <a:ext cx="2630700" cy="1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>
                <a:solidFill>
                  <a:schemeClr val="dk2"/>
                </a:solidFill>
              </a:rPr>
              <a:t>Data Scientist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Business Understanding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Data Analysis for 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Modelling 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Talk to Customer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3051288" y="3158825"/>
            <a:ext cx="2630700" cy="1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>
                <a:solidFill>
                  <a:schemeClr val="dk2"/>
                </a:solidFill>
              </a:rPr>
              <a:t>ML Engineer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Model Deployment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Model </a:t>
            </a:r>
            <a:r>
              <a:rPr lang="el" sz="1500">
                <a:solidFill>
                  <a:schemeClr val="dk2"/>
                </a:solidFill>
              </a:rPr>
              <a:t>Scaling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System Integration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Monitor &amp; Maintenance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6201602" y="3218700"/>
            <a:ext cx="2942400" cy="1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>
                <a:solidFill>
                  <a:schemeClr val="dk2"/>
                </a:solidFill>
              </a:rPr>
              <a:t>Data Engineer</a:t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Data Collection &amp; Storage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Ensure Data Quality</a:t>
            </a:r>
            <a:endParaRPr sz="1500">
              <a:solidFill>
                <a:schemeClr val="dk2"/>
              </a:solidFill>
            </a:endParaRPr>
          </a:p>
          <a:p>
            <a:pPr indent="-276225" lvl="0" marL="36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Build Data Pipelines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l"/>
              <a:t>Taxonomy of Data Disciplines: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28"/>
          <p:cNvCxnSpPr/>
          <p:nvPr/>
        </p:nvCxnSpPr>
        <p:spPr>
          <a:xfrm>
            <a:off x="2237050" y="2036000"/>
            <a:ext cx="0" cy="20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6" name="Google Shape;196;p28"/>
          <p:cNvCxnSpPr/>
          <p:nvPr/>
        </p:nvCxnSpPr>
        <p:spPr>
          <a:xfrm rot="10800000">
            <a:off x="2236950" y="4067900"/>
            <a:ext cx="434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7" name="Google Shape;197;p28"/>
          <p:cNvSpPr txBox="1"/>
          <p:nvPr/>
        </p:nvSpPr>
        <p:spPr>
          <a:xfrm>
            <a:off x="3680650" y="4142575"/>
            <a:ext cx="1454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Engineering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28"/>
          <p:cNvSpPr txBox="1"/>
          <p:nvPr/>
        </p:nvSpPr>
        <p:spPr>
          <a:xfrm rot="-5400000">
            <a:off x="1346225" y="2827800"/>
            <a:ext cx="1017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Science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2269125" y="2057400"/>
            <a:ext cx="2459400" cy="125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3607175" y="2742225"/>
            <a:ext cx="2706600" cy="12510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2414838" y="2169525"/>
            <a:ext cx="1261800" cy="572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Science</a:t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5005313" y="3359175"/>
            <a:ext cx="1261800" cy="572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Engineering</a:t>
            </a:r>
            <a:endParaRPr/>
          </a:p>
        </p:txBody>
      </p:sp>
      <p:sp>
        <p:nvSpPr>
          <p:cNvPr id="203" name="Google Shape;203;p28"/>
          <p:cNvSpPr/>
          <p:nvPr/>
        </p:nvSpPr>
        <p:spPr>
          <a:xfrm>
            <a:off x="3607163" y="2765600"/>
            <a:ext cx="1261800" cy="572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Engineering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4000025" y="2036000"/>
            <a:ext cx="10053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dk2"/>
                </a:solidFill>
              </a:rPr>
              <a:t>MLops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5308475" y="2742225"/>
            <a:ext cx="10053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dk2"/>
                </a:solidFill>
              </a:rPr>
              <a:t>DataOps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Taxonomy of Data Disciplines: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9"/>
          <p:cNvCxnSpPr/>
          <p:nvPr/>
        </p:nvCxnSpPr>
        <p:spPr>
          <a:xfrm>
            <a:off x="2237050" y="2036000"/>
            <a:ext cx="0" cy="20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2" name="Google Shape;212;p29"/>
          <p:cNvCxnSpPr/>
          <p:nvPr/>
        </p:nvCxnSpPr>
        <p:spPr>
          <a:xfrm rot="10800000">
            <a:off x="2236950" y="4067900"/>
            <a:ext cx="434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3" name="Google Shape;213;p29"/>
          <p:cNvSpPr txBox="1"/>
          <p:nvPr/>
        </p:nvSpPr>
        <p:spPr>
          <a:xfrm>
            <a:off x="3680650" y="4142575"/>
            <a:ext cx="14544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Engineering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 rot="-5400000">
            <a:off x="1346225" y="2827800"/>
            <a:ext cx="10170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Science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2269125" y="2057400"/>
            <a:ext cx="2459400" cy="125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"/>
          <p:cNvSpPr/>
          <p:nvPr/>
        </p:nvSpPr>
        <p:spPr>
          <a:xfrm>
            <a:off x="3607175" y="2742225"/>
            <a:ext cx="2706600" cy="12510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9"/>
          <p:cNvSpPr/>
          <p:nvPr/>
        </p:nvSpPr>
        <p:spPr>
          <a:xfrm>
            <a:off x="2414838" y="2169525"/>
            <a:ext cx="1261800" cy="572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Science</a:t>
            </a:r>
            <a:endParaRPr/>
          </a:p>
        </p:txBody>
      </p:sp>
      <p:sp>
        <p:nvSpPr>
          <p:cNvPr id="218" name="Google Shape;218;p29"/>
          <p:cNvSpPr/>
          <p:nvPr/>
        </p:nvSpPr>
        <p:spPr>
          <a:xfrm>
            <a:off x="5005313" y="3359175"/>
            <a:ext cx="1261800" cy="572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Engineering</a:t>
            </a:r>
            <a:endParaRPr/>
          </a:p>
        </p:txBody>
      </p:sp>
      <p:sp>
        <p:nvSpPr>
          <p:cNvPr id="219" name="Google Shape;219;p29"/>
          <p:cNvSpPr/>
          <p:nvPr/>
        </p:nvSpPr>
        <p:spPr>
          <a:xfrm>
            <a:off x="3607163" y="2765600"/>
            <a:ext cx="1261800" cy="5727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Engineering</a:t>
            </a:r>
            <a:endParaRPr/>
          </a:p>
        </p:txBody>
      </p:sp>
      <p:sp>
        <p:nvSpPr>
          <p:cNvPr id="220" name="Google Shape;220;p29"/>
          <p:cNvSpPr txBox="1"/>
          <p:nvPr/>
        </p:nvSpPr>
        <p:spPr>
          <a:xfrm>
            <a:off x="4000025" y="2036000"/>
            <a:ext cx="10053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dk2"/>
                </a:solidFill>
              </a:rPr>
              <a:t>MLops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5308475" y="2742225"/>
            <a:ext cx="10053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dk2"/>
                </a:solidFill>
              </a:rPr>
              <a:t>DataOps</a:t>
            </a:r>
            <a:endParaRPr b="1" sz="1300">
              <a:solidFill>
                <a:schemeClr val="dk2"/>
              </a:solidFill>
            </a:endParaRPr>
          </a:p>
        </p:txBody>
      </p:sp>
      <p:cxnSp>
        <p:nvCxnSpPr>
          <p:cNvPr id="222" name="Google Shape;222;p29"/>
          <p:cNvCxnSpPr/>
          <p:nvPr/>
        </p:nvCxnSpPr>
        <p:spPr>
          <a:xfrm rot="10800000">
            <a:off x="5122325" y="2241800"/>
            <a:ext cx="1027800" cy="5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9"/>
          <p:cNvSpPr/>
          <p:nvPr/>
        </p:nvSpPr>
        <p:spPr>
          <a:xfrm>
            <a:off x="3286325" y="1864800"/>
            <a:ext cx="1719000" cy="1636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Effectiveness of a Team</a:t>
            </a:r>
            <a:endParaRPr/>
          </a:p>
        </p:txBody>
      </p:sp>
      <p:pic>
        <p:nvPicPr>
          <p:cNvPr id="229" name="Google Shape;2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8185" y="2569037"/>
            <a:ext cx="1029613" cy="13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899" y="2569032"/>
            <a:ext cx="1050525" cy="1322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6375" y="1080007"/>
            <a:ext cx="1029613" cy="13179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0"/>
          <p:cNvCxnSpPr>
            <a:stCxn id="230" idx="0"/>
            <a:endCxn id="231" idx="1"/>
          </p:cNvCxnSpPr>
          <p:nvPr/>
        </p:nvCxnSpPr>
        <p:spPr>
          <a:xfrm rot="-5400000">
            <a:off x="5590662" y="1923432"/>
            <a:ext cx="830100" cy="461100"/>
          </a:xfrm>
          <a:prstGeom prst="curvedConnector2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3" name="Google Shape;233;p30"/>
          <p:cNvCxnSpPr>
            <a:stCxn id="231" idx="3"/>
            <a:endCxn id="229" idx="0"/>
          </p:cNvCxnSpPr>
          <p:nvPr/>
        </p:nvCxnSpPr>
        <p:spPr>
          <a:xfrm>
            <a:off x="7265988" y="1738961"/>
            <a:ext cx="567000" cy="830100"/>
          </a:xfrm>
          <a:prstGeom prst="curvedConnector2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34" name="Google Shape;234;p30"/>
          <p:cNvCxnSpPr>
            <a:stCxn id="230" idx="2"/>
            <a:endCxn id="229" idx="2"/>
          </p:cNvCxnSpPr>
          <p:nvPr/>
        </p:nvCxnSpPr>
        <p:spPr>
          <a:xfrm flipH="1" rot="-5400000">
            <a:off x="6803712" y="2863050"/>
            <a:ext cx="600" cy="2057700"/>
          </a:xfrm>
          <a:prstGeom prst="curvedConnector3">
            <a:avLst>
              <a:gd fmla="val 39689543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35" name="Google Shape;235;p30"/>
          <p:cNvSpPr txBox="1"/>
          <p:nvPr/>
        </p:nvSpPr>
        <p:spPr>
          <a:xfrm>
            <a:off x="558200" y="2187668"/>
            <a:ext cx="38817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Nobody can do everything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Mix of skills is the best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Attention to detail and quality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Continuous learning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00" y="1017726"/>
            <a:ext cx="7978825" cy="16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Machine Learning project lifecycle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Machine Learning project lifecycle</a:t>
            </a:r>
            <a:endParaRPr/>
          </a:p>
        </p:txBody>
      </p:sp>
      <p:pic>
        <p:nvPicPr>
          <p:cNvPr id="247" name="Google Shape;2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00" y="1017726"/>
            <a:ext cx="7978825" cy="16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444100" y="2827850"/>
            <a:ext cx="7820100" cy="23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Scoping:</a:t>
            </a:r>
            <a:r>
              <a:rPr lang="el"/>
              <a:t> Define the project and/or decide what you want to work on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Machine Learning project lifecycle</a:t>
            </a:r>
            <a:endParaRPr/>
          </a:p>
        </p:txBody>
      </p:sp>
      <p:pic>
        <p:nvPicPr>
          <p:cNvPr id="254" name="Google Shape;2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00" y="1017726"/>
            <a:ext cx="7978825" cy="16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/>
          <p:nvPr/>
        </p:nvSpPr>
        <p:spPr>
          <a:xfrm>
            <a:off x="444100" y="2827850"/>
            <a:ext cx="7820100" cy="23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Scoping:</a:t>
            </a:r>
            <a:r>
              <a:rPr lang="el"/>
              <a:t> Define the project and/or decide what you want to work on</a:t>
            </a:r>
            <a:endParaRPr/>
          </a:p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Data:</a:t>
            </a:r>
            <a:r>
              <a:rPr lang="el"/>
              <a:t> Collect or acquire the data you need for the algorithm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Machine Learning project lifecycle</a:t>
            </a:r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00" y="1017726"/>
            <a:ext cx="7978825" cy="16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 txBox="1"/>
          <p:nvPr/>
        </p:nvSpPr>
        <p:spPr>
          <a:xfrm>
            <a:off x="444100" y="2827850"/>
            <a:ext cx="7820100" cy="23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Scoping:</a:t>
            </a:r>
            <a:r>
              <a:rPr lang="el"/>
              <a:t> Define the project and/or decide what you want to work on</a:t>
            </a:r>
            <a:endParaRPr/>
          </a:p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Data:</a:t>
            </a:r>
            <a:r>
              <a:rPr lang="el"/>
              <a:t> Collect or acquire the data you need for the algorithm</a:t>
            </a:r>
            <a:endParaRPr/>
          </a:p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Modelling:</a:t>
            </a:r>
            <a:r>
              <a:rPr lang="el"/>
              <a:t> Train the model and perform error analysis.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00"/>
                </a:solidFill>
              </a:rPr>
              <a:t>    Note: This is an iterative task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The Machine Learning project lifecycle</a:t>
            </a:r>
            <a:endParaRPr/>
          </a:p>
        </p:txBody>
      </p:sp>
      <p:pic>
        <p:nvPicPr>
          <p:cNvPr id="268" name="Google Shape;2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00" y="1017726"/>
            <a:ext cx="7978825" cy="16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5"/>
          <p:cNvSpPr txBox="1"/>
          <p:nvPr/>
        </p:nvSpPr>
        <p:spPr>
          <a:xfrm>
            <a:off x="444100" y="2827850"/>
            <a:ext cx="7820100" cy="23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Scoping:</a:t>
            </a:r>
            <a:r>
              <a:rPr lang="el"/>
              <a:t> Define the project and/or decide what you want to work on</a:t>
            </a:r>
            <a:endParaRPr/>
          </a:p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Data:</a:t>
            </a:r>
            <a:r>
              <a:rPr lang="el"/>
              <a:t> Collect or acquire the data you need for the algorithm</a:t>
            </a:r>
            <a:endParaRPr/>
          </a:p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Modelling:</a:t>
            </a:r>
            <a:r>
              <a:rPr lang="el"/>
              <a:t> Train the model and perform error analysis.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00"/>
                </a:solidFill>
              </a:rPr>
              <a:t>    Note: This is an iterative task</a:t>
            </a:r>
            <a:endParaRPr>
              <a:solidFill>
                <a:srgbClr val="FF0000"/>
              </a:solidFill>
            </a:endParaRPr>
          </a:p>
          <a:p>
            <a:pPr indent="-1746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>
                <a:solidFill>
                  <a:srgbClr val="FF00FF"/>
                </a:solidFill>
              </a:rPr>
              <a:t>Deployment:</a:t>
            </a:r>
            <a:r>
              <a:rPr lang="el"/>
              <a:t> Deploy the system with a software in production and maintain it.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00"/>
                </a:solidFill>
              </a:rPr>
              <a:t>    Note: This is an iterative task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Case Study: Speech recognition</a:t>
            </a:r>
            <a:endParaRPr/>
          </a:p>
        </p:txBody>
      </p:sp>
      <p:pic>
        <p:nvPicPr>
          <p:cNvPr id="275" name="Google Shape;275;p36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6"/>
          <p:cNvSpPr txBox="1"/>
          <p:nvPr/>
        </p:nvSpPr>
        <p:spPr>
          <a:xfrm>
            <a:off x="191050" y="2767550"/>
            <a:ext cx="6571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000"/>
              <a:t>Scoping stage</a:t>
            </a:r>
            <a:endParaRPr b="1" sz="2000"/>
          </a:p>
        </p:txBody>
      </p:sp>
      <p:sp>
        <p:nvSpPr>
          <p:cNvPr id="277" name="Google Shape;277;p36"/>
          <p:cNvSpPr txBox="1"/>
          <p:nvPr/>
        </p:nvSpPr>
        <p:spPr>
          <a:xfrm>
            <a:off x="327500" y="3279250"/>
            <a:ext cx="78936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Decide to work on the speech recognition task for voice search &amp; classification</a:t>
            </a:r>
            <a:endParaRPr/>
          </a:p>
          <a:p>
            <a:pPr indent="-1841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Decide on the key metrics</a:t>
            </a:r>
            <a:endParaRPr/>
          </a:p>
          <a:p>
            <a:pPr indent="-193675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l"/>
              <a:t>Note: Metrics might be different compared to a normal data science project</a:t>
            </a:r>
            <a:endParaRPr/>
          </a:p>
          <a:p>
            <a:pPr indent="-193675" lvl="1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l"/>
              <a:t>Accuracy, latency, revenue</a:t>
            </a:r>
            <a:endParaRPr/>
          </a:p>
          <a:p>
            <a:pPr indent="-1841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/>
              <a:t>Estimate resources and timeline</a:t>
            </a:r>
            <a:endParaRPr/>
          </a:p>
        </p:txBody>
      </p:sp>
      <p:pic>
        <p:nvPicPr>
          <p:cNvPr id="278" name="Google Shape;2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1250" y="3695000"/>
            <a:ext cx="2172750" cy="14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Project objectives</a:t>
            </a:r>
            <a:endParaRPr/>
          </a:p>
        </p:txBody>
      </p:sp>
      <p:sp>
        <p:nvSpPr>
          <p:cNvPr id="284" name="Google Shape;28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l" sz="2000">
                <a:solidFill>
                  <a:schemeClr val="dk1"/>
                </a:solidFill>
              </a:rPr>
              <a:t>ML objectives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Performance (accuracy)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Latency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etc.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85" name="Google Shape;28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Project objectives</a:t>
            </a:r>
            <a:endParaRPr/>
          </a:p>
        </p:txBody>
      </p:sp>
      <p:sp>
        <p:nvSpPr>
          <p:cNvPr id="291" name="Google Shape;29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Char char="●"/>
            </a:pPr>
            <a:r>
              <a:rPr lang="el" sz="2000">
                <a:solidFill>
                  <a:srgbClr val="CCCCCC"/>
                </a:solidFill>
              </a:rPr>
              <a:t>ML objectives</a:t>
            </a:r>
            <a:endParaRPr sz="2000">
              <a:solidFill>
                <a:srgbClr val="CCCCCC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Char char="○"/>
            </a:pPr>
            <a:r>
              <a:rPr lang="el" sz="1600">
                <a:solidFill>
                  <a:srgbClr val="CCCCCC"/>
                </a:solidFill>
              </a:rPr>
              <a:t>Performance</a:t>
            </a:r>
            <a:endParaRPr sz="1600">
              <a:solidFill>
                <a:srgbClr val="CCCCCC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Char char="○"/>
            </a:pPr>
            <a:r>
              <a:rPr lang="el" sz="1600">
                <a:solidFill>
                  <a:srgbClr val="CCCCCC"/>
                </a:solidFill>
              </a:rPr>
              <a:t>Latency</a:t>
            </a:r>
            <a:endParaRPr sz="1600">
              <a:solidFill>
                <a:srgbClr val="CCCCCC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Char char="○"/>
            </a:pPr>
            <a:r>
              <a:rPr lang="el" sz="1600">
                <a:solidFill>
                  <a:srgbClr val="CCCCCC"/>
                </a:solidFill>
              </a:rPr>
              <a:t>etc.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l" sz="2000">
                <a:solidFill>
                  <a:schemeClr val="dk1"/>
                </a:solidFill>
              </a:rPr>
              <a:t>Business objectives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Cost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ROI (</a:t>
            </a:r>
            <a:r>
              <a:rPr lang="el" sz="1600">
                <a:solidFill>
                  <a:schemeClr val="dk1"/>
                </a:solidFill>
              </a:rPr>
              <a:t>Return on Investment)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Regulation &amp; compliance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2" name="Google Shape;29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Project objectives</a:t>
            </a:r>
            <a:endParaRPr/>
          </a:p>
        </p:txBody>
      </p:sp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311700" y="1152475"/>
            <a:ext cx="344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000"/>
              <a:buChar char="●"/>
            </a:pPr>
            <a:r>
              <a:rPr lang="el" sz="2000">
                <a:solidFill>
                  <a:srgbClr val="CCCCCC"/>
                </a:solidFill>
              </a:rPr>
              <a:t>ML objectives</a:t>
            </a:r>
            <a:endParaRPr sz="2000">
              <a:solidFill>
                <a:srgbClr val="CCCCCC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Char char="○"/>
            </a:pPr>
            <a:r>
              <a:rPr lang="el" sz="1600">
                <a:solidFill>
                  <a:srgbClr val="CCCCCC"/>
                </a:solidFill>
              </a:rPr>
              <a:t>Performance</a:t>
            </a:r>
            <a:endParaRPr sz="1600">
              <a:solidFill>
                <a:srgbClr val="CCCCCC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Char char="○"/>
            </a:pPr>
            <a:r>
              <a:rPr lang="el" sz="1600">
                <a:solidFill>
                  <a:srgbClr val="CCCCCC"/>
                </a:solidFill>
              </a:rPr>
              <a:t>Latency</a:t>
            </a:r>
            <a:endParaRPr sz="1600">
              <a:solidFill>
                <a:srgbClr val="CCCCCC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Char char="○"/>
            </a:pPr>
            <a:r>
              <a:rPr lang="el" sz="1600">
                <a:solidFill>
                  <a:srgbClr val="CCCCCC"/>
                </a:solidFill>
              </a:rPr>
              <a:t>etc.</a:t>
            </a:r>
            <a:endParaRPr sz="1600">
              <a:solidFill>
                <a:srgbClr val="CCCCCC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l" sz="2000">
                <a:solidFill>
                  <a:schemeClr val="dk1"/>
                </a:solidFill>
              </a:rPr>
              <a:t>Business objectives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Cost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ROI (Return on Investment)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l" sz="1600">
                <a:solidFill>
                  <a:schemeClr val="dk1"/>
                </a:solidFill>
              </a:rPr>
              <a:t>Regulation &amp; compliance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9" name="Google Shape;29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00" name="Google Shape;300;p39"/>
          <p:cNvSpPr txBox="1"/>
          <p:nvPr/>
        </p:nvSpPr>
        <p:spPr>
          <a:xfrm>
            <a:off x="3311100" y="1197400"/>
            <a:ext cx="55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1" name="Google Shape;30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925" y="-65675"/>
            <a:ext cx="5443074" cy="53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Business objectives</a:t>
            </a:r>
            <a:endParaRPr/>
          </a:p>
        </p:txBody>
      </p:sp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418625" y="148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l" sz="1900"/>
              <a:t>How can this ML project increase</a:t>
            </a:r>
            <a:r>
              <a:rPr i="1" lang="el" sz="1900"/>
              <a:t> profits directly or indirectly</a:t>
            </a:r>
            <a:r>
              <a:rPr i="1" lang="el" sz="1900"/>
              <a:t>?</a:t>
            </a:r>
            <a:endParaRPr i="1" sz="1900"/>
          </a:p>
          <a:p>
            <a:pPr indent="-3492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l" sz="1900">
                <a:solidFill>
                  <a:srgbClr val="FF00FF"/>
                </a:solidFill>
              </a:rPr>
              <a:t>Directly:</a:t>
            </a:r>
            <a:r>
              <a:rPr lang="el" sz="1900"/>
              <a:t> increasing sales (ads, conversion rates), cutting costs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l" sz="1900">
                <a:solidFill>
                  <a:srgbClr val="FF00FF"/>
                </a:solidFill>
              </a:rPr>
              <a:t>Indirectly: </a:t>
            </a:r>
            <a:r>
              <a:rPr lang="el" sz="1900"/>
              <a:t>increasing customer satisfaction, increasing time spent on a website</a:t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8" name="Google Shape;30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09" name="Google Shape;309;p40"/>
          <p:cNvSpPr txBox="1"/>
          <p:nvPr/>
        </p:nvSpPr>
        <p:spPr>
          <a:xfrm>
            <a:off x="1241100" y="3853150"/>
            <a:ext cx="6661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900"/>
              <a:t>This should be </a:t>
            </a:r>
            <a:r>
              <a:rPr lang="el" sz="1900"/>
              <a:t>carefully</a:t>
            </a:r>
            <a:r>
              <a:rPr lang="el" sz="1900"/>
              <a:t> defined in project scoping!!!</a:t>
            </a:r>
            <a:endParaRPr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311700" y="167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Case Study: Speech recognition</a:t>
            </a:r>
            <a:endParaRPr/>
          </a:p>
        </p:txBody>
      </p:sp>
      <p:sp>
        <p:nvSpPr>
          <p:cNvPr id="315" name="Google Shape;315;p41"/>
          <p:cNvSpPr txBox="1"/>
          <p:nvPr/>
        </p:nvSpPr>
        <p:spPr>
          <a:xfrm>
            <a:off x="191050" y="2632738"/>
            <a:ext cx="6571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900"/>
              <a:t>Data</a:t>
            </a:r>
            <a:r>
              <a:rPr b="1" lang="el" sz="1900"/>
              <a:t> Stage</a:t>
            </a:r>
            <a:endParaRPr b="1" sz="1900"/>
          </a:p>
        </p:txBody>
      </p:sp>
      <p:sp>
        <p:nvSpPr>
          <p:cNvPr id="316" name="Google Shape;316;p41"/>
          <p:cNvSpPr txBox="1"/>
          <p:nvPr/>
        </p:nvSpPr>
        <p:spPr>
          <a:xfrm>
            <a:off x="191050" y="3026400"/>
            <a:ext cx="4146300" cy="21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Define data needs and start collecting</a:t>
            </a:r>
            <a:endParaRPr sz="1500">
              <a:solidFill>
                <a:srgbClr val="FF00FF"/>
              </a:solidFill>
            </a:endParaRPr>
          </a:p>
          <a:p>
            <a:pPr indent="-19050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Is the data labeled </a:t>
            </a:r>
            <a:r>
              <a:rPr lang="el" sz="1500"/>
              <a:t>consistently</a:t>
            </a:r>
            <a:r>
              <a:rPr lang="el" sz="1500"/>
              <a:t>?</a:t>
            </a:r>
            <a:endParaRPr sz="1500"/>
          </a:p>
          <a:p>
            <a:pPr indent="-19050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How much silence before/after each clip?</a:t>
            </a:r>
            <a:endParaRPr sz="1500"/>
          </a:p>
          <a:p>
            <a:pPr indent="-200025" lvl="1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l" sz="1500"/>
              <a:t>100ms? 300ms? 500ms?</a:t>
            </a:r>
            <a:endParaRPr sz="1500"/>
          </a:p>
          <a:p>
            <a:pPr indent="-19050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How to normalize the volume?</a:t>
            </a:r>
            <a:endParaRPr sz="1500"/>
          </a:p>
          <a:p>
            <a:pPr indent="-200025" lvl="1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l" sz="1500"/>
              <a:t>Other people speak louder than others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	</a:t>
            </a:r>
            <a:endParaRPr sz="1500"/>
          </a:p>
        </p:txBody>
      </p:sp>
      <p:pic>
        <p:nvPicPr>
          <p:cNvPr id="317" name="Google Shape;3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1000"/>
            <a:ext cx="8462370" cy="16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1"/>
          <p:cNvSpPr txBox="1"/>
          <p:nvPr/>
        </p:nvSpPr>
        <p:spPr>
          <a:xfrm>
            <a:off x="5605925" y="3094750"/>
            <a:ext cx="2676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FF00FF"/>
                </a:solidFill>
              </a:rPr>
              <a:t>How to label properly?</a:t>
            </a:r>
            <a:endParaRPr sz="15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Hey, </a:t>
            </a:r>
            <a:r>
              <a:rPr lang="el" sz="1500"/>
              <a:t>today's</a:t>
            </a:r>
            <a:r>
              <a:rPr lang="el" sz="1500"/>
              <a:t> weather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Hey… </a:t>
            </a:r>
            <a:r>
              <a:rPr lang="el" sz="1500"/>
              <a:t>today's</a:t>
            </a:r>
            <a:r>
              <a:rPr lang="el" sz="1500"/>
              <a:t> weather.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Hey, </a:t>
            </a:r>
            <a:r>
              <a:rPr lang="el" sz="1500"/>
              <a:t>today's</a:t>
            </a:r>
            <a:r>
              <a:rPr lang="el" sz="1500"/>
              <a:t> weather?</a:t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sources</a:t>
            </a:r>
            <a:endParaRPr/>
          </a:p>
        </p:txBody>
      </p:sp>
      <p:sp>
        <p:nvSpPr>
          <p:cNvPr id="324" name="Google Shape;3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25" name="Google Shape;325;p42"/>
          <p:cNvSpPr txBox="1"/>
          <p:nvPr>
            <p:ph idx="1" type="body"/>
          </p:nvPr>
        </p:nvSpPr>
        <p:spPr>
          <a:xfrm>
            <a:off x="447075" y="1200050"/>
            <a:ext cx="8520600" cy="15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User generated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Systems generated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Internal databases: users, inventory, customer relationships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Third-party data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sources</a:t>
            </a:r>
            <a:endParaRPr/>
          </a:p>
        </p:txBody>
      </p:sp>
      <p:sp>
        <p:nvSpPr>
          <p:cNvPr id="331" name="Google Shape;331;p43"/>
          <p:cNvSpPr txBox="1"/>
          <p:nvPr>
            <p:ph idx="1" type="body"/>
          </p:nvPr>
        </p:nvSpPr>
        <p:spPr>
          <a:xfrm>
            <a:off x="447075" y="1200050"/>
            <a:ext cx="8520600" cy="15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User generated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Systems generated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Internal databases: users, inventory, customer relationships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Third-party data</a:t>
            </a:r>
            <a:endParaRPr sz="1600"/>
          </a:p>
        </p:txBody>
      </p:sp>
      <p:sp>
        <p:nvSpPr>
          <p:cNvPr id="332" name="Google Shape;33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graphicFrame>
        <p:nvGraphicFramePr>
          <p:cNvPr id="333" name="Google Shape;333;p43"/>
          <p:cNvGraphicFramePr/>
          <p:nvPr/>
        </p:nvGraphicFramePr>
        <p:xfrm>
          <a:off x="1027825" y="296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{CAA48F90-766A-4CB9-ACC6-7E40890A2968}</a:tableStyleId>
              </a:tblPr>
              <a:tblGrid>
                <a:gridCol w="3269600"/>
                <a:gridCol w="3226825"/>
              </a:tblGrid>
              <a:tr h="43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Users generated data</a:t>
                      </a:r>
                      <a:endParaRPr b="1" sz="1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l" sz="1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Systems generated data</a:t>
                      </a:r>
                      <a:endParaRPr b="1" sz="1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inputs or actions (click on button)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Logs, metadata, predictions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Easily mal-formatted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Easier to standardize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47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Need to be processed ASAP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OK to process periodically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(unless to detect problems ASAP)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Engineering Pipelines </a:t>
            </a:r>
            <a:endParaRPr/>
          </a:p>
        </p:txBody>
      </p:sp>
      <p:sp>
        <p:nvSpPr>
          <p:cNvPr id="339" name="Google Shape;33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40" name="Google Shape;340;p44"/>
          <p:cNvSpPr/>
          <p:nvPr/>
        </p:nvSpPr>
        <p:spPr>
          <a:xfrm>
            <a:off x="1490537" y="1859363"/>
            <a:ext cx="1483550" cy="2151425"/>
          </a:xfrm>
          <a:prstGeom prst="flowChartMagneticDisk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Raw Data in</a:t>
            </a:r>
            <a:endParaRPr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l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User Data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l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System Data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l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Other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1" name="Google Shape;341;p44"/>
          <p:cNvSpPr/>
          <p:nvPr/>
        </p:nvSpPr>
        <p:spPr>
          <a:xfrm>
            <a:off x="3401400" y="2606438"/>
            <a:ext cx="1689000" cy="925200"/>
          </a:xfrm>
          <a:prstGeom prst="homePlate">
            <a:avLst>
              <a:gd fmla="val 50000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Proxima Nova"/>
                <a:ea typeface="Proxima Nova"/>
                <a:cs typeface="Proxima Nova"/>
                <a:sym typeface="Proxima Nova"/>
              </a:rPr>
              <a:t>Extract,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Proxima Nova"/>
                <a:ea typeface="Proxima Nova"/>
                <a:cs typeface="Proxima Nova"/>
                <a:sym typeface="Proxima Nova"/>
              </a:rPr>
              <a:t>Transform,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latin typeface="Proxima Nova"/>
                <a:ea typeface="Proxima Nova"/>
                <a:cs typeface="Proxima Nova"/>
                <a:sym typeface="Proxima Nova"/>
              </a:rPr>
              <a:t>Load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2" name="Google Shape;342;p44"/>
          <p:cNvSpPr txBox="1"/>
          <p:nvPr/>
        </p:nvSpPr>
        <p:spPr>
          <a:xfrm>
            <a:off x="151975" y="4125800"/>
            <a:ext cx="827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latin typeface="Proxima Nova"/>
                <a:ea typeface="Proxima Nova"/>
                <a:cs typeface="Proxima Nova"/>
                <a:sym typeface="Proxima Nova"/>
              </a:rPr>
              <a:t>Transform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l">
                <a:latin typeface="Proxima Nova"/>
                <a:ea typeface="Proxima Nova"/>
                <a:cs typeface="Proxima Nova"/>
                <a:sym typeface="Proxima Nova"/>
              </a:rPr>
              <a:t>cleaning, validating, transposing, deriving values, joining from multiple sources, deduplicating, splitting, aggregating, etc.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3" name="Google Shape;343;p44"/>
          <p:cNvSpPr txBox="1"/>
          <p:nvPr/>
        </p:nvSpPr>
        <p:spPr>
          <a:xfrm>
            <a:off x="2454700" y="1286675"/>
            <a:ext cx="383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1"/>
                </a:solidFill>
              </a:rPr>
              <a:t>ETL (</a:t>
            </a:r>
            <a:r>
              <a:rPr b="1" lang="el" sz="1800" u="sng">
                <a:solidFill>
                  <a:schemeClr val="dk1"/>
                </a:solidFill>
              </a:rPr>
              <a:t>E</a:t>
            </a:r>
            <a:r>
              <a:rPr b="1" lang="el" sz="1800">
                <a:solidFill>
                  <a:schemeClr val="dk1"/>
                </a:solidFill>
              </a:rPr>
              <a:t>xtract, </a:t>
            </a:r>
            <a:r>
              <a:rPr b="1" lang="el" sz="1800" u="sng">
                <a:solidFill>
                  <a:schemeClr val="dk1"/>
                </a:solidFill>
              </a:rPr>
              <a:t>T</a:t>
            </a:r>
            <a:r>
              <a:rPr b="1" lang="el" sz="1800">
                <a:solidFill>
                  <a:schemeClr val="dk1"/>
                </a:solidFill>
              </a:rPr>
              <a:t>ransform, </a:t>
            </a:r>
            <a:r>
              <a:rPr b="1" lang="el" sz="1800" u="sng">
                <a:solidFill>
                  <a:schemeClr val="dk1"/>
                </a:solidFill>
              </a:rPr>
              <a:t>L</a:t>
            </a:r>
            <a:r>
              <a:rPr b="1" lang="el" sz="1800">
                <a:solidFill>
                  <a:schemeClr val="dk1"/>
                </a:solidFill>
              </a:rPr>
              <a:t>oad)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5385613" y="1859375"/>
            <a:ext cx="1483550" cy="2266425"/>
          </a:xfrm>
          <a:prstGeom prst="flowChartMagneticDisk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  <a:latin typeface="Proxima Nova"/>
                <a:ea typeface="Proxima Nova"/>
                <a:cs typeface="Proxima Nova"/>
                <a:sym typeface="Proxima Nova"/>
              </a:rPr>
              <a:t>Clean Data Out</a:t>
            </a:r>
            <a:endParaRPr>
              <a:solidFill>
                <a:srgbClr val="FF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For: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l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Predictions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84150" lvl="0" marL="17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l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Modelling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345" name="Google Shape;345;p44"/>
          <p:cNvCxnSpPr/>
          <p:nvPr/>
        </p:nvCxnSpPr>
        <p:spPr>
          <a:xfrm flipH="1" rot="10800000">
            <a:off x="1199700" y="3158738"/>
            <a:ext cx="2962200" cy="1197600"/>
          </a:xfrm>
          <a:prstGeom prst="curvedConnector3">
            <a:avLst>
              <a:gd fmla="val 94222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Data Sources</a:t>
            </a:r>
            <a:endParaRPr/>
          </a:p>
        </p:txBody>
      </p:sp>
      <p:sp>
        <p:nvSpPr>
          <p:cNvPr id="351" name="Google Shape;351;p45"/>
          <p:cNvSpPr txBox="1"/>
          <p:nvPr>
            <p:ph idx="1" type="body"/>
          </p:nvPr>
        </p:nvSpPr>
        <p:spPr>
          <a:xfrm>
            <a:off x="223575" y="1067400"/>
            <a:ext cx="85206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User generated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>
                <a:solidFill>
                  <a:srgbClr val="6AA84F"/>
                </a:solidFill>
              </a:rPr>
              <a:t>Examples</a:t>
            </a:r>
            <a:r>
              <a:rPr lang="el" sz="1600"/>
              <a:t>: User inputs, click actions on a website or app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>
                <a:solidFill>
                  <a:srgbClr val="CC0000"/>
                </a:solidFill>
              </a:rPr>
              <a:t>Challenges</a:t>
            </a:r>
            <a:r>
              <a:rPr lang="el" sz="1600"/>
              <a:t>: Data can be messy or incomplete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>
                <a:solidFill>
                  <a:srgbClr val="674EA7"/>
                </a:solidFill>
              </a:rPr>
              <a:t>Note</a:t>
            </a:r>
            <a:r>
              <a:rPr lang="el" sz="1600"/>
              <a:t>: Its important to be processed quickly (</a:t>
            </a:r>
            <a:r>
              <a:rPr lang="el" sz="1600"/>
              <a:t>usually</a:t>
            </a:r>
            <a:r>
              <a:rPr lang="el" sz="1600"/>
              <a:t> on the fly)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Systems generated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>
                <a:solidFill>
                  <a:srgbClr val="6AA84F"/>
                </a:solidFill>
              </a:rPr>
              <a:t>Examples</a:t>
            </a:r>
            <a:r>
              <a:rPr lang="el" sz="1600"/>
              <a:t>: Logs, metadata, predictions from a system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>
                <a:solidFill>
                  <a:srgbClr val="CC0000"/>
                </a:solidFill>
              </a:rPr>
              <a:t>Challenges</a:t>
            </a:r>
            <a:r>
              <a:rPr lang="el" sz="1600"/>
              <a:t>: Easier to clean/organize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l" sz="1600">
                <a:solidFill>
                  <a:srgbClr val="674EA7"/>
                </a:solidFill>
              </a:rPr>
              <a:t>Note</a:t>
            </a:r>
            <a:r>
              <a:rPr lang="el" sz="1600"/>
              <a:t>: Can be </a:t>
            </a:r>
            <a:r>
              <a:rPr lang="el" sz="1600"/>
              <a:t>processed in batches</a:t>
            </a:r>
            <a:endParaRPr sz="1600"/>
          </a:p>
        </p:txBody>
      </p:sp>
      <p:sp>
        <p:nvSpPr>
          <p:cNvPr id="352" name="Google Shape;35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353" name="Google Shape;353;p45"/>
          <p:cNvSpPr txBox="1"/>
          <p:nvPr/>
        </p:nvSpPr>
        <p:spPr>
          <a:xfrm>
            <a:off x="311700" y="4373400"/>
            <a:ext cx="80736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l" sz="1600">
                <a:solidFill>
                  <a:schemeClr val="dk2"/>
                </a:solidFill>
              </a:rPr>
              <a:t>Internal databases: users, inventory, customer relationships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l" sz="1600">
                <a:solidFill>
                  <a:schemeClr val="dk2"/>
                </a:solidFill>
              </a:rPr>
              <a:t>Third-party data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Case Study: Speech recognition</a:t>
            </a:r>
            <a:endParaRPr/>
          </a:p>
        </p:txBody>
      </p:sp>
      <p:sp>
        <p:nvSpPr>
          <p:cNvPr id="359" name="Google Shape;359;p46"/>
          <p:cNvSpPr txBox="1"/>
          <p:nvPr/>
        </p:nvSpPr>
        <p:spPr>
          <a:xfrm>
            <a:off x="191050" y="2767550"/>
            <a:ext cx="6571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000"/>
              <a:t>Modelling </a:t>
            </a:r>
            <a:r>
              <a:rPr b="1" lang="el" sz="2000"/>
              <a:t>Stage</a:t>
            </a:r>
            <a:endParaRPr b="1" sz="2000"/>
          </a:p>
        </p:txBody>
      </p:sp>
      <p:pic>
        <p:nvPicPr>
          <p:cNvPr id="360" name="Google Shape;360;p46"/>
          <p:cNvPicPr preferRelativeResize="0"/>
          <p:nvPr/>
        </p:nvPicPr>
        <p:blipFill rotWithShape="1">
          <a:blip r:embed="rId3">
            <a:alphaModFix/>
          </a:blip>
          <a:srcRect b="0" l="0" r="0" t="3716"/>
          <a:stretch/>
        </p:blipFill>
        <p:spPr>
          <a:xfrm>
            <a:off x="-52500" y="1067700"/>
            <a:ext cx="8520599" cy="163339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/>
          <p:nvPr/>
        </p:nvSpPr>
        <p:spPr>
          <a:xfrm>
            <a:off x="6247750" y="3680925"/>
            <a:ext cx="1280700" cy="7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</a:t>
            </a:r>
            <a:endParaRPr/>
          </a:p>
        </p:txBody>
      </p:sp>
      <p:cxnSp>
        <p:nvCxnSpPr>
          <p:cNvPr id="362" name="Google Shape;362;p46"/>
          <p:cNvCxnSpPr/>
          <p:nvPr/>
        </p:nvCxnSpPr>
        <p:spPr>
          <a:xfrm>
            <a:off x="5177075" y="3499575"/>
            <a:ext cx="976200" cy="46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46"/>
          <p:cNvSpPr txBox="1"/>
          <p:nvPr/>
        </p:nvSpPr>
        <p:spPr>
          <a:xfrm>
            <a:off x="2811675" y="3121875"/>
            <a:ext cx="2407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Code (algorithm/model)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Hyperparameters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	</a:t>
            </a:r>
            <a:endParaRPr sz="1600"/>
          </a:p>
        </p:txBody>
      </p:sp>
      <p:cxnSp>
        <p:nvCxnSpPr>
          <p:cNvPr id="364" name="Google Shape;364;p46"/>
          <p:cNvCxnSpPr/>
          <p:nvPr/>
        </p:nvCxnSpPr>
        <p:spPr>
          <a:xfrm>
            <a:off x="5187575" y="4070625"/>
            <a:ext cx="955200" cy="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46"/>
          <p:cNvCxnSpPr/>
          <p:nvPr/>
        </p:nvCxnSpPr>
        <p:spPr>
          <a:xfrm flipH="1" rot="10800000">
            <a:off x="5187575" y="4297575"/>
            <a:ext cx="997200" cy="4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Case Study: Speech recognition</a:t>
            </a:r>
            <a:endParaRPr/>
          </a:p>
        </p:txBody>
      </p:sp>
      <p:sp>
        <p:nvSpPr>
          <p:cNvPr id="371" name="Google Shape;371;p47"/>
          <p:cNvSpPr txBox="1"/>
          <p:nvPr/>
        </p:nvSpPr>
        <p:spPr>
          <a:xfrm>
            <a:off x="191050" y="2767550"/>
            <a:ext cx="6571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000"/>
              <a:t>Modelling Stage</a:t>
            </a:r>
            <a:endParaRPr b="1" sz="2000"/>
          </a:p>
        </p:txBody>
      </p:sp>
      <p:sp>
        <p:nvSpPr>
          <p:cNvPr id="372" name="Google Shape;372;p47"/>
          <p:cNvSpPr txBox="1"/>
          <p:nvPr/>
        </p:nvSpPr>
        <p:spPr>
          <a:xfrm>
            <a:off x="2811675" y="3121875"/>
            <a:ext cx="2407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Code (algorithm/model)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Hyperparameters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	</a:t>
            </a:r>
            <a:endParaRPr sz="1600"/>
          </a:p>
        </p:txBody>
      </p:sp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 b="0" l="0" r="0" t="3716"/>
          <a:stretch/>
        </p:blipFill>
        <p:spPr>
          <a:xfrm>
            <a:off x="-52500" y="1067700"/>
            <a:ext cx="8520599" cy="163339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7"/>
          <p:cNvSpPr txBox="1"/>
          <p:nvPr/>
        </p:nvSpPr>
        <p:spPr>
          <a:xfrm>
            <a:off x="390475" y="3499575"/>
            <a:ext cx="20469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Research/Academia 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5" name="Google Shape;375;p47"/>
          <p:cNvSpPr/>
          <p:nvPr/>
        </p:nvSpPr>
        <p:spPr>
          <a:xfrm>
            <a:off x="6247750" y="3680925"/>
            <a:ext cx="1280700" cy="7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</a:t>
            </a:r>
            <a:endParaRPr/>
          </a:p>
        </p:txBody>
      </p:sp>
      <p:cxnSp>
        <p:nvCxnSpPr>
          <p:cNvPr id="376" name="Google Shape;376;p47"/>
          <p:cNvCxnSpPr/>
          <p:nvPr/>
        </p:nvCxnSpPr>
        <p:spPr>
          <a:xfrm>
            <a:off x="5177075" y="3499575"/>
            <a:ext cx="976200" cy="46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47"/>
          <p:cNvCxnSpPr/>
          <p:nvPr/>
        </p:nvCxnSpPr>
        <p:spPr>
          <a:xfrm>
            <a:off x="5187575" y="4070625"/>
            <a:ext cx="955200" cy="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47"/>
          <p:cNvCxnSpPr/>
          <p:nvPr/>
        </p:nvCxnSpPr>
        <p:spPr>
          <a:xfrm flipH="1" rot="10800000">
            <a:off x="5187575" y="4297575"/>
            <a:ext cx="997200" cy="4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47"/>
          <p:cNvCxnSpPr/>
          <p:nvPr/>
        </p:nvCxnSpPr>
        <p:spPr>
          <a:xfrm>
            <a:off x="484950" y="3835575"/>
            <a:ext cx="1836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47"/>
          <p:cNvSpPr/>
          <p:nvPr/>
        </p:nvSpPr>
        <p:spPr>
          <a:xfrm>
            <a:off x="2631675" y="3205725"/>
            <a:ext cx="357000" cy="1049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1" name="Google Shape;381;p47"/>
          <p:cNvCxnSpPr/>
          <p:nvPr/>
        </p:nvCxnSpPr>
        <p:spPr>
          <a:xfrm>
            <a:off x="4683725" y="4922225"/>
            <a:ext cx="4935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Case Study: Speech recognition</a:t>
            </a:r>
            <a:endParaRPr/>
          </a:p>
        </p:txBody>
      </p:sp>
      <p:sp>
        <p:nvSpPr>
          <p:cNvPr id="387" name="Google Shape;387;p48"/>
          <p:cNvSpPr txBox="1"/>
          <p:nvPr/>
        </p:nvSpPr>
        <p:spPr>
          <a:xfrm>
            <a:off x="191050" y="2767550"/>
            <a:ext cx="6571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000"/>
              <a:t>Modelling Stage</a:t>
            </a:r>
            <a:endParaRPr b="1" sz="2000"/>
          </a:p>
        </p:txBody>
      </p:sp>
      <p:sp>
        <p:nvSpPr>
          <p:cNvPr id="388" name="Google Shape;388;p48"/>
          <p:cNvSpPr txBox="1"/>
          <p:nvPr/>
        </p:nvSpPr>
        <p:spPr>
          <a:xfrm>
            <a:off x="2811675" y="3121875"/>
            <a:ext cx="2407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Code (algorithm/model)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Hyperparameters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	</a:t>
            </a:r>
            <a:endParaRPr sz="1600"/>
          </a:p>
        </p:txBody>
      </p:sp>
      <p:pic>
        <p:nvPicPr>
          <p:cNvPr id="389" name="Google Shape;389;p48"/>
          <p:cNvPicPr preferRelativeResize="0"/>
          <p:nvPr/>
        </p:nvPicPr>
        <p:blipFill rotWithShape="1">
          <a:blip r:embed="rId3">
            <a:alphaModFix/>
          </a:blip>
          <a:srcRect b="0" l="0" r="0" t="3716"/>
          <a:stretch/>
        </p:blipFill>
        <p:spPr>
          <a:xfrm>
            <a:off x="-52500" y="1067700"/>
            <a:ext cx="8520599" cy="163339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8"/>
          <p:cNvSpPr txBox="1"/>
          <p:nvPr/>
        </p:nvSpPr>
        <p:spPr>
          <a:xfrm>
            <a:off x="390475" y="3499575"/>
            <a:ext cx="20469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Research/Academia 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ML engineers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91" name="Google Shape;391;p48"/>
          <p:cNvSpPr/>
          <p:nvPr/>
        </p:nvSpPr>
        <p:spPr>
          <a:xfrm>
            <a:off x="6247750" y="3680925"/>
            <a:ext cx="1280700" cy="7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</a:t>
            </a:r>
            <a:endParaRPr/>
          </a:p>
        </p:txBody>
      </p:sp>
      <p:cxnSp>
        <p:nvCxnSpPr>
          <p:cNvPr id="392" name="Google Shape;392;p48"/>
          <p:cNvCxnSpPr/>
          <p:nvPr/>
        </p:nvCxnSpPr>
        <p:spPr>
          <a:xfrm>
            <a:off x="5177075" y="3499575"/>
            <a:ext cx="976200" cy="46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48"/>
          <p:cNvCxnSpPr/>
          <p:nvPr/>
        </p:nvCxnSpPr>
        <p:spPr>
          <a:xfrm>
            <a:off x="5187575" y="4070625"/>
            <a:ext cx="955200" cy="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48"/>
          <p:cNvCxnSpPr/>
          <p:nvPr/>
        </p:nvCxnSpPr>
        <p:spPr>
          <a:xfrm flipH="1" rot="10800000">
            <a:off x="5187575" y="4297575"/>
            <a:ext cx="997200" cy="4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48"/>
          <p:cNvCxnSpPr/>
          <p:nvPr/>
        </p:nvCxnSpPr>
        <p:spPr>
          <a:xfrm>
            <a:off x="484950" y="3835575"/>
            <a:ext cx="1836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8"/>
          <p:cNvCxnSpPr/>
          <p:nvPr/>
        </p:nvCxnSpPr>
        <p:spPr>
          <a:xfrm>
            <a:off x="484950" y="4544175"/>
            <a:ext cx="12177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8"/>
          <p:cNvCxnSpPr/>
          <p:nvPr/>
        </p:nvCxnSpPr>
        <p:spPr>
          <a:xfrm>
            <a:off x="4683725" y="4922225"/>
            <a:ext cx="4935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8"/>
          <p:cNvCxnSpPr/>
          <p:nvPr/>
        </p:nvCxnSpPr>
        <p:spPr>
          <a:xfrm>
            <a:off x="2988675" y="3499575"/>
            <a:ext cx="21255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48"/>
          <p:cNvSpPr/>
          <p:nvPr/>
        </p:nvSpPr>
        <p:spPr>
          <a:xfrm>
            <a:off x="2631675" y="3205725"/>
            <a:ext cx="357000" cy="1049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8"/>
          <p:cNvSpPr/>
          <p:nvPr/>
        </p:nvSpPr>
        <p:spPr>
          <a:xfrm>
            <a:off x="3120000" y="3978675"/>
            <a:ext cx="357000" cy="1131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Case Study: Speech recognition</a:t>
            </a:r>
            <a:endParaRPr/>
          </a:p>
        </p:txBody>
      </p:sp>
      <p:sp>
        <p:nvSpPr>
          <p:cNvPr id="406" name="Google Shape;406;p49"/>
          <p:cNvSpPr txBox="1"/>
          <p:nvPr/>
        </p:nvSpPr>
        <p:spPr>
          <a:xfrm>
            <a:off x="191050" y="2767550"/>
            <a:ext cx="6571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000"/>
              <a:t>Modelling Stage</a:t>
            </a:r>
            <a:endParaRPr b="1" sz="2000"/>
          </a:p>
        </p:txBody>
      </p:sp>
      <p:sp>
        <p:nvSpPr>
          <p:cNvPr id="407" name="Google Shape;407;p49"/>
          <p:cNvSpPr txBox="1"/>
          <p:nvPr/>
        </p:nvSpPr>
        <p:spPr>
          <a:xfrm>
            <a:off x="2811675" y="3121875"/>
            <a:ext cx="2407500" cy="17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Code (algorithm/model)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Hyperparameters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</a:t>
            </a:r>
            <a:endParaRPr sz="16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	</a:t>
            </a:r>
            <a:endParaRPr sz="1600"/>
          </a:p>
        </p:txBody>
      </p:sp>
      <p:pic>
        <p:nvPicPr>
          <p:cNvPr id="408" name="Google Shape;408;p49"/>
          <p:cNvPicPr preferRelativeResize="0"/>
          <p:nvPr/>
        </p:nvPicPr>
        <p:blipFill rotWithShape="1">
          <a:blip r:embed="rId3">
            <a:alphaModFix/>
          </a:blip>
          <a:srcRect b="0" l="0" r="0" t="3716"/>
          <a:stretch/>
        </p:blipFill>
        <p:spPr>
          <a:xfrm>
            <a:off x="-52500" y="1067700"/>
            <a:ext cx="8520599" cy="163339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9"/>
          <p:cNvSpPr txBox="1"/>
          <p:nvPr/>
        </p:nvSpPr>
        <p:spPr>
          <a:xfrm>
            <a:off x="390475" y="3499575"/>
            <a:ext cx="20469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Research/Academia 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ML engineers</a:t>
            </a:r>
            <a:endParaRPr sz="1600"/>
          </a:p>
        </p:txBody>
      </p:sp>
      <p:sp>
        <p:nvSpPr>
          <p:cNvPr id="410" name="Google Shape;410;p49"/>
          <p:cNvSpPr/>
          <p:nvPr/>
        </p:nvSpPr>
        <p:spPr>
          <a:xfrm>
            <a:off x="6247750" y="3680925"/>
            <a:ext cx="1280700" cy="79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Model</a:t>
            </a:r>
            <a:endParaRPr/>
          </a:p>
        </p:txBody>
      </p:sp>
      <p:cxnSp>
        <p:nvCxnSpPr>
          <p:cNvPr id="411" name="Google Shape;411;p49"/>
          <p:cNvCxnSpPr/>
          <p:nvPr/>
        </p:nvCxnSpPr>
        <p:spPr>
          <a:xfrm>
            <a:off x="5177075" y="3499575"/>
            <a:ext cx="976200" cy="46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49"/>
          <p:cNvCxnSpPr/>
          <p:nvPr/>
        </p:nvCxnSpPr>
        <p:spPr>
          <a:xfrm>
            <a:off x="5187575" y="4070625"/>
            <a:ext cx="955200" cy="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49"/>
          <p:cNvCxnSpPr/>
          <p:nvPr/>
        </p:nvCxnSpPr>
        <p:spPr>
          <a:xfrm flipH="1" rot="10800000">
            <a:off x="5187575" y="4297575"/>
            <a:ext cx="997200" cy="4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49"/>
          <p:cNvCxnSpPr/>
          <p:nvPr/>
        </p:nvCxnSpPr>
        <p:spPr>
          <a:xfrm>
            <a:off x="484950" y="3835575"/>
            <a:ext cx="1836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9"/>
          <p:cNvCxnSpPr/>
          <p:nvPr/>
        </p:nvCxnSpPr>
        <p:spPr>
          <a:xfrm>
            <a:off x="484950" y="4544175"/>
            <a:ext cx="12177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9"/>
          <p:cNvCxnSpPr/>
          <p:nvPr/>
        </p:nvCxnSpPr>
        <p:spPr>
          <a:xfrm>
            <a:off x="4683725" y="4922225"/>
            <a:ext cx="4935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9"/>
          <p:cNvCxnSpPr/>
          <p:nvPr/>
        </p:nvCxnSpPr>
        <p:spPr>
          <a:xfrm>
            <a:off x="2988675" y="3499575"/>
            <a:ext cx="21255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49"/>
          <p:cNvSpPr/>
          <p:nvPr/>
        </p:nvSpPr>
        <p:spPr>
          <a:xfrm>
            <a:off x="2631675" y="3205725"/>
            <a:ext cx="357000" cy="1049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9"/>
          <p:cNvSpPr/>
          <p:nvPr/>
        </p:nvSpPr>
        <p:spPr>
          <a:xfrm>
            <a:off x="3120000" y="3978675"/>
            <a:ext cx="357000" cy="1131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9"/>
          <p:cNvSpPr txBox="1"/>
          <p:nvPr/>
        </p:nvSpPr>
        <p:spPr>
          <a:xfrm>
            <a:off x="6015175" y="4707550"/>
            <a:ext cx="2407500" cy="35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System = Code + Data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 Case Study: Speech recognition</a:t>
            </a:r>
            <a:endParaRPr/>
          </a:p>
        </p:txBody>
      </p:sp>
      <p:pic>
        <p:nvPicPr>
          <p:cNvPr id="426" name="Google Shape;4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9875"/>
            <a:ext cx="8422674" cy="16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0"/>
          <p:cNvPicPr preferRelativeResize="0"/>
          <p:nvPr/>
        </p:nvPicPr>
        <p:blipFill rotWithShape="1">
          <a:blip r:embed="rId4">
            <a:alphaModFix/>
          </a:blip>
          <a:srcRect b="28641" l="15460" r="15886" t="29429"/>
          <a:stretch/>
        </p:blipFill>
        <p:spPr>
          <a:xfrm>
            <a:off x="618975" y="3198100"/>
            <a:ext cx="2330825" cy="15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2551" y="3823396"/>
            <a:ext cx="407694" cy="679493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0"/>
          <p:cNvSpPr txBox="1"/>
          <p:nvPr/>
        </p:nvSpPr>
        <p:spPr>
          <a:xfrm>
            <a:off x="1600246" y="3899741"/>
            <a:ext cx="8607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Prediction</a:t>
            </a:r>
            <a:endParaRPr sz="1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Server</a:t>
            </a:r>
            <a:endParaRPr sz="1200"/>
          </a:p>
        </p:txBody>
      </p:sp>
      <p:sp>
        <p:nvSpPr>
          <p:cNvPr id="430" name="Google Shape;430;p50"/>
          <p:cNvSpPr/>
          <p:nvPr/>
        </p:nvSpPr>
        <p:spPr>
          <a:xfrm>
            <a:off x="1138343" y="3833626"/>
            <a:ext cx="1385400" cy="679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1" name="Google Shape;431;p50"/>
          <p:cNvSpPr/>
          <p:nvPr/>
        </p:nvSpPr>
        <p:spPr>
          <a:xfrm>
            <a:off x="3057364" y="3909529"/>
            <a:ext cx="11007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0"/>
          <p:cNvSpPr/>
          <p:nvPr/>
        </p:nvSpPr>
        <p:spPr>
          <a:xfrm rot="10800000">
            <a:off x="3057396" y="3605993"/>
            <a:ext cx="11007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0"/>
          <p:cNvSpPr txBox="1"/>
          <p:nvPr/>
        </p:nvSpPr>
        <p:spPr>
          <a:xfrm>
            <a:off x="3134475" y="3348500"/>
            <a:ext cx="1185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200"/>
              <a:t>Speech API</a:t>
            </a:r>
            <a:endParaRPr b="1" sz="1200"/>
          </a:p>
        </p:txBody>
      </p:sp>
      <p:sp>
        <p:nvSpPr>
          <p:cNvPr id="434" name="Google Shape;434;p50"/>
          <p:cNvSpPr txBox="1"/>
          <p:nvPr/>
        </p:nvSpPr>
        <p:spPr>
          <a:xfrm>
            <a:off x="3105150" y="3992150"/>
            <a:ext cx="1005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200"/>
              <a:t>Transcript</a:t>
            </a:r>
            <a:endParaRPr b="1" sz="1200"/>
          </a:p>
        </p:txBody>
      </p:sp>
      <p:sp>
        <p:nvSpPr>
          <p:cNvPr id="435" name="Google Shape;435;p50"/>
          <p:cNvSpPr/>
          <p:nvPr/>
        </p:nvSpPr>
        <p:spPr>
          <a:xfrm>
            <a:off x="3057302" y="4333779"/>
            <a:ext cx="11007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0"/>
          <p:cNvSpPr txBox="1"/>
          <p:nvPr/>
        </p:nvSpPr>
        <p:spPr>
          <a:xfrm>
            <a:off x="3015163" y="4430700"/>
            <a:ext cx="1185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200"/>
              <a:t>Classification</a:t>
            </a:r>
            <a:endParaRPr b="1" sz="1200"/>
          </a:p>
        </p:txBody>
      </p:sp>
      <p:sp>
        <p:nvSpPr>
          <p:cNvPr id="437" name="Google Shape;437;p50"/>
          <p:cNvSpPr/>
          <p:nvPr/>
        </p:nvSpPr>
        <p:spPr>
          <a:xfrm>
            <a:off x="4366575" y="2784200"/>
            <a:ext cx="2330700" cy="24024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0"/>
          <p:cNvSpPr txBox="1"/>
          <p:nvPr/>
        </p:nvSpPr>
        <p:spPr>
          <a:xfrm>
            <a:off x="4319475" y="2724150"/>
            <a:ext cx="24987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Mobile Phone (</a:t>
            </a:r>
            <a:r>
              <a:rPr lang="el" sz="1200"/>
              <a:t>Edge Device)</a:t>
            </a:r>
            <a:endParaRPr sz="1200"/>
          </a:p>
        </p:txBody>
      </p:sp>
      <p:sp>
        <p:nvSpPr>
          <p:cNvPr id="439" name="Google Shape;439;p50"/>
          <p:cNvSpPr/>
          <p:nvPr/>
        </p:nvSpPr>
        <p:spPr>
          <a:xfrm>
            <a:off x="4440375" y="3138200"/>
            <a:ext cx="2067900" cy="183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0"/>
          <p:cNvSpPr txBox="1"/>
          <p:nvPr/>
        </p:nvSpPr>
        <p:spPr>
          <a:xfrm>
            <a:off x="4571421" y="3165750"/>
            <a:ext cx="16866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200"/>
              <a:t>Local Software</a:t>
            </a:r>
            <a:endParaRPr sz="1200"/>
          </a:p>
        </p:txBody>
      </p:sp>
      <p:sp>
        <p:nvSpPr>
          <p:cNvPr id="441" name="Google Shape;441;p50"/>
          <p:cNvSpPr/>
          <p:nvPr/>
        </p:nvSpPr>
        <p:spPr>
          <a:xfrm>
            <a:off x="4504150" y="3769838"/>
            <a:ext cx="760800" cy="417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VAD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Module</a:t>
            </a:r>
            <a:endParaRPr sz="1100"/>
          </a:p>
        </p:txBody>
      </p:sp>
      <p:sp>
        <p:nvSpPr>
          <p:cNvPr id="442" name="Google Shape;442;p50"/>
          <p:cNvSpPr/>
          <p:nvPr/>
        </p:nvSpPr>
        <p:spPr>
          <a:xfrm>
            <a:off x="4657575" y="4392750"/>
            <a:ext cx="1633500" cy="417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Frontend Code</a:t>
            </a:r>
            <a:endParaRPr/>
          </a:p>
        </p:txBody>
      </p:sp>
      <p:sp>
        <p:nvSpPr>
          <p:cNvPr id="443" name="Google Shape;443;p50"/>
          <p:cNvSpPr/>
          <p:nvPr/>
        </p:nvSpPr>
        <p:spPr>
          <a:xfrm>
            <a:off x="5440300" y="3769838"/>
            <a:ext cx="1005000" cy="417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/>
              <a:t>Microphone</a:t>
            </a:r>
            <a:endParaRPr sz="1100"/>
          </a:p>
        </p:txBody>
      </p:sp>
      <p:cxnSp>
        <p:nvCxnSpPr>
          <p:cNvPr id="444" name="Google Shape;444;p50"/>
          <p:cNvCxnSpPr>
            <a:stCxn id="443" idx="1"/>
            <a:endCxn id="441" idx="3"/>
          </p:cNvCxnSpPr>
          <p:nvPr/>
        </p:nvCxnSpPr>
        <p:spPr>
          <a:xfrm rot="10800000">
            <a:off x="5265100" y="3978788"/>
            <a:ext cx="175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50"/>
          <p:cNvSpPr txBox="1"/>
          <p:nvPr/>
        </p:nvSpPr>
        <p:spPr>
          <a:xfrm>
            <a:off x="6905750" y="3494375"/>
            <a:ext cx="14433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Voice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Detection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Classification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MLOps Challenges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Concept Drift and Data Drift</a:t>
            </a:r>
            <a:endParaRPr/>
          </a:p>
        </p:txBody>
      </p:sp>
      <p:sp>
        <p:nvSpPr>
          <p:cNvPr id="456" name="Google Shape;456;p52"/>
          <p:cNvSpPr txBox="1"/>
          <p:nvPr>
            <p:ph idx="1" type="body"/>
          </p:nvPr>
        </p:nvSpPr>
        <p:spPr>
          <a:xfrm>
            <a:off x="311700" y="1152475"/>
            <a:ext cx="8520600" cy="3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Data Drift: </a:t>
            </a:r>
            <a:endParaRPr b="1" sz="1600">
              <a:solidFill>
                <a:srgbClr val="FF00FF"/>
              </a:solidFill>
            </a:endParaRPr>
          </a:p>
          <a:p>
            <a:pPr indent="-196850" lvl="0" marL="179999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When the distribution of the data used for predictions shifts from the data used to train the model </a:t>
            </a:r>
            <a:r>
              <a:rPr lang="el" sz="1600" u="sng"/>
              <a:t>during data collection or data processing</a:t>
            </a:r>
            <a:endParaRPr sz="1600" u="sng"/>
          </a:p>
          <a:p>
            <a:pPr indent="-196850" lvl="0" marL="179999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Example: Lighting conditions on the phone factory or update to the speech reading software.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Concept Drift and Data Drift</a:t>
            </a:r>
            <a:endParaRPr/>
          </a:p>
        </p:txBody>
      </p:sp>
      <p:sp>
        <p:nvSpPr>
          <p:cNvPr id="462" name="Google Shape;462;p53"/>
          <p:cNvSpPr txBox="1"/>
          <p:nvPr>
            <p:ph idx="1" type="body"/>
          </p:nvPr>
        </p:nvSpPr>
        <p:spPr>
          <a:xfrm>
            <a:off x="311700" y="1152475"/>
            <a:ext cx="8520600" cy="3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Data Drift: </a:t>
            </a:r>
            <a:endParaRPr b="1" sz="1600">
              <a:solidFill>
                <a:srgbClr val="FF00FF"/>
              </a:solidFill>
            </a:endParaRPr>
          </a:p>
          <a:p>
            <a:pPr indent="-196850" lvl="0" marL="179999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When the distribution of the data used for predictions shifts from the data used to train the model </a:t>
            </a:r>
            <a:r>
              <a:rPr lang="el" sz="1600" u="sng"/>
              <a:t>during data collection or data processing</a:t>
            </a:r>
            <a:endParaRPr sz="1600" u="sng"/>
          </a:p>
          <a:p>
            <a:pPr indent="-196850" lvl="0" marL="179999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Example: Lighting conditions on the phone factory or update to the speech reading software.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Concept Drift:</a:t>
            </a:r>
            <a:endParaRPr b="1" sz="1600">
              <a:solidFill>
                <a:srgbClr val="FF00FF"/>
              </a:solidFill>
            </a:endParaRPr>
          </a:p>
          <a:p>
            <a:pPr indent="-196850" lvl="0" marL="179999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When the distribution of data used for predictions shifts from the data used to train the model </a:t>
            </a:r>
            <a:r>
              <a:rPr lang="el" sz="1600" u="sng"/>
              <a:t>due to external factors</a:t>
            </a:r>
            <a:endParaRPr sz="1600" u="sng"/>
          </a:p>
          <a:p>
            <a:pPr indent="-196850" lvl="0" marL="179999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Example: Data during and after the pandemic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 sz="1600"/>
              <a:t>Changes can be either gradual or it can due to a sudden shock.</a:t>
            </a:r>
            <a:endParaRPr sz="1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Software engineering issues</a:t>
            </a:r>
            <a:endParaRPr/>
          </a:p>
        </p:txBody>
      </p:sp>
      <p:sp>
        <p:nvSpPr>
          <p:cNvPr id="468" name="Google Shape;468;p54"/>
          <p:cNvSpPr txBox="1"/>
          <p:nvPr>
            <p:ph idx="1" type="body"/>
          </p:nvPr>
        </p:nvSpPr>
        <p:spPr>
          <a:xfrm>
            <a:off x="311700" y="1498875"/>
            <a:ext cx="508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/>
              <a:t>Checklist of questions to answer</a:t>
            </a:r>
            <a:endParaRPr b="1"/>
          </a:p>
          <a:p>
            <a:pPr indent="-209550" lvl="0" marL="360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Realtime or Batch?</a:t>
            </a:r>
            <a:endParaRPr/>
          </a:p>
          <a:p>
            <a:pPr indent="-20955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Cloud vs Edge/Browser?</a:t>
            </a:r>
            <a:endParaRPr/>
          </a:p>
          <a:p>
            <a:pPr indent="-20955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Computer resources (CPU/GPU/Memory)</a:t>
            </a:r>
            <a:endParaRPr/>
          </a:p>
          <a:p>
            <a:pPr indent="-20955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Latency issues?</a:t>
            </a:r>
            <a:endParaRPr/>
          </a:p>
          <a:p>
            <a:pPr indent="-20955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Logging</a:t>
            </a:r>
            <a:endParaRPr/>
          </a:p>
          <a:p>
            <a:pPr indent="-209550" lvl="0" marL="36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l"/>
              <a:t>Security and privacy</a:t>
            </a:r>
            <a:endParaRPr/>
          </a:p>
        </p:txBody>
      </p:sp>
      <p:sp>
        <p:nvSpPr>
          <p:cNvPr id="469" name="Google Shape;469;p54"/>
          <p:cNvSpPr/>
          <p:nvPr/>
        </p:nvSpPr>
        <p:spPr>
          <a:xfrm>
            <a:off x="6016825" y="2418500"/>
            <a:ext cx="1647900" cy="80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Prediction 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Service</a:t>
            </a:r>
            <a:endParaRPr sz="1700"/>
          </a:p>
        </p:txBody>
      </p:sp>
      <p:sp>
        <p:nvSpPr>
          <p:cNvPr id="470" name="Google Shape;470;p54"/>
          <p:cNvSpPr txBox="1"/>
          <p:nvPr/>
        </p:nvSpPr>
        <p:spPr>
          <a:xfrm>
            <a:off x="7969275" y="2418500"/>
            <a:ext cx="11862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y</a:t>
            </a:r>
            <a:endParaRPr/>
          </a:p>
        </p:txBody>
      </p:sp>
      <p:cxnSp>
        <p:nvCxnSpPr>
          <p:cNvPr id="471" name="Google Shape;471;p54"/>
          <p:cNvCxnSpPr/>
          <p:nvPr/>
        </p:nvCxnSpPr>
        <p:spPr>
          <a:xfrm rot="10800000">
            <a:off x="7717275" y="2617925"/>
            <a:ext cx="252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54"/>
          <p:cNvCxnSpPr/>
          <p:nvPr/>
        </p:nvCxnSpPr>
        <p:spPr>
          <a:xfrm rot="10800000">
            <a:off x="7717275" y="3053725"/>
            <a:ext cx="252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First deployment vs </a:t>
            </a:r>
            <a:r>
              <a:rPr lang="el"/>
              <a:t>maintenance</a:t>
            </a:r>
            <a:endParaRPr/>
          </a:p>
        </p:txBody>
      </p:sp>
      <p:pic>
        <p:nvPicPr>
          <p:cNvPr id="478" name="Google Shape;47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50" y="1649200"/>
            <a:ext cx="8422674" cy="16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5"/>
          <p:cNvSpPr txBox="1"/>
          <p:nvPr/>
        </p:nvSpPr>
        <p:spPr>
          <a:xfrm>
            <a:off x="6142825" y="3270950"/>
            <a:ext cx="11547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Software</a:t>
            </a:r>
            <a:endParaRPr b="1"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Issues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480" name="Google Shape;480;p55"/>
          <p:cNvSpPr txBox="1"/>
          <p:nvPr/>
        </p:nvSpPr>
        <p:spPr>
          <a:xfrm>
            <a:off x="7231625" y="3270950"/>
            <a:ext cx="1390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Concept Drift</a:t>
            </a:r>
            <a:endParaRPr b="1"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>
                <a:solidFill>
                  <a:srgbClr val="FF00FF"/>
                </a:solidFill>
              </a:rPr>
              <a:t>Data Drift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481" name="Google Shape;481;p55"/>
          <p:cNvSpPr txBox="1"/>
          <p:nvPr/>
        </p:nvSpPr>
        <p:spPr>
          <a:xfrm>
            <a:off x="348500" y="3730600"/>
            <a:ext cx="57312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It is a non-stop </a:t>
            </a:r>
            <a:r>
              <a:rPr lang="el" sz="1600"/>
              <a:t>iterative</a:t>
            </a:r>
            <a:r>
              <a:rPr lang="el" sz="1600"/>
              <a:t> process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Deployment Patterns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When Should we Deploy? Common Deployment Cases</a:t>
            </a:r>
            <a:endParaRPr/>
          </a:p>
        </p:txBody>
      </p:sp>
      <p:sp>
        <p:nvSpPr>
          <p:cNvPr id="492" name="Google Shape;492;p57"/>
          <p:cNvSpPr txBox="1"/>
          <p:nvPr>
            <p:ph idx="1" type="body"/>
          </p:nvPr>
        </p:nvSpPr>
        <p:spPr>
          <a:xfrm>
            <a:off x="311700" y="974025"/>
            <a:ext cx="8520600" cy="24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Vary based on a company’s maturity</a:t>
            </a:r>
            <a:endParaRPr sz="1600">
              <a:solidFill>
                <a:schemeClr val="dk1"/>
              </a:solidFill>
            </a:endParaRPr>
          </a:p>
          <a:p>
            <a:pPr indent="-196850" lvl="0" marL="26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New product/capability: 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Offering a new service you have not provided before</a:t>
            </a:r>
            <a:endParaRPr sz="1600"/>
          </a:p>
          <a:p>
            <a:pPr indent="-196850" lvl="0" marL="26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Automate/assist with manual task: 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Assist or Automate a task previously done by a person</a:t>
            </a:r>
            <a:endParaRPr sz="1600"/>
          </a:p>
          <a:p>
            <a:pPr indent="-196850" lvl="0" marL="26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Replace previous ML system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Replace a previous implementation of a machine learning system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When Should we Deploy? Common Deployment Cases</a:t>
            </a:r>
            <a:endParaRPr/>
          </a:p>
        </p:txBody>
      </p:sp>
      <p:sp>
        <p:nvSpPr>
          <p:cNvPr id="498" name="Google Shape;498;p58"/>
          <p:cNvSpPr txBox="1"/>
          <p:nvPr/>
        </p:nvSpPr>
        <p:spPr>
          <a:xfrm>
            <a:off x="452400" y="3991375"/>
            <a:ext cx="86916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Key Ideas:</a:t>
            </a:r>
            <a:endParaRPr sz="1600">
              <a:solidFill>
                <a:schemeClr val="dk2"/>
              </a:solidFill>
            </a:endParaRPr>
          </a:p>
          <a:p>
            <a:pPr indent="-1968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l" sz="1600">
                <a:solidFill>
                  <a:schemeClr val="dk2"/>
                </a:solidFill>
              </a:rPr>
              <a:t>Gradual Ramp up with monitoring: Step by step deployment. First ensure everything works</a:t>
            </a:r>
            <a:endParaRPr sz="1600">
              <a:solidFill>
                <a:schemeClr val="dk2"/>
              </a:solidFill>
            </a:endParaRPr>
          </a:p>
          <a:p>
            <a:pPr indent="-1968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l" sz="1600">
                <a:solidFill>
                  <a:schemeClr val="dk2"/>
                </a:solidFill>
              </a:rPr>
              <a:t>Rollbacks: Keep previous versions of the product in case something goes wrong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99" name="Google Shape;499;p58"/>
          <p:cNvSpPr txBox="1"/>
          <p:nvPr>
            <p:ph idx="1" type="body"/>
          </p:nvPr>
        </p:nvSpPr>
        <p:spPr>
          <a:xfrm>
            <a:off x="311700" y="974025"/>
            <a:ext cx="8520600" cy="24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Vary based on a company’s maturity</a:t>
            </a:r>
            <a:endParaRPr sz="1600">
              <a:solidFill>
                <a:schemeClr val="dk1"/>
              </a:solidFill>
            </a:endParaRPr>
          </a:p>
          <a:p>
            <a:pPr indent="-196850" lvl="0" marL="26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New product/capability: 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Offering a new service you have not provided before</a:t>
            </a:r>
            <a:endParaRPr sz="1600"/>
          </a:p>
          <a:p>
            <a:pPr indent="-196850" lvl="0" marL="26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Automate/assist with manual task: 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Assist or Automate a task previously done by a person</a:t>
            </a:r>
            <a:endParaRPr sz="1600"/>
          </a:p>
          <a:p>
            <a:pPr indent="-196850" lvl="0" marL="26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1600"/>
              <a:buAutoNum type="arabicPeriod"/>
            </a:pPr>
            <a:r>
              <a:rPr lang="el" sz="1600">
                <a:solidFill>
                  <a:srgbClr val="FF00FF"/>
                </a:solidFill>
              </a:rPr>
              <a:t>Replace previous ML system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600"/>
              <a:t>Replace a previous implementation of a machine learning system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Degrees of Automation</a:t>
            </a:r>
            <a:endParaRPr/>
          </a:p>
        </p:txBody>
      </p:sp>
      <p:sp>
        <p:nvSpPr>
          <p:cNvPr id="505" name="Google Shape;505;p59"/>
          <p:cNvSpPr/>
          <p:nvPr/>
        </p:nvSpPr>
        <p:spPr>
          <a:xfrm>
            <a:off x="217225" y="3468175"/>
            <a:ext cx="1637700" cy="818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Human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 Only</a:t>
            </a:r>
            <a:endParaRPr sz="1600"/>
          </a:p>
        </p:txBody>
      </p:sp>
      <p:sp>
        <p:nvSpPr>
          <p:cNvPr id="506" name="Google Shape;506;p59"/>
          <p:cNvSpPr/>
          <p:nvPr/>
        </p:nvSpPr>
        <p:spPr>
          <a:xfrm>
            <a:off x="2022841" y="3468175"/>
            <a:ext cx="1637700" cy="818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Shadow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Mode</a:t>
            </a:r>
            <a:endParaRPr sz="1600"/>
          </a:p>
        </p:txBody>
      </p:sp>
      <p:sp>
        <p:nvSpPr>
          <p:cNvPr id="507" name="Google Shape;507;p59"/>
          <p:cNvSpPr/>
          <p:nvPr/>
        </p:nvSpPr>
        <p:spPr>
          <a:xfrm>
            <a:off x="3828457" y="3468175"/>
            <a:ext cx="1637700" cy="818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AI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Assistance</a:t>
            </a:r>
            <a:endParaRPr sz="1600"/>
          </a:p>
        </p:txBody>
      </p:sp>
      <p:sp>
        <p:nvSpPr>
          <p:cNvPr id="508" name="Google Shape;508;p59"/>
          <p:cNvSpPr/>
          <p:nvPr/>
        </p:nvSpPr>
        <p:spPr>
          <a:xfrm>
            <a:off x="5634074" y="3468175"/>
            <a:ext cx="1637700" cy="818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Partial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Automation</a:t>
            </a:r>
            <a:endParaRPr sz="1600"/>
          </a:p>
        </p:txBody>
      </p:sp>
      <p:sp>
        <p:nvSpPr>
          <p:cNvPr id="509" name="Google Shape;509;p59"/>
          <p:cNvSpPr/>
          <p:nvPr/>
        </p:nvSpPr>
        <p:spPr>
          <a:xfrm>
            <a:off x="7439690" y="3468175"/>
            <a:ext cx="1637700" cy="818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Full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Automation</a:t>
            </a:r>
            <a:endParaRPr sz="1600"/>
          </a:p>
        </p:txBody>
      </p:sp>
      <p:pic>
        <p:nvPicPr>
          <p:cNvPr id="510" name="Google Shape;510;p59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3929950" y="1442272"/>
            <a:ext cx="950676" cy="191192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59"/>
          <p:cNvSpPr/>
          <p:nvPr/>
        </p:nvSpPr>
        <p:spPr>
          <a:xfrm rot="-9152546">
            <a:off x="4319885" y="1704366"/>
            <a:ext cx="180875" cy="124923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" name="Google Shape;512;p59"/>
          <p:cNvCxnSpPr/>
          <p:nvPr/>
        </p:nvCxnSpPr>
        <p:spPr>
          <a:xfrm flipH="1" rot="10800000">
            <a:off x="4159072" y="1799775"/>
            <a:ext cx="502500" cy="105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3" name="Google Shape;513;p59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5539186" y="2314792"/>
            <a:ext cx="407091" cy="81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4" name="Google Shape;514;p59"/>
          <p:cNvCxnSpPr/>
          <p:nvPr/>
        </p:nvCxnSpPr>
        <p:spPr>
          <a:xfrm flipH="1" rot="10800000">
            <a:off x="5637298" y="2467792"/>
            <a:ext cx="215100" cy="45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5" name="Google Shape;515;p59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6079961" y="2314792"/>
            <a:ext cx="407091" cy="81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9"/>
          <p:cNvPicPr preferRelativeResize="0"/>
          <p:nvPr/>
        </p:nvPicPr>
        <p:blipFill rotWithShape="1">
          <a:blip r:embed="rId3">
            <a:alphaModFix/>
          </a:blip>
          <a:srcRect b="0" l="30842" r="31863" t="0"/>
          <a:stretch/>
        </p:blipFill>
        <p:spPr>
          <a:xfrm>
            <a:off x="6620736" y="2314792"/>
            <a:ext cx="407091" cy="81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" name="Google Shape;517;p59"/>
          <p:cNvCxnSpPr>
            <a:stCxn id="518" idx="2"/>
          </p:cNvCxnSpPr>
          <p:nvPr/>
        </p:nvCxnSpPr>
        <p:spPr>
          <a:xfrm>
            <a:off x="6824281" y="3133493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59"/>
          <p:cNvSpPr txBox="1"/>
          <p:nvPr/>
        </p:nvSpPr>
        <p:spPr>
          <a:xfrm>
            <a:off x="5511900" y="1998588"/>
            <a:ext cx="1543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Yes	  No        ?</a:t>
            </a:r>
            <a:endParaRPr/>
          </a:p>
        </p:txBody>
      </p:sp>
      <p:cxnSp>
        <p:nvCxnSpPr>
          <p:cNvPr id="520" name="Google Shape;520;p59"/>
          <p:cNvCxnSpPr/>
          <p:nvPr/>
        </p:nvCxnSpPr>
        <p:spPr>
          <a:xfrm rot="10800000">
            <a:off x="254150" y="3279250"/>
            <a:ext cx="1658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59"/>
          <p:cNvSpPr txBox="1"/>
          <p:nvPr/>
        </p:nvSpPr>
        <p:spPr>
          <a:xfrm>
            <a:off x="674100" y="2922250"/>
            <a:ext cx="1312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Human</a:t>
            </a:r>
            <a:endParaRPr/>
          </a:p>
        </p:txBody>
      </p:sp>
      <p:cxnSp>
        <p:nvCxnSpPr>
          <p:cNvPr id="522" name="Google Shape;522;p59"/>
          <p:cNvCxnSpPr/>
          <p:nvPr/>
        </p:nvCxnSpPr>
        <p:spPr>
          <a:xfrm rot="10800000">
            <a:off x="7271775" y="3312000"/>
            <a:ext cx="1658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23" name="Google Shape;523;p59"/>
          <p:cNvSpPr txBox="1"/>
          <p:nvPr/>
        </p:nvSpPr>
        <p:spPr>
          <a:xfrm>
            <a:off x="7831800" y="2955000"/>
            <a:ext cx="1312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AI</a:t>
            </a:r>
            <a:endParaRPr/>
          </a:p>
        </p:txBody>
      </p:sp>
      <p:sp>
        <p:nvSpPr>
          <p:cNvPr id="524" name="Google Shape;524;p59"/>
          <p:cNvSpPr txBox="1"/>
          <p:nvPr/>
        </p:nvSpPr>
        <p:spPr>
          <a:xfrm>
            <a:off x="6487050" y="1376313"/>
            <a:ext cx="9507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Human</a:t>
            </a:r>
            <a:endParaRPr/>
          </a:p>
        </p:txBody>
      </p:sp>
      <p:cxnSp>
        <p:nvCxnSpPr>
          <p:cNvPr id="525" name="Google Shape;525;p59"/>
          <p:cNvCxnSpPr/>
          <p:nvPr/>
        </p:nvCxnSpPr>
        <p:spPr>
          <a:xfrm rot="10800000">
            <a:off x="6824275" y="1690200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59"/>
          <p:cNvSpPr/>
          <p:nvPr/>
        </p:nvSpPr>
        <p:spPr>
          <a:xfrm rot="5400000">
            <a:off x="5264100" y="2776075"/>
            <a:ext cx="407100" cy="3428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9"/>
          <p:cNvSpPr txBox="1"/>
          <p:nvPr/>
        </p:nvSpPr>
        <p:spPr>
          <a:xfrm>
            <a:off x="4770875" y="4641475"/>
            <a:ext cx="19437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Human in the loop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Monitoring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Monitoring Dashboard</a:t>
            </a:r>
            <a:endParaRPr/>
          </a:p>
        </p:txBody>
      </p:sp>
      <p:pic>
        <p:nvPicPr>
          <p:cNvPr id="538" name="Google Shape;53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50" y="1017725"/>
            <a:ext cx="8839200" cy="268010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61"/>
          <p:cNvSpPr txBox="1"/>
          <p:nvPr/>
        </p:nvSpPr>
        <p:spPr>
          <a:xfrm>
            <a:off x="152400" y="3697825"/>
            <a:ext cx="88392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Find</a:t>
            </a:r>
            <a:r>
              <a:rPr lang="el" sz="1600"/>
              <a:t> all the things that can go wrong. Then monitor them :)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Think of statistics/metrics that will detect the problem before happening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Its better to use many metrics and then narrow them down instead of not having </a:t>
            </a:r>
            <a:r>
              <a:rPr lang="el" sz="1600"/>
              <a:t>enough for all problems</a:t>
            </a:r>
            <a:endParaRPr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Examples of Metrics to Follow</a:t>
            </a:r>
            <a:endParaRPr/>
          </a:p>
        </p:txBody>
      </p:sp>
      <p:sp>
        <p:nvSpPr>
          <p:cNvPr id="545" name="Google Shape;545;p62"/>
          <p:cNvSpPr txBox="1"/>
          <p:nvPr/>
        </p:nvSpPr>
        <p:spPr>
          <a:xfrm>
            <a:off x="1839075" y="1674275"/>
            <a:ext cx="196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Software Metrics</a:t>
            </a:r>
            <a:endParaRPr sz="1600"/>
          </a:p>
        </p:txBody>
      </p:sp>
      <p:sp>
        <p:nvSpPr>
          <p:cNvPr id="546" name="Google Shape;546;p62"/>
          <p:cNvSpPr txBox="1"/>
          <p:nvPr/>
        </p:nvSpPr>
        <p:spPr>
          <a:xfrm>
            <a:off x="1839075" y="2770475"/>
            <a:ext cx="196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Input </a:t>
            </a:r>
            <a:r>
              <a:rPr lang="el" sz="1600"/>
              <a:t>Metrics</a:t>
            </a:r>
            <a:endParaRPr sz="1600"/>
          </a:p>
        </p:txBody>
      </p:sp>
      <p:sp>
        <p:nvSpPr>
          <p:cNvPr id="547" name="Google Shape;547;p62"/>
          <p:cNvSpPr txBox="1"/>
          <p:nvPr/>
        </p:nvSpPr>
        <p:spPr>
          <a:xfrm>
            <a:off x="1839075" y="4015475"/>
            <a:ext cx="1962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Output </a:t>
            </a:r>
            <a:r>
              <a:rPr lang="el" sz="1600"/>
              <a:t>Metrics</a:t>
            </a:r>
            <a:endParaRPr sz="1600"/>
          </a:p>
        </p:txBody>
      </p:sp>
      <p:sp>
        <p:nvSpPr>
          <p:cNvPr id="548" name="Google Shape;548;p62"/>
          <p:cNvSpPr txBox="1"/>
          <p:nvPr/>
        </p:nvSpPr>
        <p:spPr>
          <a:xfrm>
            <a:off x="4127400" y="1610225"/>
            <a:ext cx="36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Memory, compute, latency, server load</a:t>
            </a:r>
            <a:endParaRPr/>
          </a:p>
        </p:txBody>
      </p:sp>
      <p:sp>
        <p:nvSpPr>
          <p:cNvPr id="549" name="Google Shape;549;p62"/>
          <p:cNvSpPr txBox="1"/>
          <p:nvPr/>
        </p:nvSpPr>
        <p:spPr>
          <a:xfrm>
            <a:off x="4216825" y="2389025"/>
            <a:ext cx="36108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Avg input length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Avg input volume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Num of missing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Avg image brightness</a:t>
            </a:r>
            <a:endParaRPr/>
          </a:p>
        </p:txBody>
      </p:sp>
      <p:sp>
        <p:nvSpPr>
          <p:cNvPr id="550" name="Google Shape;550;p62"/>
          <p:cNvSpPr txBox="1"/>
          <p:nvPr/>
        </p:nvSpPr>
        <p:spPr>
          <a:xfrm>
            <a:off x="4216825" y="3887375"/>
            <a:ext cx="3610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Num of “ “ (Null) returns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Num of time user does re-search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1" name="Google Shape;551;p62"/>
          <p:cNvCxnSpPr/>
          <p:nvPr/>
        </p:nvCxnSpPr>
        <p:spPr>
          <a:xfrm>
            <a:off x="3938450" y="1505250"/>
            <a:ext cx="0" cy="67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62"/>
          <p:cNvCxnSpPr/>
          <p:nvPr/>
        </p:nvCxnSpPr>
        <p:spPr>
          <a:xfrm>
            <a:off x="3938450" y="2486900"/>
            <a:ext cx="0" cy="99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62"/>
          <p:cNvCxnSpPr/>
          <p:nvPr/>
        </p:nvCxnSpPr>
        <p:spPr>
          <a:xfrm>
            <a:off x="3938450" y="4014375"/>
            <a:ext cx="0" cy="55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Like ML modelling, deployment is also iterative</a:t>
            </a:r>
            <a:endParaRPr/>
          </a:p>
        </p:txBody>
      </p:sp>
      <p:pic>
        <p:nvPicPr>
          <p:cNvPr id="559" name="Google Shape;55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3050"/>
            <a:ext cx="8839201" cy="3157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Systems Architecture Example 1</a:t>
            </a:r>
            <a:endParaRPr/>
          </a:p>
        </p:txBody>
      </p:sp>
      <p:sp>
        <p:nvSpPr>
          <p:cNvPr id="565" name="Google Shape;565;p64"/>
          <p:cNvSpPr txBox="1"/>
          <p:nvPr/>
        </p:nvSpPr>
        <p:spPr>
          <a:xfrm>
            <a:off x="262500" y="1234000"/>
            <a:ext cx="86190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You work in a big Taxi Company called MUBER.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The stakeholders wants to make ride times more consistent and understand longer journeys in order to improve the customer experience and thereby, increase return business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Systems Architecture Example 1</a:t>
            </a:r>
            <a:endParaRPr/>
          </a:p>
        </p:txBody>
      </p:sp>
      <p:sp>
        <p:nvSpPr>
          <p:cNvPr id="571" name="Google Shape;571;p65"/>
          <p:cNvSpPr txBox="1"/>
          <p:nvPr/>
        </p:nvSpPr>
        <p:spPr>
          <a:xfrm>
            <a:off x="262500" y="1234000"/>
            <a:ext cx="86190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You work in a big Taxi Company called MUBER.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The stakeholders wants to make ride times more consistent and understand longer journeys in order to improve the customer experience and thereby, increase return business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72" name="Google Shape;572;p65"/>
          <p:cNvSpPr/>
          <p:nvPr/>
        </p:nvSpPr>
        <p:spPr>
          <a:xfrm>
            <a:off x="650175" y="2779725"/>
            <a:ext cx="1828500" cy="52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Taxi Data</a:t>
            </a:r>
            <a:endParaRPr sz="1600"/>
          </a:p>
        </p:txBody>
      </p:sp>
      <p:sp>
        <p:nvSpPr>
          <p:cNvPr id="573" name="Google Shape;573;p65"/>
          <p:cNvSpPr/>
          <p:nvPr/>
        </p:nvSpPr>
        <p:spPr>
          <a:xfrm>
            <a:off x="650175" y="3971025"/>
            <a:ext cx="1828500" cy="5241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 Store</a:t>
            </a:r>
            <a:endParaRPr sz="1600"/>
          </a:p>
        </p:txBody>
      </p:sp>
      <p:sp>
        <p:nvSpPr>
          <p:cNvPr id="574" name="Google Shape;574;p65"/>
          <p:cNvSpPr/>
          <p:nvPr/>
        </p:nvSpPr>
        <p:spPr>
          <a:xfrm>
            <a:off x="3430425" y="3971025"/>
            <a:ext cx="2544900" cy="52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Clustering</a:t>
            </a:r>
            <a:endParaRPr sz="1600"/>
          </a:p>
        </p:txBody>
      </p:sp>
      <p:sp>
        <p:nvSpPr>
          <p:cNvPr id="575" name="Google Shape;575;p65"/>
          <p:cNvSpPr/>
          <p:nvPr/>
        </p:nvSpPr>
        <p:spPr>
          <a:xfrm>
            <a:off x="6877800" y="3971025"/>
            <a:ext cx="2003700" cy="5241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Database</a:t>
            </a:r>
            <a:endParaRPr sz="1600"/>
          </a:p>
        </p:txBody>
      </p:sp>
      <p:cxnSp>
        <p:nvCxnSpPr>
          <p:cNvPr id="576" name="Google Shape;576;p65"/>
          <p:cNvCxnSpPr>
            <a:stCxn id="573" idx="3"/>
            <a:endCxn id="574" idx="1"/>
          </p:cNvCxnSpPr>
          <p:nvPr/>
        </p:nvCxnSpPr>
        <p:spPr>
          <a:xfrm>
            <a:off x="2478675" y="4233075"/>
            <a:ext cx="95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65"/>
          <p:cNvCxnSpPr>
            <a:stCxn id="574" idx="3"/>
            <a:endCxn id="575" idx="1"/>
          </p:cNvCxnSpPr>
          <p:nvPr/>
        </p:nvCxnSpPr>
        <p:spPr>
          <a:xfrm>
            <a:off x="5975325" y="4233075"/>
            <a:ext cx="9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65"/>
          <p:cNvCxnSpPr>
            <a:stCxn id="572" idx="2"/>
            <a:endCxn id="573" idx="0"/>
          </p:cNvCxnSpPr>
          <p:nvPr/>
        </p:nvCxnSpPr>
        <p:spPr>
          <a:xfrm>
            <a:off x="1564425" y="3303825"/>
            <a:ext cx="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79" name="Google Shape;57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962" y="4319552"/>
            <a:ext cx="593200" cy="76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876" y="3303825"/>
            <a:ext cx="492424" cy="61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7957" y="4320907"/>
            <a:ext cx="593188" cy="759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Systems Architecture Example 2</a:t>
            </a:r>
            <a:endParaRPr/>
          </a:p>
        </p:txBody>
      </p:sp>
      <p:sp>
        <p:nvSpPr>
          <p:cNvPr id="587" name="Google Shape;587;p66"/>
          <p:cNvSpPr txBox="1"/>
          <p:nvPr/>
        </p:nvSpPr>
        <p:spPr>
          <a:xfrm>
            <a:off x="262500" y="1080000"/>
            <a:ext cx="86190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You work for the logistics arm of a large retail chain.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To maximize the flow of goods, the company wants to get ahead of busy periods and avoid product sell-outs. It is agreed that planner will make requests for forecasts and access them from a web-hosted dashboard.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ML Systems Architecture Example 2</a:t>
            </a:r>
            <a:endParaRPr/>
          </a:p>
        </p:txBody>
      </p:sp>
      <p:sp>
        <p:nvSpPr>
          <p:cNvPr id="593" name="Google Shape;593;p67"/>
          <p:cNvSpPr txBox="1"/>
          <p:nvPr/>
        </p:nvSpPr>
        <p:spPr>
          <a:xfrm>
            <a:off x="262500" y="1080000"/>
            <a:ext cx="8619000" cy="1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You work for the logistics arm of a large retail chain.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2"/>
                </a:solidFill>
              </a:rPr>
              <a:t>To maximize the flow of goods, the company wants to get ahead of busy periods and avoid product sell-outs. It is agreed that planner will make requests for forecasts and access them from a web-hosted dashboard.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94" name="Google Shape;594;p67"/>
          <p:cNvSpPr/>
          <p:nvPr/>
        </p:nvSpPr>
        <p:spPr>
          <a:xfrm>
            <a:off x="650175" y="2779725"/>
            <a:ext cx="1828500" cy="52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Consumption Data</a:t>
            </a:r>
            <a:endParaRPr sz="1600"/>
          </a:p>
        </p:txBody>
      </p:sp>
      <p:sp>
        <p:nvSpPr>
          <p:cNvPr id="595" name="Google Shape;595;p67"/>
          <p:cNvSpPr/>
          <p:nvPr/>
        </p:nvSpPr>
        <p:spPr>
          <a:xfrm>
            <a:off x="650175" y="3971025"/>
            <a:ext cx="1828500" cy="5241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Data Store</a:t>
            </a:r>
            <a:endParaRPr sz="1600"/>
          </a:p>
        </p:txBody>
      </p:sp>
      <p:sp>
        <p:nvSpPr>
          <p:cNvPr id="596" name="Google Shape;596;p67"/>
          <p:cNvSpPr/>
          <p:nvPr/>
        </p:nvSpPr>
        <p:spPr>
          <a:xfrm>
            <a:off x="3430425" y="3971025"/>
            <a:ext cx="1736700" cy="52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Forecast</a:t>
            </a:r>
            <a:endParaRPr sz="1600"/>
          </a:p>
        </p:txBody>
      </p:sp>
      <p:cxnSp>
        <p:nvCxnSpPr>
          <p:cNvPr id="597" name="Google Shape;597;p67"/>
          <p:cNvCxnSpPr>
            <a:stCxn id="595" idx="3"/>
            <a:endCxn id="598" idx="1"/>
          </p:cNvCxnSpPr>
          <p:nvPr/>
        </p:nvCxnSpPr>
        <p:spPr>
          <a:xfrm flipH="1" rot="10800000">
            <a:off x="2478675" y="4224075"/>
            <a:ext cx="841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67"/>
          <p:cNvCxnSpPr>
            <a:stCxn id="598" idx="3"/>
            <a:endCxn id="600" idx="1"/>
          </p:cNvCxnSpPr>
          <p:nvPr/>
        </p:nvCxnSpPr>
        <p:spPr>
          <a:xfrm>
            <a:off x="5295275" y="4224125"/>
            <a:ext cx="11658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67"/>
          <p:cNvCxnSpPr>
            <a:stCxn id="594" idx="2"/>
            <a:endCxn id="595" idx="0"/>
          </p:cNvCxnSpPr>
          <p:nvPr/>
        </p:nvCxnSpPr>
        <p:spPr>
          <a:xfrm>
            <a:off x="1564425" y="3303825"/>
            <a:ext cx="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02" name="Google Shape;60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0437" y="2397452"/>
            <a:ext cx="593200" cy="76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876" y="3303825"/>
            <a:ext cx="492424" cy="61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3057" y="2398807"/>
            <a:ext cx="593188" cy="75926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7"/>
          <p:cNvSpPr/>
          <p:nvPr/>
        </p:nvSpPr>
        <p:spPr>
          <a:xfrm>
            <a:off x="3430425" y="3351750"/>
            <a:ext cx="1736700" cy="52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Web End Point</a:t>
            </a:r>
            <a:endParaRPr sz="1600"/>
          </a:p>
        </p:txBody>
      </p:sp>
      <p:sp>
        <p:nvSpPr>
          <p:cNvPr id="606" name="Google Shape;606;p67"/>
          <p:cNvSpPr/>
          <p:nvPr/>
        </p:nvSpPr>
        <p:spPr>
          <a:xfrm>
            <a:off x="3430425" y="4590300"/>
            <a:ext cx="1736700" cy="52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/>
              <a:t>App Storage</a:t>
            </a:r>
            <a:endParaRPr sz="1600"/>
          </a:p>
        </p:txBody>
      </p:sp>
      <p:pic>
        <p:nvPicPr>
          <p:cNvPr id="607" name="Google Shape;607;p67"/>
          <p:cNvPicPr preferRelativeResize="0"/>
          <p:nvPr/>
        </p:nvPicPr>
        <p:blipFill rotWithShape="1">
          <a:blip r:embed="rId6">
            <a:alphaModFix/>
          </a:blip>
          <a:srcRect b="11768" l="12255" r="10375" t="13083"/>
          <a:stretch/>
        </p:blipFill>
        <p:spPr>
          <a:xfrm>
            <a:off x="6736551" y="3509841"/>
            <a:ext cx="678054" cy="65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7"/>
          <p:cNvPicPr preferRelativeResize="0"/>
          <p:nvPr/>
        </p:nvPicPr>
        <p:blipFill rotWithShape="1">
          <a:blip r:embed="rId7">
            <a:alphaModFix/>
          </a:blip>
          <a:srcRect b="14841" l="15293" r="12295" t="10009"/>
          <a:stretch/>
        </p:blipFill>
        <p:spPr>
          <a:xfrm>
            <a:off x="6599625" y="4233073"/>
            <a:ext cx="951900" cy="658603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7"/>
          <p:cNvSpPr/>
          <p:nvPr/>
        </p:nvSpPr>
        <p:spPr>
          <a:xfrm>
            <a:off x="6460925" y="3426150"/>
            <a:ext cx="1192500" cy="162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7"/>
          <p:cNvSpPr/>
          <p:nvPr/>
        </p:nvSpPr>
        <p:spPr>
          <a:xfrm>
            <a:off x="3319775" y="3204275"/>
            <a:ext cx="1975500" cy="203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Thats all for today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