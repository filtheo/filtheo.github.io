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5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51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44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45.xml"/>
  <Override ContentType="application/vnd.openxmlformats-officedocument.presentationml.notesSlide+xml" PartName="/ppt/notesSlides/notesSlide46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47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48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49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43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50.xml"/>
  <Override ContentType="application/vnd.openxmlformats-officedocument.presentationml.slide+xml" PartName="/ppt/slides/slide34.xml"/>
  <Override ContentType="application/vnd.openxmlformats-officedocument.presentationml.slide+xml" PartName="/ppt/slides/slide33.xml"/>
  <Override ContentType="application/vnd.openxmlformats-officedocument.presentationml.slide+xml" PartName="/ppt/slides/slide51.xml"/>
  <Override ContentType="application/vnd.openxmlformats-officedocument.presentationml.slide+xml" PartName="/ppt/slides/slide16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7.xml"/>
  <Override ContentType="application/vnd.openxmlformats-officedocument.presentationml.slide+xml" PartName="/ppt/slides/slide41.xml"/>
  <Override ContentType="application/vnd.openxmlformats-officedocument.presentationml.slide+xml" PartName="/ppt/slides/slide7.xml"/>
  <Override ContentType="application/vnd.openxmlformats-officedocument.presentationml.slide+xml" PartName="/ppt/slides/slide36.xml"/>
  <Override ContentType="application/vnd.openxmlformats-officedocument.presentationml.slide+xml" PartName="/ppt/slides/slide23.xml"/>
  <Override ContentType="application/vnd.openxmlformats-officedocument.presentationml.slide+xml" PartName="/ppt/slides/slide49.xml"/>
  <Override ContentType="application/vnd.openxmlformats-officedocument.presentationml.slide+xml" PartName="/ppt/slides/slide10.xml"/>
  <Override ContentType="application/vnd.openxmlformats-officedocument.presentationml.slide+xml" PartName="/ppt/slides/slide6.xml"/>
  <Override ContentType="application/vnd.openxmlformats-officedocument.presentationml.slide+xml" PartName="/ppt/slides/slide40.xml"/>
  <Override ContentType="application/vnd.openxmlformats-officedocument.presentationml.slide+xml" PartName="/ppt/slides/slide4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9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12.xml"/>
  <Override ContentType="application/vnd.openxmlformats-officedocument.presentationml.slide+xml" PartName="/ppt/slides/slide4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8.xml"/>
  <Override ContentType="application/vnd.openxmlformats-officedocument.presentationml.slide+xml" PartName="/ppt/slides/slide4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32.xml"/>
  <Override ContentType="application/vnd.openxmlformats-officedocument.presentationml.slide+xml" PartName="/ppt/slides/slide1.xml"/>
  <Override ContentType="application/vnd.openxmlformats-officedocument.presentationml.slide+xml" PartName="/ppt/slides/slide45.xml"/>
  <Override ContentType="application/vnd.openxmlformats-officedocument.presentationml.slide+xml" PartName="/ppt/slides/slide28.xml"/>
  <Override ContentType="application/vnd.openxmlformats-officedocument.presentationml.slide+xml" PartName="/ppt/slides/slide15.xml"/>
  <Override ContentType="application/vnd.openxmlformats-officedocument.presentationml.slide+xml" PartName="/ppt/slides/slide31.xml"/>
  <Override ContentType="application/vnd.openxmlformats-officedocument.presentationml.slide+xml" PartName="/ppt/slides/slide27.xml"/>
  <Override ContentType="application/vnd.openxmlformats-officedocument.presentationml.slide+xml" PartName="/ppt/slides/slide2.xml"/>
  <Override ContentType="application/vnd.openxmlformats-officedocument.presentationml.slide+xml" PartName="/ppt/slides/slide44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  <p:sldId id="293" r:id="rId43"/>
    <p:sldId id="294" r:id="rId44"/>
    <p:sldId id="295" r:id="rId45"/>
    <p:sldId id="296" r:id="rId46"/>
    <p:sldId id="297" r:id="rId47"/>
    <p:sldId id="298" r:id="rId48"/>
    <p:sldId id="299" r:id="rId49"/>
    <p:sldId id="300" r:id="rId50"/>
    <p:sldId id="301" r:id="rId51"/>
    <p:sldId id="302" r:id="rId52"/>
    <p:sldId id="303" r:id="rId53"/>
    <p:sldId id="304" r:id="rId54"/>
    <p:sldId id="305" r:id="rId55"/>
    <p:sldId id="306" r:id="rId56"/>
  </p:sldIdLst>
  <p:sldSz cy="5143500" cx="9144000"/>
  <p:notesSz cx="6858000" cy="9144000"/>
  <p:embeddedFontLst>
    <p:embeddedFont>
      <p:font typeface="Proxima Nova"/>
      <p:regular r:id="rId57"/>
      <p:bold r:id="rId58"/>
      <p:italic r:id="rId59"/>
      <p:boldItalic r:id="rId60"/>
    </p:embeddedFont>
    <p:embeddedFont>
      <p:font typeface="Nunito"/>
      <p:regular r:id="rId61"/>
      <p:bold r:id="rId62"/>
      <p:italic r:id="rId63"/>
      <p:boldItalic r:id="rId6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134">
          <p15:clr>
            <a:srgbClr val="747775"/>
          </p15:clr>
        </p15:guide>
        <p15:guide id="2" pos="454">
          <p15:clr>
            <a:srgbClr val="747775"/>
          </p15:clr>
        </p15:guide>
        <p15:guide id="3" pos="5443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134" orient="horz"/>
        <p:guide pos="454"/>
        <p:guide pos="5443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5.xml"/><Relationship Id="rId42" Type="http://schemas.openxmlformats.org/officeDocument/2006/relationships/slide" Target="slides/slide37.xml"/><Relationship Id="rId41" Type="http://schemas.openxmlformats.org/officeDocument/2006/relationships/slide" Target="slides/slide36.xml"/><Relationship Id="rId44" Type="http://schemas.openxmlformats.org/officeDocument/2006/relationships/slide" Target="slides/slide39.xml"/><Relationship Id="rId43" Type="http://schemas.openxmlformats.org/officeDocument/2006/relationships/slide" Target="slides/slide38.xml"/><Relationship Id="rId46" Type="http://schemas.openxmlformats.org/officeDocument/2006/relationships/slide" Target="slides/slide41.xml"/><Relationship Id="rId45" Type="http://schemas.openxmlformats.org/officeDocument/2006/relationships/slide" Target="slides/slide40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48" Type="http://schemas.openxmlformats.org/officeDocument/2006/relationships/slide" Target="slides/slide43.xml"/><Relationship Id="rId47" Type="http://schemas.openxmlformats.org/officeDocument/2006/relationships/slide" Target="slides/slide42.xml"/><Relationship Id="rId49" Type="http://schemas.openxmlformats.org/officeDocument/2006/relationships/slide" Target="slides/slide4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33" Type="http://schemas.openxmlformats.org/officeDocument/2006/relationships/slide" Target="slides/slide28.xml"/><Relationship Id="rId32" Type="http://schemas.openxmlformats.org/officeDocument/2006/relationships/slide" Target="slides/slide27.xml"/><Relationship Id="rId35" Type="http://schemas.openxmlformats.org/officeDocument/2006/relationships/slide" Target="slides/slide30.xml"/><Relationship Id="rId34" Type="http://schemas.openxmlformats.org/officeDocument/2006/relationships/slide" Target="slides/slide29.xml"/><Relationship Id="rId37" Type="http://schemas.openxmlformats.org/officeDocument/2006/relationships/slide" Target="slides/slide32.xml"/><Relationship Id="rId36" Type="http://schemas.openxmlformats.org/officeDocument/2006/relationships/slide" Target="slides/slide31.xml"/><Relationship Id="rId39" Type="http://schemas.openxmlformats.org/officeDocument/2006/relationships/slide" Target="slides/slide34.xml"/><Relationship Id="rId38" Type="http://schemas.openxmlformats.org/officeDocument/2006/relationships/slide" Target="slides/slide33.xml"/><Relationship Id="rId62" Type="http://schemas.openxmlformats.org/officeDocument/2006/relationships/font" Target="fonts/Nunito-bold.fntdata"/><Relationship Id="rId61" Type="http://schemas.openxmlformats.org/officeDocument/2006/relationships/font" Target="fonts/Nunito-regular.fntdata"/><Relationship Id="rId20" Type="http://schemas.openxmlformats.org/officeDocument/2006/relationships/slide" Target="slides/slide15.xml"/><Relationship Id="rId64" Type="http://schemas.openxmlformats.org/officeDocument/2006/relationships/font" Target="fonts/Nunito-boldItalic.fntdata"/><Relationship Id="rId63" Type="http://schemas.openxmlformats.org/officeDocument/2006/relationships/font" Target="fonts/Nunito-italic.fntdata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60" Type="http://schemas.openxmlformats.org/officeDocument/2006/relationships/font" Target="fonts/ProximaNova-boldItalic.fntdata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29" Type="http://schemas.openxmlformats.org/officeDocument/2006/relationships/slide" Target="slides/slide24.xml"/><Relationship Id="rId51" Type="http://schemas.openxmlformats.org/officeDocument/2006/relationships/slide" Target="slides/slide46.xml"/><Relationship Id="rId50" Type="http://schemas.openxmlformats.org/officeDocument/2006/relationships/slide" Target="slides/slide45.xml"/><Relationship Id="rId53" Type="http://schemas.openxmlformats.org/officeDocument/2006/relationships/slide" Target="slides/slide48.xml"/><Relationship Id="rId52" Type="http://schemas.openxmlformats.org/officeDocument/2006/relationships/slide" Target="slides/slide47.xml"/><Relationship Id="rId11" Type="http://schemas.openxmlformats.org/officeDocument/2006/relationships/slide" Target="slides/slide6.xml"/><Relationship Id="rId55" Type="http://schemas.openxmlformats.org/officeDocument/2006/relationships/slide" Target="slides/slide50.xml"/><Relationship Id="rId10" Type="http://schemas.openxmlformats.org/officeDocument/2006/relationships/slide" Target="slides/slide5.xml"/><Relationship Id="rId54" Type="http://schemas.openxmlformats.org/officeDocument/2006/relationships/slide" Target="slides/slide49.xml"/><Relationship Id="rId13" Type="http://schemas.openxmlformats.org/officeDocument/2006/relationships/slide" Target="slides/slide8.xml"/><Relationship Id="rId57" Type="http://schemas.openxmlformats.org/officeDocument/2006/relationships/font" Target="fonts/ProximaNova-regular.fntdata"/><Relationship Id="rId12" Type="http://schemas.openxmlformats.org/officeDocument/2006/relationships/slide" Target="slides/slide7.xml"/><Relationship Id="rId56" Type="http://schemas.openxmlformats.org/officeDocument/2006/relationships/slide" Target="slides/slide51.xml"/><Relationship Id="rId15" Type="http://schemas.openxmlformats.org/officeDocument/2006/relationships/slide" Target="slides/slide10.xml"/><Relationship Id="rId59" Type="http://schemas.openxmlformats.org/officeDocument/2006/relationships/font" Target="fonts/ProximaNova-italic.fntdata"/><Relationship Id="rId14" Type="http://schemas.openxmlformats.org/officeDocument/2006/relationships/slide" Target="slides/slide9.xml"/><Relationship Id="rId58" Type="http://schemas.openxmlformats.org/officeDocument/2006/relationships/font" Target="fonts/ProximaNova-bold.fntdata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g1e53d264f62_0_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" name="Google Shape;61;g1e53d264f62_0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g305bc76a9ca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8" name="Google Shape;68;g305bc76a9ca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l"/>
              <a:t>I am pretty sure you have seen this before. You are using that for a number of reasons.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l"/>
              <a:t>What if I tell you that by the end of the course you will be able to make something like that in 40 lines of code?</a:t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g280af58eae5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" name="Google Shape;73;g280af58eae5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l"/>
              <a:t>Most of you might have heard the hype arond LLMs etc.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l"/>
              <a:t>However this is not what ML is all about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rPr lang="el"/>
              <a:t>This is a good example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rPr lang="el"/>
              <a:t>So Apple follows a different approach to generative AI and LLMs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rPr lang="el"/>
              <a:t>Instead they deliver ML on most of their applications to enhance the user </a:t>
            </a:r>
            <a:r>
              <a:rPr lang="el"/>
              <a:t>experience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l"/>
              <a:t>Read the examples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l"/>
              <a:t>The question is, how are these features incorporated in the phones? Thats what the course is </a:t>
            </a:r>
            <a:r>
              <a:rPr lang="el"/>
              <a:t>about!</a:t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g26ded117ec5_0_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0" name="Google Shape;80;g26ded117ec5_0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l"/>
              <a:t>All right ML </a:t>
            </a:r>
            <a:r>
              <a:rPr lang="el"/>
              <a:t>nowadays</a:t>
            </a:r>
            <a:r>
              <a:rPr lang="el"/>
              <a:t> is almost everywhere. 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rPr lang="el"/>
              <a:t>You hear about advances in chatGPT and LLMs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rPr lang="el"/>
              <a:t>but keep in mind that ML applications are almost everywhere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l"/>
              <a:t>(read some examples)</a:t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g26ded117ec5_0_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" name="Google Shape;100;g26ded117ec5_0_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l"/>
              <a:t>How is AI implemented in real life? Lets look at some examples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rPr lang="el"/>
              <a:t>For of all it reduces costtsts, better accuracy, better predictions, better performance 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rPr lang="el"/>
              <a:t>Retaining costumers either by good recommendations or by </a:t>
            </a:r>
            <a:r>
              <a:rPr lang="el"/>
              <a:t>identifying</a:t>
            </a:r>
            <a:r>
              <a:rPr lang="el"/>
              <a:t> who is going to leave pretty early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rPr lang="el"/>
              <a:t>Fraud, interactions and more</a:t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g26ded117ec5_0_10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7" name="Google Shape;107;g26ded117ec5_0_10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l"/>
              <a:t>Lets try to understand the impact of ML in industry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l"/>
              <a:t>It is projected that AI will </a:t>
            </a:r>
            <a:r>
              <a:rPr lang="el"/>
              <a:t>create</a:t>
            </a:r>
            <a:r>
              <a:rPr lang="el"/>
              <a:t> 13 billion dollar in revenue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l"/>
              <a:t>Coming from different sectors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l"/>
              <a:t>(talk some examples)</a:t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g280af58eae5_0_5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3" name="Google Shape;113;g280af58eae5_0_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l"/>
              <a:t>Maybe you are familiar with these. The basic tool of every data scientist.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g280af58eae5_0_6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0" name="Google Shape;120;g280af58eae5_0_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l">
                <a:solidFill>
                  <a:schemeClr val="dk1"/>
                </a:solidFill>
              </a:rPr>
              <a:t>As useful as it might be and as I love it, the impact of AI and ML is not through jupyter notebooks.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l">
                <a:solidFill>
                  <a:schemeClr val="dk1"/>
                </a:solidFill>
              </a:rPr>
              <a:t>Unfortunately that would be great!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g26ded117ec5_0_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7" name="Google Shape;127;g26ded117ec5_0_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l"/>
              <a:t>take for example an app on your phone. 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rPr lang="el"/>
              <a:t>you click </a:t>
            </a:r>
            <a:r>
              <a:rPr lang="el"/>
              <a:t>somewhere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rPr lang="el"/>
              <a:t>some features are created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rPr lang="el"/>
              <a:t>these are passed to another model for predictions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rPr lang="el"/>
              <a:t>A simple bug somewhere (for example how features are passed to the model) can make the full system fail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g1e53d264f62_0_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3" name="Google Shape;133;g1e53d264f62_0_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l"/>
              <a:t>Ok. Lets now talk about MLOps. MLOps is .. (read it)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rPr lang="el"/>
              <a:t>It a combination between ML and DevOPs</a:t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g1e53d264f62_0_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0" name="Google Shape;140;g1e53d264f62_0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g26ded117ec5_0_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8" name="Google Shape;148;g26ded117ec5_0_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g26ded117ec5_0_1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4" name="Google Shape;154;g26ded117ec5_0_1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g1e53d264f62_0_10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0" name="Google Shape;160;g1e53d264f62_0_10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g1e53d264f62_0_10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8" name="Google Shape;168;g1e53d264f62_0_10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g1e53d264f62_0_1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7" name="Google Shape;177;g1e53d264f62_0_1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g280af58eae5_0_3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7" name="Google Shape;187;g280af58eae5_0_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g1e53d264f62_0_1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2" name="Google Shape;192;g1e53d264f62_0_1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g1e53d264f62_0_13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0" name="Google Shape;200;g1e53d264f62_0_1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g1e53d264f62_0_15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9" name="Google Shape;209;g1e53d264f62_0_1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g1e53d264f62_0_16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9" name="Google Shape;219;g1e53d264f62_0_16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g1e53d264f62_0_17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9" name="Google Shape;229;g1e53d264f62_0_17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5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g280af58eae5_0_7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7" name="Google Shape;267;g280af58eae5_0_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6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g280af58eae5_0_1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8" name="Google Shape;308;g280af58eae5_0_1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7" name="Shape 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Google Shape;318;g1e53d264f62_0_25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9" name="Google Shape;319;g1e53d264f62_0_2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0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Google Shape;331;g280af58eae5_0_1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2" name="Google Shape;332;g280af58eae5_0_1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4" name="Shape 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" name="Google Shape;345;g280af58eae5_0_1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6" name="Google Shape;346;g280af58eae5_0_1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9" name="Shape 3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" name="Google Shape;360;g280af58eae5_0_17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1" name="Google Shape;361;g280af58eae5_0_17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l"/>
              <a:t>Lets now investigate what ML in production is like.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rPr lang="el"/>
              <a:t>This is the ML code, the code to train and make predictions with a good ML model.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6" name="Shape 3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7" name="Google Shape;367;g280af58eae5_0_16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8" name="Google Shape;368;g280af58eae5_0_1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l"/>
              <a:t>This is the POC to production gap.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rPr lang="el"/>
              <a:t>The gap to take your ML model and put it into production</a:t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6" name="Shape 3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7" name="Google Shape;377;g280af58eae5_0_18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8" name="Google Shape;378;g280af58eae5_0_18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l"/>
              <a:t>This is all the code you need to </a:t>
            </a:r>
            <a:r>
              <a:rPr lang="el"/>
              <a:t>design a good ML application</a:t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6" name="Shape 3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7" name="Google Shape;387;g1e53d264f62_0_27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8" name="Google Shape;388;g1e53d264f62_0_27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l"/>
              <a:t>Briefly describe each of these components</a:t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4" name="Shape 3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5" name="Google Shape;395;g280af58eae5_0_20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6" name="Google Shape;396;g280af58eae5_0_20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1" name="Shape 4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2" name="Google Shape;402;g26ded117ec5_0_66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3" name="Google Shape;403;g26ded117ec5_0_6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8" name="Shape 4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" name="Google Shape;409;g280af58eae5_0_2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0" name="Google Shape;410;g280af58eae5_0_2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6" name="Shape 4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7" name="Google Shape;417;g1e53d264f62_0_28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8" name="Google Shape;418;g1e53d264f62_0_28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2" name="Shape 4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3" name="Google Shape;423;g280af58eae5_0_2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4" name="Google Shape;424;g280af58eae5_0_2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6" name="Shape 4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7" name="Google Shape;427;g2a273b584cd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8" name="Google Shape;428;g2a273b584cd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1" name="Shape 4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2" name="Google Shape;432;g2a273b584cd_0_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3" name="Google Shape;433;g2a273b584cd_0_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7" name="Shape 4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8" name="Google Shape;438;g2a273b584cd_0_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9" name="Google Shape;439;g2a273b584cd_0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3" name="Shape 4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4" name="Google Shape;444;g2a273b584cd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5" name="Google Shape;445;g2a273b584cd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0" name="Shape 4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1" name="Google Shape;451;g2a273b584cd_0_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2" name="Google Shape;452;g2a273b584cd_0_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6" name="Shape 4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7" name="Google Shape;457;g2a273b584cd_0_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8" name="Google Shape;458;g2a273b584cd_0_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1" name="Shape 4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2" name="Google Shape;462;g2a273b584cd_0_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3" name="Google Shape;463;g2a273b584cd_0_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7" name="Shape 4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8" name="Google Shape;468;g2a273b584cd_0_8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9" name="Google Shape;469;g2a273b584cd_0_8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3" name="Shape 4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4" name="Google Shape;474;g2a273b584cd_0_1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75" name="Google Shape;475;g2a273b584cd_0_1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9" name="Shape 4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0" name="Google Shape;480;g2a273b584cd_0_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1" name="Google Shape;481;g2a273b584cd_0_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5" name="Shape 4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6" name="Google Shape;486;g2a273b584cd_0_23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7" name="Google Shape;487;g2a273b584cd_0_2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1" name="Shape 4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2" name="Google Shape;492;g2a273b584cd_0_2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3" name="Google Shape;493;g2a273b584cd_0_2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7" name="Shape 4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8" name="Google Shape;498;g2a273b584cd_0_25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9" name="Google Shape;499;g2a273b584cd_0_2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3" name="Shape 5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4" name="Google Shape;504;g2a273b584cd_0_25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05" name="Google Shape;505;g2a273b584cd_0_2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l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l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hyperlink" Target="mailto:filotas.theodosiou@vives.be" TargetMode="External"/><Relationship Id="rId4" Type="http://schemas.openxmlformats.org/officeDocument/2006/relationships/image" Target="../media/image14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4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9.png"/><Relationship Id="rId4" Type="http://schemas.openxmlformats.org/officeDocument/2006/relationships/image" Target="../media/image2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0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6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5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5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3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1.png"/><Relationship Id="rId4" Type="http://schemas.openxmlformats.org/officeDocument/2006/relationships/image" Target="../media/image23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8.png"/><Relationship Id="rId4" Type="http://schemas.openxmlformats.org/officeDocument/2006/relationships/hyperlink" Target="https://madewithml.com/" TargetMode="External"/><Relationship Id="rId5" Type="http://schemas.openxmlformats.org/officeDocument/2006/relationships/image" Target="../media/image7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6.png"/><Relationship Id="rId4" Type="http://schemas.openxmlformats.org/officeDocument/2006/relationships/image" Target="../media/image12.png"/><Relationship Id="rId5" Type="http://schemas.openxmlformats.org/officeDocument/2006/relationships/image" Target="../media/image9.png"/><Relationship Id="rId6" Type="http://schemas.openxmlformats.org/officeDocument/2006/relationships/image" Target="../media/image10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22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22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22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22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13.png"/><Relationship Id="rId4" Type="http://schemas.openxmlformats.org/officeDocument/2006/relationships/image" Target="../media/image22.png"/><Relationship Id="rId5" Type="http://schemas.openxmlformats.org/officeDocument/2006/relationships/image" Target="../media/image18.png"/><Relationship Id="rId6" Type="http://schemas.openxmlformats.org/officeDocument/2006/relationships/image" Target="../media/image15.png"/><Relationship Id="rId7" Type="http://schemas.openxmlformats.org/officeDocument/2006/relationships/image" Target="../media/image17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13.png"/><Relationship Id="rId4" Type="http://schemas.openxmlformats.org/officeDocument/2006/relationships/image" Target="../media/image22.png"/><Relationship Id="rId5" Type="http://schemas.openxmlformats.org/officeDocument/2006/relationships/image" Target="../media/image18.png"/><Relationship Id="rId6" Type="http://schemas.openxmlformats.org/officeDocument/2006/relationships/image" Target="../media/image15.png"/><Relationship Id="rId7" Type="http://schemas.openxmlformats.org/officeDocument/2006/relationships/image" Target="../media/image17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22.png"/><Relationship Id="rId4" Type="http://schemas.openxmlformats.org/officeDocument/2006/relationships/image" Target="../media/image24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22.png"/><Relationship Id="rId4" Type="http://schemas.openxmlformats.org/officeDocument/2006/relationships/image" Target="../media/image25.png"/><Relationship Id="rId5" Type="http://schemas.openxmlformats.org/officeDocument/2006/relationships/image" Target="../media/image24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22.png"/><Relationship Id="rId4" Type="http://schemas.openxmlformats.org/officeDocument/2006/relationships/image" Target="../media/image25.png"/><Relationship Id="rId5" Type="http://schemas.openxmlformats.org/officeDocument/2006/relationships/image" Target="../media/image24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22.png"/><Relationship Id="rId4" Type="http://schemas.openxmlformats.org/officeDocument/2006/relationships/image" Target="../media/image25.png"/><Relationship Id="rId5" Type="http://schemas.openxmlformats.org/officeDocument/2006/relationships/image" Target="../media/image24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27.png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3.xml"/><Relationship Id="rId3" Type="http://schemas.openxmlformats.org/officeDocument/2006/relationships/hyperlink" Target="https://info.algorithmia.com/hubfs/2019/Whitepapers/The-State-of-Enterprise-ML-2020/Algorithmia_2020_State_of_Enterprise_ML.pdf" TargetMode="External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4.xml"/><Relationship Id="rId3" Type="http://schemas.openxmlformats.org/officeDocument/2006/relationships/hyperlink" Target="https://info.algorithmia.com/hubfs/2019/Whitepapers/The-State-of-Enterprise-ML-2020/Algorithmia_2020_State_of_Enterprise_ML.pdf" TargetMode="External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5.xml"/><Relationship Id="rId3" Type="http://schemas.openxmlformats.org/officeDocument/2006/relationships/hyperlink" Target="https://info.algorithmia.com/hubfs/2019/Whitepapers/The-State-of-Enterprise-ML-2020/Algorithmia_2020_State_of_Enterprise_ML.pdf" TargetMode="External"/><Relationship Id="rId4" Type="http://schemas.openxmlformats.org/officeDocument/2006/relationships/image" Target="../media/image26.png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5.xml"/></Relationships>
</file>

<file path=ppt/slides/_rels/slide4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6.xml"/></Relationships>
</file>

<file path=ppt/slides/_rels/slide4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7.xml"/></Relationships>
</file>

<file path=ppt/slides/_rels/slide4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8.xml"/></Relationships>
</file>

<file path=ppt/slides/_rels/slide4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9.xml"/></Relationships>
</file>

<file path=ppt/slides/_rels/slide5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0.xml"/></Relationships>
</file>

<file path=ppt/slides/_rels/slide5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1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l"/>
              <a:t>Cloud for AI</a:t>
            </a:r>
            <a:endParaRPr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l"/>
              <a:t>Lecture 1: </a:t>
            </a:r>
            <a:r>
              <a:rPr lang="el">
                <a:solidFill>
                  <a:srgbClr val="FF00FF"/>
                </a:solidFill>
              </a:rPr>
              <a:t>Hello!</a:t>
            </a:r>
            <a:endParaRPr>
              <a:solidFill>
                <a:srgbClr val="FF00FF"/>
              </a:solidFill>
            </a:endParaRPr>
          </a:p>
        </p:txBody>
      </p:sp>
      <p:pic>
        <p:nvPicPr>
          <p:cNvPr id="56" name="Google Shape;56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96375" y="4041963"/>
            <a:ext cx="8547614" cy="1211975"/>
          </a:xfrm>
          <a:prstGeom prst="rect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57" name="Google Shape;57;p13"/>
          <p:cNvSpPr txBox="1"/>
          <p:nvPr>
            <p:ph idx="1" type="subTitle"/>
          </p:nvPr>
        </p:nvSpPr>
        <p:spPr>
          <a:xfrm>
            <a:off x="0" y="4435375"/>
            <a:ext cx="2750100" cy="6180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l" sz="1800">
                <a:solidFill>
                  <a:schemeClr val="dk1"/>
                </a:solidFill>
              </a:rPr>
              <a:t>Filotas Theodosiou</a:t>
            </a:r>
            <a:endParaRPr sz="1800">
              <a:solidFill>
                <a:schemeClr val="dk1"/>
              </a:solidFill>
            </a:endParaRPr>
          </a:p>
        </p:txBody>
      </p:sp>
      <p:pic>
        <p:nvPicPr>
          <p:cNvPr id="58" name="Google Shape;58;p1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447225" y="4152422"/>
            <a:ext cx="1101225" cy="991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4"/>
          <p:cNvSpPr txBox="1"/>
          <p:nvPr>
            <p:ph type="title"/>
          </p:nvPr>
        </p:nvSpPr>
        <p:spPr>
          <a:xfrm>
            <a:off x="311700" y="29805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l"/>
              <a:t>Personal Details</a:t>
            </a:r>
            <a:endParaRPr/>
          </a:p>
        </p:txBody>
      </p:sp>
      <p:sp>
        <p:nvSpPr>
          <p:cNvPr id="64" name="Google Shape;64;p14"/>
          <p:cNvSpPr txBox="1"/>
          <p:nvPr>
            <p:ph idx="1" type="body"/>
          </p:nvPr>
        </p:nvSpPr>
        <p:spPr>
          <a:xfrm>
            <a:off x="119400" y="1163175"/>
            <a:ext cx="8520600" cy="376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l"/>
              <a:t>My name is Filotas Theodosiou.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l"/>
              <a:t>Data Scientist - AI Researcher with a Bachelor in Mathematics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l"/>
              <a:t>Member of the Belgium Forecasting Center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l"/>
              <a:t>Member of the International Symposium of Forecasting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l"/>
              <a:t>Contact Details: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l" u="sng">
                <a:solidFill>
                  <a:schemeClr val="hlink"/>
                </a:solidFill>
                <a:hlinkClick r:id="rId3"/>
              </a:rPr>
              <a:t>filotas.theodosiou@vives.be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l"/>
              <a:t>Feel free to contact me for anything ML related at any time.</a:t>
            </a:r>
            <a:endParaRPr/>
          </a:p>
        </p:txBody>
      </p:sp>
      <p:pic>
        <p:nvPicPr>
          <p:cNvPr id="65" name="Google Shape;65;p1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646650" y="1525437"/>
            <a:ext cx="2092626" cy="20926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0" name="Google Shape;70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04800" y="483900"/>
            <a:ext cx="8839197" cy="442272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5" name="Google Shape;75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402925"/>
            <a:ext cx="8839202" cy="922969"/>
          </a:xfrm>
          <a:prstGeom prst="rect">
            <a:avLst/>
          </a:prstGeom>
          <a:noFill/>
          <a:ln>
            <a:noFill/>
          </a:ln>
        </p:spPr>
      </p:pic>
      <p:pic>
        <p:nvPicPr>
          <p:cNvPr id="76" name="Google Shape;76;p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800626" y="1591150"/>
            <a:ext cx="4082198" cy="2721475"/>
          </a:xfrm>
          <a:prstGeom prst="rect">
            <a:avLst/>
          </a:prstGeom>
          <a:noFill/>
          <a:ln>
            <a:noFill/>
          </a:ln>
        </p:spPr>
      </p:pic>
      <p:sp>
        <p:nvSpPr>
          <p:cNvPr id="77" name="Google Shape;77;p16"/>
          <p:cNvSpPr txBox="1"/>
          <p:nvPr/>
        </p:nvSpPr>
        <p:spPr>
          <a:xfrm>
            <a:off x="257900" y="1879075"/>
            <a:ext cx="3338100" cy="272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l"/>
              <a:t>Som iPhone 15 novel ML features: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184150" lvl="0" marL="269999" rtl="0" algn="l">
              <a:spcBef>
                <a:spcPts val="0"/>
              </a:spcBef>
              <a:spcAft>
                <a:spcPts val="0"/>
              </a:spcAft>
              <a:buSzPts val="1400"/>
              <a:buAutoNum type="arabicParenR"/>
            </a:pPr>
            <a:r>
              <a:rPr lang="el"/>
              <a:t>Detect humans/pets on cameras &amp; switch to </a:t>
            </a:r>
            <a:r>
              <a:rPr lang="el"/>
              <a:t>portrait</a:t>
            </a:r>
            <a:r>
              <a:rPr lang="el"/>
              <a:t> mode</a:t>
            </a:r>
            <a:endParaRPr/>
          </a:p>
          <a:p>
            <a:pPr indent="-184150" lvl="0" marL="269999" rtl="0" algn="l">
              <a:spcBef>
                <a:spcPts val="0"/>
              </a:spcBef>
              <a:spcAft>
                <a:spcPts val="0"/>
              </a:spcAft>
              <a:buSzPts val="1400"/>
              <a:buAutoNum type="arabicParenR"/>
            </a:pPr>
            <a:r>
              <a:rPr lang="el"/>
              <a:t>Incorporate</a:t>
            </a:r>
            <a:r>
              <a:rPr lang="el"/>
              <a:t> 25% improved Siri to all applications</a:t>
            </a:r>
            <a:endParaRPr/>
          </a:p>
          <a:p>
            <a:pPr indent="-184150" lvl="0" marL="269999" rtl="0" algn="l">
              <a:spcBef>
                <a:spcPts val="0"/>
              </a:spcBef>
              <a:spcAft>
                <a:spcPts val="0"/>
              </a:spcAft>
              <a:buSzPts val="1400"/>
              <a:buAutoNum type="arabicParenR"/>
            </a:pPr>
            <a:r>
              <a:rPr lang="el"/>
              <a:t>Voice isolation cuts noise for better call quality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l"/>
              <a:t>How are these features added?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l"/>
              <a:t>2024: ML is in almost every aspect of our lives</a:t>
            </a:r>
            <a:endParaRPr/>
          </a:p>
        </p:txBody>
      </p:sp>
      <p:grpSp>
        <p:nvGrpSpPr>
          <p:cNvPr id="83" name="Google Shape;83;p17"/>
          <p:cNvGrpSpPr/>
          <p:nvPr/>
        </p:nvGrpSpPr>
        <p:grpSpPr>
          <a:xfrm>
            <a:off x="569325" y="1406425"/>
            <a:ext cx="7705275" cy="3650400"/>
            <a:chOff x="569325" y="1406425"/>
            <a:chExt cx="7705275" cy="3650400"/>
          </a:xfrm>
        </p:grpSpPr>
        <p:grpSp>
          <p:nvGrpSpPr>
            <p:cNvPr id="84" name="Google Shape;84;p17"/>
            <p:cNvGrpSpPr/>
            <p:nvPr/>
          </p:nvGrpSpPr>
          <p:grpSpPr>
            <a:xfrm>
              <a:off x="569325" y="1725175"/>
              <a:ext cx="7705275" cy="3331650"/>
              <a:chOff x="196325" y="1725175"/>
              <a:chExt cx="7705275" cy="3331650"/>
            </a:xfrm>
          </p:grpSpPr>
          <p:sp>
            <p:nvSpPr>
              <p:cNvPr id="85" name="Google Shape;85;p17"/>
              <p:cNvSpPr/>
              <p:nvPr/>
            </p:nvSpPr>
            <p:spPr>
              <a:xfrm>
                <a:off x="4922925" y="1725175"/>
                <a:ext cx="927300" cy="905400"/>
              </a:xfrm>
              <a:prstGeom prst="ellipse">
                <a:avLst/>
              </a:prstGeom>
              <a:solidFill>
                <a:srgbClr val="38761D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l" sz="800">
                    <a:solidFill>
                      <a:srgbClr val="FFFFFF"/>
                    </a:solidFill>
                    <a:latin typeface="Proxima Nova"/>
                    <a:ea typeface="Proxima Nova"/>
                    <a:cs typeface="Proxima Nova"/>
                    <a:sym typeface="Proxima Nova"/>
                  </a:rPr>
                  <a:t>Face</a:t>
                </a:r>
                <a:endParaRPr sz="800">
                  <a:solidFill>
                    <a:srgbClr val="FFFFFF"/>
                  </a:solidFill>
                  <a:latin typeface="Proxima Nova"/>
                  <a:ea typeface="Proxima Nova"/>
                  <a:cs typeface="Proxima Nova"/>
                  <a:sym typeface="Proxima Nova"/>
                </a:endParaRPr>
              </a:p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l" sz="800">
                    <a:solidFill>
                      <a:srgbClr val="FFFFFF"/>
                    </a:solidFill>
                    <a:latin typeface="Proxima Nova"/>
                    <a:ea typeface="Proxima Nova"/>
                    <a:cs typeface="Proxima Nova"/>
                    <a:sym typeface="Proxima Nova"/>
                  </a:rPr>
                  <a:t>unlocking</a:t>
                </a:r>
                <a:endParaRPr sz="800">
                  <a:solidFill>
                    <a:srgbClr val="FFFFFF"/>
                  </a:solidFill>
                  <a:latin typeface="Proxima Nova"/>
                  <a:ea typeface="Proxima Nova"/>
                  <a:cs typeface="Proxima Nova"/>
                  <a:sym typeface="Proxima Nova"/>
                </a:endParaRPr>
              </a:p>
            </p:txBody>
          </p:sp>
          <p:grpSp>
            <p:nvGrpSpPr>
              <p:cNvPr id="86" name="Google Shape;86;p17"/>
              <p:cNvGrpSpPr/>
              <p:nvPr/>
            </p:nvGrpSpPr>
            <p:grpSpPr>
              <a:xfrm>
                <a:off x="196325" y="1793300"/>
                <a:ext cx="7705275" cy="3263525"/>
                <a:chOff x="196325" y="1793300"/>
                <a:chExt cx="7705275" cy="3263525"/>
              </a:xfrm>
            </p:grpSpPr>
            <p:grpSp>
              <p:nvGrpSpPr>
                <p:cNvPr id="87" name="Google Shape;87;p17"/>
                <p:cNvGrpSpPr/>
                <p:nvPr/>
              </p:nvGrpSpPr>
              <p:grpSpPr>
                <a:xfrm>
                  <a:off x="196325" y="1793300"/>
                  <a:ext cx="6105325" cy="3263525"/>
                  <a:chOff x="196325" y="1793300"/>
                  <a:chExt cx="6105325" cy="3263525"/>
                </a:xfrm>
              </p:grpSpPr>
              <p:sp>
                <p:nvSpPr>
                  <p:cNvPr id="88" name="Google Shape;88;p17"/>
                  <p:cNvSpPr/>
                  <p:nvPr/>
                </p:nvSpPr>
                <p:spPr>
                  <a:xfrm>
                    <a:off x="196325" y="1900225"/>
                    <a:ext cx="1931400" cy="1929300"/>
                  </a:xfrm>
                  <a:prstGeom prst="ellipse">
                    <a:avLst/>
                  </a:prstGeom>
                  <a:solidFill>
                    <a:srgbClr val="4A86E8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rPr lang="el" sz="1200">
                        <a:solidFill>
                          <a:srgbClr val="FFFFFF"/>
                        </a:solidFill>
                        <a:latin typeface="Proxima Nova"/>
                        <a:ea typeface="Proxima Nova"/>
                        <a:cs typeface="Proxima Nova"/>
                        <a:sym typeface="Proxima Nova"/>
                      </a:rPr>
                      <a:t>Recommendation</a:t>
                    </a:r>
                    <a:endParaRPr sz="1200">
                      <a:solidFill>
                        <a:srgbClr val="FFFFFF"/>
                      </a:solidFill>
                      <a:latin typeface="Proxima Nova"/>
                      <a:ea typeface="Proxima Nova"/>
                      <a:cs typeface="Proxima Nova"/>
                      <a:sym typeface="Proxima Nova"/>
                    </a:endParaRPr>
                  </a:p>
                </p:txBody>
              </p:sp>
              <p:sp>
                <p:nvSpPr>
                  <p:cNvPr id="89" name="Google Shape;89;p17"/>
                  <p:cNvSpPr/>
                  <p:nvPr/>
                </p:nvSpPr>
                <p:spPr>
                  <a:xfrm>
                    <a:off x="1865025" y="2964900"/>
                    <a:ext cx="1815900" cy="1742700"/>
                  </a:xfrm>
                  <a:prstGeom prst="ellipse">
                    <a:avLst/>
                  </a:prstGeom>
                  <a:solidFill>
                    <a:srgbClr val="45818E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rPr lang="el" sz="1900">
                        <a:solidFill>
                          <a:srgbClr val="FFFFFF"/>
                        </a:solidFill>
                        <a:latin typeface="Proxima Nova"/>
                        <a:ea typeface="Proxima Nova"/>
                        <a:cs typeface="Proxima Nova"/>
                        <a:sym typeface="Proxima Nova"/>
                      </a:rPr>
                      <a:t>Search</a:t>
                    </a:r>
                    <a:endParaRPr sz="1900">
                      <a:solidFill>
                        <a:srgbClr val="FFFFFF"/>
                      </a:solidFill>
                      <a:latin typeface="Proxima Nova"/>
                      <a:ea typeface="Proxima Nova"/>
                      <a:cs typeface="Proxima Nova"/>
                      <a:sym typeface="Proxima Nova"/>
                    </a:endParaRPr>
                  </a:p>
                </p:txBody>
              </p:sp>
              <p:sp>
                <p:nvSpPr>
                  <p:cNvPr id="90" name="Google Shape;90;p17"/>
                  <p:cNvSpPr/>
                  <p:nvPr/>
                </p:nvSpPr>
                <p:spPr>
                  <a:xfrm>
                    <a:off x="2127600" y="1793300"/>
                    <a:ext cx="1153200" cy="1103700"/>
                  </a:xfrm>
                  <a:prstGeom prst="ellipse">
                    <a:avLst/>
                  </a:prstGeom>
                  <a:solidFill>
                    <a:srgbClr val="9900FF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rPr lang="el" sz="1500">
                        <a:solidFill>
                          <a:srgbClr val="FFFFFF"/>
                        </a:solidFill>
                        <a:latin typeface="Proxima Nova"/>
                        <a:ea typeface="Proxima Nova"/>
                        <a:cs typeface="Proxima Nova"/>
                        <a:sym typeface="Proxima Nova"/>
                      </a:rPr>
                      <a:t>Photo editing</a:t>
                    </a:r>
                    <a:endParaRPr sz="1500">
                      <a:solidFill>
                        <a:srgbClr val="FFFFFF"/>
                      </a:solidFill>
                      <a:latin typeface="Proxima Nova"/>
                      <a:ea typeface="Proxima Nova"/>
                      <a:cs typeface="Proxima Nova"/>
                      <a:sym typeface="Proxima Nova"/>
                    </a:endParaRPr>
                  </a:p>
                </p:txBody>
              </p:sp>
              <p:sp>
                <p:nvSpPr>
                  <p:cNvPr id="91" name="Google Shape;91;p17"/>
                  <p:cNvSpPr/>
                  <p:nvPr/>
                </p:nvSpPr>
                <p:spPr>
                  <a:xfrm>
                    <a:off x="3622000" y="3642925"/>
                    <a:ext cx="1482300" cy="1413900"/>
                  </a:xfrm>
                  <a:prstGeom prst="ellipse">
                    <a:avLst/>
                  </a:prstGeom>
                  <a:solidFill>
                    <a:srgbClr val="FFAB40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rPr lang="el" sz="1500">
                        <a:solidFill>
                          <a:srgbClr val="FFFFFF"/>
                        </a:solidFill>
                        <a:latin typeface="Proxima Nova"/>
                        <a:ea typeface="Proxima Nova"/>
                        <a:cs typeface="Proxima Nova"/>
                        <a:sym typeface="Proxima Nova"/>
                      </a:rPr>
                      <a:t>AI assistant</a:t>
                    </a:r>
                    <a:endParaRPr sz="1500">
                      <a:solidFill>
                        <a:srgbClr val="FFFFFF"/>
                      </a:solidFill>
                      <a:latin typeface="Proxima Nova"/>
                      <a:ea typeface="Proxima Nova"/>
                      <a:cs typeface="Proxima Nova"/>
                      <a:sym typeface="Proxima Nova"/>
                    </a:endParaRPr>
                  </a:p>
                </p:txBody>
              </p:sp>
              <p:sp>
                <p:nvSpPr>
                  <p:cNvPr id="92" name="Google Shape;92;p17"/>
                  <p:cNvSpPr/>
                  <p:nvPr/>
                </p:nvSpPr>
                <p:spPr>
                  <a:xfrm>
                    <a:off x="3305150" y="1900225"/>
                    <a:ext cx="1730400" cy="1742700"/>
                  </a:xfrm>
                  <a:prstGeom prst="ellipse">
                    <a:avLst/>
                  </a:prstGeom>
                  <a:solidFill>
                    <a:srgbClr val="FF0000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rPr lang="el" sz="1500">
                        <a:solidFill>
                          <a:srgbClr val="FFFFFF"/>
                        </a:solidFill>
                        <a:latin typeface="Proxima Nova"/>
                        <a:ea typeface="Proxima Nova"/>
                        <a:cs typeface="Proxima Nova"/>
                        <a:sym typeface="Proxima Nova"/>
                      </a:rPr>
                      <a:t>Fraud detection</a:t>
                    </a:r>
                    <a:endParaRPr sz="1500">
                      <a:solidFill>
                        <a:srgbClr val="FFFFFF"/>
                      </a:solidFill>
                      <a:latin typeface="Proxima Nova"/>
                      <a:ea typeface="Proxima Nova"/>
                      <a:cs typeface="Proxima Nova"/>
                      <a:sym typeface="Proxima Nova"/>
                    </a:endParaRPr>
                  </a:p>
                </p:txBody>
              </p:sp>
              <p:sp>
                <p:nvSpPr>
                  <p:cNvPr id="93" name="Google Shape;93;p17"/>
                  <p:cNvSpPr/>
                  <p:nvPr/>
                </p:nvSpPr>
                <p:spPr>
                  <a:xfrm>
                    <a:off x="4949550" y="2651375"/>
                    <a:ext cx="1352100" cy="1284900"/>
                  </a:xfrm>
                  <a:prstGeom prst="ellipse">
                    <a:avLst/>
                  </a:prstGeom>
                  <a:solidFill>
                    <a:srgbClr val="E6B8AF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rPr lang="el" sz="1500">
                        <a:solidFill>
                          <a:srgbClr val="FFFFFF"/>
                        </a:solidFill>
                        <a:latin typeface="Proxima Nova"/>
                        <a:ea typeface="Proxima Nova"/>
                        <a:cs typeface="Proxima Nova"/>
                        <a:sym typeface="Proxima Nova"/>
                      </a:rPr>
                      <a:t>ETA</a:t>
                    </a:r>
                    <a:endParaRPr sz="1500">
                      <a:solidFill>
                        <a:srgbClr val="FFFFFF"/>
                      </a:solidFill>
                      <a:latin typeface="Proxima Nova"/>
                      <a:ea typeface="Proxima Nova"/>
                      <a:cs typeface="Proxima Nova"/>
                      <a:sym typeface="Proxima Nova"/>
                    </a:endParaRPr>
                  </a:p>
                </p:txBody>
              </p:sp>
              <p:sp>
                <p:nvSpPr>
                  <p:cNvPr id="94" name="Google Shape;94;p17"/>
                  <p:cNvSpPr/>
                  <p:nvPr/>
                </p:nvSpPr>
                <p:spPr>
                  <a:xfrm>
                    <a:off x="922700" y="3829625"/>
                    <a:ext cx="1001100" cy="971700"/>
                  </a:xfrm>
                  <a:prstGeom prst="ellipse">
                    <a:avLst/>
                  </a:prstGeom>
                  <a:solidFill>
                    <a:srgbClr val="C27BA0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rPr lang="el" sz="1000">
                        <a:solidFill>
                          <a:srgbClr val="FFFFFF"/>
                        </a:solidFill>
                        <a:latin typeface="Proxima Nova"/>
                        <a:ea typeface="Proxima Nova"/>
                        <a:cs typeface="Proxima Nova"/>
                        <a:sym typeface="Proxima Nova"/>
                      </a:rPr>
                      <a:t>Smart compose</a:t>
                    </a:r>
                    <a:endParaRPr sz="1000">
                      <a:solidFill>
                        <a:srgbClr val="FFFFFF"/>
                      </a:solidFill>
                      <a:latin typeface="Proxima Nova"/>
                      <a:ea typeface="Proxima Nova"/>
                      <a:cs typeface="Proxima Nova"/>
                      <a:sym typeface="Proxima Nova"/>
                    </a:endParaRPr>
                  </a:p>
                </p:txBody>
              </p:sp>
            </p:grpSp>
            <p:sp>
              <p:nvSpPr>
                <p:cNvPr id="95" name="Google Shape;95;p17"/>
                <p:cNvSpPr/>
                <p:nvPr/>
              </p:nvSpPr>
              <p:spPr>
                <a:xfrm>
                  <a:off x="5114600" y="3997225"/>
                  <a:ext cx="1128000" cy="1059600"/>
                </a:xfrm>
                <a:prstGeom prst="ellipse">
                  <a:avLst/>
                </a:prstGeom>
                <a:solidFill>
                  <a:srgbClr val="FF00FF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l" sz="1000">
                      <a:solidFill>
                        <a:srgbClr val="FFFFFF"/>
                      </a:solidFill>
                      <a:latin typeface="Proxima Nova"/>
                      <a:ea typeface="Proxima Nova"/>
                      <a:cs typeface="Proxima Nova"/>
                      <a:sym typeface="Proxima Nova"/>
                    </a:rPr>
                    <a:t>Smart security cameras</a:t>
                  </a:r>
                  <a:endParaRPr sz="1000">
                    <a:solidFill>
                      <a:srgbClr val="FFFFFF"/>
                    </a:solidFill>
                    <a:latin typeface="Proxima Nova"/>
                    <a:ea typeface="Proxima Nova"/>
                    <a:cs typeface="Proxima Nova"/>
                    <a:sym typeface="Proxima Nova"/>
                  </a:endParaRPr>
                </a:p>
              </p:txBody>
            </p:sp>
            <p:sp>
              <p:nvSpPr>
                <p:cNvPr id="96" name="Google Shape;96;p17"/>
                <p:cNvSpPr/>
                <p:nvPr/>
              </p:nvSpPr>
              <p:spPr>
                <a:xfrm>
                  <a:off x="6242600" y="3003650"/>
                  <a:ext cx="1659000" cy="1659600"/>
                </a:xfrm>
                <a:prstGeom prst="ellipse">
                  <a:avLst/>
                </a:prstGeom>
                <a:solidFill>
                  <a:srgbClr val="BF9000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l" sz="1500">
                      <a:solidFill>
                        <a:srgbClr val="FFFFFF"/>
                      </a:solidFill>
                      <a:latin typeface="Proxima Nova"/>
                      <a:ea typeface="Proxima Nova"/>
                      <a:cs typeface="Proxima Nova"/>
                      <a:sym typeface="Proxima Nova"/>
                    </a:rPr>
                    <a:t>Self driving cars</a:t>
                  </a:r>
                  <a:endParaRPr sz="1500">
                    <a:solidFill>
                      <a:srgbClr val="FFFFFF"/>
                    </a:solidFill>
                    <a:latin typeface="Proxima Nova"/>
                    <a:ea typeface="Proxima Nova"/>
                    <a:cs typeface="Proxima Nova"/>
                    <a:sym typeface="Proxima Nova"/>
                  </a:endParaRPr>
                </a:p>
              </p:txBody>
            </p:sp>
          </p:grpSp>
        </p:grpSp>
        <p:sp>
          <p:nvSpPr>
            <p:cNvPr id="97" name="Google Shape;97;p17"/>
            <p:cNvSpPr/>
            <p:nvPr/>
          </p:nvSpPr>
          <p:spPr>
            <a:xfrm>
              <a:off x="6282675" y="1406425"/>
              <a:ext cx="1648500" cy="1587300"/>
            </a:xfrm>
            <a:prstGeom prst="ellipse">
              <a:avLst/>
            </a:prstGeom>
            <a:solidFill>
              <a:srgbClr val="0000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l" sz="1600">
                  <a:solidFill>
                    <a:srgbClr val="FFFFFF"/>
                  </a:solidFill>
                  <a:latin typeface="Proxima Nova"/>
                  <a:ea typeface="Proxima Nova"/>
                  <a:cs typeface="Proxima Nova"/>
                  <a:sym typeface="Proxima Nova"/>
                </a:rPr>
                <a:t>Machine Translation</a:t>
              </a:r>
              <a:endParaRPr sz="1600">
                <a:solidFill>
                  <a:srgbClr val="FFFFFF"/>
                </a:solidFill>
                <a:latin typeface="Proxima Nova"/>
                <a:ea typeface="Proxima Nova"/>
                <a:cs typeface="Proxima Nova"/>
                <a:sym typeface="Proxima Nova"/>
              </a:endParaRPr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18"/>
          <p:cNvSpPr txBox="1"/>
          <p:nvPr>
            <p:ph type="title"/>
          </p:nvPr>
        </p:nvSpPr>
        <p:spPr>
          <a:xfrm>
            <a:off x="311700" y="45775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l"/>
              <a:t>Real-world Machine Learning: </a:t>
            </a:r>
            <a:r>
              <a:rPr lang="el"/>
              <a:t>The Impact of AI</a:t>
            </a:r>
            <a:endParaRPr/>
          </a:p>
        </p:txBody>
      </p:sp>
      <p:pic>
        <p:nvPicPr>
          <p:cNvPr id="103" name="Google Shape;103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57600" y="1128438"/>
            <a:ext cx="5009825" cy="4015050"/>
          </a:xfrm>
          <a:prstGeom prst="rect">
            <a:avLst/>
          </a:prstGeom>
          <a:noFill/>
          <a:ln>
            <a:noFill/>
          </a:ln>
        </p:spPr>
      </p:pic>
      <p:sp>
        <p:nvSpPr>
          <p:cNvPr id="104" name="Google Shape;104;p18"/>
          <p:cNvSpPr txBox="1"/>
          <p:nvPr/>
        </p:nvSpPr>
        <p:spPr>
          <a:xfrm>
            <a:off x="6167775" y="4679300"/>
            <a:ext cx="2697000" cy="25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l" sz="1000">
                <a:solidFill>
                  <a:schemeClr val="dk1"/>
                </a:solidFill>
              </a:rPr>
              <a:t>2020 state of enterprise machine learning by Algorithmia</a:t>
            </a:r>
            <a:endParaRPr sz="10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9" name="Google Shape;109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82150"/>
            <a:ext cx="4961057" cy="5061351"/>
          </a:xfrm>
          <a:prstGeom prst="rect">
            <a:avLst/>
          </a:prstGeom>
          <a:noFill/>
          <a:ln>
            <a:noFill/>
          </a:ln>
        </p:spPr>
      </p:pic>
      <p:sp>
        <p:nvSpPr>
          <p:cNvPr id="110" name="Google Shape;110;p19"/>
          <p:cNvSpPr txBox="1"/>
          <p:nvPr/>
        </p:nvSpPr>
        <p:spPr>
          <a:xfrm>
            <a:off x="5441050" y="1069875"/>
            <a:ext cx="3222000" cy="2041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l" sz="1800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AI value creation by 2030</a:t>
            </a:r>
            <a:endParaRPr b="1" sz="1800"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rPr b="1" lang="el" sz="2500">
                <a:latin typeface="Nunito"/>
                <a:ea typeface="Nunito"/>
                <a:cs typeface="Nunito"/>
                <a:sym typeface="Nunito"/>
              </a:rPr>
              <a:t>13 trillion USD</a:t>
            </a:r>
            <a:endParaRPr sz="1800"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ctr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rPr lang="el" sz="1800">
                <a:latin typeface="Nunito"/>
                <a:ea typeface="Nunito"/>
                <a:cs typeface="Nunito"/>
                <a:sym typeface="Nunito"/>
              </a:rPr>
              <a:t>Most of it will be outside the consumer internet industry</a:t>
            </a:r>
            <a:endParaRPr sz="1800">
              <a:latin typeface="Nunito"/>
              <a:ea typeface="Nunito"/>
              <a:cs typeface="Nunito"/>
              <a:sym typeface="Nunito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l"/>
              <a:t>No more Jupyter Notebooks or Excel Files</a:t>
            </a:r>
            <a:endParaRPr/>
          </a:p>
        </p:txBody>
      </p:sp>
      <p:pic>
        <p:nvPicPr>
          <p:cNvPr id="116" name="Google Shape;116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411600" y="1091425"/>
            <a:ext cx="4142324" cy="3820975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20"/>
          <p:cNvSpPr txBox="1"/>
          <p:nvPr/>
        </p:nvSpPr>
        <p:spPr>
          <a:xfrm>
            <a:off x="493725" y="1591675"/>
            <a:ext cx="1901100" cy="309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2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l"/>
              <a:t>No more Jupyter Notebooks or Excel Files</a:t>
            </a:r>
            <a:endParaRPr/>
          </a:p>
        </p:txBody>
      </p:sp>
      <p:pic>
        <p:nvPicPr>
          <p:cNvPr id="123" name="Google Shape;123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411600" y="1091425"/>
            <a:ext cx="4142324" cy="3820975"/>
          </a:xfrm>
          <a:prstGeom prst="rect">
            <a:avLst/>
          </a:prstGeom>
          <a:noFill/>
          <a:ln>
            <a:noFill/>
          </a:ln>
        </p:spPr>
      </p:pic>
      <p:sp>
        <p:nvSpPr>
          <p:cNvPr id="124" name="Google Shape;124;p21"/>
          <p:cNvSpPr txBox="1"/>
          <p:nvPr/>
        </p:nvSpPr>
        <p:spPr>
          <a:xfrm>
            <a:off x="257900" y="2386613"/>
            <a:ext cx="3802500" cy="12306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l" sz="1900"/>
              <a:t>A Machine Learning System is much (much) more than some code on a Jupyter Notebook</a:t>
            </a:r>
            <a:endParaRPr sz="19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2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l"/>
              <a:t>Why ML Systems Design?</a:t>
            </a:r>
            <a:endParaRPr/>
          </a:p>
        </p:txBody>
      </p:sp>
      <p:sp>
        <p:nvSpPr>
          <p:cNvPr id="130" name="Google Shape;130;p2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l"/>
              <a:t>ML algorithms is the less problematic part 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l"/>
              <a:t>The hard part is to make algorithms work with other parts in order to solve real-world problems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l"/>
              <a:t>Most failures in real-world applications are caused by non-ML components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2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l"/>
              <a:t>Introduction to MLOps</a:t>
            </a:r>
            <a:endParaRPr/>
          </a:p>
        </p:txBody>
      </p:sp>
      <p:sp>
        <p:nvSpPr>
          <p:cNvPr id="136" name="Google Shape;136;p2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l" sz="1600"/>
              <a:t>MLOps </a:t>
            </a:r>
            <a:r>
              <a:rPr lang="el" sz="1600"/>
              <a:t>(Machine Learning Operations) is a set of practises for collaboration and communication between data scientists and operations </a:t>
            </a:r>
            <a:r>
              <a:rPr lang="el" sz="1600"/>
              <a:t>professionals that aims to deploy and maintain Machine Learning models in production reliably and efficiently</a:t>
            </a:r>
            <a:endParaRPr sz="1600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600"/>
          </a:p>
        </p:txBody>
      </p:sp>
      <p:pic>
        <p:nvPicPr>
          <p:cNvPr id="137" name="Google Shape;137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4600" y="2649226"/>
            <a:ext cx="7978825" cy="1665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2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l"/>
              <a:t>What is the course about?</a:t>
            </a:r>
            <a:endParaRPr/>
          </a:p>
        </p:txBody>
      </p:sp>
      <p:sp>
        <p:nvSpPr>
          <p:cNvPr id="143" name="Google Shape;143;p24"/>
          <p:cNvSpPr txBox="1"/>
          <p:nvPr>
            <p:ph idx="1" type="body"/>
          </p:nvPr>
        </p:nvSpPr>
        <p:spPr>
          <a:xfrm>
            <a:off x="122750" y="2170650"/>
            <a:ext cx="43302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l" sz="1700"/>
              <a:t>What we will </a:t>
            </a:r>
            <a:r>
              <a:rPr lang="el" sz="1700">
                <a:solidFill>
                  <a:srgbClr val="FF0000"/>
                </a:solidFill>
              </a:rPr>
              <a:t>not </a:t>
            </a:r>
            <a:r>
              <a:rPr lang="el" sz="1700"/>
              <a:t>learn:</a:t>
            </a:r>
            <a:endParaRPr sz="1700"/>
          </a:p>
          <a:p>
            <a:pPr indent="-336550" lvl="0" marL="457200" rtl="0" algn="l">
              <a:spcBef>
                <a:spcPts val="1200"/>
              </a:spcBef>
              <a:spcAft>
                <a:spcPts val="0"/>
              </a:spcAft>
              <a:buSzPts val="1700"/>
              <a:buChar char="●"/>
            </a:pPr>
            <a:r>
              <a:rPr lang="el" sz="1700"/>
              <a:t>What is Artificial intelligence</a:t>
            </a:r>
            <a:endParaRPr sz="1700"/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r>
              <a:rPr lang="el" sz="1700"/>
              <a:t>Theory behind ML models</a:t>
            </a:r>
            <a:endParaRPr sz="1700"/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r>
              <a:rPr lang="el" sz="1700"/>
              <a:t>How to train a ML model?</a:t>
            </a:r>
            <a:endParaRPr sz="1700"/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r>
              <a:rPr lang="el" sz="1700"/>
              <a:t>Computer Systems</a:t>
            </a:r>
            <a:endParaRPr sz="1700"/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r>
              <a:rPr lang="el" sz="1700"/>
              <a:t>LLMs (but we will talk of them)</a:t>
            </a:r>
            <a:endParaRPr sz="1700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700"/>
          </a:p>
        </p:txBody>
      </p:sp>
      <p:sp>
        <p:nvSpPr>
          <p:cNvPr id="144" name="Google Shape;144;p24"/>
          <p:cNvSpPr txBox="1"/>
          <p:nvPr>
            <p:ph idx="1" type="body"/>
          </p:nvPr>
        </p:nvSpPr>
        <p:spPr>
          <a:xfrm>
            <a:off x="3587700" y="1593375"/>
            <a:ext cx="54393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l" sz="1700"/>
              <a:t>What we will </a:t>
            </a:r>
            <a:r>
              <a:rPr lang="el" sz="1700"/>
              <a:t>learn:</a:t>
            </a:r>
            <a:endParaRPr sz="1700"/>
          </a:p>
          <a:p>
            <a:pPr indent="-336550" lvl="0" marL="457200" rtl="0" algn="l">
              <a:spcBef>
                <a:spcPts val="1200"/>
              </a:spcBef>
              <a:spcAft>
                <a:spcPts val="0"/>
              </a:spcAft>
              <a:buSzPts val="1700"/>
              <a:buChar char="●"/>
            </a:pPr>
            <a:r>
              <a:rPr lang="el" sz="1700"/>
              <a:t>You have trained a model, now what?</a:t>
            </a:r>
            <a:endParaRPr sz="1700"/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r>
              <a:rPr lang="el" sz="1700"/>
              <a:t>How to build and deploy Production ML Systems</a:t>
            </a:r>
            <a:endParaRPr sz="1700"/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r>
              <a:rPr lang="el" sz="1700"/>
              <a:t>Learn the full ML life cycle</a:t>
            </a:r>
            <a:endParaRPr sz="1700"/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r>
              <a:rPr lang="el" sz="1700"/>
              <a:t>How to evaluate your model</a:t>
            </a:r>
            <a:endParaRPr sz="1700"/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r>
              <a:rPr lang="el" sz="1700"/>
              <a:t>Difference between online predictions and batch predictions</a:t>
            </a:r>
            <a:endParaRPr sz="1700"/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r>
              <a:rPr lang="el" sz="1700"/>
              <a:t>How to choose between cloud &amp; edge for serving</a:t>
            </a:r>
            <a:endParaRPr sz="1700"/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r>
              <a:rPr lang="el" sz="1700"/>
              <a:t>…</a:t>
            </a:r>
            <a:endParaRPr sz="1700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700"/>
          </a:p>
        </p:txBody>
      </p:sp>
      <p:sp>
        <p:nvSpPr>
          <p:cNvPr id="145" name="Google Shape;145;p24"/>
          <p:cNvSpPr txBox="1"/>
          <p:nvPr/>
        </p:nvSpPr>
        <p:spPr>
          <a:xfrm>
            <a:off x="243525" y="1079788"/>
            <a:ext cx="5122500" cy="45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l" sz="1700">
                <a:solidFill>
                  <a:schemeClr val="dk2"/>
                </a:solidFill>
              </a:rPr>
              <a:t>This is </a:t>
            </a:r>
            <a:r>
              <a:rPr lang="el" sz="1700">
                <a:solidFill>
                  <a:srgbClr val="FF0000"/>
                </a:solidFill>
              </a:rPr>
              <a:t>not </a:t>
            </a:r>
            <a:r>
              <a:rPr lang="el" sz="1700">
                <a:solidFill>
                  <a:schemeClr val="dk2"/>
                </a:solidFill>
              </a:rPr>
              <a:t>a Machine Learning (ML) Course</a:t>
            </a:r>
            <a:endParaRPr sz="17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2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l"/>
              <a:t>Prerequisites</a:t>
            </a:r>
            <a:endParaRPr/>
          </a:p>
        </p:txBody>
      </p:sp>
      <p:sp>
        <p:nvSpPr>
          <p:cNvPr id="151" name="Google Shape;151;p2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l"/>
              <a:t>Python (Basic Python </a:t>
            </a:r>
            <a:r>
              <a:rPr b="1" lang="el" sz="1400">
                <a:solidFill>
                  <a:srgbClr val="242424"/>
                </a:solidFill>
                <a:highlight>
                  <a:srgbClr val="FFFFFF"/>
                </a:highlight>
              </a:rPr>
              <a:t>🐍</a:t>
            </a:r>
            <a:r>
              <a:rPr lang="el"/>
              <a:t>)</a:t>
            </a:r>
            <a:endParaRPr b="1" sz="1400">
              <a:solidFill>
                <a:srgbClr val="242424"/>
              </a:solidFill>
              <a:highlight>
                <a:srgbClr val="FFFFFF"/>
              </a:highlight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l"/>
              <a:t>Basic Understanding of Machine Learning concepts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l"/>
              <a:t>Some understanding of Computer Systems.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l"/>
              <a:t>There is a small review ML and some examples :)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l"/>
              <a:t>I can also offer further help to any of these!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2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l"/>
              <a:t>Grading</a:t>
            </a:r>
            <a:endParaRPr/>
          </a:p>
        </p:txBody>
      </p:sp>
      <p:sp>
        <p:nvSpPr>
          <p:cNvPr id="157" name="Google Shape;157;p26"/>
          <p:cNvSpPr txBox="1"/>
          <p:nvPr>
            <p:ph idx="1" type="body"/>
          </p:nvPr>
        </p:nvSpPr>
        <p:spPr>
          <a:xfrm>
            <a:off x="311700" y="1152475"/>
            <a:ext cx="8520600" cy="364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l"/>
              <a:t>The final grade will be based on the following</a:t>
            </a:r>
            <a:endParaRPr/>
          </a:p>
          <a:p>
            <a:pPr indent="-304800" lvl="0" marL="3600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l"/>
              <a:t>60% Oral Exam</a:t>
            </a:r>
            <a:endParaRPr/>
          </a:p>
          <a:p>
            <a:pPr indent="-304800" lvl="0" marL="3600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l"/>
              <a:t>40% Project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l"/>
              <a:t>There are (optional) </a:t>
            </a:r>
            <a:r>
              <a:rPr lang="el">
                <a:solidFill>
                  <a:srgbClr val="FF00FF"/>
                </a:solidFill>
              </a:rPr>
              <a:t>questionnaires</a:t>
            </a:r>
            <a:r>
              <a:rPr lang="el">
                <a:solidFill>
                  <a:srgbClr val="FF00FF"/>
                </a:solidFill>
              </a:rPr>
              <a:t>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l"/>
              <a:t>There are also ML exercises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l"/>
              <a:t>Exam will be in the form of </a:t>
            </a:r>
            <a:r>
              <a:rPr lang="el">
                <a:solidFill>
                  <a:srgbClr val="FF00FF"/>
                </a:solidFill>
              </a:rPr>
              <a:t>discussion</a:t>
            </a:r>
            <a:endParaRPr>
              <a:solidFill>
                <a:srgbClr val="FF00FF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l">
                <a:solidFill>
                  <a:srgbClr val="FF00FF"/>
                </a:solidFill>
              </a:rPr>
              <a:t>Assignment </a:t>
            </a:r>
            <a:r>
              <a:rPr lang="el"/>
              <a:t>t</a:t>
            </a:r>
            <a:r>
              <a:rPr lang="el"/>
              <a:t>opic is a simple deployment of an ML App.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2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l"/>
              <a:t>Potential Exam topic</a:t>
            </a:r>
            <a:endParaRPr/>
          </a:p>
        </p:txBody>
      </p:sp>
      <p:sp>
        <p:nvSpPr>
          <p:cNvPr id="163" name="Google Shape;163;p27"/>
          <p:cNvSpPr txBox="1"/>
          <p:nvPr>
            <p:ph idx="1" type="body"/>
          </p:nvPr>
        </p:nvSpPr>
        <p:spPr>
          <a:xfrm>
            <a:off x="311700" y="1425125"/>
            <a:ext cx="4655100" cy="2885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l" sz="1600"/>
              <a:t>You work with Uber. </a:t>
            </a:r>
            <a:endParaRPr sz="16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l" sz="1600"/>
              <a:t>Your task is design an ML-Based app that predicts the number of taxi rides in Manhattan</a:t>
            </a:r>
            <a:endParaRPr sz="1600"/>
          </a:p>
          <a:p>
            <a:pPr indent="-187325" lvl="0" marL="360000" rtl="0" algn="l">
              <a:spcBef>
                <a:spcPts val="1200"/>
              </a:spcBef>
              <a:spcAft>
                <a:spcPts val="0"/>
              </a:spcAft>
              <a:buSzPts val="1600"/>
              <a:buChar char="-"/>
            </a:pPr>
            <a:r>
              <a:rPr lang="el" sz="1600"/>
              <a:t>Every next hour</a:t>
            </a:r>
            <a:endParaRPr sz="1600"/>
          </a:p>
          <a:p>
            <a:pPr indent="-187325" lvl="0" marL="360000" rtl="0" algn="l">
              <a:spcBef>
                <a:spcPts val="0"/>
              </a:spcBef>
              <a:spcAft>
                <a:spcPts val="0"/>
              </a:spcAft>
              <a:buSzPts val="1600"/>
              <a:buChar char="-"/>
            </a:pPr>
            <a:r>
              <a:rPr lang="el" sz="1600"/>
              <a:t>For each taxi zone</a:t>
            </a:r>
            <a:endParaRPr sz="16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l" sz="1600"/>
              <a:t>Avoid technical details (model selection etc)</a:t>
            </a:r>
            <a:endParaRPr sz="1600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l" sz="1600"/>
              <a:t>Try to come-up with a good system design.</a:t>
            </a:r>
            <a:endParaRPr sz="1600"/>
          </a:p>
        </p:txBody>
      </p:sp>
      <p:pic>
        <p:nvPicPr>
          <p:cNvPr id="164" name="Google Shape;164;p27"/>
          <p:cNvPicPr preferRelativeResize="0"/>
          <p:nvPr/>
        </p:nvPicPr>
        <p:blipFill rotWithShape="1">
          <a:blip r:embed="rId3">
            <a:alphaModFix/>
          </a:blip>
          <a:srcRect b="6162" l="5524" r="5940" t="6302"/>
          <a:stretch/>
        </p:blipFill>
        <p:spPr>
          <a:xfrm>
            <a:off x="8196600" y="4206849"/>
            <a:ext cx="947400" cy="936648"/>
          </a:xfrm>
          <a:prstGeom prst="rect">
            <a:avLst/>
          </a:prstGeom>
          <a:noFill/>
          <a:ln>
            <a:noFill/>
          </a:ln>
        </p:spPr>
      </p:pic>
      <p:pic>
        <p:nvPicPr>
          <p:cNvPr id="165" name="Google Shape;165;p27"/>
          <p:cNvPicPr preferRelativeResize="0"/>
          <p:nvPr/>
        </p:nvPicPr>
        <p:blipFill rotWithShape="1">
          <a:blip r:embed="rId4">
            <a:alphaModFix/>
          </a:blip>
          <a:srcRect b="0" l="-1810" r="1810" t="0"/>
          <a:stretch/>
        </p:blipFill>
        <p:spPr>
          <a:xfrm>
            <a:off x="5002062" y="1204050"/>
            <a:ext cx="2849774" cy="3689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2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l"/>
              <a:t>Resources</a:t>
            </a:r>
            <a:endParaRPr/>
          </a:p>
        </p:txBody>
      </p:sp>
      <p:pic>
        <p:nvPicPr>
          <p:cNvPr id="171" name="Google Shape;171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700" y="1101700"/>
            <a:ext cx="1675950" cy="2180550"/>
          </a:xfrm>
          <a:prstGeom prst="rect">
            <a:avLst/>
          </a:prstGeom>
          <a:noFill/>
          <a:ln>
            <a:noFill/>
          </a:ln>
        </p:spPr>
      </p:pic>
      <p:sp>
        <p:nvSpPr>
          <p:cNvPr id="172" name="Google Shape;172;p28"/>
          <p:cNvSpPr txBox="1"/>
          <p:nvPr/>
        </p:nvSpPr>
        <p:spPr>
          <a:xfrm>
            <a:off x="359000" y="3657125"/>
            <a:ext cx="6854400" cy="158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l"/>
              <a:t>deeplearning.ai : Machine Learning for production (MLOps) specialization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l"/>
              <a:t>neptune.ai: MLOps: What it is, Why it Matters, and How to Implement it? 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l" u="sng">
                <a:solidFill>
                  <a:schemeClr val="hlink"/>
                </a:solidFill>
                <a:hlinkClick r:id="rId4"/>
              </a:rPr>
              <a:t>https://madewithml.com/</a:t>
            </a:r>
            <a:r>
              <a:rPr lang="el"/>
              <a:t> 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l"/>
              <a:t>Stanford CS 329S: Machine Learning Systems Design</a:t>
            </a:r>
            <a:endParaRPr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3" name="Google Shape;173;p28"/>
          <p:cNvSpPr txBox="1"/>
          <p:nvPr/>
        </p:nvSpPr>
        <p:spPr>
          <a:xfrm>
            <a:off x="4018950" y="1477575"/>
            <a:ext cx="5196000" cy="1249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l"/>
              <a:t>Designing Machine Learning Systems by Chip Huyen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l"/>
              <a:t>Machine Learning Engineering with Python by Andrew P. MacMahon</a:t>
            </a:r>
            <a:endParaRPr/>
          </a:p>
        </p:txBody>
      </p:sp>
      <p:pic>
        <p:nvPicPr>
          <p:cNvPr id="174" name="Google Shape;174;p2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129375" y="1101700"/>
            <a:ext cx="1747844" cy="21805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2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l"/>
              <a:t>Software we will talk about</a:t>
            </a:r>
            <a:endParaRPr/>
          </a:p>
        </p:txBody>
      </p:sp>
      <p:sp>
        <p:nvSpPr>
          <p:cNvPr id="180" name="Google Shape;180;p29"/>
          <p:cNvSpPr txBox="1"/>
          <p:nvPr>
            <p:ph idx="1" type="body"/>
          </p:nvPr>
        </p:nvSpPr>
        <p:spPr>
          <a:xfrm>
            <a:off x="311700" y="1152475"/>
            <a:ext cx="8520600" cy="405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l"/>
              <a:t>Python🐍 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l"/>
              <a:t>Compatibility</a:t>
            </a:r>
            <a:r>
              <a:rPr lang="el"/>
              <a:t> with MLOps Tools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l"/>
              <a:t>Wide range of libraries for every task at hand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l"/>
              <a:t>Strong community support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l"/>
              <a:t>Tools: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l"/>
              <a:t>git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l"/>
              <a:t>docker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l"/>
              <a:t>fastAPI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l"/>
              <a:t>Google Cloud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l"/>
              <a:t>AWS</a:t>
            </a:r>
            <a:endParaRPr/>
          </a:p>
        </p:txBody>
      </p:sp>
      <p:pic>
        <p:nvPicPr>
          <p:cNvPr id="181" name="Google Shape;181;p2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936450" y="2998225"/>
            <a:ext cx="1775100" cy="741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2" name="Google Shape;182;p2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257275" y="3895775"/>
            <a:ext cx="1316125" cy="1126101"/>
          </a:xfrm>
          <a:prstGeom prst="rect">
            <a:avLst/>
          </a:prstGeom>
          <a:noFill/>
          <a:ln>
            <a:noFill/>
          </a:ln>
        </p:spPr>
      </p:pic>
      <p:pic>
        <p:nvPicPr>
          <p:cNvPr id="183" name="Google Shape;183;p29"/>
          <p:cNvPicPr preferRelativeResize="0"/>
          <p:nvPr/>
        </p:nvPicPr>
        <p:blipFill rotWithShape="1">
          <a:blip r:embed="rId5">
            <a:alphaModFix/>
          </a:blip>
          <a:srcRect b="0" l="10343" r="8016" t="0"/>
          <a:stretch/>
        </p:blipFill>
        <p:spPr>
          <a:xfrm>
            <a:off x="6093774" y="2891825"/>
            <a:ext cx="2158924" cy="953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4" name="Google Shape;184;p29"/>
          <p:cNvPicPr preferRelativeResize="0"/>
          <p:nvPr/>
        </p:nvPicPr>
        <p:blipFill rotWithShape="1">
          <a:blip r:embed="rId6">
            <a:alphaModFix/>
          </a:blip>
          <a:srcRect b="20858" l="24581" r="24428" t="20435"/>
          <a:stretch/>
        </p:blipFill>
        <p:spPr>
          <a:xfrm>
            <a:off x="6025925" y="3922349"/>
            <a:ext cx="1775100" cy="107296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30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l"/>
              <a:t>Example!!</a:t>
            </a: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3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l"/>
              <a:t>Deployment Example</a:t>
            </a:r>
            <a:endParaRPr/>
          </a:p>
        </p:txBody>
      </p:sp>
      <p:sp>
        <p:nvSpPr>
          <p:cNvPr id="195" name="Google Shape;195;p31"/>
          <p:cNvSpPr txBox="1"/>
          <p:nvPr/>
        </p:nvSpPr>
        <p:spPr>
          <a:xfrm>
            <a:off x="-52500" y="907025"/>
            <a:ext cx="7636500" cy="766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186099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l"/>
              <a:t>Use computer vision on a production line to inspect if phones have defects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96" name="Google Shape;196;p31"/>
          <p:cNvPicPr preferRelativeResize="0"/>
          <p:nvPr/>
        </p:nvPicPr>
        <p:blipFill rotWithShape="1">
          <a:blip r:embed="rId3">
            <a:alphaModFix/>
          </a:blip>
          <a:srcRect b="0" l="30842" r="31863" t="0"/>
          <a:stretch/>
        </p:blipFill>
        <p:spPr>
          <a:xfrm>
            <a:off x="405100" y="1999237"/>
            <a:ext cx="1310526" cy="2635576"/>
          </a:xfrm>
          <a:prstGeom prst="rect">
            <a:avLst/>
          </a:prstGeom>
          <a:noFill/>
          <a:ln>
            <a:noFill/>
          </a:ln>
        </p:spPr>
      </p:pic>
      <p:sp>
        <p:nvSpPr>
          <p:cNvPr id="197" name="Google Shape;197;p31"/>
          <p:cNvSpPr txBox="1"/>
          <p:nvPr/>
        </p:nvSpPr>
        <p:spPr>
          <a:xfrm>
            <a:off x="180575" y="4591350"/>
            <a:ext cx="1857900" cy="409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l"/>
              <a:t>Photo from a camera</a:t>
            </a:r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3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l"/>
              <a:t>Deployment Example</a:t>
            </a:r>
            <a:endParaRPr/>
          </a:p>
        </p:txBody>
      </p:sp>
      <p:sp>
        <p:nvSpPr>
          <p:cNvPr id="203" name="Google Shape;203;p32"/>
          <p:cNvSpPr txBox="1"/>
          <p:nvPr/>
        </p:nvSpPr>
        <p:spPr>
          <a:xfrm>
            <a:off x="-52500" y="907025"/>
            <a:ext cx="7636500" cy="766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186099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l"/>
              <a:t>Use computer vision on a production line to inspect if phones have defects</a:t>
            </a:r>
            <a:endParaRPr/>
          </a:p>
          <a:p>
            <a:pPr indent="-186099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l"/>
              <a:t>Detect scratches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04" name="Google Shape;204;p32"/>
          <p:cNvPicPr preferRelativeResize="0"/>
          <p:nvPr/>
        </p:nvPicPr>
        <p:blipFill rotWithShape="1">
          <a:blip r:embed="rId3">
            <a:alphaModFix/>
          </a:blip>
          <a:srcRect b="0" l="30842" r="31863" t="0"/>
          <a:stretch/>
        </p:blipFill>
        <p:spPr>
          <a:xfrm>
            <a:off x="405100" y="1999237"/>
            <a:ext cx="1310526" cy="2635576"/>
          </a:xfrm>
          <a:prstGeom prst="rect">
            <a:avLst/>
          </a:prstGeom>
          <a:noFill/>
          <a:ln>
            <a:noFill/>
          </a:ln>
        </p:spPr>
      </p:pic>
      <p:sp>
        <p:nvSpPr>
          <p:cNvPr id="205" name="Google Shape;205;p32"/>
          <p:cNvSpPr txBox="1"/>
          <p:nvPr/>
        </p:nvSpPr>
        <p:spPr>
          <a:xfrm>
            <a:off x="180575" y="4591350"/>
            <a:ext cx="1857900" cy="409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l"/>
              <a:t>Photo from a camera</a:t>
            </a:r>
            <a:endParaRPr/>
          </a:p>
        </p:txBody>
      </p:sp>
      <p:sp>
        <p:nvSpPr>
          <p:cNvPr id="206" name="Google Shape;206;p32"/>
          <p:cNvSpPr/>
          <p:nvPr/>
        </p:nvSpPr>
        <p:spPr>
          <a:xfrm>
            <a:off x="1104325" y="3801475"/>
            <a:ext cx="335900" cy="309225"/>
          </a:xfrm>
          <a:custGeom>
            <a:rect b="b" l="l" r="r" t="t"/>
            <a:pathLst>
              <a:path extrusionOk="0" h="12369" w="13436">
                <a:moveTo>
                  <a:pt x="0" y="12281"/>
                </a:moveTo>
                <a:cubicBezTo>
                  <a:pt x="1540" y="12211"/>
                  <a:pt x="7488" y="12702"/>
                  <a:pt x="9237" y="11862"/>
                </a:cubicBezTo>
                <a:cubicBezTo>
                  <a:pt x="10986" y="11022"/>
                  <a:pt x="10426" y="9203"/>
                  <a:pt x="10496" y="7243"/>
                </a:cubicBezTo>
                <a:cubicBezTo>
                  <a:pt x="10566" y="5284"/>
                  <a:pt x="9167" y="315"/>
                  <a:pt x="9657" y="105"/>
                </a:cubicBezTo>
                <a:cubicBezTo>
                  <a:pt x="10147" y="-105"/>
                  <a:pt x="12806" y="5003"/>
                  <a:pt x="13436" y="5983"/>
                </a:cubicBezTo>
              </a:path>
            </a:pathLst>
          </a:custGeom>
          <a:noFill/>
          <a:ln cap="flat" cmpd="sng" w="19050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3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l"/>
              <a:t>Deployment Example</a:t>
            </a:r>
            <a:endParaRPr/>
          </a:p>
        </p:txBody>
      </p:sp>
      <p:pic>
        <p:nvPicPr>
          <p:cNvPr id="212" name="Google Shape;212;p33"/>
          <p:cNvPicPr preferRelativeResize="0"/>
          <p:nvPr/>
        </p:nvPicPr>
        <p:blipFill rotWithShape="1">
          <a:blip r:embed="rId3">
            <a:alphaModFix/>
          </a:blip>
          <a:srcRect b="0" l="30842" r="31863" t="0"/>
          <a:stretch/>
        </p:blipFill>
        <p:spPr>
          <a:xfrm>
            <a:off x="405100" y="1999237"/>
            <a:ext cx="1310526" cy="2635576"/>
          </a:xfrm>
          <a:prstGeom prst="rect">
            <a:avLst/>
          </a:prstGeom>
          <a:noFill/>
          <a:ln>
            <a:noFill/>
          </a:ln>
        </p:spPr>
      </p:pic>
      <p:sp>
        <p:nvSpPr>
          <p:cNvPr id="213" name="Google Shape;213;p33"/>
          <p:cNvSpPr txBox="1"/>
          <p:nvPr/>
        </p:nvSpPr>
        <p:spPr>
          <a:xfrm>
            <a:off x="180575" y="4591350"/>
            <a:ext cx="1857900" cy="409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l"/>
              <a:t>Photo from a camera</a:t>
            </a:r>
            <a:endParaRPr/>
          </a:p>
        </p:txBody>
      </p:sp>
      <p:sp>
        <p:nvSpPr>
          <p:cNvPr id="214" name="Google Shape;214;p33"/>
          <p:cNvSpPr txBox="1"/>
          <p:nvPr/>
        </p:nvSpPr>
        <p:spPr>
          <a:xfrm>
            <a:off x="-52500" y="907025"/>
            <a:ext cx="7636500" cy="766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186099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l"/>
              <a:t>Use computer vision on a production line to inspect if phones have defects</a:t>
            </a:r>
            <a:endParaRPr/>
          </a:p>
          <a:p>
            <a:pPr indent="-186099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l"/>
              <a:t>Detect scratches</a:t>
            </a:r>
            <a:endParaRPr/>
          </a:p>
          <a:p>
            <a:pPr indent="-186099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l"/>
              <a:t>Add a boundary box </a:t>
            </a:r>
            <a:endParaRPr/>
          </a:p>
        </p:txBody>
      </p:sp>
      <p:sp>
        <p:nvSpPr>
          <p:cNvPr id="215" name="Google Shape;215;p33"/>
          <p:cNvSpPr/>
          <p:nvPr/>
        </p:nvSpPr>
        <p:spPr>
          <a:xfrm>
            <a:off x="1104325" y="3801475"/>
            <a:ext cx="335900" cy="309225"/>
          </a:xfrm>
          <a:custGeom>
            <a:rect b="b" l="l" r="r" t="t"/>
            <a:pathLst>
              <a:path extrusionOk="0" h="12369" w="13436">
                <a:moveTo>
                  <a:pt x="0" y="12281"/>
                </a:moveTo>
                <a:cubicBezTo>
                  <a:pt x="1540" y="12211"/>
                  <a:pt x="7488" y="12702"/>
                  <a:pt x="9237" y="11862"/>
                </a:cubicBezTo>
                <a:cubicBezTo>
                  <a:pt x="10986" y="11022"/>
                  <a:pt x="10426" y="9203"/>
                  <a:pt x="10496" y="7243"/>
                </a:cubicBezTo>
                <a:cubicBezTo>
                  <a:pt x="10566" y="5284"/>
                  <a:pt x="9167" y="315"/>
                  <a:pt x="9657" y="105"/>
                </a:cubicBezTo>
                <a:cubicBezTo>
                  <a:pt x="10147" y="-105"/>
                  <a:pt x="12806" y="5003"/>
                  <a:pt x="13436" y="5983"/>
                </a:cubicBezTo>
              </a:path>
            </a:pathLst>
          </a:custGeom>
          <a:noFill/>
          <a:ln cap="flat" cmpd="sng" w="19050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216" name="Google Shape;216;p33"/>
          <p:cNvSpPr/>
          <p:nvPr/>
        </p:nvSpPr>
        <p:spPr>
          <a:xfrm>
            <a:off x="1036025" y="3719838"/>
            <a:ext cx="472500" cy="472500"/>
          </a:xfrm>
          <a:prstGeom prst="rect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3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l"/>
              <a:t>Deployment Example</a:t>
            </a:r>
            <a:endParaRPr/>
          </a:p>
        </p:txBody>
      </p:sp>
      <p:pic>
        <p:nvPicPr>
          <p:cNvPr id="222" name="Google Shape;222;p34"/>
          <p:cNvPicPr preferRelativeResize="0"/>
          <p:nvPr/>
        </p:nvPicPr>
        <p:blipFill rotWithShape="1">
          <a:blip r:embed="rId3">
            <a:alphaModFix/>
          </a:blip>
          <a:srcRect b="0" l="30842" r="31863" t="0"/>
          <a:stretch/>
        </p:blipFill>
        <p:spPr>
          <a:xfrm>
            <a:off x="405100" y="1999237"/>
            <a:ext cx="1310526" cy="2635576"/>
          </a:xfrm>
          <a:prstGeom prst="rect">
            <a:avLst/>
          </a:prstGeom>
          <a:noFill/>
          <a:ln>
            <a:noFill/>
          </a:ln>
        </p:spPr>
      </p:pic>
      <p:sp>
        <p:nvSpPr>
          <p:cNvPr id="223" name="Google Shape;223;p34"/>
          <p:cNvSpPr txBox="1"/>
          <p:nvPr/>
        </p:nvSpPr>
        <p:spPr>
          <a:xfrm>
            <a:off x="180575" y="4591350"/>
            <a:ext cx="1857900" cy="409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l"/>
              <a:t>Photo from a camera</a:t>
            </a:r>
            <a:endParaRPr/>
          </a:p>
        </p:txBody>
      </p:sp>
      <p:sp>
        <p:nvSpPr>
          <p:cNvPr id="224" name="Google Shape;224;p34"/>
          <p:cNvSpPr txBox="1"/>
          <p:nvPr/>
        </p:nvSpPr>
        <p:spPr>
          <a:xfrm>
            <a:off x="-52500" y="907025"/>
            <a:ext cx="7636500" cy="109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186099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l"/>
              <a:t>Use computer vision on a production line to inspect if phones have defects</a:t>
            </a:r>
            <a:endParaRPr/>
          </a:p>
          <a:p>
            <a:pPr indent="-186099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l"/>
              <a:t>Detect scratches</a:t>
            </a:r>
            <a:endParaRPr/>
          </a:p>
          <a:p>
            <a:pPr indent="-186099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l"/>
              <a:t>Add a boundary box </a:t>
            </a:r>
            <a:endParaRPr/>
          </a:p>
          <a:p>
            <a:pPr indent="-186099" lvl="0" marL="457200" rtl="0" algn="l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400"/>
              <a:buChar char="●"/>
            </a:pPr>
            <a:r>
              <a:rPr lang="el">
                <a:solidFill>
                  <a:srgbClr val="FF0000"/>
                </a:solidFill>
              </a:rPr>
              <a:t>How do you use this model in production?</a:t>
            </a:r>
            <a:endParaRPr>
              <a:solidFill>
                <a:srgbClr val="FF0000"/>
              </a:solidFill>
            </a:endParaRPr>
          </a:p>
        </p:txBody>
      </p:sp>
      <p:sp>
        <p:nvSpPr>
          <p:cNvPr id="225" name="Google Shape;225;p34"/>
          <p:cNvSpPr/>
          <p:nvPr/>
        </p:nvSpPr>
        <p:spPr>
          <a:xfrm>
            <a:off x="1104325" y="3801475"/>
            <a:ext cx="335900" cy="309225"/>
          </a:xfrm>
          <a:custGeom>
            <a:rect b="b" l="l" r="r" t="t"/>
            <a:pathLst>
              <a:path extrusionOk="0" h="12369" w="13436">
                <a:moveTo>
                  <a:pt x="0" y="12281"/>
                </a:moveTo>
                <a:cubicBezTo>
                  <a:pt x="1540" y="12211"/>
                  <a:pt x="7488" y="12702"/>
                  <a:pt x="9237" y="11862"/>
                </a:cubicBezTo>
                <a:cubicBezTo>
                  <a:pt x="10986" y="11022"/>
                  <a:pt x="10426" y="9203"/>
                  <a:pt x="10496" y="7243"/>
                </a:cubicBezTo>
                <a:cubicBezTo>
                  <a:pt x="10566" y="5284"/>
                  <a:pt x="9167" y="315"/>
                  <a:pt x="9657" y="105"/>
                </a:cubicBezTo>
                <a:cubicBezTo>
                  <a:pt x="10147" y="-105"/>
                  <a:pt x="12806" y="5003"/>
                  <a:pt x="13436" y="5983"/>
                </a:cubicBezTo>
              </a:path>
            </a:pathLst>
          </a:custGeom>
          <a:noFill/>
          <a:ln cap="flat" cmpd="sng" w="19050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226" name="Google Shape;226;p34"/>
          <p:cNvSpPr/>
          <p:nvPr/>
        </p:nvSpPr>
        <p:spPr>
          <a:xfrm>
            <a:off x="1036025" y="3719838"/>
            <a:ext cx="472500" cy="472500"/>
          </a:xfrm>
          <a:prstGeom prst="rect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1" name="Google Shape;231;p35"/>
          <p:cNvPicPr preferRelativeResize="0"/>
          <p:nvPr/>
        </p:nvPicPr>
        <p:blipFill rotWithShape="1">
          <a:blip r:embed="rId3">
            <a:alphaModFix/>
          </a:blip>
          <a:srcRect b="28641" l="15460" r="15886" t="29429"/>
          <a:stretch/>
        </p:blipFill>
        <p:spPr>
          <a:xfrm>
            <a:off x="1896075" y="2382875"/>
            <a:ext cx="2612300" cy="1824900"/>
          </a:xfrm>
          <a:prstGeom prst="rect">
            <a:avLst/>
          </a:prstGeom>
          <a:noFill/>
          <a:ln>
            <a:noFill/>
          </a:ln>
        </p:spPr>
      </p:pic>
      <p:sp>
        <p:nvSpPr>
          <p:cNvPr id="232" name="Google Shape;232;p3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l"/>
              <a:t>Deployment Example</a:t>
            </a:r>
            <a:endParaRPr/>
          </a:p>
        </p:txBody>
      </p:sp>
      <p:pic>
        <p:nvPicPr>
          <p:cNvPr id="233" name="Google Shape;233;p35"/>
          <p:cNvPicPr preferRelativeResize="0"/>
          <p:nvPr/>
        </p:nvPicPr>
        <p:blipFill rotWithShape="1">
          <a:blip r:embed="rId4">
            <a:alphaModFix/>
          </a:blip>
          <a:srcRect b="0" l="30842" r="31863" t="0"/>
          <a:stretch/>
        </p:blipFill>
        <p:spPr>
          <a:xfrm>
            <a:off x="405100" y="1999237"/>
            <a:ext cx="1310526" cy="2635576"/>
          </a:xfrm>
          <a:prstGeom prst="rect">
            <a:avLst/>
          </a:prstGeom>
          <a:noFill/>
          <a:ln>
            <a:noFill/>
          </a:ln>
        </p:spPr>
      </p:pic>
      <p:sp>
        <p:nvSpPr>
          <p:cNvPr id="234" name="Google Shape;234;p35"/>
          <p:cNvSpPr txBox="1"/>
          <p:nvPr/>
        </p:nvSpPr>
        <p:spPr>
          <a:xfrm>
            <a:off x="180575" y="4591350"/>
            <a:ext cx="1857900" cy="409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l"/>
              <a:t>Photo from a camera</a:t>
            </a:r>
            <a:endParaRPr/>
          </a:p>
        </p:txBody>
      </p:sp>
      <p:sp>
        <p:nvSpPr>
          <p:cNvPr id="235" name="Google Shape;235;p35"/>
          <p:cNvSpPr txBox="1"/>
          <p:nvPr/>
        </p:nvSpPr>
        <p:spPr>
          <a:xfrm>
            <a:off x="-52500" y="907025"/>
            <a:ext cx="7636500" cy="109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186099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l"/>
              <a:t>Use computer vision on a production line to inspect if phones have defects</a:t>
            </a:r>
            <a:endParaRPr/>
          </a:p>
          <a:p>
            <a:pPr indent="-186099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l"/>
              <a:t>Detect scratches</a:t>
            </a:r>
            <a:endParaRPr/>
          </a:p>
          <a:p>
            <a:pPr indent="-186099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l"/>
              <a:t>Add a boundary box </a:t>
            </a:r>
            <a:endParaRPr/>
          </a:p>
          <a:p>
            <a:pPr indent="-186099" lvl="0" marL="457200" rtl="0" algn="l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400"/>
              <a:buChar char="●"/>
            </a:pPr>
            <a:r>
              <a:rPr lang="el">
                <a:solidFill>
                  <a:srgbClr val="FF0000"/>
                </a:solidFill>
              </a:rPr>
              <a:t>How do you use this model in production?</a:t>
            </a:r>
            <a:endParaRPr>
              <a:solidFill>
                <a:srgbClr val="FF0000"/>
              </a:solidFill>
            </a:endParaRPr>
          </a:p>
        </p:txBody>
      </p:sp>
      <p:sp>
        <p:nvSpPr>
          <p:cNvPr id="236" name="Google Shape;236;p35"/>
          <p:cNvSpPr/>
          <p:nvPr/>
        </p:nvSpPr>
        <p:spPr>
          <a:xfrm>
            <a:off x="1104325" y="3801475"/>
            <a:ext cx="335900" cy="309225"/>
          </a:xfrm>
          <a:custGeom>
            <a:rect b="b" l="l" r="r" t="t"/>
            <a:pathLst>
              <a:path extrusionOk="0" h="12369" w="13436">
                <a:moveTo>
                  <a:pt x="0" y="12281"/>
                </a:moveTo>
                <a:cubicBezTo>
                  <a:pt x="1540" y="12211"/>
                  <a:pt x="7488" y="12702"/>
                  <a:pt x="9237" y="11862"/>
                </a:cubicBezTo>
                <a:cubicBezTo>
                  <a:pt x="10986" y="11022"/>
                  <a:pt x="10426" y="9203"/>
                  <a:pt x="10496" y="7243"/>
                </a:cubicBezTo>
                <a:cubicBezTo>
                  <a:pt x="10566" y="5284"/>
                  <a:pt x="9167" y="315"/>
                  <a:pt x="9657" y="105"/>
                </a:cubicBezTo>
                <a:cubicBezTo>
                  <a:pt x="10147" y="-105"/>
                  <a:pt x="12806" y="5003"/>
                  <a:pt x="13436" y="5983"/>
                </a:cubicBezTo>
              </a:path>
            </a:pathLst>
          </a:custGeom>
          <a:noFill/>
          <a:ln cap="flat" cmpd="sng" w="19050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237" name="Google Shape;237;p35"/>
          <p:cNvSpPr/>
          <p:nvPr/>
        </p:nvSpPr>
        <p:spPr>
          <a:xfrm>
            <a:off x="1036025" y="3719838"/>
            <a:ext cx="472500" cy="472500"/>
          </a:xfrm>
          <a:prstGeom prst="rect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8" name="Google Shape;238;p35"/>
          <p:cNvSpPr/>
          <p:nvPr/>
        </p:nvSpPr>
        <p:spPr>
          <a:xfrm>
            <a:off x="6583675" y="1988125"/>
            <a:ext cx="2466900" cy="285510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9" name="Google Shape;239;p35"/>
          <p:cNvSpPr txBox="1"/>
          <p:nvPr/>
        </p:nvSpPr>
        <p:spPr>
          <a:xfrm>
            <a:off x="6583675" y="1999325"/>
            <a:ext cx="1752900" cy="409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l"/>
              <a:t>Edge Device</a:t>
            </a:r>
            <a:endParaRPr/>
          </a:p>
        </p:txBody>
      </p:sp>
      <p:sp>
        <p:nvSpPr>
          <p:cNvPr id="240" name="Google Shape;240;p35"/>
          <p:cNvSpPr/>
          <p:nvPr/>
        </p:nvSpPr>
        <p:spPr>
          <a:xfrm>
            <a:off x="6846025" y="2408825"/>
            <a:ext cx="1920900" cy="218250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1" name="Google Shape;241;p35"/>
          <p:cNvSpPr txBox="1"/>
          <p:nvPr/>
        </p:nvSpPr>
        <p:spPr>
          <a:xfrm>
            <a:off x="6846025" y="2434263"/>
            <a:ext cx="12282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l"/>
              <a:t>Inspection Software</a:t>
            </a:r>
            <a:endParaRPr/>
          </a:p>
        </p:txBody>
      </p:sp>
      <p:pic>
        <p:nvPicPr>
          <p:cNvPr id="242" name="Google Shape;242;p35"/>
          <p:cNvPicPr preferRelativeResize="0"/>
          <p:nvPr/>
        </p:nvPicPr>
        <p:blipFill rotWithShape="1">
          <a:blip r:embed="rId5">
            <a:alphaModFix/>
          </a:blip>
          <a:srcRect b="33457" l="10604" r="11761" t="26400"/>
          <a:stretch/>
        </p:blipFill>
        <p:spPr>
          <a:xfrm>
            <a:off x="7177276" y="3199476"/>
            <a:ext cx="565700" cy="409500"/>
          </a:xfrm>
          <a:prstGeom prst="rect">
            <a:avLst/>
          </a:prstGeom>
          <a:noFill/>
          <a:ln>
            <a:noFill/>
          </a:ln>
        </p:spPr>
      </p:pic>
      <p:sp>
        <p:nvSpPr>
          <p:cNvPr id="243" name="Google Shape;243;p35"/>
          <p:cNvSpPr/>
          <p:nvPr/>
        </p:nvSpPr>
        <p:spPr>
          <a:xfrm>
            <a:off x="7062975" y="3129325"/>
            <a:ext cx="1532700" cy="57270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4" name="Google Shape;244;p35"/>
          <p:cNvSpPr txBox="1"/>
          <p:nvPr/>
        </p:nvSpPr>
        <p:spPr>
          <a:xfrm>
            <a:off x="7758875" y="3187000"/>
            <a:ext cx="1091700" cy="17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l"/>
              <a:t>Camera</a:t>
            </a:r>
            <a:endParaRPr/>
          </a:p>
        </p:txBody>
      </p:sp>
      <p:pic>
        <p:nvPicPr>
          <p:cNvPr id="245" name="Google Shape;245;p35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7177275" y="3824381"/>
            <a:ext cx="565700" cy="519044"/>
          </a:xfrm>
          <a:prstGeom prst="rect">
            <a:avLst/>
          </a:prstGeom>
          <a:noFill/>
          <a:ln>
            <a:noFill/>
          </a:ln>
        </p:spPr>
      </p:pic>
      <p:sp>
        <p:nvSpPr>
          <p:cNvPr id="246" name="Google Shape;246;p35"/>
          <p:cNvSpPr/>
          <p:nvPr/>
        </p:nvSpPr>
        <p:spPr>
          <a:xfrm>
            <a:off x="7062975" y="3801475"/>
            <a:ext cx="1532700" cy="57270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7" name="Google Shape;247;p35"/>
          <p:cNvSpPr txBox="1"/>
          <p:nvPr/>
        </p:nvSpPr>
        <p:spPr>
          <a:xfrm>
            <a:off x="7627875" y="3772950"/>
            <a:ext cx="1091700" cy="62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l"/>
              <a:t>Control Software</a:t>
            </a:r>
            <a:endParaRPr/>
          </a:p>
        </p:txBody>
      </p:sp>
      <p:pic>
        <p:nvPicPr>
          <p:cNvPr id="248" name="Google Shape;248;p35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2471800" y="3107569"/>
            <a:ext cx="472500" cy="787506"/>
          </a:xfrm>
          <a:prstGeom prst="rect">
            <a:avLst/>
          </a:prstGeom>
          <a:noFill/>
          <a:ln>
            <a:noFill/>
          </a:ln>
        </p:spPr>
      </p:pic>
      <p:sp>
        <p:nvSpPr>
          <p:cNvPr id="249" name="Google Shape;249;p35"/>
          <p:cNvSpPr txBox="1"/>
          <p:nvPr/>
        </p:nvSpPr>
        <p:spPr>
          <a:xfrm>
            <a:off x="2944300" y="3196050"/>
            <a:ext cx="997200" cy="6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l"/>
              <a:t>Prediction</a:t>
            </a:r>
            <a:endParaRPr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l"/>
              <a:t>Server</a:t>
            </a:r>
            <a:endParaRPr/>
          </a:p>
        </p:txBody>
      </p:sp>
      <p:sp>
        <p:nvSpPr>
          <p:cNvPr id="250" name="Google Shape;250;p35"/>
          <p:cNvSpPr/>
          <p:nvPr/>
        </p:nvSpPr>
        <p:spPr>
          <a:xfrm>
            <a:off x="2408975" y="3119425"/>
            <a:ext cx="1605600" cy="78750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1" name="Google Shape;251;p35"/>
          <p:cNvSpPr/>
          <p:nvPr/>
        </p:nvSpPr>
        <p:spPr>
          <a:xfrm>
            <a:off x="4532838" y="3702025"/>
            <a:ext cx="1794900" cy="3093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43434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2" name="Google Shape;252;p35"/>
          <p:cNvSpPr/>
          <p:nvPr/>
        </p:nvSpPr>
        <p:spPr>
          <a:xfrm rot="10800000">
            <a:off x="4454138" y="3006975"/>
            <a:ext cx="1794900" cy="3093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434343"/>
          </a:solidFill>
          <a:ln cap="flat" cmpd="sng" w="9525">
            <a:solidFill>
              <a:srgbClr val="1E1E1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3" name="Google Shape;253;p35"/>
          <p:cNvSpPr txBox="1"/>
          <p:nvPr/>
        </p:nvSpPr>
        <p:spPr>
          <a:xfrm>
            <a:off x="5078675" y="2710875"/>
            <a:ext cx="565800" cy="27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l" sz="1600"/>
              <a:t>API</a:t>
            </a:r>
            <a:endParaRPr b="1" sz="1600"/>
          </a:p>
        </p:txBody>
      </p:sp>
      <p:sp>
        <p:nvSpPr>
          <p:cNvPr id="254" name="Google Shape;254;p35"/>
          <p:cNvSpPr txBox="1"/>
          <p:nvPr/>
        </p:nvSpPr>
        <p:spPr>
          <a:xfrm>
            <a:off x="4890825" y="3895075"/>
            <a:ext cx="1310400" cy="27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l" sz="1600"/>
              <a:t>Predict</a:t>
            </a:r>
            <a:endParaRPr b="1" sz="1600"/>
          </a:p>
        </p:txBody>
      </p:sp>
      <p:sp>
        <p:nvSpPr>
          <p:cNvPr id="255" name="Google Shape;255;p35"/>
          <p:cNvSpPr txBox="1"/>
          <p:nvPr/>
        </p:nvSpPr>
        <p:spPr>
          <a:xfrm>
            <a:off x="2282825" y="4394850"/>
            <a:ext cx="1857900" cy="30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l"/>
              <a:t>ML model: F(X) =&gt; Y</a:t>
            </a:r>
            <a:endParaRPr/>
          </a:p>
        </p:txBody>
      </p:sp>
      <p:cxnSp>
        <p:nvCxnSpPr>
          <p:cNvPr id="256" name="Google Shape;256;p35"/>
          <p:cNvCxnSpPr/>
          <p:nvPr/>
        </p:nvCxnSpPr>
        <p:spPr>
          <a:xfrm>
            <a:off x="3098700" y="4110700"/>
            <a:ext cx="0" cy="4200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57" name="Google Shape;257;p35"/>
          <p:cNvSpPr/>
          <p:nvPr/>
        </p:nvSpPr>
        <p:spPr>
          <a:xfrm>
            <a:off x="3634050" y="2156075"/>
            <a:ext cx="409375" cy="356900"/>
          </a:xfrm>
          <a:custGeom>
            <a:rect b="b" l="l" r="r" t="t"/>
            <a:pathLst>
              <a:path extrusionOk="0" h="14276" w="16375">
                <a:moveTo>
                  <a:pt x="0" y="14276"/>
                </a:moveTo>
                <a:cubicBezTo>
                  <a:pt x="490" y="12457"/>
                  <a:pt x="210" y="5738"/>
                  <a:pt x="2939" y="3359"/>
                </a:cubicBezTo>
                <a:cubicBezTo>
                  <a:pt x="5668" y="980"/>
                  <a:pt x="14136" y="560"/>
                  <a:pt x="16375" y="0"/>
                </a:cubicBezTo>
              </a:path>
            </a:pathLst>
          </a:custGeom>
          <a:noFill/>
          <a:ln cap="flat" cmpd="sng" w="19050">
            <a:solidFill>
              <a:srgbClr val="4A86E8"/>
            </a:solidFill>
            <a:prstDash val="solid"/>
            <a:round/>
            <a:headEnd len="med" w="med" type="stealth"/>
            <a:tailEnd len="med" w="med" type="none"/>
          </a:ln>
        </p:spPr>
      </p:sp>
      <p:sp>
        <p:nvSpPr>
          <p:cNvPr id="258" name="Google Shape;258;p35"/>
          <p:cNvSpPr txBox="1"/>
          <p:nvPr/>
        </p:nvSpPr>
        <p:spPr>
          <a:xfrm>
            <a:off x="4463300" y="2051100"/>
            <a:ext cx="4700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9" name="Google Shape;259;p35"/>
          <p:cNvSpPr txBox="1"/>
          <p:nvPr/>
        </p:nvSpPr>
        <p:spPr>
          <a:xfrm>
            <a:off x="4014575" y="1923250"/>
            <a:ext cx="1490700" cy="35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l"/>
              <a:t>Cloud server</a:t>
            </a:r>
            <a:endParaRPr/>
          </a:p>
        </p:txBody>
      </p:sp>
      <p:sp>
        <p:nvSpPr>
          <p:cNvPr id="260" name="Google Shape;260;p35"/>
          <p:cNvSpPr txBox="1"/>
          <p:nvPr/>
        </p:nvSpPr>
        <p:spPr>
          <a:xfrm>
            <a:off x="8167175" y="2749100"/>
            <a:ext cx="275100" cy="309300"/>
          </a:xfrm>
          <a:prstGeom prst="rect">
            <a:avLst/>
          </a:prstGeom>
          <a:noFill/>
          <a:ln cap="flat" cmpd="sng" w="28575">
            <a:solidFill>
              <a:srgbClr val="FF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l"/>
              <a:t>1</a:t>
            </a:r>
            <a:endParaRPr>
              <a:solidFill>
                <a:srgbClr val="FF00FF"/>
              </a:solidFill>
            </a:endParaRPr>
          </a:p>
        </p:txBody>
      </p:sp>
      <p:sp>
        <p:nvSpPr>
          <p:cNvPr id="261" name="Google Shape;261;p35"/>
          <p:cNvSpPr txBox="1"/>
          <p:nvPr/>
        </p:nvSpPr>
        <p:spPr>
          <a:xfrm>
            <a:off x="5644475" y="2696025"/>
            <a:ext cx="275100" cy="309300"/>
          </a:xfrm>
          <a:prstGeom prst="rect">
            <a:avLst/>
          </a:prstGeom>
          <a:noFill/>
          <a:ln cap="flat" cmpd="sng" w="28575">
            <a:solidFill>
              <a:srgbClr val="FF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l"/>
              <a:t>2</a:t>
            </a:r>
            <a:endParaRPr>
              <a:solidFill>
                <a:srgbClr val="FF00FF"/>
              </a:solidFill>
            </a:endParaRPr>
          </a:p>
        </p:txBody>
      </p:sp>
      <p:sp>
        <p:nvSpPr>
          <p:cNvPr id="262" name="Google Shape;262;p35"/>
          <p:cNvSpPr txBox="1"/>
          <p:nvPr/>
        </p:nvSpPr>
        <p:spPr>
          <a:xfrm>
            <a:off x="2823600" y="2749100"/>
            <a:ext cx="275100" cy="309300"/>
          </a:xfrm>
          <a:prstGeom prst="rect">
            <a:avLst/>
          </a:prstGeom>
          <a:noFill/>
          <a:ln cap="flat" cmpd="sng" w="28575">
            <a:solidFill>
              <a:srgbClr val="FF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l"/>
              <a:t>3</a:t>
            </a:r>
            <a:endParaRPr>
              <a:solidFill>
                <a:srgbClr val="FF00FF"/>
              </a:solidFill>
            </a:endParaRPr>
          </a:p>
        </p:txBody>
      </p:sp>
      <p:sp>
        <p:nvSpPr>
          <p:cNvPr id="263" name="Google Shape;263;p35"/>
          <p:cNvSpPr txBox="1"/>
          <p:nvPr/>
        </p:nvSpPr>
        <p:spPr>
          <a:xfrm>
            <a:off x="5161575" y="3421100"/>
            <a:ext cx="275100" cy="309300"/>
          </a:xfrm>
          <a:prstGeom prst="rect">
            <a:avLst/>
          </a:prstGeom>
          <a:noFill/>
          <a:ln cap="flat" cmpd="sng" w="28575">
            <a:solidFill>
              <a:srgbClr val="FF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l"/>
              <a:t>4</a:t>
            </a:r>
            <a:endParaRPr>
              <a:solidFill>
                <a:srgbClr val="FF00FF"/>
              </a:solidFill>
            </a:endParaRPr>
          </a:p>
        </p:txBody>
      </p:sp>
      <p:sp>
        <p:nvSpPr>
          <p:cNvPr id="264" name="Google Shape;264;p35"/>
          <p:cNvSpPr txBox="1"/>
          <p:nvPr/>
        </p:nvSpPr>
        <p:spPr>
          <a:xfrm>
            <a:off x="7799125" y="4343425"/>
            <a:ext cx="275100" cy="309300"/>
          </a:xfrm>
          <a:prstGeom prst="rect">
            <a:avLst/>
          </a:prstGeom>
          <a:noFill/>
          <a:ln cap="flat" cmpd="sng" w="28575">
            <a:solidFill>
              <a:srgbClr val="FF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l"/>
              <a:t>5</a:t>
            </a:r>
            <a:endParaRPr>
              <a:solidFill>
                <a:srgbClr val="FF00FF"/>
              </a:solidFill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8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9" name="Google Shape;269;p36"/>
          <p:cNvPicPr preferRelativeResize="0"/>
          <p:nvPr/>
        </p:nvPicPr>
        <p:blipFill rotWithShape="1">
          <a:blip r:embed="rId3">
            <a:alphaModFix/>
          </a:blip>
          <a:srcRect b="28641" l="15460" r="15886" t="29429"/>
          <a:stretch/>
        </p:blipFill>
        <p:spPr>
          <a:xfrm>
            <a:off x="1896075" y="2382875"/>
            <a:ext cx="2612300" cy="1824900"/>
          </a:xfrm>
          <a:prstGeom prst="rect">
            <a:avLst/>
          </a:prstGeom>
          <a:noFill/>
          <a:ln>
            <a:noFill/>
          </a:ln>
        </p:spPr>
      </p:pic>
      <p:sp>
        <p:nvSpPr>
          <p:cNvPr id="270" name="Google Shape;270;p3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l"/>
              <a:t>Deployment Example</a:t>
            </a:r>
            <a:endParaRPr/>
          </a:p>
        </p:txBody>
      </p:sp>
      <p:pic>
        <p:nvPicPr>
          <p:cNvPr id="271" name="Google Shape;271;p36"/>
          <p:cNvPicPr preferRelativeResize="0"/>
          <p:nvPr/>
        </p:nvPicPr>
        <p:blipFill rotWithShape="1">
          <a:blip r:embed="rId4">
            <a:alphaModFix/>
          </a:blip>
          <a:srcRect b="0" l="30842" r="31863" t="0"/>
          <a:stretch/>
        </p:blipFill>
        <p:spPr>
          <a:xfrm>
            <a:off x="405100" y="1999237"/>
            <a:ext cx="1310526" cy="2635576"/>
          </a:xfrm>
          <a:prstGeom prst="rect">
            <a:avLst/>
          </a:prstGeom>
          <a:noFill/>
          <a:ln>
            <a:noFill/>
          </a:ln>
        </p:spPr>
      </p:pic>
      <p:sp>
        <p:nvSpPr>
          <p:cNvPr id="272" name="Google Shape;272;p36"/>
          <p:cNvSpPr txBox="1"/>
          <p:nvPr/>
        </p:nvSpPr>
        <p:spPr>
          <a:xfrm>
            <a:off x="180575" y="4591350"/>
            <a:ext cx="1857900" cy="409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l"/>
              <a:t>Photo from a camera</a:t>
            </a:r>
            <a:endParaRPr/>
          </a:p>
        </p:txBody>
      </p:sp>
      <p:sp>
        <p:nvSpPr>
          <p:cNvPr id="273" name="Google Shape;273;p36"/>
          <p:cNvSpPr txBox="1"/>
          <p:nvPr/>
        </p:nvSpPr>
        <p:spPr>
          <a:xfrm>
            <a:off x="-52500" y="907025"/>
            <a:ext cx="7636500" cy="109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186099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l"/>
              <a:t>Use computer vision on a production line to inspect if phones have defects</a:t>
            </a:r>
            <a:endParaRPr/>
          </a:p>
          <a:p>
            <a:pPr indent="-186099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l"/>
              <a:t>Detect scratches</a:t>
            </a:r>
            <a:endParaRPr/>
          </a:p>
          <a:p>
            <a:pPr indent="-186099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l"/>
              <a:t>Add a boundary box </a:t>
            </a:r>
            <a:endParaRPr/>
          </a:p>
          <a:p>
            <a:pPr indent="-186099" lvl="0" marL="457200" rtl="0" algn="l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400"/>
              <a:buChar char="●"/>
            </a:pPr>
            <a:r>
              <a:rPr lang="el">
                <a:solidFill>
                  <a:srgbClr val="FF0000"/>
                </a:solidFill>
              </a:rPr>
              <a:t>How do you use this model in production?</a:t>
            </a:r>
            <a:endParaRPr>
              <a:solidFill>
                <a:srgbClr val="FF0000"/>
              </a:solidFill>
            </a:endParaRPr>
          </a:p>
        </p:txBody>
      </p:sp>
      <p:sp>
        <p:nvSpPr>
          <p:cNvPr id="274" name="Google Shape;274;p36"/>
          <p:cNvSpPr/>
          <p:nvPr/>
        </p:nvSpPr>
        <p:spPr>
          <a:xfrm>
            <a:off x="1104325" y="3801475"/>
            <a:ext cx="335900" cy="309225"/>
          </a:xfrm>
          <a:custGeom>
            <a:rect b="b" l="l" r="r" t="t"/>
            <a:pathLst>
              <a:path extrusionOk="0" h="12369" w="13436">
                <a:moveTo>
                  <a:pt x="0" y="12281"/>
                </a:moveTo>
                <a:cubicBezTo>
                  <a:pt x="1540" y="12211"/>
                  <a:pt x="7488" y="12702"/>
                  <a:pt x="9237" y="11862"/>
                </a:cubicBezTo>
                <a:cubicBezTo>
                  <a:pt x="10986" y="11022"/>
                  <a:pt x="10426" y="9203"/>
                  <a:pt x="10496" y="7243"/>
                </a:cubicBezTo>
                <a:cubicBezTo>
                  <a:pt x="10566" y="5284"/>
                  <a:pt x="9167" y="315"/>
                  <a:pt x="9657" y="105"/>
                </a:cubicBezTo>
                <a:cubicBezTo>
                  <a:pt x="10147" y="-105"/>
                  <a:pt x="12806" y="5003"/>
                  <a:pt x="13436" y="5983"/>
                </a:cubicBezTo>
              </a:path>
            </a:pathLst>
          </a:custGeom>
          <a:noFill/>
          <a:ln cap="flat" cmpd="sng" w="19050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275" name="Google Shape;275;p36"/>
          <p:cNvSpPr/>
          <p:nvPr/>
        </p:nvSpPr>
        <p:spPr>
          <a:xfrm>
            <a:off x="1036025" y="3719838"/>
            <a:ext cx="472500" cy="472500"/>
          </a:xfrm>
          <a:prstGeom prst="rect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6" name="Google Shape;276;p36"/>
          <p:cNvSpPr/>
          <p:nvPr/>
        </p:nvSpPr>
        <p:spPr>
          <a:xfrm>
            <a:off x="6583675" y="1988125"/>
            <a:ext cx="2466900" cy="285510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7" name="Google Shape;277;p36"/>
          <p:cNvSpPr txBox="1"/>
          <p:nvPr/>
        </p:nvSpPr>
        <p:spPr>
          <a:xfrm>
            <a:off x="6583675" y="1999325"/>
            <a:ext cx="1752900" cy="409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l"/>
              <a:t>Edge Device</a:t>
            </a:r>
            <a:endParaRPr/>
          </a:p>
        </p:txBody>
      </p:sp>
      <p:sp>
        <p:nvSpPr>
          <p:cNvPr id="278" name="Google Shape;278;p36"/>
          <p:cNvSpPr/>
          <p:nvPr/>
        </p:nvSpPr>
        <p:spPr>
          <a:xfrm>
            <a:off x="6846025" y="2408825"/>
            <a:ext cx="1920900" cy="218250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9" name="Google Shape;279;p36"/>
          <p:cNvSpPr txBox="1"/>
          <p:nvPr/>
        </p:nvSpPr>
        <p:spPr>
          <a:xfrm>
            <a:off x="6846025" y="2434263"/>
            <a:ext cx="12282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l"/>
              <a:t>Inspection Software</a:t>
            </a:r>
            <a:endParaRPr/>
          </a:p>
        </p:txBody>
      </p:sp>
      <p:pic>
        <p:nvPicPr>
          <p:cNvPr id="280" name="Google Shape;280;p36"/>
          <p:cNvPicPr preferRelativeResize="0"/>
          <p:nvPr/>
        </p:nvPicPr>
        <p:blipFill rotWithShape="1">
          <a:blip r:embed="rId5">
            <a:alphaModFix/>
          </a:blip>
          <a:srcRect b="33457" l="10604" r="11761" t="26400"/>
          <a:stretch/>
        </p:blipFill>
        <p:spPr>
          <a:xfrm>
            <a:off x="7177276" y="3199476"/>
            <a:ext cx="565700" cy="409500"/>
          </a:xfrm>
          <a:prstGeom prst="rect">
            <a:avLst/>
          </a:prstGeom>
          <a:noFill/>
          <a:ln>
            <a:noFill/>
          </a:ln>
        </p:spPr>
      </p:pic>
      <p:sp>
        <p:nvSpPr>
          <p:cNvPr id="281" name="Google Shape;281;p36"/>
          <p:cNvSpPr/>
          <p:nvPr/>
        </p:nvSpPr>
        <p:spPr>
          <a:xfrm>
            <a:off x="7062975" y="3129325"/>
            <a:ext cx="1532700" cy="57270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2" name="Google Shape;282;p36"/>
          <p:cNvSpPr txBox="1"/>
          <p:nvPr/>
        </p:nvSpPr>
        <p:spPr>
          <a:xfrm>
            <a:off x="7758875" y="3187000"/>
            <a:ext cx="1091700" cy="17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l"/>
              <a:t>Camera</a:t>
            </a:r>
            <a:endParaRPr/>
          </a:p>
        </p:txBody>
      </p:sp>
      <p:pic>
        <p:nvPicPr>
          <p:cNvPr id="283" name="Google Shape;283;p36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7177275" y="3824381"/>
            <a:ext cx="565700" cy="519044"/>
          </a:xfrm>
          <a:prstGeom prst="rect">
            <a:avLst/>
          </a:prstGeom>
          <a:noFill/>
          <a:ln>
            <a:noFill/>
          </a:ln>
        </p:spPr>
      </p:pic>
      <p:sp>
        <p:nvSpPr>
          <p:cNvPr id="284" name="Google Shape;284;p36"/>
          <p:cNvSpPr/>
          <p:nvPr/>
        </p:nvSpPr>
        <p:spPr>
          <a:xfrm>
            <a:off x="7062975" y="3801475"/>
            <a:ext cx="1532700" cy="57270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5" name="Google Shape;285;p36"/>
          <p:cNvSpPr txBox="1"/>
          <p:nvPr/>
        </p:nvSpPr>
        <p:spPr>
          <a:xfrm>
            <a:off x="7627875" y="3772950"/>
            <a:ext cx="1091700" cy="62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l"/>
              <a:t>Control Software</a:t>
            </a:r>
            <a:endParaRPr/>
          </a:p>
        </p:txBody>
      </p:sp>
      <p:pic>
        <p:nvPicPr>
          <p:cNvPr id="286" name="Google Shape;286;p36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2471800" y="3107569"/>
            <a:ext cx="472500" cy="787506"/>
          </a:xfrm>
          <a:prstGeom prst="rect">
            <a:avLst/>
          </a:prstGeom>
          <a:noFill/>
          <a:ln>
            <a:noFill/>
          </a:ln>
        </p:spPr>
      </p:pic>
      <p:sp>
        <p:nvSpPr>
          <p:cNvPr id="287" name="Google Shape;287;p36"/>
          <p:cNvSpPr txBox="1"/>
          <p:nvPr/>
        </p:nvSpPr>
        <p:spPr>
          <a:xfrm>
            <a:off x="2944300" y="3196050"/>
            <a:ext cx="997200" cy="6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l"/>
              <a:t>Prediction</a:t>
            </a:r>
            <a:endParaRPr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l"/>
              <a:t>Server</a:t>
            </a:r>
            <a:endParaRPr/>
          </a:p>
        </p:txBody>
      </p:sp>
      <p:sp>
        <p:nvSpPr>
          <p:cNvPr id="288" name="Google Shape;288;p36"/>
          <p:cNvSpPr/>
          <p:nvPr/>
        </p:nvSpPr>
        <p:spPr>
          <a:xfrm>
            <a:off x="2408975" y="3119425"/>
            <a:ext cx="1605600" cy="78750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9" name="Google Shape;289;p36"/>
          <p:cNvSpPr/>
          <p:nvPr/>
        </p:nvSpPr>
        <p:spPr>
          <a:xfrm>
            <a:off x="4532838" y="3702025"/>
            <a:ext cx="1794900" cy="3093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43434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0" name="Google Shape;290;p36"/>
          <p:cNvSpPr/>
          <p:nvPr/>
        </p:nvSpPr>
        <p:spPr>
          <a:xfrm rot="10800000">
            <a:off x="4454138" y="3006975"/>
            <a:ext cx="1794900" cy="3093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434343"/>
          </a:solidFill>
          <a:ln cap="flat" cmpd="sng" w="9525">
            <a:solidFill>
              <a:srgbClr val="1E1E1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1" name="Google Shape;291;p36"/>
          <p:cNvSpPr txBox="1"/>
          <p:nvPr/>
        </p:nvSpPr>
        <p:spPr>
          <a:xfrm>
            <a:off x="5078675" y="2710875"/>
            <a:ext cx="565800" cy="27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l" sz="1600"/>
              <a:t>API</a:t>
            </a:r>
            <a:endParaRPr b="1" sz="1600"/>
          </a:p>
        </p:txBody>
      </p:sp>
      <p:sp>
        <p:nvSpPr>
          <p:cNvPr id="292" name="Google Shape;292;p36"/>
          <p:cNvSpPr txBox="1"/>
          <p:nvPr/>
        </p:nvSpPr>
        <p:spPr>
          <a:xfrm>
            <a:off x="4890825" y="3895075"/>
            <a:ext cx="1310400" cy="27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l" sz="1600"/>
              <a:t>Predict</a:t>
            </a:r>
            <a:endParaRPr b="1" sz="1600"/>
          </a:p>
        </p:txBody>
      </p:sp>
      <p:sp>
        <p:nvSpPr>
          <p:cNvPr id="293" name="Google Shape;293;p36"/>
          <p:cNvSpPr txBox="1"/>
          <p:nvPr/>
        </p:nvSpPr>
        <p:spPr>
          <a:xfrm>
            <a:off x="2282825" y="4394850"/>
            <a:ext cx="1857900" cy="30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l"/>
              <a:t>ML model: F(X) =&gt; Y</a:t>
            </a:r>
            <a:endParaRPr/>
          </a:p>
        </p:txBody>
      </p:sp>
      <p:cxnSp>
        <p:nvCxnSpPr>
          <p:cNvPr id="294" name="Google Shape;294;p36"/>
          <p:cNvCxnSpPr/>
          <p:nvPr/>
        </p:nvCxnSpPr>
        <p:spPr>
          <a:xfrm>
            <a:off x="3098700" y="4110700"/>
            <a:ext cx="0" cy="4200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95" name="Google Shape;295;p36"/>
          <p:cNvSpPr/>
          <p:nvPr/>
        </p:nvSpPr>
        <p:spPr>
          <a:xfrm>
            <a:off x="3634050" y="2156075"/>
            <a:ext cx="409375" cy="356900"/>
          </a:xfrm>
          <a:custGeom>
            <a:rect b="b" l="l" r="r" t="t"/>
            <a:pathLst>
              <a:path extrusionOk="0" h="14276" w="16375">
                <a:moveTo>
                  <a:pt x="0" y="14276"/>
                </a:moveTo>
                <a:cubicBezTo>
                  <a:pt x="490" y="12457"/>
                  <a:pt x="210" y="5738"/>
                  <a:pt x="2939" y="3359"/>
                </a:cubicBezTo>
                <a:cubicBezTo>
                  <a:pt x="5668" y="980"/>
                  <a:pt x="14136" y="560"/>
                  <a:pt x="16375" y="0"/>
                </a:cubicBezTo>
              </a:path>
            </a:pathLst>
          </a:custGeom>
          <a:noFill/>
          <a:ln cap="flat" cmpd="sng" w="19050">
            <a:solidFill>
              <a:srgbClr val="4A86E8"/>
            </a:solidFill>
            <a:prstDash val="solid"/>
            <a:round/>
            <a:headEnd len="med" w="med" type="stealth"/>
            <a:tailEnd len="med" w="med" type="none"/>
          </a:ln>
        </p:spPr>
      </p:sp>
      <p:sp>
        <p:nvSpPr>
          <p:cNvPr id="296" name="Google Shape;296;p36"/>
          <p:cNvSpPr txBox="1"/>
          <p:nvPr/>
        </p:nvSpPr>
        <p:spPr>
          <a:xfrm>
            <a:off x="4463300" y="2051100"/>
            <a:ext cx="4700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7" name="Google Shape;297;p36"/>
          <p:cNvSpPr txBox="1"/>
          <p:nvPr/>
        </p:nvSpPr>
        <p:spPr>
          <a:xfrm>
            <a:off x="4014575" y="1923250"/>
            <a:ext cx="1490700" cy="35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l"/>
              <a:t>Cloud server</a:t>
            </a:r>
            <a:endParaRPr/>
          </a:p>
        </p:txBody>
      </p:sp>
      <p:sp>
        <p:nvSpPr>
          <p:cNvPr id="298" name="Google Shape;298;p36"/>
          <p:cNvSpPr txBox="1"/>
          <p:nvPr/>
        </p:nvSpPr>
        <p:spPr>
          <a:xfrm>
            <a:off x="8167175" y="2749100"/>
            <a:ext cx="275100" cy="309300"/>
          </a:xfrm>
          <a:prstGeom prst="rect">
            <a:avLst/>
          </a:prstGeom>
          <a:noFill/>
          <a:ln cap="flat" cmpd="sng" w="28575">
            <a:solidFill>
              <a:srgbClr val="FF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l"/>
              <a:t>1</a:t>
            </a:r>
            <a:endParaRPr>
              <a:solidFill>
                <a:srgbClr val="FF00FF"/>
              </a:solidFill>
            </a:endParaRPr>
          </a:p>
        </p:txBody>
      </p:sp>
      <p:sp>
        <p:nvSpPr>
          <p:cNvPr id="299" name="Google Shape;299;p36"/>
          <p:cNvSpPr txBox="1"/>
          <p:nvPr/>
        </p:nvSpPr>
        <p:spPr>
          <a:xfrm>
            <a:off x="5644475" y="2696025"/>
            <a:ext cx="275100" cy="309300"/>
          </a:xfrm>
          <a:prstGeom prst="rect">
            <a:avLst/>
          </a:prstGeom>
          <a:noFill/>
          <a:ln cap="flat" cmpd="sng" w="28575">
            <a:solidFill>
              <a:srgbClr val="FF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l"/>
              <a:t>2</a:t>
            </a:r>
            <a:endParaRPr>
              <a:solidFill>
                <a:srgbClr val="FF00FF"/>
              </a:solidFill>
            </a:endParaRPr>
          </a:p>
        </p:txBody>
      </p:sp>
      <p:sp>
        <p:nvSpPr>
          <p:cNvPr id="300" name="Google Shape;300;p36"/>
          <p:cNvSpPr txBox="1"/>
          <p:nvPr/>
        </p:nvSpPr>
        <p:spPr>
          <a:xfrm>
            <a:off x="2823600" y="2749100"/>
            <a:ext cx="275100" cy="309300"/>
          </a:xfrm>
          <a:prstGeom prst="rect">
            <a:avLst/>
          </a:prstGeom>
          <a:noFill/>
          <a:ln cap="flat" cmpd="sng" w="28575">
            <a:solidFill>
              <a:srgbClr val="FF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l"/>
              <a:t>3</a:t>
            </a:r>
            <a:endParaRPr>
              <a:solidFill>
                <a:srgbClr val="FF00FF"/>
              </a:solidFill>
            </a:endParaRPr>
          </a:p>
        </p:txBody>
      </p:sp>
      <p:sp>
        <p:nvSpPr>
          <p:cNvPr id="301" name="Google Shape;301;p36"/>
          <p:cNvSpPr txBox="1"/>
          <p:nvPr/>
        </p:nvSpPr>
        <p:spPr>
          <a:xfrm>
            <a:off x="5161575" y="3421100"/>
            <a:ext cx="275100" cy="309300"/>
          </a:xfrm>
          <a:prstGeom prst="rect">
            <a:avLst/>
          </a:prstGeom>
          <a:noFill/>
          <a:ln cap="flat" cmpd="sng" w="28575">
            <a:solidFill>
              <a:srgbClr val="FF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l"/>
              <a:t>4</a:t>
            </a:r>
            <a:endParaRPr>
              <a:solidFill>
                <a:srgbClr val="FF00FF"/>
              </a:solidFill>
            </a:endParaRPr>
          </a:p>
        </p:txBody>
      </p:sp>
      <p:sp>
        <p:nvSpPr>
          <p:cNvPr id="302" name="Google Shape;302;p36"/>
          <p:cNvSpPr txBox="1"/>
          <p:nvPr/>
        </p:nvSpPr>
        <p:spPr>
          <a:xfrm>
            <a:off x="7799125" y="4343425"/>
            <a:ext cx="275100" cy="309300"/>
          </a:xfrm>
          <a:prstGeom prst="rect">
            <a:avLst/>
          </a:prstGeom>
          <a:noFill/>
          <a:ln cap="flat" cmpd="sng" w="28575">
            <a:solidFill>
              <a:srgbClr val="FF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l"/>
              <a:t>5</a:t>
            </a:r>
            <a:endParaRPr>
              <a:solidFill>
                <a:srgbClr val="FF00FF"/>
              </a:solidFill>
            </a:endParaRPr>
          </a:p>
        </p:txBody>
      </p:sp>
      <p:sp>
        <p:nvSpPr>
          <p:cNvPr id="303" name="Google Shape;303;p36"/>
          <p:cNvSpPr/>
          <p:nvPr/>
        </p:nvSpPr>
        <p:spPr>
          <a:xfrm>
            <a:off x="1952750" y="1868450"/>
            <a:ext cx="7147800" cy="3275100"/>
          </a:xfrm>
          <a:prstGeom prst="rect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4" name="Google Shape;304;p36"/>
          <p:cNvSpPr txBox="1"/>
          <p:nvPr/>
        </p:nvSpPr>
        <p:spPr>
          <a:xfrm>
            <a:off x="6772625" y="795825"/>
            <a:ext cx="2204400" cy="483000"/>
          </a:xfrm>
          <a:prstGeom prst="rect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l" sz="1500"/>
              <a:t>A complete ML system</a:t>
            </a:r>
            <a:endParaRPr sz="1500"/>
          </a:p>
        </p:txBody>
      </p:sp>
      <p:cxnSp>
        <p:nvCxnSpPr>
          <p:cNvPr id="305" name="Google Shape;305;p36"/>
          <p:cNvCxnSpPr>
            <a:stCxn id="304" idx="2"/>
          </p:cNvCxnSpPr>
          <p:nvPr/>
        </p:nvCxnSpPr>
        <p:spPr>
          <a:xfrm>
            <a:off x="7874825" y="1278825"/>
            <a:ext cx="10500" cy="5625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9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p3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l"/>
              <a:t>Visual inspection example</a:t>
            </a:r>
            <a:endParaRPr/>
          </a:p>
        </p:txBody>
      </p:sp>
      <p:pic>
        <p:nvPicPr>
          <p:cNvPr id="311" name="Google Shape;311;p37"/>
          <p:cNvPicPr preferRelativeResize="0"/>
          <p:nvPr/>
        </p:nvPicPr>
        <p:blipFill rotWithShape="1">
          <a:blip r:embed="rId3">
            <a:alphaModFix/>
          </a:blip>
          <a:srcRect b="0" l="30842" r="31863" t="0"/>
          <a:stretch/>
        </p:blipFill>
        <p:spPr>
          <a:xfrm>
            <a:off x="532150" y="1306437"/>
            <a:ext cx="1310526" cy="2635576"/>
          </a:xfrm>
          <a:prstGeom prst="rect">
            <a:avLst/>
          </a:prstGeom>
          <a:noFill/>
          <a:ln>
            <a:noFill/>
          </a:ln>
        </p:spPr>
      </p:pic>
      <p:pic>
        <p:nvPicPr>
          <p:cNvPr id="312" name="Google Shape;312;p37"/>
          <p:cNvPicPr preferRelativeResize="0"/>
          <p:nvPr/>
        </p:nvPicPr>
        <p:blipFill rotWithShape="1">
          <a:blip r:embed="rId3">
            <a:alphaModFix/>
          </a:blip>
          <a:srcRect b="0" l="30842" r="31863" t="0"/>
          <a:stretch/>
        </p:blipFill>
        <p:spPr>
          <a:xfrm>
            <a:off x="2866825" y="1306437"/>
            <a:ext cx="1310526" cy="2635576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313" name="Google Shape;313;p37"/>
          <p:cNvCxnSpPr/>
          <p:nvPr/>
        </p:nvCxnSpPr>
        <p:spPr>
          <a:xfrm flipH="1" rot="10800000">
            <a:off x="3182675" y="1799050"/>
            <a:ext cx="692700" cy="1459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14" name="Google Shape;314;p37"/>
          <p:cNvSpPr txBox="1"/>
          <p:nvPr/>
        </p:nvSpPr>
        <p:spPr>
          <a:xfrm>
            <a:off x="311700" y="3942025"/>
            <a:ext cx="4377300" cy="52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l"/>
              <a:t>Trained a detection algorithm with 98% accuracy</a:t>
            </a:r>
            <a:endParaRPr/>
          </a:p>
        </p:txBody>
      </p:sp>
      <p:sp>
        <p:nvSpPr>
          <p:cNvPr id="315" name="Google Shape;315;p37"/>
          <p:cNvSpPr txBox="1"/>
          <p:nvPr/>
        </p:nvSpPr>
        <p:spPr>
          <a:xfrm>
            <a:off x="5562038" y="626475"/>
            <a:ext cx="3062700" cy="461700"/>
          </a:xfrm>
          <a:prstGeom prst="rect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l"/>
              <a:t>MLOps has a continuous lifecycle </a:t>
            </a:r>
            <a:endParaRPr b="1"/>
          </a:p>
        </p:txBody>
      </p:sp>
      <p:pic>
        <p:nvPicPr>
          <p:cNvPr id="316" name="Google Shape;316;p3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838375" y="340237"/>
            <a:ext cx="723675" cy="78227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0" name="Shape 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Google Shape;321;p3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l"/>
              <a:t>Visual inspection example</a:t>
            </a:r>
            <a:endParaRPr/>
          </a:p>
        </p:txBody>
      </p:sp>
      <p:pic>
        <p:nvPicPr>
          <p:cNvPr id="322" name="Google Shape;322;p38"/>
          <p:cNvPicPr preferRelativeResize="0"/>
          <p:nvPr/>
        </p:nvPicPr>
        <p:blipFill rotWithShape="1">
          <a:blip r:embed="rId3">
            <a:alphaModFix/>
          </a:blip>
          <a:srcRect b="0" l="30842" r="31863" t="0"/>
          <a:stretch/>
        </p:blipFill>
        <p:spPr>
          <a:xfrm>
            <a:off x="532150" y="1306437"/>
            <a:ext cx="1310526" cy="2635576"/>
          </a:xfrm>
          <a:prstGeom prst="rect">
            <a:avLst/>
          </a:prstGeom>
          <a:noFill/>
          <a:ln>
            <a:noFill/>
          </a:ln>
        </p:spPr>
      </p:pic>
      <p:pic>
        <p:nvPicPr>
          <p:cNvPr id="323" name="Google Shape;323;p38"/>
          <p:cNvPicPr preferRelativeResize="0"/>
          <p:nvPr/>
        </p:nvPicPr>
        <p:blipFill rotWithShape="1">
          <a:blip r:embed="rId3">
            <a:alphaModFix/>
          </a:blip>
          <a:srcRect b="0" l="30842" r="31863" t="0"/>
          <a:stretch/>
        </p:blipFill>
        <p:spPr>
          <a:xfrm>
            <a:off x="2866825" y="1306437"/>
            <a:ext cx="1310526" cy="2635576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324" name="Google Shape;324;p38"/>
          <p:cNvCxnSpPr/>
          <p:nvPr/>
        </p:nvCxnSpPr>
        <p:spPr>
          <a:xfrm flipH="1" rot="10800000">
            <a:off x="3182675" y="1799050"/>
            <a:ext cx="692700" cy="1459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325" name="Google Shape;325;p3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438125" y="1325852"/>
            <a:ext cx="1310525" cy="2596749"/>
          </a:xfrm>
          <a:prstGeom prst="rect">
            <a:avLst/>
          </a:prstGeom>
          <a:noFill/>
          <a:ln>
            <a:noFill/>
          </a:ln>
        </p:spPr>
      </p:pic>
      <p:sp>
        <p:nvSpPr>
          <p:cNvPr id="326" name="Google Shape;326;p38"/>
          <p:cNvSpPr txBox="1"/>
          <p:nvPr/>
        </p:nvSpPr>
        <p:spPr>
          <a:xfrm>
            <a:off x="311700" y="3942025"/>
            <a:ext cx="4377300" cy="52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l"/>
              <a:t>Trained a detection algorithm with 98% accuracy</a:t>
            </a:r>
            <a:endParaRPr/>
          </a:p>
        </p:txBody>
      </p:sp>
      <p:sp>
        <p:nvSpPr>
          <p:cNvPr id="327" name="Google Shape;327;p38"/>
          <p:cNvSpPr txBox="1"/>
          <p:nvPr/>
        </p:nvSpPr>
        <p:spPr>
          <a:xfrm>
            <a:off x="5229575" y="4003550"/>
            <a:ext cx="3914400" cy="9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l"/>
              <a:t>Change of </a:t>
            </a:r>
            <a:r>
              <a:rPr lang="el"/>
              <a:t>light bulbs in the factory lead to lighting differences 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l"/>
              <a:t>New photos different than in the training set</a:t>
            </a:r>
            <a:endParaRPr/>
          </a:p>
        </p:txBody>
      </p:sp>
      <p:sp>
        <p:nvSpPr>
          <p:cNvPr id="328" name="Google Shape;328;p38"/>
          <p:cNvSpPr txBox="1"/>
          <p:nvPr/>
        </p:nvSpPr>
        <p:spPr>
          <a:xfrm>
            <a:off x="5562038" y="626475"/>
            <a:ext cx="3062700" cy="461700"/>
          </a:xfrm>
          <a:prstGeom prst="rect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l"/>
              <a:t>MLOps has a continuous lifecycle </a:t>
            </a:r>
            <a:endParaRPr b="1"/>
          </a:p>
        </p:txBody>
      </p:sp>
      <p:pic>
        <p:nvPicPr>
          <p:cNvPr id="329" name="Google Shape;329;p3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838375" y="340237"/>
            <a:ext cx="723675" cy="78227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3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Google Shape;334;p3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l"/>
              <a:t>Visual inspection example</a:t>
            </a:r>
            <a:endParaRPr/>
          </a:p>
        </p:txBody>
      </p:sp>
      <p:pic>
        <p:nvPicPr>
          <p:cNvPr id="335" name="Google Shape;335;p39"/>
          <p:cNvPicPr preferRelativeResize="0"/>
          <p:nvPr/>
        </p:nvPicPr>
        <p:blipFill rotWithShape="1">
          <a:blip r:embed="rId3">
            <a:alphaModFix/>
          </a:blip>
          <a:srcRect b="0" l="30842" r="31863" t="0"/>
          <a:stretch/>
        </p:blipFill>
        <p:spPr>
          <a:xfrm>
            <a:off x="532150" y="1306437"/>
            <a:ext cx="1310526" cy="2635576"/>
          </a:xfrm>
          <a:prstGeom prst="rect">
            <a:avLst/>
          </a:prstGeom>
          <a:noFill/>
          <a:ln>
            <a:noFill/>
          </a:ln>
        </p:spPr>
      </p:pic>
      <p:pic>
        <p:nvPicPr>
          <p:cNvPr id="336" name="Google Shape;336;p39"/>
          <p:cNvPicPr preferRelativeResize="0"/>
          <p:nvPr/>
        </p:nvPicPr>
        <p:blipFill rotWithShape="1">
          <a:blip r:embed="rId3">
            <a:alphaModFix/>
          </a:blip>
          <a:srcRect b="0" l="30842" r="31863" t="0"/>
          <a:stretch/>
        </p:blipFill>
        <p:spPr>
          <a:xfrm>
            <a:off x="2866825" y="1306437"/>
            <a:ext cx="1310526" cy="2635576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337" name="Google Shape;337;p39"/>
          <p:cNvCxnSpPr/>
          <p:nvPr/>
        </p:nvCxnSpPr>
        <p:spPr>
          <a:xfrm flipH="1" rot="10800000">
            <a:off x="3182675" y="1799050"/>
            <a:ext cx="692700" cy="1459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338" name="Google Shape;338;p3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438125" y="1325852"/>
            <a:ext cx="1310525" cy="2596749"/>
          </a:xfrm>
          <a:prstGeom prst="rect">
            <a:avLst/>
          </a:prstGeom>
          <a:noFill/>
          <a:ln>
            <a:noFill/>
          </a:ln>
        </p:spPr>
      </p:pic>
      <p:sp>
        <p:nvSpPr>
          <p:cNvPr id="339" name="Google Shape;339;p39"/>
          <p:cNvSpPr txBox="1"/>
          <p:nvPr/>
        </p:nvSpPr>
        <p:spPr>
          <a:xfrm>
            <a:off x="311700" y="3942025"/>
            <a:ext cx="4377300" cy="52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l"/>
              <a:t>Trained a detection algorithm with 98% accuracy</a:t>
            </a:r>
            <a:endParaRPr/>
          </a:p>
        </p:txBody>
      </p:sp>
      <p:sp>
        <p:nvSpPr>
          <p:cNvPr id="340" name="Google Shape;340;p39"/>
          <p:cNvSpPr txBox="1"/>
          <p:nvPr/>
        </p:nvSpPr>
        <p:spPr>
          <a:xfrm>
            <a:off x="5229575" y="4003550"/>
            <a:ext cx="3914400" cy="9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l"/>
              <a:t>Change of light bulbs in the factory lead to lighting differences 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l"/>
              <a:t>New photos different than in the training set</a:t>
            </a:r>
            <a:endParaRPr/>
          </a:p>
        </p:txBody>
      </p:sp>
      <p:sp>
        <p:nvSpPr>
          <p:cNvPr id="341" name="Google Shape;341;p39"/>
          <p:cNvSpPr txBox="1"/>
          <p:nvPr/>
        </p:nvSpPr>
        <p:spPr>
          <a:xfrm>
            <a:off x="5562038" y="626475"/>
            <a:ext cx="3062700" cy="461700"/>
          </a:xfrm>
          <a:prstGeom prst="rect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l"/>
              <a:t>MLOps has a continuous lifecycle </a:t>
            </a:r>
            <a:endParaRPr b="1"/>
          </a:p>
        </p:txBody>
      </p:sp>
      <p:pic>
        <p:nvPicPr>
          <p:cNvPr id="342" name="Google Shape;342;p3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838375" y="340237"/>
            <a:ext cx="723675" cy="782277"/>
          </a:xfrm>
          <a:prstGeom prst="rect">
            <a:avLst/>
          </a:prstGeom>
          <a:noFill/>
          <a:ln>
            <a:noFill/>
          </a:ln>
        </p:spPr>
      </p:pic>
      <p:sp>
        <p:nvSpPr>
          <p:cNvPr id="343" name="Google Shape;343;p39"/>
          <p:cNvSpPr txBox="1"/>
          <p:nvPr/>
        </p:nvSpPr>
        <p:spPr>
          <a:xfrm>
            <a:off x="7825050" y="2652825"/>
            <a:ext cx="1274700" cy="572700"/>
          </a:xfrm>
          <a:prstGeom prst="rect">
            <a:avLst/>
          </a:prstGeom>
          <a:noFill/>
          <a:ln cap="flat" cmpd="sng" w="9525">
            <a:solidFill>
              <a:srgbClr val="FF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l"/>
              <a:t>Accuracy drops to 65%</a:t>
            </a:r>
            <a:endParaRPr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7" name="Shape 3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" name="Google Shape;348;p4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l"/>
              <a:t>Visual inspection example</a:t>
            </a:r>
            <a:endParaRPr/>
          </a:p>
        </p:txBody>
      </p:sp>
      <p:pic>
        <p:nvPicPr>
          <p:cNvPr id="349" name="Google Shape;349;p40"/>
          <p:cNvPicPr preferRelativeResize="0"/>
          <p:nvPr/>
        </p:nvPicPr>
        <p:blipFill rotWithShape="1">
          <a:blip r:embed="rId3">
            <a:alphaModFix/>
          </a:blip>
          <a:srcRect b="0" l="30842" r="31863" t="0"/>
          <a:stretch/>
        </p:blipFill>
        <p:spPr>
          <a:xfrm>
            <a:off x="532150" y="1306437"/>
            <a:ext cx="1310526" cy="2635576"/>
          </a:xfrm>
          <a:prstGeom prst="rect">
            <a:avLst/>
          </a:prstGeom>
          <a:noFill/>
          <a:ln>
            <a:noFill/>
          </a:ln>
        </p:spPr>
      </p:pic>
      <p:pic>
        <p:nvPicPr>
          <p:cNvPr id="350" name="Google Shape;350;p40"/>
          <p:cNvPicPr preferRelativeResize="0"/>
          <p:nvPr/>
        </p:nvPicPr>
        <p:blipFill rotWithShape="1">
          <a:blip r:embed="rId3">
            <a:alphaModFix/>
          </a:blip>
          <a:srcRect b="0" l="30842" r="31863" t="0"/>
          <a:stretch/>
        </p:blipFill>
        <p:spPr>
          <a:xfrm>
            <a:off x="2866825" y="1306437"/>
            <a:ext cx="1310526" cy="2635576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351" name="Google Shape;351;p40"/>
          <p:cNvCxnSpPr/>
          <p:nvPr/>
        </p:nvCxnSpPr>
        <p:spPr>
          <a:xfrm flipH="1" rot="10800000">
            <a:off x="3182675" y="1799050"/>
            <a:ext cx="692700" cy="1459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352" name="Google Shape;352;p4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438125" y="1325852"/>
            <a:ext cx="1310525" cy="2596749"/>
          </a:xfrm>
          <a:prstGeom prst="rect">
            <a:avLst/>
          </a:prstGeom>
          <a:noFill/>
          <a:ln>
            <a:noFill/>
          </a:ln>
        </p:spPr>
      </p:pic>
      <p:sp>
        <p:nvSpPr>
          <p:cNvPr id="353" name="Google Shape;353;p40"/>
          <p:cNvSpPr txBox="1"/>
          <p:nvPr/>
        </p:nvSpPr>
        <p:spPr>
          <a:xfrm>
            <a:off x="311700" y="3942025"/>
            <a:ext cx="4377300" cy="52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l"/>
              <a:t>Trained a detection algorithm with 98% accuracy</a:t>
            </a:r>
            <a:endParaRPr/>
          </a:p>
        </p:txBody>
      </p:sp>
      <p:sp>
        <p:nvSpPr>
          <p:cNvPr id="354" name="Google Shape;354;p40"/>
          <p:cNvSpPr txBox="1"/>
          <p:nvPr/>
        </p:nvSpPr>
        <p:spPr>
          <a:xfrm>
            <a:off x="5229575" y="4003550"/>
            <a:ext cx="3914400" cy="9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l"/>
              <a:t>Change of light bulbs in the factory lead to lighting differences 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l"/>
              <a:t>New photos different than in the training set</a:t>
            </a:r>
            <a:endParaRPr/>
          </a:p>
        </p:txBody>
      </p:sp>
      <p:sp>
        <p:nvSpPr>
          <p:cNvPr id="355" name="Google Shape;355;p40"/>
          <p:cNvSpPr txBox="1"/>
          <p:nvPr/>
        </p:nvSpPr>
        <p:spPr>
          <a:xfrm>
            <a:off x="5562038" y="626475"/>
            <a:ext cx="3062700" cy="461700"/>
          </a:xfrm>
          <a:prstGeom prst="rect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l"/>
              <a:t>MLOps has a continuous lifecycle </a:t>
            </a:r>
            <a:endParaRPr b="1"/>
          </a:p>
        </p:txBody>
      </p:sp>
      <p:pic>
        <p:nvPicPr>
          <p:cNvPr id="356" name="Google Shape;356;p4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838375" y="340237"/>
            <a:ext cx="723675" cy="782277"/>
          </a:xfrm>
          <a:prstGeom prst="rect">
            <a:avLst/>
          </a:prstGeom>
          <a:noFill/>
          <a:ln>
            <a:noFill/>
          </a:ln>
        </p:spPr>
      </p:pic>
      <p:sp>
        <p:nvSpPr>
          <p:cNvPr id="357" name="Google Shape;357;p40"/>
          <p:cNvSpPr txBox="1"/>
          <p:nvPr/>
        </p:nvSpPr>
        <p:spPr>
          <a:xfrm>
            <a:off x="311700" y="4428325"/>
            <a:ext cx="42093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l"/>
              <a:t>This is called  </a:t>
            </a:r>
            <a:r>
              <a:rPr b="1" lang="el">
                <a:solidFill>
                  <a:srgbClr val="FF00FF"/>
                </a:solidFill>
              </a:rPr>
              <a:t>Data Drift</a:t>
            </a:r>
            <a:r>
              <a:rPr lang="el"/>
              <a:t>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l"/>
              <a:t>A very common problem in MLOps applications</a:t>
            </a:r>
            <a:endParaRPr/>
          </a:p>
        </p:txBody>
      </p:sp>
      <p:sp>
        <p:nvSpPr>
          <p:cNvPr id="358" name="Google Shape;358;p40"/>
          <p:cNvSpPr txBox="1"/>
          <p:nvPr/>
        </p:nvSpPr>
        <p:spPr>
          <a:xfrm>
            <a:off x="7825050" y="2652825"/>
            <a:ext cx="1274700" cy="572700"/>
          </a:xfrm>
          <a:prstGeom prst="rect">
            <a:avLst/>
          </a:prstGeom>
          <a:noFill/>
          <a:ln cap="flat" cmpd="sng" w="9525">
            <a:solidFill>
              <a:srgbClr val="FF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l"/>
              <a:t>Accuracy drops to 65%</a:t>
            </a:r>
            <a:endParaRPr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2" name="Shape 3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3" name="Google Shape;363;p4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l"/>
              <a:t>ML in Production Code</a:t>
            </a:r>
            <a:endParaRPr/>
          </a:p>
        </p:txBody>
      </p:sp>
      <p:sp>
        <p:nvSpPr>
          <p:cNvPr id="364" name="Google Shape;364;p41"/>
          <p:cNvSpPr txBox="1"/>
          <p:nvPr/>
        </p:nvSpPr>
        <p:spPr>
          <a:xfrm>
            <a:off x="5113000" y="2581175"/>
            <a:ext cx="1522200" cy="572700"/>
          </a:xfrm>
          <a:prstGeom prst="rect">
            <a:avLst/>
          </a:prstGeom>
          <a:noFill/>
          <a:ln cap="flat" cmpd="sng" w="28575">
            <a:solidFill>
              <a:srgbClr val="F1C23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l"/>
              <a:t>ML Model Code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5" name="Google Shape;365;p41"/>
          <p:cNvSpPr txBox="1"/>
          <p:nvPr/>
        </p:nvSpPr>
        <p:spPr>
          <a:xfrm>
            <a:off x="180550" y="1431775"/>
            <a:ext cx="3084900" cy="336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l">
                <a:solidFill>
                  <a:srgbClr val="FF00FF"/>
                </a:solidFill>
              </a:rPr>
              <a:t>ML Model Code: </a:t>
            </a:r>
            <a:endParaRPr b="1">
              <a:solidFill>
                <a:srgbClr val="FF00FF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l"/>
              <a:t>Code for selecting, tuning and fitting a ML model.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9" name="Shape 3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" name="Google Shape;370;p42"/>
          <p:cNvSpPr/>
          <p:nvPr/>
        </p:nvSpPr>
        <p:spPr>
          <a:xfrm>
            <a:off x="3265500" y="1505225"/>
            <a:ext cx="5374500" cy="2655600"/>
          </a:xfrm>
          <a:prstGeom prst="rect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1" name="Google Shape;371;p4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l"/>
              <a:t>ML in Production Code</a:t>
            </a:r>
            <a:endParaRPr/>
          </a:p>
        </p:txBody>
      </p:sp>
      <p:sp>
        <p:nvSpPr>
          <p:cNvPr id="372" name="Google Shape;372;p42"/>
          <p:cNvSpPr txBox="1"/>
          <p:nvPr/>
        </p:nvSpPr>
        <p:spPr>
          <a:xfrm>
            <a:off x="5113000" y="2581175"/>
            <a:ext cx="1522200" cy="572700"/>
          </a:xfrm>
          <a:prstGeom prst="rect">
            <a:avLst/>
          </a:prstGeom>
          <a:noFill/>
          <a:ln cap="flat" cmpd="sng" w="28575">
            <a:solidFill>
              <a:srgbClr val="F1C23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l"/>
              <a:t>ML Model Code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3" name="Google Shape;373;p42"/>
          <p:cNvSpPr txBox="1"/>
          <p:nvPr/>
        </p:nvSpPr>
        <p:spPr>
          <a:xfrm>
            <a:off x="3359975" y="1537550"/>
            <a:ext cx="1658400" cy="3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l"/>
              <a:t>ML Project code</a:t>
            </a:r>
            <a:endParaRPr/>
          </a:p>
        </p:txBody>
      </p:sp>
      <p:sp>
        <p:nvSpPr>
          <p:cNvPr id="374" name="Google Shape;374;p42"/>
          <p:cNvSpPr txBox="1"/>
          <p:nvPr/>
        </p:nvSpPr>
        <p:spPr>
          <a:xfrm>
            <a:off x="4871525" y="4160825"/>
            <a:ext cx="2298900" cy="29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l"/>
              <a:t>“POC to production gap”</a:t>
            </a:r>
            <a:endParaRPr/>
          </a:p>
        </p:txBody>
      </p:sp>
      <p:sp>
        <p:nvSpPr>
          <p:cNvPr id="375" name="Google Shape;375;p42"/>
          <p:cNvSpPr txBox="1"/>
          <p:nvPr/>
        </p:nvSpPr>
        <p:spPr>
          <a:xfrm>
            <a:off x="180550" y="1431775"/>
            <a:ext cx="3084900" cy="336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l">
                <a:solidFill>
                  <a:srgbClr val="FF00FF"/>
                </a:solidFill>
              </a:rPr>
              <a:t>ML Model Code: </a:t>
            </a:r>
            <a:endParaRPr b="1">
              <a:solidFill>
                <a:srgbClr val="FF00FF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l"/>
              <a:t>Code for selecting, tuning and fitting a ML model.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9" name="Shape 3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0" name="Google Shape;380;p43"/>
          <p:cNvSpPr/>
          <p:nvPr/>
        </p:nvSpPr>
        <p:spPr>
          <a:xfrm>
            <a:off x="3265500" y="1505225"/>
            <a:ext cx="5374500" cy="2655600"/>
          </a:xfrm>
          <a:prstGeom prst="rect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1" name="Google Shape;381;p4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l"/>
              <a:t>ML in Production Code</a:t>
            </a:r>
            <a:endParaRPr/>
          </a:p>
        </p:txBody>
      </p:sp>
      <p:sp>
        <p:nvSpPr>
          <p:cNvPr id="382" name="Google Shape;382;p43"/>
          <p:cNvSpPr txBox="1"/>
          <p:nvPr/>
        </p:nvSpPr>
        <p:spPr>
          <a:xfrm>
            <a:off x="5113000" y="2581175"/>
            <a:ext cx="1522200" cy="572700"/>
          </a:xfrm>
          <a:prstGeom prst="rect">
            <a:avLst/>
          </a:prstGeom>
          <a:noFill/>
          <a:ln cap="flat" cmpd="sng" w="28575">
            <a:solidFill>
              <a:srgbClr val="F1C23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l"/>
              <a:t>ML Model Code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l"/>
              <a:t>5%-10%</a:t>
            </a:r>
            <a:endParaRPr/>
          </a:p>
        </p:txBody>
      </p:sp>
      <p:sp>
        <p:nvSpPr>
          <p:cNvPr id="383" name="Google Shape;383;p43"/>
          <p:cNvSpPr txBox="1"/>
          <p:nvPr/>
        </p:nvSpPr>
        <p:spPr>
          <a:xfrm>
            <a:off x="3359975" y="1537550"/>
            <a:ext cx="2631000" cy="3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l"/>
              <a:t>ML Project code (90-95%)</a:t>
            </a:r>
            <a:endParaRPr/>
          </a:p>
        </p:txBody>
      </p:sp>
      <p:sp>
        <p:nvSpPr>
          <p:cNvPr id="384" name="Google Shape;384;p43"/>
          <p:cNvSpPr txBox="1"/>
          <p:nvPr/>
        </p:nvSpPr>
        <p:spPr>
          <a:xfrm>
            <a:off x="4871525" y="4160825"/>
            <a:ext cx="2298900" cy="29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l"/>
              <a:t>“POC to production gap”</a:t>
            </a:r>
            <a:endParaRPr/>
          </a:p>
        </p:txBody>
      </p:sp>
      <p:sp>
        <p:nvSpPr>
          <p:cNvPr id="385" name="Google Shape;385;p43"/>
          <p:cNvSpPr txBox="1"/>
          <p:nvPr/>
        </p:nvSpPr>
        <p:spPr>
          <a:xfrm>
            <a:off x="180550" y="1431775"/>
            <a:ext cx="3084900" cy="336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l">
                <a:solidFill>
                  <a:srgbClr val="FF00FF"/>
                </a:solidFill>
              </a:rPr>
              <a:t>ML Model Code: </a:t>
            </a:r>
            <a:endParaRPr b="1">
              <a:solidFill>
                <a:srgbClr val="FF00FF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l"/>
              <a:t>Code for selecting, tuning and fitting a ML model.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l">
                <a:solidFill>
                  <a:srgbClr val="FF00FF"/>
                </a:solidFill>
              </a:rPr>
              <a:t>Proof of Concept (POC):</a:t>
            </a:r>
            <a:endParaRPr b="1">
              <a:solidFill>
                <a:srgbClr val="FF00FF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l"/>
              <a:t>The development stage where the fitted model is tested on a controlled environment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l"/>
              <a:t>(eg a Jupyter notebook)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l">
                <a:solidFill>
                  <a:srgbClr val="FF00FF"/>
                </a:solidFill>
              </a:rPr>
              <a:t>ML Project code:</a:t>
            </a:r>
            <a:endParaRPr b="1">
              <a:solidFill>
                <a:srgbClr val="FF00FF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l"/>
              <a:t>The code required to take the initial fitted model into deployment</a:t>
            </a:r>
            <a:endParaRPr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9" name="Shape 3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0" name="Google Shape;390;p4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l"/>
              <a:t>The requirements surrounding ML </a:t>
            </a:r>
            <a:r>
              <a:rPr lang="el"/>
              <a:t>infrastructure</a:t>
            </a:r>
            <a:endParaRPr/>
          </a:p>
        </p:txBody>
      </p:sp>
      <p:pic>
        <p:nvPicPr>
          <p:cNvPr id="391" name="Google Shape;391;p4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170125"/>
            <a:ext cx="8839200" cy="2930559"/>
          </a:xfrm>
          <a:prstGeom prst="rect">
            <a:avLst/>
          </a:prstGeom>
          <a:noFill/>
          <a:ln>
            <a:noFill/>
          </a:ln>
        </p:spPr>
      </p:pic>
      <p:sp>
        <p:nvSpPr>
          <p:cNvPr id="392" name="Google Shape;392;p44"/>
          <p:cNvSpPr txBox="1"/>
          <p:nvPr/>
        </p:nvSpPr>
        <p:spPr>
          <a:xfrm>
            <a:off x="152400" y="4828150"/>
            <a:ext cx="7578900" cy="32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l" sz="1000"/>
              <a:t>D. Sculley et al NIPS 2015: Hidden Technical Dept in Machine Learning Systems</a:t>
            </a:r>
            <a:endParaRPr sz="1000"/>
          </a:p>
        </p:txBody>
      </p:sp>
      <p:sp>
        <p:nvSpPr>
          <p:cNvPr id="393" name="Google Shape;393;p44"/>
          <p:cNvSpPr txBox="1"/>
          <p:nvPr/>
        </p:nvSpPr>
        <p:spPr>
          <a:xfrm>
            <a:off x="233025" y="4255450"/>
            <a:ext cx="7893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l" sz="1500"/>
              <a:t>Requires</a:t>
            </a:r>
            <a:r>
              <a:rPr lang="el" sz="1500"/>
              <a:t> the collaboration of different teams like </a:t>
            </a:r>
            <a:r>
              <a:rPr lang="el" sz="1500" u="sng"/>
              <a:t>Project Managers, Data Analysts, Data Engineers, Data scientists and ML engineers</a:t>
            </a:r>
            <a:endParaRPr sz="1500" u="sng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7" name="Shape 3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8" name="Google Shape;398;p4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l"/>
              <a:t>Two Myths about ML in Production</a:t>
            </a:r>
            <a:endParaRPr/>
          </a:p>
        </p:txBody>
      </p:sp>
      <p:sp>
        <p:nvSpPr>
          <p:cNvPr id="399" name="Google Shape;399;p45"/>
          <p:cNvSpPr txBox="1"/>
          <p:nvPr>
            <p:ph idx="1" type="body"/>
          </p:nvPr>
        </p:nvSpPr>
        <p:spPr>
          <a:xfrm>
            <a:off x="0" y="1152475"/>
            <a:ext cx="35664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FF00FF"/>
              </a:buClr>
              <a:buSzPts val="1800"/>
              <a:buChar char="●"/>
            </a:pPr>
            <a:r>
              <a:rPr lang="el">
                <a:solidFill>
                  <a:srgbClr val="FF00FF"/>
                </a:solidFill>
              </a:rPr>
              <a:t>Deployment is hard</a:t>
            </a:r>
            <a:endParaRPr>
              <a:solidFill>
                <a:srgbClr val="FF00FF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Clr>
                <a:srgbClr val="FF00FF"/>
              </a:buClr>
              <a:buSzPts val="1800"/>
              <a:buChar char="●"/>
            </a:pPr>
            <a:r>
              <a:rPr lang="el">
                <a:solidFill>
                  <a:srgbClr val="FF00FF"/>
                </a:solidFill>
              </a:rPr>
              <a:t>Machine learning can magically transform your business overnight</a:t>
            </a:r>
            <a:endParaRPr>
              <a:solidFill>
                <a:srgbClr val="FF00FF"/>
              </a:solidFill>
            </a:endParaRPr>
          </a:p>
          <a:p>
            <a:pPr indent="0" lvl="0" marL="0" rtl="0" algn="l">
              <a:lnSpc>
                <a:spcPct val="7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400" name="Google Shape;400;p45"/>
          <p:cNvSpPr txBox="1"/>
          <p:nvPr/>
        </p:nvSpPr>
        <p:spPr>
          <a:xfrm>
            <a:off x="73675" y="4912500"/>
            <a:ext cx="54003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l" sz="900" u="sng">
                <a:solidFill>
                  <a:srgbClr val="1155CC"/>
                </a:solidFill>
                <a:latin typeface="Nunito"/>
                <a:ea typeface="Nunito"/>
                <a:cs typeface="Nunito"/>
                <a:sym typeface="Nunito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2020 state of enterprise machine learning</a:t>
            </a:r>
            <a:r>
              <a:rPr lang="el" sz="900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 (Algorithmia, 2020)</a:t>
            </a:r>
            <a:endParaRPr sz="900">
              <a:solidFill>
                <a:srgbClr val="030353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sz="900">
              <a:solidFill>
                <a:srgbClr val="030353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4" name="Shape 4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5" name="Google Shape;405;p4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l"/>
              <a:t>Two Myths about ML in Production</a:t>
            </a:r>
            <a:endParaRPr/>
          </a:p>
        </p:txBody>
      </p:sp>
      <p:sp>
        <p:nvSpPr>
          <p:cNvPr id="406" name="Google Shape;406;p46"/>
          <p:cNvSpPr txBox="1"/>
          <p:nvPr>
            <p:ph idx="1" type="body"/>
          </p:nvPr>
        </p:nvSpPr>
        <p:spPr>
          <a:xfrm>
            <a:off x="0" y="1152475"/>
            <a:ext cx="35664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FF00FF"/>
              </a:buClr>
              <a:buSzPts val="1800"/>
              <a:buChar char="●"/>
            </a:pPr>
            <a:r>
              <a:rPr lang="el">
                <a:solidFill>
                  <a:srgbClr val="FF00FF"/>
                </a:solidFill>
              </a:rPr>
              <a:t>Deployment is hard</a:t>
            </a:r>
            <a:endParaRPr>
              <a:solidFill>
                <a:srgbClr val="FF00FF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l"/>
              <a:t>Deployment is easy, deploying reliably is hard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Clr>
                <a:srgbClr val="FF00FF"/>
              </a:buClr>
              <a:buSzPts val="1800"/>
              <a:buChar char="●"/>
            </a:pPr>
            <a:r>
              <a:rPr lang="el">
                <a:solidFill>
                  <a:srgbClr val="FF00FF"/>
                </a:solidFill>
              </a:rPr>
              <a:t>Machine learning can magically transform your business overnight</a:t>
            </a:r>
            <a:endParaRPr>
              <a:solidFill>
                <a:srgbClr val="FF00FF"/>
              </a:solidFill>
            </a:endParaRPr>
          </a:p>
          <a:p>
            <a:pPr indent="0" lvl="0" marL="0" rtl="0" algn="l">
              <a:lnSpc>
                <a:spcPct val="7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l"/>
              <a:t>Magically: possible</a:t>
            </a:r>
            <a:endParaRPr/>
          </a:p>
          <a:p>
            <a:pPr indent="0" lvl="0" marL="0" rtl="0" algn="l">
              <a:lnSpc>
                <a:spcPct val="7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l"/>
              <a:t>Overnight: No</a:t>
            </a:r>
            <a:endParaRPr/>
          </a:p>
        </p:txBody>
      </p:sp>
      <p:sp>
        <p:nvSpPr>
          <p:cNvPr id="407" name="Google Shape;407;p46"/>
          <p:cNvSpPr txBox="1"/>
          <p:nvPr/>
        </p:nvSpPr>
        <p:spPr>
          <a:xfrm>
            <a:off x="73675" y="4912500"/>
            <a:ext cx="54003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l" sz="900" u="sng">
                <a:solidFill>
                  <a:srgbClr val="1155CC"/>
                </a:solidFill>
                <a:latin typeface="Nunito"/>
                <a:ea typeface="Nunito"/>
                <a:cs typeface="Nunito"/>
                <a:sym typeface="Nunito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2020 state of enterprise machine learning</a:t>
            </a:r>
            <a:r>
              <a:rPr lang="el" sz="900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 (Algorithmia, 2020)</a:t>
            </a:r>
            <a:endParaRPr sz="900">
              <a:solidFill>
                <a:srgbClr val="030353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sz="900">
              <a:solidFill>
                <a:srgbClr val="030353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1" name="Shape 4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2" name="Google Shape;412;p4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l"/>
              <a:t>Two Myths about ML in Production</a:t>
            </a:r>
            <a:endParaRPr/>
          </a:p>
        </p:txBody>
      </p:sp>
      <p:sp>
        <p:nvSpPr>
          <p:cNvPr id="413" name="Google Shape;413;p47"/>
          <p:cNvSpPr txBox="1"/>
          <p:nvPr>
            <p:ph idx="1" type="body"/>
          </p:nvPr>
        </p:nvSpPr>
        <p:spPr>
          <a:xfrm>
            <a:off x="0" y="1152475"/>
            <a:ext cx="35664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FF00FF"/>
              </a:buClr>
              <a:buSzPts val="1800"/>
              <a:buChar char="●"/>
            </a:pPr>
            <a:r>
              <a:rPr lang="el">
                <a:solidFill>
                  <a:srgbClr val="FF00FF"/>
                </a:solidFill>
              </a:rPr>
              <a:t>Deployment is hard</a:t>
            </a:r>
            <a:endParaRPr>
              <a:solidFill>
                <a:srgbClr val="FF00FF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l"/>
              <a:t>Deployment is easy, deploying reliably is hard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Clr>
                <a:srgbClr val="FF00FF"/>
              </a:buClr>
              <a:buSzPts val="1800"/>
              <a:buChar char="●"/>
            </a:pPr>
            <a:r>
              <a:rPr lang="el">
                <a:solidFill>
                  <a:srgbClr val="FF00FF"/>
                </a:solidFill>
              </a:rPr>
              <a:t>Machine learning can magically transform your business overnight</a:t>
            </a:r>
            <a:endParaRPr>
              <a:solidFill>
                <a:srgbClr val="FF00FF"/>
              </a:solidFill>
            </a:endParaRPr>
          </a:p>
          <a:p>
            <a:pPr indent="0" lvl="0" marL="0" rtl="0" algn="l">
              <a:lnSpc>
                <a:spcPct val="7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l"/>
              <a:t>Magically: possible</a:t>
            </a:r>
            <a:endParaRPr/>
          </a:p>
          <a:p>
            <a:pPr indent="0" lvl="0" marL="0" rtl="0" algn="l">
              <a:lnSpc>
                <a:spcPct val="7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l"/>
              <a:t>Overnight: No</a:t>
            </a:r>
            <a:endParaRPr/>
          </a:p>
        </p:txBody>
      </p:sp>
      <p:sp>
        <p:nvSpPr>
          <p:cNvPr id="414" name="Google Shape;414;p47"/>
          <p:cNvSpPr txBox="1"/>
          <p:nvPr/>
        </p:nvSpPr>
        <p:spPr>
          <a:xfrm>
            <a:off x="73675" y="4912500"/>
            <a:ext cx="54003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l" sz="900" u="sng">
                <a:solidFill>
                  <a:srgbClr val="1155CC"/>
                </a:solidFill>
                <a:latin typeface="Nunito"/>
                <a:ea typeface="Nunito"/>
                <a:cs typeface="Nunito"/>
                <a:sym typeface="Nunito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2020 state of enterprise machine learning</a:t>
            </a:r>
            <a:r>
              <a:rPr lang="el" sz="900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 (Algorithmia, 2020)</a:t>
            </a:r>
            <a:endParaRPr sz="900">
              <a:solidFill>
                <a:srgbClr val="030353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sz="900">
              <a:solidFill>
                <a:srgbClr val="030353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pic>
        <p:nvPicPr>
          <p:cNvPr id="415" name="Google Shape;415;p4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566400" y="1666153"/>
            <a:ext cx="5157699" cy="2765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9" name="Shape 4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0" name="Google Shape;420;p4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l"/>
              <a:t>Summary</a:t>
            </a:r>
            <a:endParaRPr/>
          </a:p>
        </p:txBody>
      </p:sp>
      <p:sp>
        <p:nvSpPr>
          <p:cNvPr id="421" name="Google Shape;421;p48"/>
          <p:cNvSpPr txBox="1"/>
          <p:nvPr>
            <p:ph idx="1" type="body"/>
          </p:nvPr>
        </p:nvSpPr>
        <p:spPr>
          <a:xfrm>
            <a:off x="66325" y="1152475"/>
            <a:ext cx="8997300" cy="3848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l"/>
              <a:t>MLOps is the set of techniques that puts a machine learning model into production</a:t>
            </a:r>
            <a:endParaRPr/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l"/>
              <a:t>It is a continuous and </a:t>
            </a:r>
            <a:r>
              <a:rPr lang="el"/>
              <a:t>iterative</a:t>
            </a:r>
            <a:r>
              <a:rPr lang="el"/>
              <a:t> cycle that includes but is not limited too:</a:t>
            </a:r>
            <a:endParaRPr/>
          </a:p>
          <a:p>
            <a:pPr indent="-3302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el" sz="1600"/>
              <a:t>Scoping</a:t>
            </a:r>
            <a:endParaRPr sz="1600"/>
          </a:p>
          <a:p>
            <a:pPr indent="-3302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el" sz="1600"/>
              <a:t>Data Collection</a:t>
            </a:r>
            <a:endParaRPr sz="1600"/>
          </a:p>
          <a:p>
            <a:pPr indent="-3302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el" sz="1600"/>
              <a:t>Modelling </a:t>
            </a:r>
            <a:endParaRPr sz="1600"/>
          </a:p>
          <a:p>
            <a:pPr indent="-3302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el" sz="1600"/>
              <a:t>Deployment </a:t>
            </a:r>
            <a:endParaRPr sz="1600"/>
          </a:p>
          <a:p>
            <a:pPr indent="-3302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el" sz="1600"/>
              <a:t>Maintenance</a:t>
            </a:r>
            <a:endParaRPr sz="1600"/>
          </a:p>
          <a:p>
            <a:pPr indent="-3302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l" sz="1600"/>
              <a:t>It includes a </a:t>
            </a:r>
            <a:r>
              <a:rPr lang="el" sz="1600"/>
              <a:t>variety</a:t>
            </a:r>
            <a:r>
              <a:rPr lang="el" sz="1600"/>
              <a:t> of potential </a:t>
            </a:r>
            <a:r>
              <a:rPr lang="el" sz="1600"/>
              <a:t>pitfalls</a:t>
            </a:r>
            <a:r>
              <a:rPr lang="el" sz="1600"/>
              <a:t> (like data </a:t>
            </a:r>
            <a:r>
              <a:rPr lang="el" sz="1600"/>
              <a:t>drift</a:t>
            </a:r>
            <a:r>
              <a:rPr lang="el" sz="1600"/>
              <a:t>) outside those being </a:t>
            </a:r>
            <a:r>
              <a:rPr lang="el" sz="1600"/>
              <a:t>taught</a:t>
            </a:r>
            <a:r>
              <a:rPr lang="el" sz="1600"/>
              <a:t> in Data Science courses. </a:t>
            </a:r>
            <a:endParaRPr sz="1600"/>
          </a:p>
          <a:p>
            <a:pPr indent="-3302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l" sz="1600"/>
              <a:t>Requires teams composed of different expertises.</a:t>
            </a:r>
            <a:endParaRPr sz="160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5" name="Shape 42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9" name="Shape 4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" name="Google Shape;430;p50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l"/>
              <a:t>Content of the Course</a:t>
            </a:r>
            <a:endParaRPr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4" name="Shape 4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5" name="Google Shape;435;p5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l"/>
              <a:t>Material</a:t>
            </a:r>
            <a:endParaRPr/>
          </a:p>
        </p:txBody>
      </p:sp>
      <p:sp>
        <p:nvSpPr>
          <p:cNvPr id="436" name="Google Shape;436;p51"/>
          <p:cNvSpPr txBox="1"/>
          <p:nvPr/>
        </p:nvSpPr>
        <p:spPr>
          <a:xfrm>
            <a:off x="427400" y="1230600"/>
            <a:ext cx="7590000" cy="3426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l" sz="1600">
                <a:solidFill>
                  <a:srgbClr val="FF00FF"/>
                </a:solidFill>
              </a:rPr>
              <a:t>12 Lectures -&gt; Slides are all you need!</a:t>
            </a:r>
            <a:endParaRPr sz="1600">
              <a:solidFill>
                <a:srgbClr val="FF00FF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2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AutoNum type="arabicPeriod"/>
            </a:pPr>
            <a:r>
              <a:rPr lang="el" sz="1600">
                <a:solidFill>
                  <a:schemeClr val="dk2"/>
                </a:solidFill>
              </a:rPr>
              <a:t>Hello World</a:t>
            </a:r>
            <a:endParaRPr sz="1600">
              <a:solidFill>
                <a:schemeClr val="dk2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AutoNum type="arabicPeriod"/>
            </a:pPr>
            <a:r>
              <a:rPr lang="el" sz="1600">
                <a:solidFill>
                  <a:schemeClr val="dk2"/>
                </a:solidFill>
              </a:rPr>
              <a:t>Introduction to MLOps</a:t>
            </a:r>
            <a:endParaRPr sz="1600">
              <a:solidFill>
                <a:schemeClr val="dk2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AutoNum type="arabicPeriod"/>
            </a:pPr>
            <a:r>
              <a:rPr lang="el" sz="1600">
                <a:solidFill>
                  <a:schemeClr val="dk2"/>
                </a:solidFill>
              </a:rPr>
              <a:t>Scoping</a:t>
            </a:r>
            <a:endParaRPr sz="1600">
              <a:solidFill>
                <a:schemeClr val="dk2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AutoNum type="arabicPeriod"/>
            </a:pPr>
            <a:r>
              <a:rPr lang="el" sz="1600">
                <a:solidFill>
                  <a:schemeClr val="dk2"/>
                </a:solidFill>
              </a:rPr>
              <a:t>Introduction to Modelling</a:t>
            </a:r>
            <a:endParaRPr sz="1600">
              <a:solidFill>
                <a:schemeClr val="dk2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AutoNum type="arabicPeriod"/>
            </a:pPr>
            <a:r>
              <a:rPr lang="el" sz="1600">
                <a:solidFill>
                  <a:schemeClr val="dk2"/>
                </a:solidFill>
              </a:rPr>
              <a:t>Modelling Part 2</a:t>
            </a:r>
            <a:endParaRPr sz="1600">
              <a:solidFill>
                <a:schemeClr val="dk2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AutoNum type="arabicPeriod"/>
            </a:pPr>
            <a:r>
              <a:rPr lang="el" sz="1600">
                <a:solidFill>
                  <a:schemeClr val="dk2"/>
                </a:solidFill>
              </a:rPr>
              <a:t>Production Level Code</a:t>
            </a:r>
            <a:endParaRPr sz="1600">
              <a:solidFill>
                <a:schemeClr val="dk2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AutoNum type="arabicPeriod"/>
            </a:pPr>
            <a:r>
              <a:rPr lang="el" sz="1600">
                <a:solidFill>
                  <a:schemeClr val="dk2"/>
                </a:solidFill>
              </a:rPr>
              <a:t>Example Session!</a:t>
            </a:r>
            <a:endParaRPr sz="1600">
              <a:solidFill>
                <a:schemeClr val="dk2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AutoNum type="arabicPeriod"/>
            </a:pPr>
            <a:r>
              <a:rPr lang="el" sz="1600">
                <a:solidFill>
                  <a:schemeClr val="dk2"/>
                </a:solidFill>
              </a:rPr>
              <a:t>Introduction to Deployment</a:t>
            </a:r>
            <a:endParaRPr sz="1600">
              <a:solidFill>
                <a:schemeClr val="dk2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AutoNum type="arabicPeriod"/>
            </a:pPr>
            <a:r>
              <a:rPr lang="el" sz="1600">
                <a:solidFill>
                  <a:schemeClr val="dk2"/>
                </a:solidFill>
              </a:rPr>
              <a:t>Deployment Technologies</a:t>
            </a:r>
            <a:endParaRPr sz="1600">
              <a:solidFill>
                <a:schemeClr val="dk2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AutoNum type="arabicPeriod"/>
            </a:pPr>
            <a:r>
              <a:rPr lang="el" sz="1600">
                <a:solidFill>
                  <a:schemeClr val="dk2"/>
                </a:solidFill>
              </a:rPr>
              <a:t>Cloud Platforms 1.</a:t>
            </a:r>
            <a:endParaRPr sz="1600">
              <a:solidFill>
                <a:schemeClr val="dk2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AutoNum type="arabicPeriod"/>
            </a:pPr>
            <a:r>
              <a:rPr lang="el" sz="1600">
                <a:solidFill>
                  <a:schemeClr val="dk2"/>
                </a:solidFill>
              </a:rPr>
              <a:t>Cloud Platforms 2.</a:t>
            </a:r>
            <a:endParaRPr sz="16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0" name="Shape 4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1" name="Google Shape;441;p5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l"/>
              <a:t>Questionnaires</a:t>
            </a:r>
            <a:endParaRPr/>
          </a:p>
        </p:txBody>
      </p:sp>
      <p:sp>
        <p:nvSpPr>
          <p:cNvPr id="442" name="Google Shape;442;p52"/>
          <p:cNvSpPr txBox="1"/>
          <p:nvPr/>
        </p:nvSpPr>
        <p:spPr>
          <a:xfrm>
            <a:off x="578775" y="1653325"/>
            <a:ext cx="8153700" cy="318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l" sz="1800">
                <a:solidFill>
                  <a:srgbClr val="FF00FF"/>
                </a:solidFill>
              </a:rPr>
              <a:t>A total of 4 Questionnaires</a:t>
            </a:r>
            <a:endParaRPr sz="1800">
              <a:solidFill>
                <a:srgbClr val="FF00FF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</a:pPr>
            <a:r>
              <a:rPr lang="el" sz="1800">
                <a:solidFill>
                  <a:schemeClr val="dk2"/>
                </a:solidFill>
              </a:rPr>
              <a:t>Open questions -&gt; some have no clear answer</a:t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</a:pPr>
            <a:r>
              <a:rPr lang="el" sz="1800">
                <a:solidFill>
                  <a:schemeClr val="dk2"/>
                </a:solidFill>
              </a:rPr>
              <a:t>Critical questions -&gt; More value on how you justify your answer</a:t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</a:pPr>
            <a:r>
              <a:rPr lang="el" sz="1800">
                <a:solidFill>
                  <a:schemeClr val="dk2"/>
                </a:solidFill>
              </a:rPr>
              <a:t>Questions from real-world applications!</a:t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</a:pPr>
            <a:r>
              <a:rPr lang="el" sz="1800">
                <a:solidFill>
                  <a:schemeClr val="dk2"/>
                </a:solidFill>
              </a:rPr>
              <a:t>Will upload some more at the end of December!</a:t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</a:pPr>
            <a:r>
              <a:rPr b="1" lang="el" sz="1800">
                <a:solidFill>
                  <a:schemeClr val="dk2"/>
                </a:solidFill>
              </a:rPr>
              <a:t>Identical to exam questions.</a:t>
            </a:r>
            <a:endParaRPr b="1"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l" sz="1800">
                <a:solidFill>
                  <a:schemeClr val="dk2"/>
                </a:solidFill>
              </a:rPr>
              <a:t>Note: At the end of each lecture we will discuss some.</a:t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6" name="Shape 4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7" name="Google Shape;447;p5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l"/>
              <a:t>Exam</a:t>
            </a:r>
            <a:endParaRPr/>
          </a:p>
        </p:txBody>
      </p:sp>
      <p:sp>
        <p:nvSpPr>
          <p:cNvPr id="448" name="Google Shape;448;p53"/>
          <p:cNvSpPr txBox="1"/>
          <p:nvPr/>
        </p:nvSpPr>
        <p:spPr>
          <a:xfrm>
            <a:off x="442125" y="1016900"/>
            <a:ext cx="8341500" cy="392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449" name="Google Shape;449;p53"/>
          <p:cNvSpPr txBox="1"/>
          <p:nvPr/>
        </p:nvSpPr>
        <p:spPr>
          <a:xfrm>
            <a:off x="442125" y="1800000"/>
            <a:ext cx="8651100" cy="196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l" sz="1800">
                <a:solidFill>
                  <a:srgbClr val="FF00FF"/>
                </a:solidFill>
              </a:rPr>
              <a:t>An open discussion!</a:t>
            </a:r>
            <a:endParaRPr sz="1800">
              <a:solidFill>
                <a:srgbClr val="FF00FF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</a:pPr>
            <a:r>
              <a:rPr lang="el" sz="1800">
                <a:solidFill>
                  <a:schemeClr val="dk2"/>
                </a:solidFill>
              </a:rPr>
              <a:t>Open - critical questions (similar to the </a:t>
            </a:r>
            <a:r>
              <a:rPr lang="el" sz="1800">
                <a:solidFill>
                  <a:schemeClr val="dk2"/>
                </a:solidFill>
              </a:rPr>
              <a:t>questionnaire</a:t>
            </a:r>
            <a:r>
              <a:rPr lang="el" sz="1800">
                <a:solidFill>
                  <a:schemeClr val="dk2"/>
                </a:solidFill>
              </a:rPr>
              <a:t>).</a:t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</a:pPr>
            <a:r>
              <a:rPr lang="el" sz="1800">
                <a:solidFill>
                  <a:schemeClr val="dk2"/>
                </a:solidFill>
              </a:rPr>
              <a:t>Definitions</a:t>
            </a:r>
            <a:r>
              <a:rPr lang="el" sz="1800">
                <a:solidFill>
                  <a:schemeClr val="dk2"/>
                </a:solidFill>
              </a:rPr>
              <a:t> of important concepts.</a:t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</a:pPr>
            <a:r>
              <a:rPr lang="el" sz="1800">
                <a:solidFill>
                  <a:schemeClr val="dk2"/>
                </a:solidFill>
              </a:rPr>
              <a:t>I think of it more as a discussion.</a:t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</a:pPr>
            <a:r>
              <a:rPr lang="el" sz="1800">
                <a:solidFill>
                  <a:schemeClr val="dk2"/>
                </a:solidFill>
              </a:rPr>
              <a:t>You should think of it as an interview mock.</a:t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3" name="Shape 4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4" name="Google Shape;454;p5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l"/>
              <a:t>ML Exercises</a:t>
            </a:r>
            <a:endParaRPr/>
          </a:p>
        </p:txBody>
      </p:sp>
      <p:sp>
        <p:nvSpPr>
          <p:cNvPr id="455" name="Google Shape;455;p54"/>
          <p:cNvSpPr txBox="1"/>
          <p:nvPr/>
        </p:nvSpPr>
        <p:spPr>
          <a:xfrm>
            <a:off x="463800" y="1518000"/>
            <a:ext cx="8319600" cy="2593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l" sz="1800">
                <a:solidFill>
                  <a:srgbClr val="FF00FF"/>
                </a:solidFill>
              </a:rPr>
              <a:t>Three exercises on how to build production level code!</a:t>
            </a:r>
            <a:endParaRPr sz="1800">
              <a:solidFill>
                <a:srgbClr val="FF00FF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l" sz="1800">
                <a:solidFill>
                  <a:schemeClr val="dk1"/>
                </a:solidFill>
              </a:rPr>
              <a:t>Designed to improve your (production-level) coding skills</a:t>
            </a:r>
            <a:endParaRPr sz="1800"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l" sz="1800">
                <a:solidFill>
                  <a:schemeClr val="dk1"/>
                </a:solidFill>
              </a:rPr>
              <a:t>Optional</a:t>
            </a:r>
            <a:endParaRPr sz="1800"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l" sz="1800">
                <a:solidFill>
                  <a:schemeClr val="dk1"/>
                </a:solidFill>
              </a:rPr>
              <a:t>Each exercise contributes to your final grade</a:t>
            </a:r>
            <a:endParaRPr sz="1800"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l" sz="1800">
                <a:solidFill>
                  <a:schemeClr val="dk1"/>
                </a:solidFill>
              </a:rPr>
              <a:t>0.5 per completed exercise!</a:t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l" sz="1800">
                <a:solidFill>
                  <a:schemeClr val="dk1"/>
                </a:solidFill>
              </a:rPr>
              <a:t>Note: Feel free to email me if you have questions on some of the questions!</a:t>
            </a:r>
            <a:endParaRPr sz="18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9" name="Shape 4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" name="Google Shape;460;p55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l"/>
              <a:t>Assignment</a:t>
            </a:r>
            <a:endParaRPr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4" name="Shape 4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5" name="Google Shape;465;p5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l"/>
              <a:t>Practical Outcomes</a:t>
            </a:r>
            <a:endParaRPr/>
          </a:p>
        </p:txBody>
      </p:sp>
      <p:sp>
        <p:nvSpPr>
          <p:cNvPr id="466" name="Google Shape;466;p56"/>
          <p:cNvSpPr txBox="1"/>
          <p:nvPr/>
        </p:nvSpPr>
        <p:spPr>
          <a:xfrm>
            <a:off x="466825" y="1945225"/>
            <a:ext cx="8099400" cy="241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02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l" sz="1600"/>
              <a:t>Design and model an end-to-end Machine Learning application</a:t>
            </a:r>
            <a:endParaRPr sz="1600"/>
          </a:p>
          <a:p>
            <a:pPr indent="-3302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F00FF"/>
              </a:buClr>
              <a:buSzPts val="1600"/>
              <a:buChar char="●"/>
            </a:pPr>
            <a:r>
              <a:rPr lang="el" sz="1600">
                <a:solidFill>
                  <a:srgbClr val="FF00FF"/>
                </a:solidFill>
              </a:rPr>
              <a:t>Suitable for your CV</a:t>
            </a:r>
            <a:endParaRPr sz="1600">
              <a:solidFill>
                <a:srgbClr val="FF00FF"/>
              </a:solidFill>
            </a:endParaRPr>
          </a:p>
          <a:p>
            <a:pPr indent="-3302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l" sz="1600"/>
              <a:t>Understand the difference between project-level and production-level </a:t>
            </a:r>
            <a:endParaRPr sz="1600"/>
          </a:p>
          <a:p>
            <a:pPr indent="-3302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l" sz="1600"/>
              <a:t>How to structure and build the scope for a business problem</a:t>
            </a:r>
            <a:endParaRPr sz="1600"/>
          </a:p>
          <a:p>
            <a:pPr indent="-3302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l" sz="1600">
                <a:solidFill>
                  <a:schemeClr val="dk1"/>
                </a:solidFill>
              </a:rPr>
              <a:t>How to solve a structured application</a:t>
            </a:r>
            <a:endParaRPr sz="1600"/>
          </a:p>
          <a:p>
            <a:pPr indent="-3302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l" sz="1600"/>
              <a:t>How to design the deployment plan</a:t>
            </a:r>
            <a:endParaRPr sz="160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0" name="Shape 4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" name="Google Shape;471;p5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l"/>
              <a:t>Assignment Description</a:t>
            </a:r>
            <a:endParaRPr/>
          </a:p>
        </p:txBody>
      </p:sp>
      <p:sp>
        <p:nvSpPr>
          <p:cNvPr id="472" name="Google Shape;472;p57"/>
          <p:cNvSpPr txBox="1"/>
          <p:nvPr/>
        </p:nvSpPr>
        <p:spPr>
          <a:xfrm>
            <a:off x="489600" y="1516400"/>
            <a:ext cx="8164800" cy="2775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l" sz="1600">
                <a:solidFill>
                  <a:srgbClr val="FF00FF"/>
                </a:solidFill>
              </a:rPr>
              <a:t>Task: Build and deploy a Machine Learning System</a:t>
            </a:r>
            <a:endParaRPr sz="1600">
              <a:solidFill>
                <a:srgbClr val="FF00FF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l" sz="1600"/>
              <a:t>How: Follow the entire ML Lifecycle </a:t>
            </a:r>
            <a:endParaRPr sz="16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l" sz="1600"/>
              <a:t>Pick a Project.</a:t>
            </a:r>
            <a:endParaRPr sz="1600"/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l" sz="1600"/>
              <a:t>Scoping: Clearly define your solutions.</a:t>
            </a:r>
            <a:endParaRPr sz="1600"/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l" sz="1600"/>
              <a:t>Data: Identify data sources and gather your data.</a:t>
            </a:r>
            <a:endParaRPr sz="1600"/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l" sz="1600"/>
              <a:t>Modeling: Develop a (simple) ML algorithm.</a:t>
            </a:r>
            <a:endParaRPr sz="1600"/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l" sz="1600"/>
              <a:t>Design the framework to deploy your application.</a:t>
            </a:r>
            <a:endParaRPr sz="1600"/>
          </a:p>
          <a:p>
            <a:pPr indent="0" lvl="0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6" name="Shape 4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7" name="Google Shape;477;p5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l"/>
              <a:t>General Assignment Description</a:t>
            </a:r>
            <a:endParaRPr/>
          </a:p>
        </p:txBody>
      </p:sp>
      <p:sp>
        <p:nvSpPr>
          <p:cNvPr id="478" name="Google Shape;478;p58"/>
          <p:cNvSpPr txBox="1"/>
          <p:nvPr/>
        </p:nvSpPr>
        <p:spPr>
          <a:xfrm>
            <a:off x="364350" y="1373550"/>
            <a:ext cx="8415300" cy="329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l" sz="1600"/>
              <a:t>General Task:</a:t>
            </a:r>
            <a:endParaRPr sz="1600">
              <a:solidFill>
                <a:srgbClr val="FF00FF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l" sz="1600"/>
              <a:t>Details:</a:t>
            </a: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l" sz="1600"/>
              <a:t>Individual (or two-people team)</a:t>
            </a: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l" sz="1600"/>
              <a:t>Subject is to be decided by the team (Always open to help!)</a:t>
            </a: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l" sz="1600"/>
              <a:t>It should be ML-based (past project, Kaggle, anything you want to work on)</a:t>
            </a: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l" sz="1600"/>
              <a:t>You can use a ML model developed on another project!</a:t>
            </a:r>
            <a:endParaRPr sz="1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l" sz="1600"/>
              <a:t>Teams can be </a:t>
            </a:r>
            <a:r>
              <a:rPr lang="el" sz="1600"/>
              <a:t>formatted</a:t>
            </a:r>
            <a:r>
              <a:rPr lang="el" sz="1600"/>
              <a:t> either by you, or I can randomly assign them!</a:t>
            </a:r>
            <a:endParaRPr sz="1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2" name="Shape 4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3" name="Google Shape;483;p5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l"/>
              <a:t>Task 1: Scoping</a:t>
            </a:r>
            <a:endParaRPr/>
          </a:p>
        </p:txBody>
      </p:sp>
      <p:sp>
        <p:nvSpPr>
          <p:cNvPr id="484" name="Google Shape;484;p59"/>
          <p:cNvSpPr txBox="1"/>
          <p:nvPr/>
        </p:nvSpPr>
        <p:spPr>
          <a:xfrm>
            <a:off x="456875" y="1532750"/>
            <a:ext cx="8289900" cy="193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l" sz="1800">
                <a:solidFill>
                  <a:srgbClr val="FF00FF"/>
                </a:solidFill>
              </a:rPr>
              <a:t>Write a good project proposal!</a:t>
            </a:r>
            <a:endParaRPr sz="1800">
              <a:solidFill>
                <a:srgbClr val="FF00FF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l" sz="1800">
                <a:solidFill>
                  <a:schemeClr val="dk1"/>
                </a:solidFill>
              </a:rPr>
              <a:t>Structure the project</a:t>
            </a:r>
            <a:endParaRPr sz="1800"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l" sz="1800">
                <a:solidFill>
                  <a:schemeClr val="dk1"/>
                </a:solidFill>
              </a:rPr>
              <a:t>Business goals</a:t>
            </a:r>
            <a:endParaRPr sz="1800"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l" sz="1800">
                <a:solidFill>
                  <a:schemeClr val="dk1"/>
                </a:solidFill>
              </a:rPr>
              <a:t>Metrics!</a:t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l" sz="1800">
                <a:solidFill>
                  <a:schemeClr val="dk1"/>
                </a:solidFill>
              </a:rPr>
              <a:t>Clear instructions will be given in the A</a:t>
            </a:r>
            <a:r>
              <a:rPr lang="el" sz="1800">
                <a:solidFill>
                  <a:schemeClr val="dk1"/>
                </a:solidFill>
              </a:rPr>
              <a:t>ssignment</a:t>
            </a:r>
            <a:r>
              <a:rPr lang="el" sz="1800">
                <a:solidFill>
                  <a:schemeClr val="dk1"/>
                </a:solidFill>
              </a:rPr>
              <a:t> description</a:t>
            </a:r>
            <a:endParaRPr sz="18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8" name="Shape 4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9" name="Google Shape;489;p6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l"/>
              <a:t>Task 2: Model the Solution</a:t>
            </a:r>
            <a:endParaRPr/>
          </a:p>
        </p:txBody>
      </p:sp>
      <p:sp>
        <p:nvSpPr>
          <p:cNvPr id="490" name="Google Shape;490;p60"/>
          <p:cNvSpPr txBox="1"/>
          <p:nvPr/>
        </p:nvSpPr>
        <p:spPr>
          <a:xfrm>
            <a:off x="478975" y="1628525"/>
            <a:ext cx="8105700" cy="260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l" sz="1800">
                <a:solidFill>
                  <a:schemeClr val="dk1"/>
                </a:solidFill>
              </a:rPr>
              <a:t>Build a </a:t>
            </a:r>
            <a:r>
              <a:rPr lang="el" sz="1800">
                <a:solidFill>
                  <a:schemeClr val="dk1"/>
                </a:solidFill>
              </a:rPr>
              <a:t>solution</a:t>
            </a:r>
            <a:r>
              <a:rPr lang="el" sz="1800">
                <a:solidFill>
                  <a:schemeClr val="dk1"/>
                </a:solidFill>
              </a:rPr>
              <a:t> for your ML problem.</a:t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l" sz="1800">
                <a:solidFill>
                  <a:schemeClr val="dk1"/>
                </a:solidFill>
              </a:rPr>
              <a:t>Compare models</a:t>
            </a:r>
            <a:endParaRPr sz="1800"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l" sz="1800">
                <a:solidFill>
                  <a:schemeClr val="dk1"/>
                </a:solidFill>
              </a:rPr>
              <a:t>Evaluate</a:t>
            </a:r>
            <a:endParaRPr sz="1800"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l" sz="1800">
                <a:solidFill>
                  <a:schemeClr val="dk1"/>
                </a:solidFill>
              </a:rPr>
              <a:t>Explain the final model selection</a:t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l" sz="1800">
                <a:solidFill>
                  <a:srgbClr val="FF00FF"/>
                </a:solidFill>
              </a:rPr>
              <a:t>Note: The end-result (accuracy etc) does not matter for this task!</a:t>
            </a:r>
            <a:endParaRPr sz="1800">
              <a:solidFill>
                <a:srgbClr val="FF00FF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l" sz="1800">
                <a:solidFill>
                  <a:schemeClr val="dk1"/>
                </a:solidFill>
              </a:rPr>
              <a:t>This is not a ML class. I want a solution, not a great solution!</a:t>
            </a:r>
            <a:endParaRPr sz="18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4" name="Shape 4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5" name="Google Shape;495;p6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l"/>
              <a:t>Task 3: Deploy the Solution</a:t>
            </a:r>
            <a:endParaRPr/>
          </a:p>
        </p:txBody>
      </p:sp>
      <p:sp>
        <p:nvSpPr>
          <p:cNvPr id="496" name="Google Shape;496;p61"/>
          <p:cNvSpPr txBox="1"/>
          <p:nvPr/>
        </p:nvSpPr>
        <p:spPr>
          <a:xfrm>
            <a:off x="552675" y="1874925"/>
            <a:ext cx="8231100" cy="169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l" sz="1800">
                <a:solidFill>
                  <a:srgbClr val="FF00FF"/>
                </a:solidFill>
              </a:rPr>
              <a:t>Design the framework to deploy your solution.</a:t>
            </a:r>
            <a:endParaRPr sz="1800">
              <a:solidFill>
                <a:srgbClr val="FF00FF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l" sz="1800">
                <a:solidFill>
                  <a:schemeClr val="dk1"/>
                </a:solidFill>
              </a:rPr>
              <a:t>Organize your package</a:t>
            </a:r>
            <a:endParaRPr sz="1800"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l" sz="1800">
                <a:solidFill>
                  <a:schemeClr val="dk1"/>
                </a:solidFill>
              </a:rPr>
              <a:t>Design the system architecture to deploy your model</a:t>
            </a:r>
            <a:endParaRPr sz="1800"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l" sz="1800">
                <a:solidFill>
                  <a:schemeClr val="dk1"/>
                </a:solidFill>
              </a:rPr>
              <a:t>Develop a mock of the end-interface</a:t>
            </a:r>
            <a:endParaRPr sz="1800"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l" sz="1800">
                <a:solidFill>
                  <a:schemeClr val="dk1"/>
                </a:solidFill>
              </a:rPr>
              <a:t>More details on the deployment courses.</a:t>
            </a:r>
            <a:endParaRPr sz="18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0" name="Shape 5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" name="Google Shape;501;p6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l"/>
              <a:t>Grading</a:t>
            </a:r>
            <a:endParaRPr/>
          </a:p>
        </p:txBody>
      </p:sp>
      <p:sp>
        <p:nvSpPr>
          <p:cNvPr id="502" name="Google Shape;502;p62"/>
          <p:cNvSpPr txBox="1"/>
          <p:nvPr/>
        </p:nvSpPr>
        <p:spPr>
          <a:xfrm>
            <a:off x="509850" y="1392725"/>
            <a:ext cx="8124300" cy="31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l" sz="1800">
                <a:solidFill>
                  <a:srgbClr val="FF00FF"/>
                </a:solidFill>
              </a:rPr>
              <a:t>Each task is graded </a:t>
            </a:r>
            <a:r>
              <a:rPr lang="el" sz="1800">
                <a:solidFill>
                  <a:srgbClr val="FF00FF"/>
                </a:solidFill>
              </a:rPr>
              <a:t>individually</a:t>
            </a:r>
            <a:r>
              <a:rPr lang="el" sz="1800">
                <a:solidFill>
                  <a:srgbClr val="FF00FF"/>
                </a:solidFill>
              </a:rPr>
              <a:t>!</a:t>
            </a:r>
            <a:endParaRPr sz="1800">
              <a:solidFill>
                <a:srgbClr val="FF00FF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l" sz="1800">
                <a:solidFill>
                  <a:schemeClr val="dk1"/>
                </a:solidFill>
              </a:rPr>
              <a:t>final grade = grade 1 + grade 2 + grade 3</a:t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l" sz="1800">
                <a:solidFill>
                  <a:schemeClr val="dk1"/>
                </a:solidFill>
              </a:rPr>
              <a:t>At least over 3/10 is required on each task.</a:t>
            </a:r>
            <a:endParaRPr sz="1800"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l" sz="1800">
                <a:solidFill>
                  <a:schemeClr val="dk1"/>
                </a:solidFill>
              </a:rPr>
              <a:t>Tasks will be given </a:t>
            </a:r>
            <a:r>
              <a:rPr lang="el" sz="1800">
                <a:solidFill>
                  <a:schemeClr val="dk1"/>
                </a:solidFill>
              </a:rPr>
              <a:t>throughout</a:t>
            </a:r>
            <a:r>
              <a:rPr lang="el" sz="1800">
                <a:solidFill>
                  <a:schemeClr val="dk1"/>
                </a:solidFill>
              </a:rPr>
              <a:t> the course.</a:t>
            </a:r>
            <a:endParaRPr sz="1800"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l" sz="1800">
                <a:solidFill>
                  <a:schemeClr val="dk1"/>
                </a:solidFill>
              </a:rPr>
              <a:t>We will discuss progress on 19th of December!</a:t>
            </a:r>
            <a:endParaRPr sz="1800"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l" sz="1800">
                <a:solidFill>
                  <a:schemeClr val="dk1"/>
                </a:solidFill>
              </a:rPr>
              <a:t>Deadline is early January 8 but it is flexible</a:t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l" sz="1800">
                <a:solidFill>
                  <a:schemeClr val="dk1"/>
                </a:solidFill>
              </a:rPr>
              <a:t>Do not hesitate to contact me!</a:t>
            </a:r>
            <a:endParaRPr sz="18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6" name="Shape 5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7" name="Google Shape;507;p6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l"/>
              <a:t>Questions, concerns, comments?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