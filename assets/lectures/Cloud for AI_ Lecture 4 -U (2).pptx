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7f6a3e7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7f6a3e7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7f6a3e72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87f6a3e72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7f6a3e72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7f6a3e72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will talk about this later in more detail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7f6a3e72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7f6a3e72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7f6a3e72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7f6a3e72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7f6a3e72b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7f6a3e72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7f6a3e72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7f6a3e72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7f6a3e72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87f6a3e72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7f6a3e72b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7f6a3e72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7f6a3e72b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7f6a3e72b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87f6a3e72b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87f6a3e72b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7f6a3e72b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7f6a3e72b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87f6a3e72b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87f6a3e72b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87f6a3e72b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87f6a3e72b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87f6a3e72b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87f6a3e72b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7f6a3e72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87f6a3e72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87f6a3e72b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87f6a3e72b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87f6a3e72b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87f6a3e72b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87f6a3e72b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87f6a3e72b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87f6a3e72b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87f6a3e72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7f6a3e72b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7f6a3e72b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776f5ce7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f776f5ce7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7f6a3e72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87f6a3e72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87f6a3e72b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87f6a3e72b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776f5ce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776f5ce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776f5ce7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776f5ce7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87f6a3e72b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87f6a3e72b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87f6a3e72b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87f6a3e72b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857a213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8857a213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776f5ce7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776f5ce7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776f5ce7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776f5ce7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f776f5ce7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f776f5ce7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87f6a3e72b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87f6a3e72b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87f6a3e72b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87f6a3e72b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87f6a3e72b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87f6a3e72b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87f6a3e72b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87f6a3e72b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8857a2131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8857a2131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87f6a3e72b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87f6a3e72b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87f6a3e72b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87f6a3e72b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87f6a3e72b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87f6a3e72b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87f6a3e72b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87f6a3e72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87f6a3e72b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87f6a3e72b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87f6a3e72b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87f6a3e72b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87f6a3e72b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87f6a3e72b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87f6a3e72b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87f6a3e72b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87f6a3e72b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87f6a3e72b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776f5ce7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f776f5ce7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87f6a3e72b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87f6a3e72b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f776f5ce7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f776f5ce7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f776f5ce7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f776f5ce7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87f6a3e72b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87f6a3e72b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87f6a3e72b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87f6a3e72b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87f6a3e72b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87f6a3e72b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87f6a3e72b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87f6a3e72b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87f6a3e72b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87f6a3e72b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87f6a3e72b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87f6a3e72b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87f6a3e72b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87f6a3e72b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776f5ce7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f776f5ce7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f776f5ce7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f776f5ce7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f776f5ce7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f776f5ce7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87f6a3e72b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87f6a3e72b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8857a2131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8857a213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87f6a3e72b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87f6a3e72b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87f6a3e72b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87f6a3e72b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87f6a3e72b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87f6a3e72b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87f6a3e72b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87f6a3e72b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87f6a3e72b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87f6a3e72b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87f6a3e72b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87f6a3e72b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87f6a3e72b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87f6a3e72b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87f6a3e72b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87f6a3e72b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87f6a3e72b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87f6a3e72b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87f6a3e72b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87f6a3e72b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87f6a3e72b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287f6a3e72b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87f6a3e72b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87f6a3e72b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87f6a3e72b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87f6a3e72b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f776f5ce7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f776f5ce7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f776f5ce7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f776f5ce7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f776f5ce7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f776f5ce7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87f6a3e72b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87f6a3e72b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6a3e72b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6a3e72b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for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Course 4: </a:t>
            </a:r>
            <a:r>
              <a:rPr lang="el">
                <a:solidFill>
                  <a:srgbClr val="FF00FF"/>
                </a:solidFill>
              </a:rPr>
              <a:t>Introduction to Modelling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75" y="4041963"/>
            <a:ext cx="8547614" cy="1211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0" y="4435375"/>
            <a:ext cx="2750100" cy="61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Filotas Theodosiou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225" y="4152422"/>
            <a:ext cx="1101225" cy="9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we going to talk about today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Modeling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191050" y="2767550"/>
            <a:ext cx="6571200" cy="23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300"/>
              <a:t>Modelling Stage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How to select and train a ML model for an industry application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3716"/>
          <a:stretch/>
        </p:blipFill>
        <p:spPr>
          <a:xfrm>
            <a:off x="0" y="1075937"/>
            <a:ext cx="8520599" cy="1633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would you select a model?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Core of AI systems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3042900" y="1333775"/>
            <a:ext cx="3058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/>
              <a:t>AI system = </a:t>
            </a:r>
            <a:r>
              <a:rPr lang="el" sz="1800">
                <a:solidFill>
                  <a:srgbClr val="FF00FF"/>
                </a:solidFill>
              </a:rPr>
              <a:t>Code </a:t>
            </a:r>
            <a:r>
              <a:rPr lang="el" sz="1800"/>
              <a:t>+ </a:t>
            </a:r>
            <a:r>
              <a:rPr lang="el" sz="1800">
                <a:solidFill>
                  <a:srgbClr val="1155CC"/>
                </a:solidFill>
              </a:rPr>
              <a:t>Data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133975" y="1584325"/>
            <a:ext cx="12159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(algorithm/model)</a:t>
            </a:r>
            <a:endParaRPr sz="10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675" y="340650"/>
            <a:ext cx="2381100" cy="1788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Core of AI systems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3042900" y="1333775"/>
            <a:ext cx="3058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/>
              <a:t>AI system = </a:t>
            </a:r>
            <a:r>
              <a:rPr lang="el" sz="1800">
                <a:solidFill>
                  <a:srgbClr val="FF00FF"/>
                </a:solidFill>
              </a:rPr>
              <a:t>Code </a:t>
            </a:r>
            <a:r>
              <a:rPr lang="el" sz="1800"/>
              <a:t>+ </a:t>
            </a:r>
            <a:r>
              <a:rPr lang="el" sz="1800">
                <a:solidFill>
                  <a:srgbClr val="1155CC"/>
                </a:solidFill>
              </a:rPr>
              <a:t>Data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4133975" y="1584325"/>
            <a:ext cx="12159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(algorithm/model)</a:t>
            </a:r>
            <a:endParaRPr sz="1000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675" y="340650"/>
            <a:ext cx="2381100" cy="178898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486300" y="1941750"/>
            <a:ext cx="8346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Code: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Over the past decades there has been extensive research on improving the code (the models)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Many have tried to find an architecture that works well on all tasks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All have failed! (Next candidate: LLMs)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Many times it is a solved problem (You simply download a model from github etc)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Core of AI systems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042900" y="1333775"/>
            <a:ext cx="30582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/>
              <a:t>AI system = </a:t>
            </a:r>
            <a:r>
              <a:rPr lang="el" sz="1800">
                <a:solidFill>
                  <a:srgbClr val="FF00FF"/>
                </a:solidFill>
              </a:rPr>
              <a:t>Code </a:t>
            </a:r>
            <a:r>
              <a:rPr lang="el" sz="1800"/>
              <a:t>+ </a:t>
            </a:r>
            <a:r>
              <a:rPr lang="el" sz="1800">
                <a:solidFill>
                  <a:srgbClr val="1155CC"/>
                </a:solidFill>
              </a:rPr>
              <a:t>Data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133975" y="1584325"/>
            <a:ext cx="12159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(algorithm/model)</a:t>
            </a:r>
            <a:endParaRPr sz="1000"/>
          </a:p>
        </p:txBody>
      </p:sp>
      <p:sp>
        <p:nvSpPr>
          <p:cNvPr id="100" name="Google Shape;100;p19"/>
          <p:cNvSpPr txBox="1"/>
          <p:nvPr/>
        </p:nvSpPr>
        <p:spPr>
          <a:xfrm>
            <a:off x="486300" y="1941750"/>
            <a:ext cx="8346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Code: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Over the past decades there has been extensive research on improving the code (the models)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Many have tried to find an architecture that works well on all tasks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All have failed! (Next candidate: LLMs)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Many times it is a solved problem (You simply download a model from github etc)</a:t>
            </a:r>
            <a:endParaRPr sz="1600"/>
          </a:p>
        </p:txBody>
      </p:sp>
      <p:sp>
        <p:nvSpPr>
          <p:cNvPr id="101" name="Google Shape;101;p19"/>
          <p:cNvSpPr txBox="1"/>
          <p:nvPr/>
        </p:nvSpPr>
        <p:spPr>
          <a:xfrm>
            <a:off x="568925" y="3603175"/>
            <a:ext cx="834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Data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It is case specific and is (mainly) the reason why a model works fails on a task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Data is more customized for your problem than the model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Thus, its usually more efficient to improve your data than your model!!</a:t>
            </a:r>
            <a:endParaRPr sz="1600"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675" y="340650"/>
            <a:ext cx="2381100" cy="1788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influences the performance of a Model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311700" y="1133567"/>
            <a:ext cx="42741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Super Attention:</a:t>
            </a:r>
            <a:r>
              <a:rPr lang="el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Machine learning is an empirical process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Then, modelling is an iterative process too!!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influences the performance of a Model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180975" y="2264225"/>
            <a:ext cx="2407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 (algorithm/model)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Hyperparameters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	</a:t>
            </a:r>
            <a:endParaRPr/>
          </a:p>
        </p:txBody>
      </p:sp>
      <p:sp>
        <p:nvSpPr>
          <p:cNvPr id="115" name="Google Shape;115;p21"/>
          <p:cNvSpPr/>
          <p:nvPr/>
        </p:nvSpPr>
        <p:spPr>
          <a:xfrm>
            <a:off x="3617050" y="2823275"/>
            <a:ext cx="1280700" cy="797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</a:t>
            </a:r>
            <a:endParaRPr/>
          </a:p>
        </p:txBody>
      </p:sp>
      <p:cxnSp>
        <p:nvCxnSpPr>
          <p:cNvPr id="116" name="Google Shape;116;p21"/>
          <p:cNvCxnSpPr/>
          <p:nvPr/>
        </p:nvCxnSpPr>
        <p:spPr>
          <a:xfrm>
            <a:off x="2546375" y="2641925"/>
            <a:ext cx="976200" cy="462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21"/>
          <p:cNvCxnSpPr/>
          <p:nvPr/>
        </p:nvCxnSpPr>
        <p:spPr>
          <a:xfrm>
            <a:off x="2556875" y="3212975"/>
            <a:ext cx="955200" cy="18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21"/>
          <p:cNvCxnSpPr/>
          <p:nvPr/>
        </p:nvCxnSpPr>
        <p:spPr>
          <a:xfrm flipH="1" rot="10800000">
            <a:off x="2601225" y="3440075"/>
            <a:ext cx="9528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21"/>
          <p:cNvSpPr txBox="1"/>
          <p:nvPr/>
        </p:nvSpPr>
        <p:spPr>
          <a:xfrm>
            <a:off x="311700" y="1133567"/>
            <a:ext cx="42741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Super Attention:</a:t>
            </a:r>
            <a:r>
              <a:rPr lang="el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Machine learning is an empirical process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Then, modelling is an iterative process too!!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influences the performance of a Model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180975" y="2264225"/>
            <a:ext cx="2407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 (algorithm/model)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Hyperparameters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	</a:t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3617050" y="2823275"/>
            <a:ext cx="1280700" cy="797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</a:t>
            </a:r>
            <a:endParaRPr/>
          </a:p>
        </p:txBody>
      </p:sp>
      <p:cxnSp>
        <p:nvCxnSpPr>
          <p:cNvPr id="127" name="Google Shape;127;p22"/>
          <p:cNvCxnSpPr/>
          <p:nvPr/>
        </p:nvCxnSpPr>
        <p:spPr>
          <a:xfrm>
            <a:off x="2546375" y="2641925"/>
            <a:ext cx="976200" cy="462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2"/>
          <p:cNvCxnSpPr/>
          <p:nvPr/>
        </p:nvCxnSpPr>
        <p:spPr>
          <a:xfrm>
            <a:off x="2556875" y="3212975"/>
            <a:ext cx="955200" cy="18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2"/>
          <p:cNvCxnSpPr/>
          <p:nvPr/>
        </p:nvCxnSpPr>
        <p:spPr>
          <a:xfrm flipH="1" rot="10800000">
            <a:off x="2601225" y="3440075"/>
            <a:ext cx="9528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2"/>
          <p:cNvSpPr txBox="1"/>
          <p:nvPr/>
        </p:nvSpPr>
        <p:spPr>
          <a:xfrm>
            <a:off x="311700" y="1133567"/>
            <a:ext cx="42741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Super Attention:</a:t>
            </a:r>
            <a:r>
              <a:rPr lang="el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Machine learning is an empirical process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Then, modelling is an iterative process too!!</a:t>
            </a:r>
            <a:endParaRPr sz="1600"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525" y="1465175"/>
            <a:ext cx="3919349" cy="2815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6403600" y="2929625"/>
            <a:ext cx="1348500" cy="39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Modeling loop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influences the performance of a Model</a:t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180975" y="2264225"/>
            <a:ext cx="2407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 (algorithm/model)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Hyperparameters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	</a:t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3617050" y="2823275"/>
            <a:ext cx="1280700" cy="797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</a:t>
            </a:r>
            <a:endParaRPr/>
          </a:p>
        </p:txBody>
      </p:sp>
      <p:cxnSp>
        <p:nvCxnSpPr>
          <p:cNvPr id="140" name="Google Shape;140;p23"/>
          <p:cNvCxnSpPr/>
          <p:nvPr/>
        </p:nvCxnSpPr>
        <p:spPr>
          <a:xfrm>
            <a:off x="2546375" y="2641925"/>
            <a:ext cx="976200" cy="462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3"/>
          <p:cNvCxnSpPr/>
          <p:nvPr/>
        </p:nvCxnSpPr>
        <p:spPr>
          <a:xfrm>
            <a:off x="2556875" y="3212975"/>
            <a:ext cx="955200" cy="183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3"/>
          <p:cNvCxnSpPr/>
          <p:nvPr/>
        </p:nvCxnSpPr>
        <p:spPr>
          <a:xfrm flipH="1" rot="10800000">
            <a:off x="2601225" y="3440075"/>
            <a:ext cx="952800" cy="288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3"/>
          <p:cNvSpPr txBox="1"/>
          <p:nvPr/>
        </p:nvSpPr>
        <p:spPr>
          <a:xfrm>
            <a:off x="311700" y="1133567"/>
            <a:ext cx="42741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Super Attention:</a:t>
            </a:r>
            <a:r>
              <a:rPr lang="el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Machine learning is an empirical process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Then, modelling is an iterative process too!!</a:t>
            </a:r>
            <a:endParaRPr sz="1600"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525" y="1465175"/>
            <a:ext cx="3919349" cy="28155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6403600" y="2929625"/>
            <a:ext cx="1348500" cy="39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Modeling loop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294750" y="4141325"/>
            <a:ext cx="80055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Tips:</a:t>
            </a:r>
            <a:endParaRPr sz="1600"/>
          </a:p>
          <a:p>
            <a:pPr indent="-196850" lvl="0" marL="269999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Go through the loop many times quickly is key to improving performance </a:t>
            </a:r>
            <a:endParaRPr sz="1600"/>
          </a:p>
          <a:p>
            <a:pPr indent="-196850" lvl="0" marL="269999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Time spent on each stage: Data &gt; Code &gt; Hyperparams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Things to consider in model development</a:t>
            </a:r>
            <a:endParaRPr/>
          </a:p>
        </p:txBody>
      </p:sp>
      <p:sp>
        <p:nvSpPr>
          <p:cNvPr id="152" name="Google Shape;152;p24"/>
          <p:cNvSpPr txBox="1"/>
          <p:nvPr/>
        </p:nvSpPr>
        <p:spPr>
          <a:xfrm>
            <a:off x="493725" y="1164300"/>
            <a:ext cx="61974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a training set (measured by average training error)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does not underfit!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Things to consider in model development</a:t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493725" y="1164300"/>
            <a:ext cx="61974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a training set (measured by average training error)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does not underfit!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dev/test set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can generalize on unseen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Things to consider in model development</a:t>
            </a:r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493725" y="1164300"/>
            <a:ext cx="61974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a training set (measured by average training error)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does not underfit!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dev/test set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can generalize on unseen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6"/>
          <p:cNvPicPr preferRelativeResize="0"/>
          <p:nvPr/>
        </p:nvPicPr>
        <p:blipFill rotWithShape="1">
          <a:blip r:embed="rId3">
            <a:alphaModFix/>
          </a:blip>
          <a:srcRect b="21073" l="0" r="65874" t="0"/>
          <a:stretch/>
        </p:blipFill>
        <p:spPr>
          <a:xfrm>
            <a:off x="6894938" y="177175"/>
            <a:ext cx="2080401" cy="16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7438938" y="442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Underfit</a:t>
            </a:r>
            <a:endParaRPr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Things to consider in model development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493725" y="1164300"/>
            <a:ext cx="61974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a training set (measured by average training error)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does not underfit!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dev/test set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can generalize on unseen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Does not memorize training set!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If there is a big difference in training/test performance the model might have overfitted the training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7"/>
          <p:cNvPicPr preferRelativeResize="0"/>
          <p:nvPr/>
        </p:nvPicPr>
        <p:blipFill rotWithShape="1">
          <a:blip r:embed="rId3">
            <a:alphaModFix/>
          </a:blip>
          <a:srcRect b="21073" l="0" r="65874" t="0"/>
          <a:stretch/>
        </p:blipFill>
        <p:spPr>
          <a:xfrm>
            <a:off x="6894938" y="177175"/>
            <a:ext cx="2080401" cy="16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7"/>
          <p:cNvSpPr txBox="1"/>
          <p:nvPr/>
        </p:nvSpPr>
        <p:spPr>
          <a:xfrm>
            <a:off x="7438938" y="442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Underfit</a:t>
            </a:r>
            <a:endParaRPr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Things to consider in model development</a:t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493725" y="1164300"/>
            <a:ext cx="61974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a training set (measured by average training error)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does not underfit!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dev/test set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can generalize on unseen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Does not memorize training set!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If there is a big difference in training/test performance the model might have overfitted the training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21073" l="0" r="65874" t="0"/>
          <a:stretch/>
        </p:blipFill>
        <p:spPr>
          <a:xfrm>
            <a:off x="6894938" y="177175"/>
            <a:ext cx="2080401" cy="16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/>
          <p:cNvPicPr preferRelativeResize="0"/>
          <p:nvPr/>
        </p:nvPicPr>
        <p:blipFill rotWithShape="1">
          <a:blip r:embed="rId3">
            <a:alphaModFix/>
          </a:blip>
          <a:srcRect b="21073" l="65874" r="0" t="0"/>
          <a:stretch/>
        </p:blipFill>
        <p:spPr>
          <a:xfrm>
            <a:off x="6936638" y="1735550"/>
            <a:ext cx="2080401" cy="16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7438938" y="442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Underfit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7438938" y="15967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Overfit</a:t>
            </a:r>
            <a:endParaRPr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Things to consider in model development</a:t>
            </a:r>
            <a:endParaRPr/>
          </a:p>
        </p:txBody>
      </p:sp>
      <p:sp>
        <p:nvSpPr>
          <p:cNvPr id="190" name="Google Shape;190;p29"/>
          <p:cNvSpPr txBox="1"/>
          <p:nvPr/>
        </p:nvSpPr>
        <p:spPr>
          <a:xfrm>
            <a:off x="493725" y="1164300"/>
            <a:ext cx="61974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a training set (measured by average training error)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does not underfit!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dev/test set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can generalize on unseen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Does not memorize training set!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If there is a big difference in training/test performance the model might have overfitted the training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 b="21073" l="0" r="65874" t="0"/>
          <a:stretch/>
        </p:blipFill>
        <p:spPr>
          <a:xfrm>
            <a:off x="6894938" y="177175"/>
            <a:ext cx="2080401" cy="16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b="21073" l="33762" r="33480" t="0"/>
          <a:stretch/>
        </p:blipFill>
        <p:spPr>
          <a:xfrm>
            <a:off x="6978350" y="3530000"/>
            <a:ext cx="1996976" cy="16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 b="21073" l="65874" r="0" t="0"/>
          <a:stretch/>
        </p:blipFill>
        <p:spPr>
          <a:xfrm>
            <a:off x="6936638" y="1735550"/>
            <a:ext cx="2080401" cy="16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7438938" y="442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Underfit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7438938" y="15967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Overfit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7397238" y="337030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Just right</a:t>
            </a:r>
            <a:endParaRPr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Things to consider in model development</a:t>
            </a:r>
            <a:endParaRPr/>
          </a:p>
        </p:txBody>
      </p:sp>
      <p:sp>
        <p:nvSpPr>
          <p:cNvPr id="202" name="Google Shape;202;p30"/>
          <p:cNvSpPr txBox="1"/>
          <p:nvPr/>
        </p:nvSpPr>
        <p:spPr>
          <a:xfrm>
            <a:off x="493725" y="1164300"/>
            <a:ext cx="61974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a training set (measured by average training error)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does not underfit!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dev/test set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Verify that the model can generalize on unseen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Does not memorize training set!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If there is a big difference in training/test performance the model might have overfitted the training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l"/>
              <a:t>Doing well on business metrics/project goals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Even if you have good model performance, you still need to persuade your manager about 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 rotWithShape="1">
          <a:blip r:embed="rId3">
            <a:alphaModFix/>
          </a:blip>
          <a:srcRect b="21073" l="0" r="65874" t="0"/>
          <a:stretch/>
        </p:blipFill>
        <p:spPr>
          <a:xfrm>
            <a:off x="6894938" y="177175"/>
            <a:ext cx="2080401" cy="16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21073" l="33762" r="33480" t="0"/>
          <a:stretch/>
        </p:blipFill>
        <p:spPr>
          <a:xfrm>
            <a:off x="6978350" y="3530000"/>
            <a:ext cx="1996976" cy="16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 b="21073" l="65874" r="0" t="0"/>
          <a:stretch/>
        </p:blipFill>
        <p:spPr>
          <a:xfrm>
            <a:off x="6936638" y="1735550"/>
            <a:ext cx="2080401" cy="16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7438938" y="442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Underfit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7438938" y="159675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Overfit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7397238" y="3370300"/>
            <a:ext cx="107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Just right</a:t>
            </a:r>
            <a:endParaRPr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 low average test error is not enough?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non-alignment problem!</a:t>
            </a:r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360600" y="1479950"/>
            <a:ext cx="8422800" cy="26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FF"/>
              </a:solidFill>
            </a:endParaRPr>
          </a:p>
          <a:p>
            <a:pPr indent="-191601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In general, a model treats all predictions </a:t>
            </a:r>
            <a:r>
              <a:rPr lang="el" sz="1600"/>
              <a:t>equally</a:t>
            </a:r>
            <a:r>
              <a:rPr lang="el" sz="1600"/>
              <a:t>!</a:t>
            </a:r>
            <a:endParaRPr sz="1600"/>
          </a:p>
          <a:p>
            <a:pPr indent="-191601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The test-set performance is measured from all examples on a test set </a:t>
            </a:r>
            <a:endParaRPr sz="1600"/>
          </a:p>
          <a:p>
            <a:pPr indent="-191601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In some applications, specific predictions are more important than others!</a:t>
            </a:r>
            <a:endParaRPr sz="1600"/>
          </a:p>
          <a:p>
            <a:pPr indent="-191601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will the model know our specific preferences?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Example: Self-driving cars? 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One mistake can be costly!</a:t>
            </a:r>
            <a:endParaRPr b="1"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Performance on disproportionately important examples</a:t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460200" y="1113950"/>
            <a:ext cx="8223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Web Search </a:t>
            </a:r>
            <a:r>
              <a:rPr lang="el" sz="1500">
                <a:solidFill>
                  <a:srgbClr val="FF00FF"/>
                </a:solidFill>
              </a:rPr>
              <a:t>Application</a:t>
            </a:r>
            <a:r>
              <a:rPr lang="el" sz="1500">
                <a:solidFill>
                  <a:srgbClr val="FF00FF"/>
                </a:solidFill>
              </a:rPr>
              <a:t> Example: 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User types a Web Search and a model ranks the best results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Informational Queries: “Apple pie recipe”, “Latest movies”, “Wireless data plan”, “Food near me”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Navigational Queries: “VIVES University Address”, “Youtube”, etc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Performance on disproportionately important examples</a:t>
            </a:r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460200" y="1113950"/>
            <a:ext cx="8223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Web Search Application Example: 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User types a Web Search and a model ranks the best results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Informational Queries: “Apple pie recipe”, “Latest movies”, “Wireless data plan”, “Food near me”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l" sz="1500"/>
              <a:t>Navigational Queries: “VIVES University Address”, “Youtube”, etc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A user will be fine in not getting the absolute best “Apple pie recipe”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A user will not be fine if he does not get the exact VIVES University Address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The model treats all predictions equally!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Takeaway:</a:t>
            </a:r>
            <a:r>
              <a:rPr lang="el" sz="1500"/>
              <a:t> Sometimes specific errors should be weighted more!!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Performance on key parts of a dataset</a:t>
            </a:r>
            <a:endParaRPr/>
          </a:p>
        </p:txBody>
      </p:sp>
      <p:sp>
        <p:nvSpPr>
          <p:cNvPr id="237" name="Google Shape;237;p35"/>
          <p:cNvSpPr txBox="1"/>
          <p:nvPr/>
        </p:nvSpPr>
        <p:spPr>
          <a:xfrm>
            <a:off x="434700" y="1499675"/>
            <a:ext cx="8646000" cy="3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Fairness. 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 very important topic on AI today.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Example 1:</a:t>
            </a:r>
            <a:r>
              <a:rPr lang="el" sz="1600"/>
              <a:t> ML for Loan Approval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Make sure not to discriminate by ethnicity, gender, location, language or other protected attributes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Example 2</a:t>
            </a:r>
            <a:r>
              <a:rPr b="1" lang="el" sz="1600"/>
              <a:t>: </a:t>
            </a:r>
            <a:r>
              <a:rPr lang="el" sz="1600"/>
              <a:t>Product </a:t>
            </a:r>
            <a:r>
              <a:rPr lang="el" sz="1600"/>
              <a:t>recommendations</a:t>
            </a:r>
            <a:r>
              <a:rPr lang="el" sz="1600"/>
              <a:t> from retailers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Be careful to treat fairly all major users, retailer, product categories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249" y="1841625"/>
            <a:ext cx="3709749" cy="1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Performance on rare classes</a:t>
            </a:r>
            <a:endParaRPr/>
          </a:p>
        </p:txBody>
      </p:sp>
      <p:sp>
        <p:nvSpPr>
          <p:cNvPr id="244" name="Google Shape;244;p36"/>
          <p:cNvSpPr txBox="1"/>
          <p:nvPr/>
        </p:nvSpPr>
        <p:spPr>
          <a:xfrm>
            <a:off x="311700" y="1112700"/>
            <a:ext cx="5283000" cy="3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Skewed data distributions!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Medical classification application: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In medical diagnosis, its not uncommon for many patients to NOT have a specific disease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249" y="1841625"/>
            <a:ext cx="3709749" cy="1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Performance on rare classes</a:t>
            </a:r>
            <a:endParaRPr/>
          </a:p>
        </p:txBody>
      </p:sp>
      <p:sp>
        <p:nvSpPr>
          <p:cNvPr id="251" name="Google Shape;251;p37"/>
          <p:cNvSpPr txBox="1"/>
          <p:nvPr/>
        </p:nvSpPr>
        <p:spPr>
          <a:xfrm>
            <a:off x="311700" y="1112700"/>
            <a:ext cx="5283000" cy="3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Skewed data distributions!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Medical classification application: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In medical diagnosis, its not uncommon for many patients to NOT have a specific disease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/>
              <a:t>Say we have 99% negatives and 1% positive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Why should I train a model?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Just do print(“0”)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You will achieve 99% accuracy!!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249" y="1841625"/>
            <a:ext cx="3709749" cy="1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Performance on rare classes</a:t>
            </a:r>
            <a:endParaRPr/>
          </a:p>
        </p:txBody>
      </p:sp>
      <p:sp>
        <p:nvSpPr>
          <p:cNvPr id="258" name="Google Shape;258;p38"/>
          <p:cNvSpPr txBox="1"/>
          <p:nvPr/>
        </p:nvSpPr>
        <p:spPr>
          <a:xfrm>
            <a:off x="311700" y="1112700"/>
            <a:ext cx="5283000" cy="3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Skewed data distributions!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Medical classification application: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In medical diagnosis, its not uncommon for many patients to NOT have a specific disease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/>
              <a:t>Say we have 99% negatives and 1% positive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Why should I train a model?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Just do print(“0”)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You will achieve 99% accuracy!!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Is 99% accuracy a good thing?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Is the 1% positive more important?</a:t>
            </a:r>
            <a:endParaRPr sz="1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Unfortunate conversation in companies</a:t>
            </a:r>
            <a:endParaRPr/>
          </a:p>
        </p:txBody>
      </p:sp>
      <p:pic>
        <p:nvPicPr>
          <p:cNvPr id="264" name="Google Shape;2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400" y="2015325"/>
            <a:ext cx="452325" cy="4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162" y="2641848"/>
            <a:ext cx="510800" cy="51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412" y="1386773"/>
            <a:ext cx="510800" cy="51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1083225" y="1429575"/>
            <a:ext cx="6226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Machine Learning Engineer:</a:t>
            </a:r>
            <a:r>
              <a:rPr lang="el" sz="1600"/>
              <a:t> “I did well on the test set”</a:t>
            </a:r>
            <a:endParaRPr sz="1600"/>
          </a:p>
        </p:txBody>
      </p:sp>
      <p:sp>
        <p:nvSpPr>
          <p:cNvPr id="268" name="Google Shape;268;p39"/>
          <p:cNvSpPr txBox="1"/>
          <p:nvPr/>
        </p:nvSpPr>
        <p:spPr>
          <a:xfrm>
            <a:off x="1083225" y="2696150"/>
            <a:ext cx="6799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Machine Learning Engineer:</a:t>
            </a:r>
            <a:r>
              <a:rPr lang="el" sz="1600"/>
              <a:t> “But… I did well on the test set”</a:t>
            </a:r>
            <a:endParaRPr sz="1600"/>
          </a:p>
        </p:txBody>
      </p:sp>
      <p:sp>
        <p:nvSpPr>
          <p:cNvPr id="269" name="Google Shape;269;p39"/>
          <p:cNvSpPr txBox="1"/>
          <p:nvPr/>
        </p:nvSpPr>
        <p:spPr>
          <a:xfrm>
            <a:off x="1083225" y="2082900"/>
            <a:ext cx="6226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Product owner</a:t>
            </a:r>
            <a:r>
              <a:rPr lang="el" sz="1600"/>
              <a:t>: “But it does not work in my application”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Unfortunate conversation in companies</a:t>
            </a:r>
            <a:endParaRPr/>
          </a:p>
        </p:txBody>
      </p:sp>
      <p:pic>
        <p:nvPicPr>
          <p:cNvPr id="275" name="Google Shape;2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400" y="2015325"/>
            <a:ext cx="452325" cy="4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162" y="2641848"/>
            <a:ext cx="510800" cy="51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412" y="1386773"/>
            <a:ext cx="510800" cy="51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0"/>
          <p:cNvSpPr txBox="1"/>
          <p:nvPr/>
        </p:nvSpPr>
        <p:spPr>
          <a:xfrm>
            <a:off x="537825" y="3485800"/>
            <a:ext cx="5703600" cy="1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Tip!!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Don't get defensive here.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Its great that you build a great ML model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Just make align it to make it useful in the real-world</a:t>
            </a:r>
            <a:endParaRPr sz="1600"/>
          </a:p>
        </p:txBody>
      </p:sp>
      <p:sp>
        <p:nvSpPr>
          <p:cNvPr id="279" name="Google Shape;279;p40"/>
          <p:cNvSpPr txBox="1"/>
          <p:nvPr/>
        </p:nvSpPr>
        <p:spPr>
          <a:xfrm>
            <a:off x="1083225" y="1429575"/>
            <a:ext cx="6226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Machine Learning Engineer:</a:t>
            </a:r>
            <a:r>
              <a:rPr lang="el" sz="1600"/>
              <a:t> “I did well on the test set”</a:t>
            </a:r>
            <a:endParaRPr sz="1600"/>
          </a:p>
        </p:txBody>
      </p:sp>
      <p:sp>
        <p:nvSpPr>
          <p:cNvPr id="280" name="Google Shape;280;p40"/>
          <p:cNvSpPr txBox="1"/>
          <p:nvPr/>
        </p:nvSpPr>
        <p:spPr>
          <a:xfrm>
            <a:off x="1083225" y="2696150"/>
            <a:ext cx="6799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Machine Learning Engineer:</a:t>
            </a:r>
            <a:r>
              <a:rPr lang="el" sz="1600"/>
              <a:t> “But… I did well on the test set”</a:t>
            </a:r>
            <a:endParaRPr sz="1600"/>
          </a:p>
        </p:txBody>
      </p:sp>
      <p:sp>
        <p:nvSpPr>
          <p:cNvPr id="281" name="Google Shape;281;p40"/>
          <p:cNvSpPr txBox="1"/>
          <p:nvPr/>
        </p:nvSpPr>
        <p:spPr>
          <a:xfrm>
            <a:off x="1083225" y="2082900"/>
            <a:ext cx="6226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Product owner</a:t>
            </a:r>
            <a:r>
              <a:rPr lang="el" sz="1600"/>
              <a:t>: “But it does not work in my application”</a:t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importance of Baselines</a:t>
            </a:r>
            <a:endParaRPr/>
          </a:p>
        </p:txBody>
      </p:sp>
      <p:sp>
        <p:nvSpPr>
          <p:cNvPr id="287" name="Google Shape;287;p41"/>
          <p:cNvSpPr txBox="1"/>
          <p:nvPr/>
        </p:nvSpPr>
        <p:spPr>
          <a:xfrm>
            <a:off x="289050" y="1063223"/>
            <a:ext cx="85659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The most important step before modeling is to </a:t>
            </a:r>
            <a:r>
              <a:rPr lang="el" sz="1600">
                <a:solidFill>
                  <a:srgbClr val="FF00FF"/>
                </a:solidFill>
              </a:rPr>
              <a:t>build a Baseline</a:t>
            </a:r>
            <a:r>
              <a:rPr lang="el" sz="1600">
                <a:solidFill>
                  <a:schemeClr val="dk1"/>
                </a:solidFill>
              </a:rPr>
              <a:t>!!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Consider the application: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 company gives me daily sales of ice-creams and wants to know how many they will sell tomorrow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importance of Baselines</a:t>
            </a:r>
            <a:endParaRPr/>
          </a:p>
        </p:txBody>
      </p:sp>
      <p:sp>
        <p:nvSpPr>
          <p:cNvPr id="293" name="Google Shape;293;p42"/>
          <p:cNvSpPr txBox="1"/>
          <p:nvPr/>
        </p:nvSpPr>
        <p:spPr>
          <a:xfrm>
            <a:off x="169125" y="2571750"/>
            <a:ext cx="41169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Me 4 years ago!</a:t>
            </a:r>
            <a:endParaRPr>
              <a:solidFill>
                <a:srgbClr val="FF00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spend one week building the most advanced Deep Learning Neural Network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compare it with the simplest model (a linear regression)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 performance is equal!!!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They are mad!</a:t>
            </a:r>
            <a:endParaRPr/>
          </a:p>
        </p:txBody>
      </p:sp>
      <p:sp>
        <p:nvSpPr>
          <p:cNvPr id="294" name="Google Shape;294;p42"/>
          <p:cNvSpPr txBox="1"/>
          <p:nvPr/>
        </p:nvSpPr>
        <p:spPr>
          <a:xfrm>
            <a:off x="289050" y="1063223"/>
            <a:ext cx="85659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The most important step before modeling is to </a:t>
            </a:r>
            <a:r>
              <a:rPr lang="el" sz="1600">
                <a:solidFill>
                  <a:srgbClr val="FF00FF"/>
                </a:solidFill>
              </a:rPr>
              <a:t>build a Baseline</a:t>
            </a:r>
            <a:r>
              <a:rPr lang="el" sz="1600">
                <a:solidFill>
                  <a:schemeClr val="dk1"/>
                </a:solidFill>
              </a:rPr>
              <a:t>!!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Consider the application: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 company gives me daily sales of ice-creams and wants to know how many they will sell tomorrow</a:t>
            </a:r>
            <a:endParaRPr sz="1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importance of Baselines</a:t>
            </a:r>
            <a:endParaRPr/>
          </a:p>
        </p:txBody>
      </p:sp>
      <p:sp>
        <p:nvSpPr>
          <p:cNvPr id="300" name="Google Shape;300;p43"/>
          <p:cNvSpPr txBox="1"/>
          <p:nvPr/>
        </p:nvSpPr>
        <p:spPr>
          <a:xfrm>
            <a:off x="169125" y="2571750"/>
            <a:ext cx="41169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Me 4 years ago!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spend one week building the most advanced Deep Learning Neural Network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compare it with the simplest model (a linear regression)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 performance is equal!!!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They are mad!</a:t>
            </a:r>
            <a:endParaRPr/>
          </a:p>
        </p:txBody>
      </p:sp>
      <p:sp>
        <p:nvSpPr>
          <p:cNvPr id="301" name="Google Shape;301;p43"/>
          <p:cNvSpPr txBox="1"/>
          <p:nvPr/>
        </p:nvSpPr>
        <p:spPr>
          <a:xfrm>
            <a:off x="289050" y="1063223"/>
            <a:ext cx="85659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The most important step before modeling is to </a:t>
            </a:r>
            <a:r>
              <a:rPr lang="el" sz="1600">
                <a:solidFill>
                  <a:srgbClr val="FF00FF"/>
                </a:solidFill>
              </a:rPr>
              <a:t>build a Baseline</a:t>
            </a:r>
            <a:r>
              <a:rPr lang="el" sz="1600">
                <a:solidFill>
                  <a:schemeClr val="dk1"/>
                </a:solidFill>
              </a:rPr>
              <a:t>!!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Consider the application: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 company gives me daily sales of ice-creams and wants to know how many they will sell tomorrow</a:t>
            </a:r>
            <a:endParaRPr sz="1500"/>
          </a:p>
        </p:txBody>
      </p:sp>
      <p:sp>
        <p:nvSpPr>
          <p:cNvPr id="302" name="Google Shape;302;p43"/>
          <p:cNvSpPr txBox="1"/>
          <p:nvPr/>
        </p:nvSpPr>
        <p:spPr>
          <a:xfrm>
            <a:off x="4407800" y="2490475"/>
            <a:ext cx="43743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Me now!</a:t>
            </a:r>
            <a:endParaRPr>
              <a:solidFill>
                <a:srgbClr val="FF00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spend one hour building the simplest baseline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It achieves good enough performance for them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spend 1 more day and improve the performance a bit based on the mistakes of the first model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They are very happy!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importance of Baselines</a:t>
            </a:r>
            <a:endParaRPr/>
          </a:p>
        </p:txBody>
      </p:sp>
      <p:sp>
        <p:nvSpPr>
          <p:cNvPr id="308" name="Google Shape;308;p44"/>
          <p:cNvSpPr txBox="1"/>
          <p:nvPr/>
        </p:nvSpPr>
        <p:spPr>
          <a:xfrm>
            <a:off x="289050" y="1063223"/>
            <a:ext cx="85659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The most important step before modeling is to </a:t>
            </a:r>
            <a:r>
              <a:rPr lang="el" sz="1600">
                <a:solidFill>
                  <a:srgbClr val="FF00FF"/>
                </a:solidFill>
              </a:rPr>
              <a:t>build a Baseline</a:t>
            </a:r>
            <a:r>
              <a:rPr lang="el" sz="1600">
                <a:solidFill>
                  <a:schemeClr val="dk1"/>
                </a:solidFill>
              </a:rPr>
              <a:t>!!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Consider the application: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A company gives me daily sales of ice-creams and wants to know how many they will sell tomorrow</a:t>
            </a:r>
            <a:endParaRPr sz="1500"/>
          </a:p>
        </p:txBody>
      </p:sp>
      <p:sp>
        <p:nvSpPr>
          <p:cNvPr id="309" name="Google Shape;309;p44"/>
          <p:cNvSpPr txBox="1"/>
          <p:nvPr/>
        </p:nvSpPr>
        <p:spPr>
          <a:xfrm>
            <a:off x="668100" y="4570050"/>
            <a:ext cx="85206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Its only after you have a baseline that can effectively improve the performance of the model!</a:t>
            </a:r>
            <a:endParaRPr b="1"/>
          </a:p>
        </p:txBody>
      </p:sp>
      <p:sp>
        <p:nvSpPr>
          <p:cNvPr id="310" name="Google Shape;310;p44"/>
          <p:cNvSpPr txBox="1"/>
          <p:nvPr/>
        </p:nvSpPr>
        <p:spPr>
          <a:xfrm>
            <a:off x="169125" y="2571750"/>
            <a:ext cx="41169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Me 4 years ago!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spend one week building the most advanced Deep Learning Neural Network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compare it with the simplest model (a linear regression)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 performance is equal!!!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They are mad!</a:t>
            </a:r>
            <a:endParaRPr/>
          </a:p>
        </p:txBody>
      </p:sp>
      <p:sp>
        <p:nvSpPr>
          <p:cNvPr id="311" name="Google Shape;311;p44"/>
          <p:cNvSpPr txBox="1"/>
          <p:nvPr/>
        </p:nvSpPr>
        <p:spPr>
          <a:xfrm>
            <a:off x="4407800" y="2490475"/>
            <a:ext cx="43743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Me now!</a:t>
            </a:r>
            <a:endParaRPr>
              <a:solidFill>
                <a:srgbClr val="FF00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spend one hour building the simplest baseline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It achieves good enough performance for them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 spend 1 more day and improve the performance a bit based on the mistakes of the first model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They are very happy!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17" name="Google Shape;317;p45"/>
          <p:cNvSpPr txBox="1"/>
          <p:nvPr/>
        </p:nvSpPr>
        <p:spPr>
          <a:xfrm>
            <a:off x="449500" y="987425"/>
            <a:ext cx="6867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45"/>
          <p:cNvPicPr preferRelativeResize="0"/>
          <p:nvPr/>
        </p:nvPicPr>
        <p:blipFill rotWithShape="1">
          <a:blip r:embed="rId3">
            <a:alphaModFix/>
          </a:blip>
          <a:srcRect b="0" l="0" r="69185" t="0"/>
          <a:stretch/>
        </p:blipFill>
        <p:spPr>
          <a:xfrm>
            <a:off x="672675" y="2069975"/>
            <a:ext cx="1427475" cy="19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24" name="Google Shape;324;p46"/>
          <p:cNvSpPr txBox="1"/>
          <p:nvPr/>
        </p:nvSpPr>
        <p:spPr>
          <a:xfrm>
            <a:off x="449500" y="965325"/>
            <a:ext cx="6867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325" name="Google Shape;325;p46"/>
          <p:cNvPicPr preferRelativeResize="0"/>
          <p:nvPr/>
        </p:nvPicPr>
        <p:blipFill rotWithShape="1">
          <a:blip r:embed="rId3">
            <a:alphaModFix/>
          </a:blip>
          <a:srcRect b="0" l="0" r="35782" t="0"/>
          <a:stretch/>
        </p:blipFill>
        <p:spPr>
          <a:xfrm>
            <a:off x="672675" y="2069975"/>
            <a:ext cx="2974925" cy="19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31" name="Google Shape;331;p47"/>
          <p:cNvSpPr txBox="1"/>
          <p:nvPr/>
        </p:nvSpPr>
        <p:spPr>
          <a:xfrm>
            <a:off x="456875" y="972675"/>
            <a:ext cx="6867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We look for ways to improve the overall accuracy of the model!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332" name="Google Shape;332;p47"/>
          <p:cNvPicPr preferRelativeResize="0"/>
          <p:nvPr/>
        </p:nvPicPr>
        <p:blipFill rotWithShape="1">
          <a:blip r:embed="rId3">
            <a:alphaModFix/>
          </a:blip>
          <a:srcRect b="0" l="0" r="35782" t="0"/>
          <a:stretch/>
        </p:blipFill>
        <p:spPr>
          <a:xfrm>
            <a:off x="672675" y="2069975"/>
            <a:ext cx="2974925" cy="19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38" name="Google Shape;338;p48"/>
          <p:cNvSpPr txBox="1"/>
          <p:nvPr/>
        </p:nvSpPr>
        <p:spPr>
          <a:xfrm>
            <a:off x="442125" y="920250"/>
            <a:ext cx="6867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We look for ways to improve the overall accuracy of the model!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339" name="Google Shape;339;p48"/>
          <p:cNvPicPr preferRelativeResize="0"/>
          <p:nvPr/>
        </p:nvPicPr>
        <p:blipFill rotWithShape="1">
          <a:blip r:embed="rId3">
            <a:alphaModFix/>
          </a:blip>
          <a:srcRect b="0" l="0" r="35782" t="0"/>
          <a:stretch/>
        </p:blipFill>
        <p:spPr>
          <a:xfrm>
            <a:off x="672675" y="2069975"/>
            <a:ext cx="2974925" cy="19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8"/>
          <p:cNvSpPr txBox="1"/>
          <p:nvPr/>
        </p:nvSpPr>
        <p:spPr>
          <a:xfrm>
            <a:off x="685300" y="4222375"/>
            <a:ext cx="602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Which category would you focus on?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46" name="Google Shape;346;p49"/>
          <p:cNvSpPr txBox="1"/>
          <p:nvPr/>
        </p:nvSpPr>
        <p:spPr>
          <a:xfrm>
            <a:off x="442125" y="920250"/>
            <a:ext cx="6867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We look for ways to improve the overall accuracy of the model!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347" name="Google Shape;347;p49"/>
          <p:cNvPicPr preferRelativeResize="0"/>
          <p:nvPr/>
        </p:nvPicPr>
        <p:blipFill rotWithShape="1">
          <a:blip r:embed="rId3">
            <a:alphaModFix/>
          </a:blip>
          <a:srcRect b="0" l="0" r="35782" t="0"/>
          <a:stretch/>
        </p:blipFill>
        <p:spPr>
          <a:xfrm>
            <a:off x="672675" y="2069975"/>
            <a:ext cx="2974925" cy="19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9"/>
          <p:cNvSpPr txBox="1"/>
          <p:nvPr/>
        </p:nvSpPr>
        <p:spPr>
          <a:xfrm>
            <a:off x="685300" y="4222375"/>
            <a:ext cx="602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Which category would you focus on?</a:t>
            </a:r>
            <a:endParaRPr/>
          </a:p>
        </p:txBody>
      </p:sp>
      <p:cxnSp>
        <p:nvCxnSpPr>
          <p:cNvPr id="349" name="Google Shape;349;p49"/>
          <p:cNvCxnSpPr/>
          <p:nvPr/>
        </p:nvCxnSpPr>
        <p:spPr>
          <a:xfrm>
            <a:off x="221075" y="3920250"/>
            <a:ext cx="3462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55" name="Google Shape;355;p50"/>
          <p:cNvSpPr txBox="1"/>
          <p:nvPr/>
        </p:nvSpPr>
        <p:spPr>
          <a:xfrm>
            <a:off x="464225" y="920250"/>
            <a:ext cx="68679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We look for ways to improve the overall accuracy of the model!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We use humans as baselines to understand the predictability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356" name="Google Shape;356;p50"/>
          <p:cNvSpPr txBox="1"/>
          <p:nvPr/>
        </p:nvSpPr>
        <p:spPr>
          <a:xfrm>
            <a:off x="672675" y="4222375"/>
            <a:ext cx="602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Which category would you focus 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see? </a:t>
            </a:r>
            <a:endParaRPr/>
          </a:p>
        </p:txBody>
      </p:sp>
      <p:pic>
        <p:nvPicPr>
          <p:cNvPr id="357" name="Google Shape;3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50" y="2173950"/>
            <a:ext cx="3946407" cy="18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63" name="Google Shape;363;p51"/>
          <p:cNvSpPr txBox="1"/>
          <p:nvPr/>
        </p:nvSpPr>
        <p:spPr>
          <a:xfrm>
            <a:off x="464225" y="920250"/>
            <a:ext cx="68679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We look for ways to improve the overall accuracy of the model!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We use humans as baselines to understand the predictability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364" name="Google Shape;364;p51"/>
          <p:cNvSpPr txBox="1"/>
          <p:nvPr/>
        </p:nvSpPr>
        <p:spPr>
          <a:xfrm>
            <a:off x="672675" y="4222375"/>
            <a:ext cx="602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Which category would you focus 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see? </a:t>
            </a:r>
            <a:endParaRPr/>
          </a:p>
        </p:txBody>
      </p:sp>
      <p:pic>
        <p:nvPicPr>
          <p:cNvPr id="365" name="Google Shape;3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50" y="2173950"/>
            <a:ext cx="3946407" cy="1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1"/>
          <p:cNvSpPr txBox="1"/>
          <p:nvPr/>
        </p:nvSpPr>
        <p:spPr>
          <a:xfrm>
            <a:off x="4572000" y="2372800"/>
            <a:ext cx="2247600" cy="1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Potential Improvement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1%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4%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2%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0% Improvement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 </a:t>
            </a:r>
            <a:endParaRPr sz="1300"/>
          </a:p>
        </p:txBody>
      </p:sp>
      <p:cxnSp>
        <p:nvCxnSpPr>
          <p:cNvPr id="367" name="Google Shape;367;p51"/>
          <p:cNvCxnSpPr/>
          <p:nvPr/>
        </p:nvCxnSpPr>
        <p:spPr>
          <a:xfrm rot="10800000">
            <a:off x="4627625" y="2984425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51"/>
          <p:cNvCxnSpPr/>
          <p:nvPr/>
        </p:nvCxnSpPr>
        <p:spPr>
          <a:xfrm rot="10800000">
            <a:off x="4627625" y="3247350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51"/>
          <p:cNvCxnSpPr/>
          <p:nvPr/>
        </p:nvCxnSpPr>
        <p:spPr>
          <a:xfrm rot="10800000">
            <a:off x="4627625" y="3542125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51"/>
          <p:cNvCxnSpPr/>
          <p:nvPr/>
        </p:nvCxnSpPr>
        <p:spPr>
          <a:xfrm rot="10800000">
            <a:off x="4627625" y="3876050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76" name="Google Shape;376;p52"/>
          <p:cNvSpPr txBox="1"/>
          <p:nvPr/>
        </p:nvSpPr>
        <p:spPr>
          <a:xfrm>
            <a:off x="464225" y="920250"/>
            <a:ext cx="68679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We look for ways to improve the overall accuracy of the model!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We use humans as baselines to understand the predictability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7" name="Google Shape;377;p52"/>
          <p:cNvSpPr txBox="1"/>
          <p:nvPr/>
        </p:nvSpPr>
        <p:spPr>
          <a:xfrm>
            <a:off x="672675" y="4222375"/>
            <a:ext cx="602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Which category would you focus 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see?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Where do you focus now?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378" name="Google Shape;37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50" y="2173950"/>
            <a:ext cx="3946407" cy="1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2"/>
          <p:cNvSpPr txBox="1"/>
          <p:nvPr/>
        </p:nvSpPr>
        <p:spPr>
          <a:xfrm>
            <a:off x="4572000" y="2372800"/>
            <a:ext cx="2247600" cy="1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Potential Improvement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1%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4%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2%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0% Improvement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 </a:t>
            </a:r>
            <a:endParaRPr sz="1300"/>
          </a:p>
        </p:txBody>
      </p:sp>
      <p:cxnSp>
        <p:nvCxnSpPr>
          <p:cNvPr id="380" name="Google Shape;380;p52"/>
          <p:cNvCxnSpPr/>
          <p:nvPr/>
        </p:nvCxnSpPr>
        <p:spPr>
          <a:xfrm rot="10800000">
            <a:off x="4627625" y="2984425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52"/>
          <p:cNvCxnSpPr/>
          <p:nvPr/>
        </p:nvCxnSpPr>
        <p:spPr>
          <a:xfrm rot="10800000">
            <a:off x="4627625" y="3247350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52"/>
          <p:cNvCxnSpPr/>
          <p:nvPr/>
        </p:nvCxnSpPr>
        <p:spPr>
          <a:xfrm rot="10800000">
            <a:off x="4627625" y="3542125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52"/>
          <p:cNvCxnSpPr/>
          <p:nvPr/>
        </p:nvCxnSpPr>
        <p:spPr>
          <a:xfrm rot="10800000">
            <a:off x="4627625" y="3876050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 on the importance of baselines</a:t>
            </a:r>
            <a:endParaRPr/>
          </a:p>
        </p:txBody>
      </p:sp>
      <p:sp>
        <p:nvSpPr>
          <p:cNvPr id="389" name="Google Shape;389;p53"/>
          <p:cNvSpPr txBox="1"/>
          <p:nvPr/>
        </p:nvSpPr>
        <p:spPr>
          <a:xfrm>
            <a:off x="464225" y="920250"/>
            <a:ext cx="68679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Lets remember the speech recognition example.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On the scoping project we have identified 4 categories for speech recognition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We develop a ML model and measure the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We look for ways to improve the overall accuracy of the model!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l">
                <a:solidFill>
                  <a:schemeClr val="dk1"/>
                </a:solidFill>
              </a:rPr>
              <a:t>We use humans as baselines to understand the predictability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0" name="Google Shape;390;p53"/>
          <p:cNvSpPr txBox="1"/>
          <p:nvPr/>
        </p:nvSpPr>
        <p:spPr>
          <a:xfrm>
            <a:off x="672675" y="4222375"/>
            <a:ext cx="6027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Which category would you focus 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do you see?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Where do you focus now?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391" name="Google Shape;39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50" y="2173950"/>
            <a:ext cx="3946407" cy="1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3"/>
          <p:cNvSpPr txBox="1"/>
          <p:nvPr/>
        </p:nvSpPr>
        <p:spPr>
          <a:xfrm>
            <a:off x="4572000" y="2372800"/>
            <a:ext cx="2247600" cy="1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Potential Improvement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1%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4%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2% Improvement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	0% Improvement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300"/>
              <a:t> </a:t>
            </a:r>
            <a:endParaRPr sz="1300"/>
          </a:p>
        </p:txBody>
      </p:sp>
      <p:cxnSp>
        <p:nvCxnSpPr>
          <p:cNvPr id="393" name="Google Shape;393;p53"/>
          <p:cNvCxnSpPr/>
          <p:nvPr/>
        </p:nvCxnSpPr>
        <p:spPr>
          <a:xfrm rot="10800000">
            <a:off x="4627625" y="2984425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53"/>
          <p:cNvCxnSpPr/>
          <p:nvPr/>
        </p:nvCxnSpPr>
        <p:spPr>
          <a:xfrm rot="10800000">
            <a:off x="4627625" y="3247350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53"/>
          <p:cNvCxnSpPr/>
          <p:nvPr/>
        </p:nvCxnSpPr>
        <p:spPr>
          <a:xfrm rot="10800000">
            <a:off x="4627625" y="3542125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53"/>
          <p:cNvCxnSpPr/>
          <p:nvPr/>
        </p:nvCxnSpPr>
        <p:spPr>
          <a:xfrm rot="10800000">
            <a:off x="4627625" y="3876050"/>
            <a:ext cx="32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53"/>
          <p:cNvSpPr txBox="1"/>
          <p:nvPr/>
        </p:nvSpPr>
        <p:spPr>
          <a:xfrm>
            <a:off x="6744800" y="2468450"/>
            <a:ext cx="2218200" cy="140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Tip:</a:t>
            </a:r>
            <a:endParaRPr sz="1100"/>
          </a:p>
          <a:p>
            <a:pPr indent="-165100" lvl="0" marL="17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l" sz="1100"/>
              <a:t>Humans are very good at interpreting unstructured data (images, audio)</a:t>
            </a:r>
            <a:endParaRPr sz="1100"/>
          </a:p>
          <a:p>
            <a:pPr indent="-165100" lvl="0" marL="17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l" sz="1100"/>
              <a:t>Thus, they are a very good baseline to start with</a:t>
            </a:r>
            <a:endParaRPr sz="1100"/>
          </a:p>
          <a:p>
            <a:pPr indent="-165100" lvl="0" marL="179999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l" sz="1100"/>
              <a:t>(When feasible)</a:t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establish a Baseline</a:t>
            </a:r>
            <a:endParaRPr/>
          </a:p>
        </p:txBody>
      </p:sp>
      <p:sp>
        <p:nvSpPr>
          <p:cNvPr id="403" name="Google Shape;403;p54"/>
          <p:cNvSpPr txBox="1"/>
          <p:nvPr/>
        </p:nvSpPr>
        <p:spPr>
          <a:xfrm>
            <a:off x="311700" y="1606150"/>
            <a:ext cx="86376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Human level performance (mainly on unstructured data and when feasible)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Literature search for state-of-the-art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Quick-and-dirty implementation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Performance of an older system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Baseline helps to indicate what might be possible.</a:t>
            </a:r>
            <a:endParaRPr b="1"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In some cases (such as Human Level Performance) it give a sense on what errors we can fix</a:t>
            </a:r>
            <a:endParaRPr sz="1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start modelling?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Never forget!!</a:t>
            </a:r>
            <a:endParaRPr/>
          </a:p>
        </p:txBody>
      </p:sp>
      <p:pic>
        <p:nvPicPr>
          <p:cNvPr id="414" name="Google Shape;41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325" y="1941475"/>
            <a:ext cx="3919349" cy="281550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6"/>
          <p:cNvSpPr txBox="1"/>
          <p:nvPr/>
        </p:nvSpPr>
        <p:spPr>
          <a:xfrm>
            <a:off x="3958400" y="3405925"/>
            <a:ext cx="1348500" cy="39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Modeling loop</a:t>
            </a:r>
            <a:endParaRPr/>
          </a:p>
        </p:txBody>
      </p:sp>
      <p:sp>
        <p:nvSpPr>
          <p:cNvPr id="416" name="Google Shape;416;p56"/>
          <p:cNvSpPr txBox="1"/>
          <p:nvPr/>
        </p:nvSpPr>
        <p:spPr>
          <a:xfrm>
            <a:off x="311700" y="1116175"/>
            <a:ext cx="69048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Modelling is an </a:t>
            </a:r>
            <a:r>
              <a:rPr lang="el" sz="1600">
                <a:solidFill>
                  <a:srgbClr val="FF00FF"/>
                </a:solidFill>
              </a:rPr>
              <a:t>iterative</a:t>
            </a:r>
            <a:r>
              <a:rPr lang="el" sz="1600">
                <a:solidFill>
                  <a:srgbClr val="FF00FF"/>
                </a:solidFill>
              </a:rPr>
              <a:t> loop!!!</a:t>
            </a:r>
            <a:endParaRPr sz="1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Getting started on modeling</a:t>
            </a:r>
            <a:endParaRPr/>
          </a:p>
        </p:txBody>
      </p:sp>
      <p:sp>
        <p:nvSpPr>
          <p:cNvPr id="422" name="Google Shape;422;p57"/>
          <p:cNvSpPr txBox="1"/>
          <p:nvPr/>
        </p:nvSpPr>
        <p:spPr>
          <a:xfrm>
            <a:off x="-83400" y="1709775"/>
            <a:ext cx="8982300" cy="26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Literature search to see whats possible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○"/>
            </a:pPr>
            <a:r>
              <a:rPr lang="el" sz="1600">
                <a:solidFill>
                  <a:srgbClr val="FF00FF"/>
                </a:solidFill>
              </a:rPr>
              <a:t>courses, blogs, open-source projects)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Find open-source implementations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○"/>
            </a:pPr>
            <a:r>
              <a:rPr lang="el" sz="1600">
                <a:solidFill>
                  <a:srgbClr val="FF00FF"/>
                </a:solidFill>
              </a:rPr>
              <a:t>If someone has done it, try to prove him wrong, otherwise trust him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Remember, a reasonable model with good data often outperforms a good algorithm bad data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○"/>
            </a:pPr>
            <a:r>
              <a:rPr lang="el" sz="1600">
                <a:solidFill>
                  <a:srgbClr val="FF00FF"/>
                </a:solidFill>
              </a:rPr>
              <a:t>Always fix your data first!!</a:t>
            </a:r>
            <a:endParaRPr sz="1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constraints when picking a model</a:t>
            </a:r>
            <a:endParaRPr/>
          </a:p>
        </p:txBody>
      </p:sp>
      <p:sp>
        <p:nvSpPr>
          <p:cNvPr id="428" name="Google Shape;428;p58"/>
          <p:cNvSpPr txBox="1"/>
          <p:nvPr/>
        </p:nvSpPr>
        <p:spPr>
          <a:xfrm>
            <a:off x="463800" y="1270775"/>
            <a:ext cx="8216400" cy="3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question: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Should we take into account deployment constraints when picking a model?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constraints when picking a model</a:t>
            </a:r>
            <a:endParaRPr/>
          </a:p>
        </p:txBody>
      </p:sp>
      <p:sp>
        <p:nvSpPr>
          <p:cNvPr id="434" name="Google Shape;434;p59"/>
          <p:cNvSpPr txBox="1"/>
          <p:nvPr/>
        </p:nvSpPr>
        <p:spPr>
          <a:xfrm>
            <a:off x="463800" y="1270775"/>
            <a:ext cx="8216400" cy="3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question: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Should we take into account deployment constraints when picking a model?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answer: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Yes: If a baseline is already established and the goal is to build and deploy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No (or not necessarily). If the purpose is to establish a baseline and determine what is possible and might be worth pursuing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Error Analysis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rule of thumb!</a:t>
            </a:r>
            <a:endParaRPr/>
          </a:p>
        </p:txBody>
      </p:sp>
      <p:sp>
        <p:nvSpPr>
          <p:cNvPr id="445" name="Google Shape;445;p61"/>
          <p:cNvSpPr txBox="1"/>
          <p:nvPr/>
        </p:nvSpPr>
        <p:spPr>
          <a:xfrm>
            <a:off x="412650" y="1510500"/>
            <a:ext cx="75900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first time you train a ML algorithm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You can always guarantee that it won't work in the first try (Sorry!)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Focus on how you spend your time after the first failure.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rule of thumb!</a:t>
            </a:r>
            <a:endParaRPr/>
          </a:p>
        </p:txBody>
      </p:sp>
      <p:sp>
        <p:nvSpPr>
          <p:cNvPr id="451" name="Google Shape;451;p62"/>
          <p:cNvSpPr txBox="1"/>
          <p:nvPr/>
        </p:nvSpPr>
        <p:spPr>
          <a:xfrm>
            <a:off x="412650" y="1510500"/>
            <a:ext cx="75900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first time you train a ML algorithm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You can always guarantee that it won't work in the first try (Sorry!)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Focus on how you spend your time after the first failure.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Consider!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Do you blindly improve?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Do you identify the errors and try to fix them?</a:t>
            </a:r>
            <a:endParaRPr sz="16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example!</a:t>
            </a:r>
            <a:endParaRPr/>
          </a:p>
        </p:txBody>
      </p:sp>
      <p:sp>
        <p:nvSpPr>
          <p:cNvPr id="457" name="Google Shape;457;p63"/>
          <p:cNvSpPr txBox="1"/>
          <p:nvPr/>
        </p:nvSpPr>
        <p:spPr>
          <a:xfrm>
            <a:off x="333150" y="1017725"/>
            <a:ext cx="8477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have developed the Speech Recognition model.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are trying to manually interpret its performance on different examples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also measure </a:t>
            </a:r>
            <a:r>
              <a:rPr lang="el" sz="1600" u="sng"/>
              <a:t>if there is car noise or people noise</a:t>
            </a:r>
            <a:r>
              <a:rPr lang="el" sz="1600"/>
              <a:t> so we find patterns on the errors</a:t>
            </a:r>
            <a:endParaRPr sz="16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example!</a:t>
            </a:r>
            <a:endParaRPr/>
          </a:p>
        </p:txBody>
      </p:sp>
      <p:pic>
        <p:nvPicPr>
          <p:cNvPr id="463" name="Google Shape;46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50" y="2244200"/>
            <a:ext cx="6441976" cy="18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4"/>
          <p:cNvSpPr/>
          <p:nvPr/>
        </p:nvSpPr>
        <p:spPr>
          <a:xfrm>
            <a:off x="1105325" y="3117075"/>
            <a:ext cx="279900" cy="9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4"/>
          <p:cNvSpPr/>
          <p:nvPr/>
        </p:nvSpPr>
        <p:spPr>
          <a:xfrm>
            <a:off x="1795650" y="3176000"/>
            <a:ext cx="1837200" cy="88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4"/>
          <p:cNvSpPr/>
          <p:nvPr/>
        </p:nvSpPr>
        <p:spPr>
          <a:xfrm>
            <a:off x="3834500" y="3116950"/>
            <a:ext cx="1765800" cy="9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4"/>
          <p:cNvSpPr/>
          <p:nvPr/>
        </p:nvSpPr>
        <p:spPr>
          <a:xfrm>
            <a:off x="5801950" y="3116950"/>
            <a:ext cx="586800" cy="10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4"/>
          <p:cNvSpPr/>
          <p:nvPr/>
        </p:nvSpPr>
        <p:spPr>
          <a:xfrm>
            <a:off x="6590400" y="3116975"/>
            <a:ext cx="586800" cy="10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4"/>
          <p:cNvSpPr txBox="1"/>
          <p:nvPr/>
        </p:nvSpPr>
        <p:spPr>
          <a:xfrm>
            <a:off x="333150" y="1017725"/>
            <a:ext cx="8477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have developed the Speech Recognition model.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are trying to manually interpret its performance on different examples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also measure </a:t>
            </a:r>
            <a:r>
              <a:rPr lang="el" sz="1600" u="sng"/>
              <a:t>if there is car noise or people noise</a:t>
            </a:r>
            <a:r>
              <a:rPr lang="el" sz="1600"/>
              <a:t> so we find patterns on the errors</a:t>
            </a:r>
            <a:endParaRPr sz="1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example!</a:t>
            </a:r>
            <a:endParaRPr/>
          </a:p>
        </p:txBody>
      </p:sp>
      <p:pic>
        <p:nvPicPr>
          <p:cNvPr id="475" name="Google Shape;47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50" y="2244200"/>
            <a:ext cx="6441976" cy="18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5"/>
          <p:cNvSpPr/>
          <p:nvPr/>
        </p:nvSpPr>
        <p:spPr>
          <a:xfrm>
            <a:off x="1105325" y="3448650"/>
            <a:ext cx="279900" cy="61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5"/>
          <p:cNvSpPr/>
          <p:nvPr/>
        </p:nvSpPr>
        <p:spPr>
          <a:xfrm>
            <a:off x="1795650" y="3487450"/>
            <a:ext cx="18372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5"/>
          <p:cNvSpPr/>
          <p:nvPr/>
        </p:nvSpPr>
        <p:spPr>
          <a:xfrm>
            <a:off x="3834500" y="3448650"/>
            <a:ext cx="1765800" cy="61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5"/>
          <p:cNvSpPr/>
          <p:nvPr/>
        </p:nvSpPr>
        <p:spPr>
          <a:xfrm>
            <a:off x="5801950" y="3360225"/>
            <a:ext cx="586800" cy="82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65"/>
          <p:cNvSpPr/>
          <p:nvPr/>
        </p:nvSpPr>
        <p:spPr>
          <a:xfrm>
            <a:off x="6590400" y="3448650"/>
            <a:ext cx="586800" cy="7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5"/>
          <p:cNvSpPr txBox="1"/>
          <p:nvPr/>
        </p:nvSpPr>
        <p:spPr>
          <a:xfrm>
            <a:off x="333150" y="1017725"/>
            <a:ext cx="8477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have developed the Speech Recognition model.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are trying to manually interpret its performance on different examples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also measure </a:t>
            </a:r>
            <a:r>
              <a:rPr lang="el" sz="1600" u="sng"/>
              <a:t>if there is car noise or people noise</a:t>
            </a:r>
            <a:r>
              <a:rPr lang="el" sz="1600"/>
              <a:t> so we find patterns on the errors</a:t>
            </a:r>
            <a:endParaRPr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example!</a:t>
            </a:r>
            <a:endParaRPr/>
          </a:p>
        </p:txBody>
      </p:sp>
      <p:pic>
        <p:nvPicPr>
          <p:cNvPr id="487" name="Google Shape;48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50" y="2244200"/>
            <a:ext cx="6441976" cy="18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6"/>
          <p:cNvSpPr txBox="1"/>
          <p:nvPr/>
        </p:nvSpPr>
        <p:spPr>
          <a:xfrm>
            <a:off x="333150" y="1017725"/>
            <a:ext cx="8477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have developed the Speech Recognition model.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are trying to manually interpret its performance on different examples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also measure </a:t>
            </a:r>
            <a:r>
              <a:rPr lang="el" sz="1600" u="sng"/>
              <a:t>if there is car noise or people noise</a:t>
            </a:r>
            <a:r>
              <a:rPr lang="el" sz="1600"/>
              <a:t> so we find patterns on the errors</a:t>
            </a:r>
            <a:endParaRPr sz="1600"/>
          </a:p>
        </p:txBody>
      </p:sp>
      <p:sp>
        <p:nvSpPr>
          <p:cNvPr id="489" name="Google Shape;489;p66"/>
          <p:cNvSpPr/>
          <p:nvPr/>
        </p:nvSpPr>
        <p:spPr>
          <a:xfrm>
            <a:off x="1105325" y="3817100"/>
            <a:ext cx="279900" cy="2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6"/>
          <p:cNvSpPr/>
          <p:nvPr/>
        </p:nvSpPr>
        <p:spPr>
          <a:xfrm>
            <a:off x="1795650" y="3772875"/>
            <a:ext cx="1837200" cy="28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6"/>
          <p:cNvSpPr/>
          <p:nvPr/>
        </p:nvSpPr>
        <p:spPr>
          <a:xfrm>
            <a:off x="3834500" y="3772750"/>
            <a:ext cx="1765800" cy="28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6"/>
          <p:cNvSpPr/>
          <p:nvPr/>
        </p:nvSpPr>
        <p:spPr>
          <a:xfrm>
            <a:off x="5801950" y="3772750"/>
            <a:ext cx="586800" cy="41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6"/>
          <p:cNvSpPr/>
          <p:nvPr/>
        </p:nvSpPr>
        <p:spPr>
          <a:xfrm>
            <a:off x="6590400" y="3772775"/>
            <a:ext cx="586800" cy="41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example!</a:t>
            </a:r>
            <a:endParaRPr/>
          </a:p>
        </p:txBody>
      </p:sp>
      <p:pic>
        <p:nvPicPr>
          <p:cNvPr id="499" name="Google Shape;49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50" y="2244200"/>
            <a:ext cx="6441976" cy="18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67"/>
          <p:cNvSpPr txBox="1"/>
          <p:nvPr/>
        </p:nvSpPr>
        <p:spPr>
          <a:xfrm>
            <a:off x="333150" y="1017725"/>
            <a:ext cx="8477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have developed the Speech Recognition model.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are trying to manually interpret its performance on different examples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also measure </a:t>
            </a:r>
            <a:r>
              <a:rPr lang="el" sz="1600" u="sng"/>
              <a:t>if there is car noise or people noise</a:t>
            </a:r>
            <a:r>
              <a:rPr lang="el" sz="1600"/>
              <a:t> so we find patterns on the errors</a:t>
            </a:r>
            <a:endParaRPr sz="16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An example!</a:t>
            </a:r>
            <a:endParaRPr/>
          </a:p>
        </p:txBody>
      </p:sp>
      <p:pic>
        <p:nvPicPr>
          <p:cNvPr id="506" name="Google Shape;50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50" y="2244200"/>
            <a:ext cx="6441976" cy="18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68"/>
          <p:cNvSpPr txBox="1"/>
          <p:nvPr/>
        </p:nvSpPr>
        <p:spPr>
          <a:xfrm>
            <a:off x="3200600" y="4362300"/>
            <a:ext cx="3876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What do you observe here?</a:t>
            </a:r>
            <a:endParaRPr b="1" sz="1600">
              <a:solidFill>
                <a:srgbClr val="FF00FF"/>
              </a:solidFill>
            </a:endParaRPr>
          </a:p>
        </p:txBody>
      </p:sp>
      <p:sp>
        <p:nvSpPr>
          <p:cNvPr id="508" name="Google Shape;508;p68"/>
          <p:cNvSpPr txBox="1"/>
          <p:nvPr/>
        </p:nvSpPr>
        <p:spPr>
          <a:xfrm>
            <a:off x="333150" y="1017725"/>
            <a:ext cx="8477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have developed the Speech Recognition model.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are trying to manually interpret its performance on different examples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We also measure </a:t>
            </a:r>
            <a:r>
              <a:rPr lang="el" sz="1600" u="sng"/>
              <a:t>if there is car noise or people noise</a:t>
            </a:r>
            <a:r>
              <a:rPr lang="el" sz="1600"/>
              <a:t> so we find patterns on the errors</a:t>
            </a:r>
            <a:endParaRPr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Some useful things to consider</a:t>
            </a:r>
            <a:endParaRPr/>
          </a:p>
        </p:txBody>
      </p:sp>
      <p:sp>
        <p:nvSpPr>
          <p:cNvPr id="514" name="Google Shape;514;p69"/>
          <p:cNvSpPr txBox="1"/>
          <p:nvPr/>
        </p:nvSpPr>
        <p:spPr>
          <a:xfrm>
            <a:off x="478975" y="1053750"/>
            <a:ext cx="78849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We identified that: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model </a:t>
            </a:r>
            <a:r>
              <a:rPr lang="el" sz="1600">
                <a:solidFill>
                  <a:srgbClr val="FF00FF"/>
                </a:solidFill>
              </a:rPr>
              <a:t>struggles</a:t>
            </a:r>
            <a:r>
              <a:rPr lang="el" sz="1600">
                <a:solidFill>
                  <a:srgbClr val="FF00FF"/>
                </a:solidFill>
              </a:rPr>
              <a:t> with people noise!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Some useful things to consider</a:t>
            </a:r>
            <a:endParaRPr/>
          </a:p>
        </p:txBody>
      </p:sp>
      <p:sp>
        <p:nvSpPr>
          <p:cNvPr id="520" name="Google Shape;520;p70"/>
          <p:cNvSpPr txBox="1"/>
          <p:nvPr/>
        </p:nvSpPr>
        <p:spPr>
          <a:xfrm>
            <a:off x="478975" y="1053750"/>
            <a:ext cx="78849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We identified that: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model struggles with people noise!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 to proceed?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Some useful things to consider</a:t>
            </a:r>
            <a:endParaRPr/>
          </a:p>
        </p:txBody>
      </p:sp>
      <p:sp>
        <p:nvSpPr>
          <p:cNvPr id="526" name="Google Shape;526;p71"/>
          <p:cNvSpPr txBox="1"/>
          <p:nvPr/>
        </p:nvSpPr>
        <p:spPr>
          <a:xfrm>
            <a:off x="478975" y="1053750"/>
            <a:ext cx="78849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We identified that: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model struggles with people noise!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 to proceed?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Investigate more!!!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Some useful things to consider</a:t>
            </a:r>
            <a:endParaRPr/>
          </a:p>
        </p:txBody>
      </p:sp>
      <p:sp>
        <p:nvSpPr>
          <p:cNvPr id="532" name="Google Shape;532;p72"/>
          <p:cNvSpPr txBox="1"/>
          <p:nvPr/>
        </p:nvSpPr>
        <p:spPr>
          <a:xfrm>
            <a:off x="478975" y="1053750"/>
            <a:ext cx="78849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We identified that: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The model struggles with people noise!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 to proceed?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Investigate more!!!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What fraction of the errors has that tag?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Of all data with that tag, what fraction is misclassified?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What fraction of all the data has that tag?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much room for improvement do we have for that tag?</a:t>
            </a:r>
            <a:endParaRPr sz="16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then?</a:t>
            </a:r>
            <a:endParaRPr/>
          </a:p>
        </p:txBody>
      </p:sp>
      <p:sp>
        <p:nvSpPr>
          <p:cNvPr id="538" name="Google Shape;538;p73"/>
          <p:cNvSpPr txBox="1"/>
          <p:nvPr/>
        </p:nvSpPr>
        <p:spPr>
          <a:xfrm>
            <a:off x="3201650" y="838775"/>
            <a:ext cx="3557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Prioritizing what to work on!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539" name="Google Shape;53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75" y="1280976"/>
            <a:ext cx="6077599" cy="18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then?</a:t>
            </a:r>
            <a:endParaRPr/>
          </a:p>
        </p:txBody>
      </p:sp>
      <p:sp>
        <p:nvSpPr>
          <p:cNvPr id="545" name="Google Shape;545;p74"/>
          <p:cNvSpPr txBox="1"/>
          <p:nvPr/>
        </p:nvSpPr>
        <p:spPr>
          <a:xfrm>
            <a:off x="3201650" y="838775"/>
            <a:ext cx="3557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Prioritizing what to work on!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546" name="Google Shape;54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75" y="1280976"/>
            <a:ext cx="6077599" cy="18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74"/>
          <p:cNvSpPr txBox="1"/>
          <p:nvPr/>
        </p:nvSpPr>
        <p:spPr>
          <a:xfrm>
            <a:off x="31650" y="3151000"/>
            <a:ext cx="9080700" cy="1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clean speech:</a:t>
            </a:r>
            <a:r>
              <a:rPr lang="el" sz="1500"/>
              <a:t> If we go from 94% to 95% we will have an overall improvement of 0.6%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car noise:</a:t>
            </a:r>
            <a:r>
              <a:rPr lang="el" sz="1500"/>
              <a:t> We get an overall percent of 0.16%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people noise:</a:t>
            </a:r>
            <a:r>
              <a:rPr lang="el" sz="1500"/>
              <a:t> We get an 0.6%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low bandwidth:</a:t>
            </a:r>
            <a:r>
              <a:rPr lang="el" sz="1500"/>
              <a:t> We get 0% improvement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Where to focus?</a:t>
            </a:r>
            <a:endParaRPr sz="15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then?</a:t>
            </a:r>
            <a:endParaRPr/>
          </a:p>
        </p:txBody>
      </p:sp>
      <p:sp>
        <p:nvSpPr>
          <p:cNvPr id="553" name="Google Shape;553;p75"/>
          <p:cNvSpPr txBox="1"/>
          <p:nvPr/>
        </p:nvSpPr>
        <p:spPr>
          <a:xfrm>
            <a:off x="3201650" y="838775"/>
            <a:ext cx="3557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Prioritizing what to work on!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554" name="Google Shape;55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75" y="1280976"/>
            <a:ext cx="6077599" cy="18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5"/>
          <p:cNvSpPr txBox="1"/>
          <p:nvPr/>
        </p:nvSpPr>
        <p:spPr>
          <a:xfrm>
            <a:off x="31650" y="3151000"/>
            <a:ext cx="9080700" cy="1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clean speech:</a:t>
            </a:r>
            <a:r>
              <a:rPr lang="el" sz="1500"/>
              <a:t> If we go from 94% to 95% we will have an </a:t>
            </a:r>
            <a:r>
              <a:rPr lang="el" sz="1500"/>
              <a:t>overall</a:t>
            </a:r>
            <a:r>
              <a:rPr lang="el" sz="1500"/>
              <a:t> improvement of 0.6%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car noise:</a:t>
            </a:r>
            <a:r>
              <a:rPr lang="el" sz="1500"/>
              <a:t> We get an </a:t>
            </a:r>
            <a:r>
              <a:rPr lang="el" sz="1500"/>
              <a:t>overall</a:t>
            </a:r>
            <a:r>
              <a:rPr lang="el" sz="1500"/>
              <a:t> percent of 0.16%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people noise:</a:t>
            </a:r>
            <a:r>
              <a:rPr lang="el" sz="1500"/>
              <a:t> We get an 0.6%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>
                <a:solidFill>
                  <a:srgbClr val="FF00FF"/>
                </a:solidFill>
              </a:rPr>
              <a:t>For low bandwidth:</a:t>
            </a:r>
            <a:r>
              <a:rPr lang="el" sz="1500"/>
              <a:t> We get 0% improvement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Before we said focus on car noise because of the 4% potential room for improvement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But now people noise and clean </a:t>
            </a:r>
            <a:r>
              <a:rPr lang="el" sz="1500"/>
              <a:t>speech</a:t>
            </a:r>
            <a:r>
              <a:rPr lang="el" sz="1500"/>
              <a:t> account for 90% of data.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Its worth more going there!!</a:t>
            </a:r>
            <a:endParaRPr sz="15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prioritize!</a:t>
            </a:r>
            <a:endParaRPr/>
          </a:p>
        </p:txBody>
      </p:sp>
      <p:sp>
        <p:nvSpPr>
          <p:cNvPr id="561" name="Google Shape;561;p76"/>
          <p:cNvSpPr txBox="1"/>
          <p:nvPr/>
        </p:nvSpPr>
        <p:spPr>
          <a:xfrm>
            <a:off x="530550" y="1731700"/>
            <a:ext cx="72363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Decide on the most important categories to work on based on: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much room for improvement there is?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much frequently that category appears?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easy it is to improve accuracy on that category?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How important is that category for improvement (medicine example)?</a:t>
            </a:r>
            <a:endParaRPr sz="16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975" y="1484600"/>
            <a:ext cx="3919349" cy="281550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improve!</a:t>
            </a:r>
            <a:endParaRPr/>
          </a:p>
        </p:txBody>
      </p:sp>
      <p:sp>
        <p:nvSpPr>
          <p:cNvPr id="568" name="Google Shape;568;p77"/>
          <p:cNvSpPr txBox="1"/>
          <p:nvPr/>
        </p:nvSpPr>
        <p:spPr>
          <a:xfrm>
            <a:off x="132225" y="1942200"/>
            <a:ext cx="6375900" cy="16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On the categories you have selected!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Collect more data!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Use better feature engineering to improve the data quality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Improve label accuracy quality</a:t>
            </a:r>
            <a:endParaRPr sz="1600"/>
          </a:p>
        </p:txBody>
      </p:sp>
      <p:sp>
        <p:nvSpPr>
          <p:cNvPr id="569" name="Google Shape;569;p77"/>
          <p:cNvSpPr txBox="1"/>
          <p:nvPr/>
        </p:nvSpPr>
        <p:spPr>
          <a:xfrm>
            <a:off x="6508050" y="2949050"/>
            <a:ext cx="1348500" cy="390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Modeling loop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handle skewed datasets!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Examples of skewed datasets</a:t>
            </a:r>
            <a:endParaRPr/>
          </a:p>
        </p:txBody>
      </p:sp>
      <p:sp>
        <p:nvSpPr>
          <p:cNvPr id="580" name="Google Shape;580;p79"/>
          <p:cNvSpPr txBox="1"/>
          <p:nvPr/>
        </p:nvSpPr>
        <p:spPr>
          <a:xfrm>
            <a:off x="456875" y="1326400"/>
            <a:ext cx="7980600" cy="3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Datasets that yield high accuracy simply by returning one class label!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●"/>
            </a:pPr>
            <a:r>
              <a:rPr lang="el" sz="1600">
                <a:solidFill>
                  <a:srgbClr val="FF00FF"/>
                </a:solidFill>
              </a:rPr>
              <a:t>Manufacturing company</a:t>
            </a:r>
            <a:endParaRPr sz="1600">
              <a:solidFill>
                <a:srgbClr val="FF00FF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99.7 of products have no defect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0.3 of products have a defect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●"/>
            </a:pPr>
            <a:r>
              <a:rPr lang="el" sz="1600">
                <a:solidFill>
                  <a:srgbClr val="FF00FF"/>
                </a:solidFill>
              </a:rPr>
              <a:t>Medical diagnosis</a:t>
            </a:r>
            <a:endParaRPr sz="1600">
              <a:solidFill>
                <a:srgbClr val="FF00FF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99% of </a:t>
            </a:r>
            <a:r>
              <a:rPr lang="el" sz="1600"/>
              <a:t>patients</a:t>
            </a:r>
            <a:r>
              <a:rPr lang="el" sz="1600"/>
              <a:t> do not have a disease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1% do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●"/>
            </a:pPr>
            <a:r>
              <a:rPr lang="el" sz="1600">
                <a:solidFill>
                  <a:srgbClr val="FF00FF"/>
                </a:solidFill>
              </a:rPr>
              <a:t>Speech</a:t>
            </a:r>
            <a:r>
              <a:rPr lang="el" sz="1600">
                <a:solidFill>
                  <a:srgbClr val="FF00FF"/>
                </a:solidFill>
              </a:rPr>
              <a:t> recognition</a:t>
            </a:r>
            <a:endParaRPr sz="1600">
              <a:solidFill>
                <a:srgbClr val="FF00FF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A specific word (like “I”) </a:t>
            </a:r>
            <a:r>
              <a:rPr lang="el" sz="1600"/>
              <a:t>appears</a:t>
            </a:r>
            <a:r>
              <a:rPr lang="el" sz="1600"/>
              <a:t> almost always</a:t>
            </a:r>
            <a:endParaRPr sz="16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</p:txBody>
      </p:sp>
      <p:sp>
        <p:nvSpPr>
          <p:cNvPr id="586" name="Google Shape;586;p80"/>
          <p:cNvSpPr txBox="1"/>
          <p:nvPr/>
        </p:nvSpPr>
        <p:spPr>
          <a:xfrm>
            <a:off x="151850" y="1193775"/>
            <a:ext cx="88968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 confusion matrix is a matrix with one axis having the actual labels and the other the predicted</a:t>
            </a:r>
            <a:endParaRPr sz="1600"/>
          </a:p>
        </p:txBody>
      </p:sp>
      <p:pic>
        <p:nvPicPr>
          <p:cNvPr id="587" name="Google Shape;58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75" y="1882288"/>
            <a:ext cx="3390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80"/>
          <p:cNvSpPr/>
          <p:nvPr/>
        </p:nvSpPr>
        <p:spPr>
          <a:xfrm>
            <a:off x="6897300" y="2910725"/>
            <a:ext cx="449400" cy="46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80"/>
          <p:cNvSpPr/>
          <p:nvPr/>
        </p:nvSpPr>
        <p:spPr>
          <a:xfrm>
            <a:off x="6931775" y="3674750"/>
            <a:ext cx="449400" cy="46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80"/>
          <p:cNvSpPr/>
          <p:nvPr/>
        </p:nvSpPr>
        <p:spPr>
          <a:xfrm>
            <a:off x="7806350" y="2921838"/>
            <a:ext cx="449400" cy="46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0"/>
          <p:cNvSpPr/>
          <p:nvPr/>
        </p:nvSpPr>
        <p:spPr>
          <a:xfrm>
            <a:off x="7806350" y="3674750"/>
            <a:ext cx="449400" cy="46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</p:txBody>
      </p:sp>
      <p:pic>
        <p:nvPicPr>
          <p:cNvPr id="597" name="Google Shape;59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75" y="1882288"/>
            <a:ext cx="3390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81"/>
          <p:cNvSpPr txBox="1"/>
          <p:nvPr/>
        </p:nvSpPr>
        <p:spPr>
          <a:xfrm>
            <a:off x="151850" y="1193775"/>
            <a:ext cx="88968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 confusion matrix is a matrix with one axis having the actual labels and the other the predicted</a:t>
            </a:r>
            <a:endParaRPr sz="16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</p:txBody>
      </p:sp>
      <p:sp>
        <p:nvSpPr>
          <p:cNvPr id="604" name="Google Shape;604;p82"/>
          <p:cNvSpPr txBox="1"/>
          <p:nvPr/>
        </p:nvSpPr>
        <p:spPr>
          <a:xfrm>
            <a:off x="66300" y="1193775"/>
            <a:ext cx="90777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 confusion matrix is a matrix with one axis having the actual labels and the other the predicted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Consider the following skewed example!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914 positive examples (91.4%)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l" sz="1600"/>
              <a:t>86 negative examples(8.6%)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05" name="Google Shape;60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75" y="1882288"/>
            <a:ext cx="3390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82"/>
          <p:cNvSpPr txBox="1"/>
          <p:nvPr/>
        </p:nvSpPr>
        <p:spPr>
          <a:xfrm>
            <a:off x="687520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905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07" name="Google Shape;607;p82"/>
          <p:cNvSpPr txBox="1"/>
          <p:nvPr/>
        </p:nvSpPr>
        <p:spPr>
          <a:xfrm>
            <a:off x="6941525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08" name="Google Shape;608;p82"/>
          <p:cNvSpPr txBox="1"/>
          <p:nvPr/>
        </p:nvSpPr>
        <p:spPr>
          <a:xfrm>
            <a:off x="780635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18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09" name="Google Shape;609;p82"/>
          <p:cNvSpPr txBox="1"/>
          <p:nvPr/>
        </p:nvSpPr>
        <p:spPr>
          <a:xfrm>
            <a:off x="7887400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68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</p:txBody>
      </p:sp>
      <p:sp>
        <p:nvSpPr>
          <p:cNvPr id="615" name="Google Shape;615;p83"/>
          <p:cNvSpPr txBox="1"/>
          <p:nvPr/>
        </p:nvSpPr>
        <p:spPr>
          <a:xfrm>
            <a:off x="55600" y="1193775"/>
            <a:ext cx="91440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A confusion matrix is a matrix with one axis having the actual labels and the other the predicted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Consider the following skewed example!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914 positive examples (91.4%)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86 negative examples(8.6%)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Is accuracy a good metric here?</a:t>
            </a:r>
            <a:endParaRPr sz="1600"/>
          </a:p>
        </p:txBody>
      </p:sp>
      <p:pic>
        <p:nvPicPr>
          <p:cNvPr id="616" name="Google Shape;61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75" y="1882288"/>
            <a:ext cx="3390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83"/>
          <p:cNvSpPr txBox="1"/>
          <p:nvPr/>
        </p:nvSpPr>
        <p:spPr>
          <a:xfrm>
            <a:off x="687520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905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18" name="Google Shape;618;p83"/>
          <p:cNvSpPr txBox="1"/>
          <p:nvPr/>
        </p:nvSpPr>
        <p:spPr>
          <a:xfrm>
            <a:off x="6941525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19" name="Google Shape;619;p83"/>
          <p:cNvSpPr txBox="1"/>
          <p:nvPr/>
        </p:nvSpPr>
        <p:spPr>
          <a:xfrm>
            <a:off x="780635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18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20" name="Google Shape;620;p83"/>
          <p:cNvSpPr txBox="1"/>
          <p:nvPr/>
        </p:nvSpPr>
        <p:spPr>
          <a:xfrm>
            <a:off x="7887400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68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</p:txBody>
      </p:sp>
      <p:pic>
        <p:nvPicPr>
          <p:cNvPr id="626" name="Google Shape;62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75" y="1882288"/>
            <a:ext cx="3390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84"/>
          <p:cNvSpPr txBox="1"/>
          <p:nvPr/>
        </p:nvSpPr>
        <p:spPr>
          <a:xfrm>
            <a:off x="687520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905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28" name="Google Shape;628;p84"/>
          <p:cNvSpPr txBox="1"/>
          <p:nvPr/>
        </p:nvSpPr>
        <p:spPr>
          <a:xfrm>
            <a:off x="6941525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29" name="Google Shape;629;p84"/>
          <p:cNvSpPr txBox="1"/>
          <p:nvPr/>
        </p:nvSpPr>
        <p:spPr>
          <a:xfrm>
            <a:off x="780635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18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30" name="Google Shape;630;p84"/>
          <p:cNvSpPr txBox="1"/>
          <p:nvPr/>
        </p:nvSpPr>
        <p:spPr>
          <a:xfrm>
            <a:off x="7887400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68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31" name="Google Shape;631;p84"/>
          <p:cNvSpPr txBox="1"/>
          <p:nvPr/>
        </p:nvSpPr>
        <p:spPr>
          <a:xfrm>
            <a:off x="55600" y="2790325"/>
            <a:ext cx="52611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8761D"/>
                </a:solidFill>
              </a:rPr>
              <a:t>Precision: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Of all predicted positive examples, what fraction where actually positive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Precision </a:t>
            </a:r>
            <a:r>
              <a:rPr lang="el"/>
              <a:t>= TP/ (TP + FP) = 68/ (68+9) = 88.3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4"/>
          <p:cNvSpPr/>
          <p:nvPr/>
        </p:nvSpPr>
        <p:spPr>
          <a:xfrm>
            <a:off x="6713100" y="3556825"/>
            <a:ext cx="1724400" cy="6189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84"/>
          <p:cNvSpPr txBox="1"/>
          <p:nvPr/>
        </p:nvSpPr>
        <p:spPr>
          <a:xfrm>
            <a:off x="55600" y="1193775"/>
            <a:ext cx="91440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A confusion matrix is a matrix with one axis having the actual labels and the other the predicted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Consider the following skewed example!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914 positive examples (91.4%)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86 negative examples(8.6%)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Is accuracy a good metric here?</a:t>
            </a:r>
            <a:endParaRPr sz="16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</p:txBody>
      </p:sp>
      <p:pic>
        <p:nvPicPr>
          <p:cNvPr id="639" name="Google Shape;63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75" y="1882288"/>
            <a:ext cx="3390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85"/>
          <p:cNvSpPr txBox="1"/>
          <p:nvPr/>
        </p:nvSpPr>
        <p:spPr>
          <a:xfrm>
            <a:off x="687520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905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41" name="Google Shape;641;p85"/>
          <p:cNvSpPr txBox="1"/>
          <p:nvPr/>
        </p:nvSpPr>
        <p:spPr>
          <a:xfrm>
            <a:off x="6941525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42" name="Google Shape;642;p85"/>
          <p:cNvSpPr txBox="1"/>
          <p:nvPr/>
        </p:nvSpPr>
        <p:spPr>
          <a:xfrm>
            <a:off x="780635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18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43" name="Google Shape;643;p85"/>
          <p:cNvSpPr txBox="1"/>
          <p:nvPr/>
        </p:nvSpPr>
        <p:spPr>
          <a:xfrm>
            <a:off x="7887400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68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44" name="Google Shape;644;p85"/>
          <p:cNvSpPr/>
          <p:nvPr/>
        </p:nvSpPr>
        <p:spPr>
          <a:xfrm>
            <a:off x="6713100" y="3556825"/>
            <a:ext cx="1724400" cy="6189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85"/>
          <p:cNvSpPr/>
          <p:nvPr/>
        </p:nvSpPr>
        <p:spPr>
          <a:xfrm>
            <a:off x="7760750" y="2748600"/>
            <a:ext cx="606900" cy="15033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85"/>
          <p:cNvSpPr txBox="1"/>
          <p:nvPr/>
        </p:nvSpPr>
        <p:spPr>
          <a:xfrm>
            <a:off x="55600" y="2790325"/>
            <a:ext cx="5731500" cy="19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8761D"/>
                </a:solidFill>
              </a:rPr>
              <a:t>Precision: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Of all predicted positive examples, what fraction where actually positive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Precision</a:t>
            </a:r>
            <a:r>
              <a:rPr lang="el"/>
              <a:t> = TP/ (TP + FP) = 68/ (68+9) = 88.3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>
                <a:solidFill>
                  <a:srgbClr val="1155CC"/>
                </a:solidFill>
              </a:rPr>
              <a:t>Recall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>
                <a:solidFill>
                  <a:schemeClr val="dk1"/>
                </a:solidFill>
              </a:rPr>
              <a:t>Of all actually positive examples, how many did the model get right?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>
                <a:solidFill>
                  <a:schemeClr val="dk1"/>
                </a:solidFill>
              </a:rPr>
              <a:t>Recall</a:t>
            </a:r>
            <a:r>
              <a:rPr lang="el">
                <a:solidFill>
                  <a:schemeClr val="dk1"/>
                </a:solidFill>
              </a:rPr>
              <a:t> = TP/(TP+FN) = 68/(68+18) = 79%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85"/>
          <p:cNvSpPr txBox="1"/>
          <p:nvPr/>
        </p:nvSpPr>
        <p:spPr>
          <a:xfrm>
            <a:off x="55600" y="1193775"/>
            <a:ext cx="91440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A confusion matrix is a matrix with one axis having the actual labels and the other the predicted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Consider the following skewed example!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914 positive examples (91.4%)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86 negative examples(8.6%)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Is accuracy a good metric here?</a:t>
            </a:r>
            <a:endParaRPr sz="16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Confusion Matrix</a:t>
            </a:r>
            <a:endParaRPr/>
          </a:p>
        </p:txBody>
      </p:sp>
      <p:pic>
        <p:nvPicPr>
          <p:cNvPr id="653" name="Google Shape;65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75" y="1882288"/>
            <a:ext cx="33909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6"/>
          <p:cNvSpPr txBox="1"/>
          <p:nvPr/>
        </p:nvSpPr>
        <p:spPr>
          <a:xfrm>
            <a:off x="687520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905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55" name="Google Shape;655;p86"/>
          <p:cNvSpPr txBox="1"/>
          <p:nvPr/>
        </p:nvSpPr>
        <p:spPr>
          <a:xfrm>
            <a:off x="6941525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9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56" name="Google Shape;656;p86"/>
          <p:cNvSpPr txBox="1"/>
          <p:nvPr/>
        </p:nvSpPr>
        <p:spPr>
          <a:xfrm>
            <a:off x="7806350" y="2748600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18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57" name="Google Shape;657;p86"/>
          <p:cNvSpPr txBox="1"/>
          <p:nvPr/>
        </p:nvSpPr>
        <p:spPr>
          <a:xfrm>
            <a:off x="7887400" y="3556825"/>
            <a:ext cx="515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68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58" name="Google Shape;658;p86"/>
          <p:cNvSpPr txBox="1"/>
          <p:nvPr/>
        </p:nvSpPr>
        <p:spPr>
          <a:xfrm>
            <a:off x="3110600" y="332525"/>
            <a:ext cx="5414100" cy="86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Always Remember:</a:t>
            </a:r>
            <a:endParaRPr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Precision and recall is much more </a:t>
            </a:r>
            <a:r>
              <a:rPr lang="el"/>
              <a:t>useful</a:t>
            </a:r>
            <a:r>
              <a:rPr lang="el"/>
              <a:t> than accuracy on skewed datasets</a:t>
            </a:r>
            <a:endParaRPr/>
          </a:p>
        </p:txBody>
      </p:sp>
      <p:sp>
        <p:nvSpPr>
          <p:cNvPr id="659" name="Google Shape;659;p86"/>
          <p:cNvSpPr/>
          <p:nvPr/>
        </p:nvSpPr>
        <p:spPr>
          <a:xfrm>
            <a:off x="6713100" y="3556825"/>
            <a:ext cx="1724400" cy="618900"/>
          </a:xfrm>
          <a:prstGeom prst="ellipse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86"/>
          <p:cNvSpPr/>
          <p:nvPr/>
        </p:nvSpPr>
        <p:spPr>
          <a:xfrm>
            <a:off x="7760750" y="2748600"/>
            <a:ext cx="606900" cy="15033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86"/>
          <p:cNvSpPr txBox="1"/>
          <p:nvPr/>
        </p:nvSpPr>
        <p:spPr>
          <a:xfrm>
            <a:off x="55600" y="2790325"/>
            <a:ext cx="5731500" cy="19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8761D"/>
                </a:solidFill>
              </a:rPr>
              <a:t>Precision: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Of all predicted positive examples, what fraction where actually positive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Precision</a:t>
            </a:r>
            <a:r>
              <a:rPr lang="el"/>
              <a:t> = TP/ (TP + FP) = 68/ (68+9) = 88.3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1155CC"/>
                </a:solidFill>
              </a:rPr>
              <a:t>Recall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Of all actually positive examples, how many did the model get right?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chemeClr val="dk1"/>
                </a:solidFill>
              </a:rPr>
              <a:t>Recall</a:t>
            </a:r>
            <a:r>
              <a:rPr lang="el">
                <a:solidFill>
                  <a:schemeClr val="dk1"/>
                </a:solidFill>
              </a:rPr>
              <a:t> = TP/(TP+FN) = 68/(68+18) = 79%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6"/>
          <p:cNvSpPr txBox="1"/>
          <p:nvPr/>
        </p:nvSpPr>
        <p:spPr>
          <a:xfrm>
            <a:off x="55600" y="1193775"/>
            <a:ext cx="91440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A confusion matrix is a matrix with one axis having the actual labels and the other the predicted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Consider the following skewed example!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914 positive examples (91.4%)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l" sz="1600">
                <a:solidFill>
                  <a:schemeClr val="dk1"/>
                </a:solidFill>
              </a:rPr>
              <a:t>86 negative examples(8.6%)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Is accuracy a good metric here?</a:t>
            </a:r>
            <a:endParaRPr sz="16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if I always predict one class</a:t>
            </a:r>
            <a:endParaRPr/>
          </a:p>
        </p:txBody>
      </p:sp>
      <p:sp>
        <p:nvSpPr>
          <p:cNvPr id="668" name="Google Shape;668;p87"/>
          <p:cNvSpPr txBox="1"/>
          <p:nvPr/>
        </p:nvSpPr>
        <p:spPr>
          <a:xfrm>
            <a:off x="869425" y="1525350"/>
            <a:ext cx="81099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>
                <a:solidFill>
                  <a:srgbClr val="FF00FF"/>
                </a:solidFill>
              </a:rPr>
              <a:t>What happens if I always do print(“0”), where 0 is the class with 99% of the data</a:t>
            </a:r>
            <a:endParaRPr sz="1700">
              <a:solidFill>
                <a:srgbClr val="FF00FF"/>
              </a:solidFill>
            </a:endParaRPr>
          </a:p>
        </p:txBody>
      </p:sp>
      <p:pic>
        <p:nvPicPr>
          <p:cNvPr id="669" name="Google Shape;66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325" y="2038875"/>
            <a:ext cx="2983442" cy="269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87"/>
          <p:cNvSpPr txBox="1"/>
          <p:nvPr/>
        </p:nvSpPr>
        <p:spPr>
          <a:xfrm>
            <a:off x="661300" y="2862838"/>
            <a:ext cx="41709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700"/>
              <a:t>Precision</a:t>
            </a:r>
            <a:r>
              <a:rPr lang="el" sz="1700"/>
              <a:t> = TP/(TP+FP) = 0/(0+0) = 0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700"/>
              <a:t>Recall</a:t>
            </a:r>
            <a:r>
              <a:rPr lang="el" sz="1700"/>
              <a:t> = TP/(TP+FN) = 0 + (0 + 86) = 0</a:t>
            </a:r>
            <a:endParaRPr sz="17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Combine precision and recall</a:t>
            </a:r>
            <a:endParaRPr/>
          </a:p>
        </p:txBody>
      </p:sp>
      <p:sp>
        <p:nvSpPr>
          <p:cNvPr id="676" name="Google Shape;676;p88"/>
          <p:cNvSpPr txBox="1"/>
          <p:nvPr/>
        </p:nvSpPr>
        <p:spPr>
          <a:xfrm>
            <a:off x="431725" y="1143350"/>
            <a:ext cx="84006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Say I have two models we different Precision and Recall!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 do I pick the best?</a:t>
            </a:r>
            <a:endParaRPr sz="1600"/>
          </a:p>
        </p:txBody>
      </p:sp>
      <p:pic>
        <p:nvPicPr>
          <p:cNvPr id="677" name="Google Shape;67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212" y="1833688"/>
            <a:ext cx="3896574" cy="14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Combine precision and recall</a:t>
            </a:r>
            <a:endParaRPr/>
          </a:p>
        </p:txBody>
      </p:sp>
      <p:sp>
        <p:nvSpPr>
          <p:cNvPr id="683" name="Google Shape;683;p89"/>
          <p:cNvSpPr txBox="1"/>
          <p:nvPr/>
        </p:nvSpPr>
        <p:spPr>
          <a:xfrm>
            <a:off x="431725" y="1143350"/>
            <a:ext cx="84006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Say I have two models we different Precision and Recall!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 do I pick the best?</a:t>
            </a:r>
            <a:endParaRPr sz="1600"/>
          </a:p>
        </p:txBody>
      </p:sp>
      <p:pic>
        <p:nvPicPr>
          <p:cNvPr id="684" name="Google Shape;68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212" y="1833688"/>
            <a:ext cx="3896574" cy="14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89"/>
          <p:cNvSpPr txBox="1"/>
          <p:nvPr/>
        </p:nvSpPr>
        <p:spPr>
          <a:xfrm>
            <a:off x="141150" y="2225400"/>
            <a:ext cx="5036700" cy="2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To combine Precision and Recall we use </a:t>
            </a:r>
            <a:r>
              <a:rPr lang="el" sz="1600">
                <a:solidFill>
                  <a:srgbClr val="FF00FF"/>
                </a:solidFill>
              </a:rPr>
              <a:t>F1 score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86" name="Google Shape;68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225" y="2704500"/>
            <a:ext cx="1309650" cy="7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Combine precision and recall</a:t>
            </a:r>
            <a:endParaRPr/>
          </a:p>
        </p:txBody>
      </p:sp>
      <p:sp>
        <p:nvSpPr>
          <p:cNvPr id="692" name="Google Shape;692;p90"/>
          <p:cNvSpPr txBox="1"/>
          <p:nvPr/>
        </p:nvSpPr>
        <p:spPr>
          <a:xfrm>
            <a:off x="431725" y="1143350"/>
            <a:ext cx="84006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Say I have two models we different Precision and Recall!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 do I pick the best?</a:t>
            </a:r>
            <a:endParaRPr sz="1600"/>
          </a:p>
        </p:txBody>
      </p:sp>
      <p:pic>
        <p:nvPicPr>
          <p:cNvPr id="693" name="Google Shape;69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212" y="1833688"/>
            <a:ext cx="3896574" cy="14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90"/>
          <p:cNvSpPr txBox="1"/>
          <p:nvPr/>
        </p:nvSpPr>
        <p:spPr>
          <a:xfrm>
            <a:off x="141150" y="2225400"/>
            <a:ext cx="5036700" cy="2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To combine Precision and Recall we use </a:t>
            </a:r>
            <a:r>
              <a:rPr lang="el" sz="1600">
                <a:solidFill>
                  <a:srgbClr val="FF00FF"/>
                </a:solidFill>
              </a:rPr>
              <a:t>F1 score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Intuition:</a:t>
            </a:r>
            <a:r>
              <a:rPr lang="el" sz="1600"/>
              <a:t> You want your model to do well on both recall and precision.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F1 score is the harmonic mean of the two!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95" name="Google Shape;69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225" y="2704500"/>
            <a:ext cx="1309650" cy="7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Combine precision and recall</a:t>
            </a:r>
            <a:endParaRPr/>
          </a:p>
        </p:txBody>
      </p:sp>
      <p:sp>
        <p:nvSpPr>
          <p:cNvPr id="701" name="Google Shape;701;p91"/>
          <p:cNvSpPr txBox="1"/>
          <p:nvPr/>
        </p:nvSpPr>
        <p:spPr>
          <a:xfrm>
            <a:off x="431725" y="1143350"/>
            <a:ext cx="84006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Say I have two models we different Precision and Recall!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How do I pick the best?</a:t>
            </a:r>
            <a:endParaRPr sz="1600"/>
          </a:p>
        </p:txBody>
      </p:sp>
      <p:pic>
        <p:nvPicPr>
          <p:cNvPr id="702" name="Google Shape;70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212" y="1833688"/>
            <a:ext cx="3896574" cy="14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91"/>
          <p:cNvSpPr txBox="1"/>
          <p:nvPr/>
        </p:nvSpPr>
        <p:spPr>
          <a:xfrm>
            <a:off x="141150" y="2225400"/>
            <a:ext cx="5036700" cy="2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To combine Precision and Recall we use </a:t>
            </a:r>
            <a:r>
              <a:rPr lang="el" sz="1600">
                <a:solidFill>
                  <a:srgbClr val="FF00FF"/>
                </a:solidFill>
              </a:rPr>
              <a:t>F1 score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Intuition:</a:t>
            </a:r>
            <a:r>
              <a:rPr lang="el" sz="1600"/>
              <a:t> You want your model to do well on both recall and precision.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F1 score is the harmonic mean of the two!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04" name="Google Shape;70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225" y="2704500"/>
            <a:ext cx="1309650" cy="7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91"/>
          <p:cNvSpPr txBox="1"/>
          <p:nvPr/>
        </p:nvSpPr>
        <p:spPr>
          <a:xfrm>
            <a:off x="5872650" y="3686625"/>
            <a:ext cx="19866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F1 model 1: 83.4%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F1 model 2: 13.6%</a:t>
            </a:r>
            <a:endParaRPr sz="16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Question on Modelling?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