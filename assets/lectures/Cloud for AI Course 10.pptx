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277536b005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277536b005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277536b0059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277536b0059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277536b0059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277536b0059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277536b0059_0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277536b0059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277536b0059_0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277536b0059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277536b0059_0_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277536b0059_0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277536b0059_0_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277536b0059_0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277536b0059_0_1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277536b0059_0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277536b0059_0_1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277536b0059_0_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277536b0059_0_1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277536b0059_0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77536b0059_0_1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277536b0059_0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277536b0059_0_1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277536b0059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277536b0059_0_1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277536b0059_0_1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277536b0059_0_1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277536b0059_0_1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277536b0059_0_1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277536b0059_0_1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277536b0059_0_1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277536b0059_0_1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277536b0059_0_1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277536b0059_0_1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277536b0059_0_1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277536b0059_0_1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277536b0059_0_1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277536b0059_0_1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277536b0059_0_1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277536b0059_0_1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277536b0059_0_2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" name="Google Shape;214;g277536b0059_0_2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277536b0059_0_2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277536b0059_0_2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277536b0059_0_2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" name="Google Shape;230;g277536b0059_0_2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277536b0059_0_2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277536b0059_0_2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277536b0059_0_2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6" name="Google Shape;246;g277536b0059_0_2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277536b0059_0_2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1" name="Google Shape;251;g277536b0059_0_2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277536b0059_0_2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" name="Google Shape;257;g277536b0059_0_2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277536b0059_0_2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4" name="Google Shape;264;g277536b0059_0_2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5.png"/><Relationship Id="rId4" Type="http://schemas.openxmlformats.org/officeDocument/2006/relationships/image" Target="../media/image20.png"/><Relationship Id="rId5" Type="http://schemas.openxmlformats.org/officeDocument/2006/relationships/image" Target="../media/image1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9.png"/><Relationship Id="rId4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Relationship Id="rId4" Type="http://schemas.openxmlformats.org/officeDocument/2006/relationships/image" Target="../media/image1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png"/><Relationship Id="rId4" Type="http://schemas.openxmlformats.org/officeDocument/2006/relationships/image" Target="../media/image1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1.png"/><Relationship Id="rId4" Type="http://schemas.openxmlformats.org/officeDocument/2006/relationships/image" Target="../media/image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5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9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6.png"/><Relationship Id="rId4" Type="http://schemas.openxmlformats.org/officeDocument/2006/relationships/image" Target="../media/image18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2.png"/><Relationship Id="rId4" Type="http://schemas.openxmlformats.org/officeDocument/2006/relationships/image" Target="../media/image26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3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7.png"/><Relationship Id="rId4" Type="http://schemas.openxmlformats.org/officeDocument/2006/relationships/image" Target="../media/image27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8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4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1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Cloud for AI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Course 10: </a:t>
            </a:r>
            <a:r>
              <a:rPr lang="el">
                <a:solidFill>
                  <a:srgbClr val="FF00FF"/>
                </a:solidFill>
              </a:rPr>
              <a:t>Serving &amp; Deployment</a:t>
            </a:r>
            <a:endParaRPr>
              <a:solidFill>
                <a:srgbClr val="FF00FF"/>
              </a:solidFill>
            </a:endParaRPr>
          </a:p>
        </p:txBody>
      </p:sp>
      <p:pic>
        <p:nvPicPr>
          <p:cNvPr id="56" name="Google Shape;5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6375" y="4041963"/>
            <a:ext cx="8547614" cy="1211975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57" name="Google Shape;57;p13"/>
          <p:cNvSpPr txBox="1"/>
          <p:nvPr>
            <p:ph idx="1" type="subTitle"/>
          </p:nvPr>
        </p:nvSpPr>
        <p:spPr>
          <a:xfrm>
            <a:off x="0" y="4435375"/>
            <a:ext cx="2750100" cy="6180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 sz="1800">
                <a:solidFill>
                  <a:schemeClr val="dk1"/>
                </a:solidFill>
              </a:rPr>
              <a:t>Filotas Theodosiou</a:t>
            </a:r>
            <a:endParaRPr sz="1800">
              <a:solidFill>
                <a:schemeClr val="dk1"/>
              </a:solidFill>
            </a:endParaRPr>
          </a:p>
        </p:txBody>
      </p:sp>
      <p:pic>
        <p:nvPicPr>
          <p:cNvPr id="58" name="Google Shape;58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47225" y="4152422"/>
            <a:ext cx="1101225" cy="991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Model Serving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 What exactly is Serving a Model</a:t>
            </a:r>
            <a:endParaRPr/>
          </a:p>
        </p:txBody>
      </p:sp>
      <p:pic>
        <p:nvPicPr>
          <p:cNvPr id="69" name="Google Shape;6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81475" y="1511600"/>
            <a:ext cx="781050" cy="685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72150" y="3449088"/>
            <a:ext cx="752475" cy="80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1" name="Google Shape;71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14700" y="3406225"/>
            <a:ext cx="847725" cy="8858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2" name="Google Shape;72;p15"/>
          <p:cNvCxnSpPr/>
          <p:nvPr/>
        </p:nvCxnSpPr>
        <p:spPr>
          <a:xfrm>
            <a:off x="4962525" y="2334950"/>
            <a:ext cx="1077900" cy="1269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3" name="Google Shape;73;p15"/>
          <p:cNvCxnSpPr>
            <a:endCxn id="71" idx="3"/>
          </p:cNvCxnSpPr>
          <p:nvPr/>
        </p:nvCxnSpPr>
        <p:spPr>
          <a:xfrm rot="10800000">
            <a:off x="3262425" y="3849138"/>
            <a:ext cx="26097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4" name="Google Shape;74;p15"/>
          <p:cNvCxnSpPr/>
          <p:nvPr/>
        </p:nvCxnSpPr>
        <p:spPr>
          <a:xfrm flipH="1" rot="10800000">
            <a:off x="3086100" y="2255775"/>
            <a:ext cx="1035000" cy="1227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5" name="Google Shape;75;p15"/>
          <p:cNvSpPr txBox="1"/>
          <p:nvPr/>
        </p:nvSpPr>
        <p:spPr>
          <a:xfrm>
            <a:off x="5988650" y="1604950"/>
            <a:ext cx="1910100" cy="685800"/>
          </a:xfrm>
          <a:prstGeom prst="rect">
            <a:avLst/>
          </a:prstGeom>
          <a:solidFill>
            <a:srgbClr val="CCCCCC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l"/>
              <a:t>Training a model is only phase 1</a:t>
            </a:r>
            <a:endParaRPr b="1"/>
          </a:p>
        </p:txBody>
      </p:sp>
      <p:sp>
        <p:nvSpPr>
          <p:cNvPr id="76" name="Google Shape;76;p15"/>
          <p:cNvSpPr txBox="1"/>
          <p:nvPr/>
        </p:nvSpPr>
        <p:spPr>
          <a:xfrm>
            <a:off x="6624625" y="3483075"/>
            <a:ext cx="1910100" cy="885900"/>
          </a:xfrm>
          <a:prstGeom prst="rect">
            <a:avLst/>
          </a:prstGeom>
          <a:solidFill>
            <a:srgbClr val="CCCCCC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l"/>
              <a:t>We need to make the model available to the end-user</a:t>
            </a:r>
            <a:endParaRPr b="1"/>
          </a:p>
        </p:txBody>
      </p:sp>
      <p:sp>
        <p:nvSpPr>
          <p:cNvPr id="77" name="Google Shape;77;p15"/>
          <p:cNvSpPr txBox="1"/>
          <p:nvPr/>
        </p:nvSpPr>
        <p:spPr>
          <a:xfrm>
            <a:off x="334575" y="3406188"/>
            <a:ext cx="1910100" cy="885900"/>
          </a:xfrm>
          <a:prstGeom prst="rect">
            <a:avLst/>
          </a:prstGeom>
          <a:solidFill>
            <a:srgbClr val="EA9999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l"/>
              <a:t>Provide a service or an API for interaction</a:t>
            </a:r>
            <a:endParaRPr b="1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Model Serving Patterns</a:t>
            </a:r>
            <a:endParaRPr/>
          </a:p>
        </p:txBody>
      </p:sp>
      <p:sp>
        <p:nvSpPr>
          <p:cNvPr id="83" name="Google Shape;83;p16"/>
          <p:cNvSpPr txBox="1"/>
          <p:nvPr/>
        </p:nvSpPr>
        <p:spPr>
          <a:xfrm>
            <a:off x="1602800" y="1914400"/>
            <a:ext cx="2187600" cy="1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 sz="1600"/>
              <a:t>A fitted model</a:t>
            </a:r>
            <a:endParaRPr sz="1600"/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 sz="1600"/>
              <a:t>An interpreter </a:t>
            </a:r>
            <a:endParaRPr sz="1600"/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 sz="1600"/>
              <a:t>Input data</a:t>
            </a:r>
            <a:endParaRPr sz="1600"/>
          </a:p>
        </p:txBody>
      </p:sp>
      <p:sp>
        <p:nvSpPr>
          <p:cNvPr id="84" name="Google Shape;84;p16"/>
          <p:cNvSpPr txBox="1"/>
          <p:nvPr/>
        </p:nvSpPr>
        <p:spPr>
          <a:xfrm>
            <a:off x="4025175" y="2258950"/>
            <a:ext cx="29799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" sz="1600"/>
              <a:t>Inference Process</a:t>
            </a:r>
            <a:endParaRPr sz="1600"/>
          </a:p>
        </p:txBody>
      </p:sp>
      <p:sp>
        <p:nvSpPr>
          <p:cNvPr id="85" name="Google Shape;85;p16"/>
          <p:cNvSpPr/>
          <p:nvPr/>
        </p:nvSpPr>
        <p:spPr>
          <a:xfrm>
            <a:off x="4025175" y="1978425"/>
            <a:ext cx="352200" cy="981900"/>
          </a:xfrm>
          <a:prstGeom prst="rightBrace">
            <a:avLst>
              <a:gd fmla="val 50000" name="adj1"/>
              <a:gd fmla="val 50000" name="adj2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6"/>
          <p:cNvSpPr txBox="1"/>
          <p:nvPr/>
        </p:nvSpPr>
        <p:spPr>
          <a:xfrm>
            <a:off x="3246475" y="3076775"/>
            <a:ext cx="21876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" sz="1600"/>
              <a:t>Used by </a:t>
            </a:r>
            <a:endParaRPr sz="16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ML workflows</a:t>
            </a:r>
            <a:endParaRPr/>
          </a:p>
        </p:txBody>
      </p:sp>
      <p:sp>
        <p:nvSpPr>
          <p:cNvPr id="92" name="Google Shape;92;p17"/>
          <p:cNvSpPr txBox="1"/>
          <p:nvPr/>
        </p:nvSpPr>
        <p:spPr>
          <a:xfrm>
            <a:off x="-54250" y="2459200"/>
            <a:ext cx="2838600" cy="101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ts val="1600"/>
              <a:buChar char="●"/>
            </a:pPr>
            <a:r>
              <a:rPr lang="el" sz="1600">
                <a:solidFill>
                  <a:srgbClr val="FF00FF"/>
                </a:solidFill>
              </a:rPr>
              <a:t>Model training (Offline)</a:t>
            </a:r>
            <a:endParaRPr sz="1600">
              <a:solidFill>
                <a:srgbClr val="FF00FF"/>
              </a:solidFill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 sz="1600"/>
              <a:t>Model prediction</a:t>
            </a:r>
            <a:endParaRPr sz="1600"/>
          </a:p>
        </p:txBody>
      </p:sp>
      <p:sp>
        <p:nvSpPr>
          <p:cNvPr id="93" name="Google Shape;93;p17"/>
          <p:cNvSpPr txBox="1"/>
          <p:nvPr/>
        </p:nvSpPr>
        <p:spPr>
          <a:xfrm>
            <a:off x="3331500" y="2459200"/>
            <a:ext cx="2838600" cy="101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el" sz="1600"/>
              <a:t>Batch Inference</a:t>
            </a:r>
            <a:endParaRPr sz="1600"/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el" sz="1600"/>
              <a:t>Online Inference</a:t>
            </a:r>
            <a:endParaRPr sz="1600"/>
          </a:p>
        </p:txBody>
      </p:sp>
      <p:sp>
        <p:nvSpPr>
          <p:cNvPr id="94" name="Google Shape;94;p17"/>
          <p:cNvSpPr/>
          <p:nvPr/>
        </p:nvSpPr>
        <p:spPr>
          <a:xfrm>
            <a:off x="2773625" y="2192425"/>
            <a:ext cx="448200" cy="1451400"/>
          </a:xfrm>
          <a:prstGeom prst="rightBrace">
            <a:avLst>
              <a:gd fmla="val 50000" name="adj1"/>
              <a:gd fmla="val 50000" name="adj2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5" name="Google Shape;95;p17"/>
          <p:cNvCxnSpPr/>
          <p:nvPr/>
        </p:nvCxnSpPr>
        <p:spPr>
          <a:xfrm flipH="1" rot="10800000">
            <a:off x="5391075" y="2106625"/>
            <a:ext cx="426900" cy="427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6" name="Google Shape;96;p17"/>
          <p:cNvSpPr txBox="1"/>
          <p:nvPr/>
        </p:nvSpPr>
        <p:spPr>
          <a:xfrm>
            <a:off x="5595000" y="1098225"/>
            <a:ext cx="3549000" cy="101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l"/>
              <a:t>Make set of predictions based on historical input data </a:t>
            </a:r>
            <a:endParaRPr/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l"/>
              <a:t>Sufficient for non-time dependant data</a:t>
            </a:r>
            <a:endParaRPr/>
          </a:p>
        </p:txBody>
      </p:sp>
      <p:sp>
        <p:nvSpPr>
          <p:cNvPr id="97" name="Google Shape;97;p17"/>
          <p:cNvSpPr txBox="1"/>
          <p:nvPr/>
        </p:nvSpPr>
        <p:spPr>
          <a:xfrm>
            <a:off x="5595000" y="3472900"/>
            <a:ext cx="3549000" cy="101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l"/>
              <a:t>Predictions generated in real-time </a:t>
            </a:r>
            <a:endParaRPr/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l"/>
              <a:t>Input data at the time of request</a:t>
            </a:r>
            <a:endParaRPr/>
          </a:p>
        </p:txBody>
      </p:sp>
      <p:cxnSp>
        <p:nvCxnSpPr>
          <p:cNvPr id="98" name="Google Shape;98;p17"/>
          <p:cNvCxnSpPr/>
          <p:nvPr/>
        </p:nvCxnSpPr>
        <p:spPr>
          <a:xfrm>
            <a:off x="5412425" y="3184275"/>
            <a:ext cx="405300" cy="320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Google Shape;103;p18"/>
          <p:cNvPicPr preferRelativeResize="0"/>
          <p:nvPr/>
        </p:nvPicPr>
        <p:blipFill rotWithShape="1">
          <a:blip r:embed="rId3">
            <a:alphaModFix/>
          </a:blip>
          <a:srcRect b="3296" l="0" r="0" t="8799"/>
          <a:stretch/>
        </p:blipFill>
        <p:spPr>
          <a:xfrm>
            <a:off x="152400" y="580200"/>
            <a:ext cx="8839199" cy="245435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Latency</a:t>
            </a:r>
            <a:endParaRPr/>
          </a:p>
        </p:txBody>
      </p:sp>
      <p:sp>
        <p:nvSpPr>
          <p:cNvPr id="105" name="Google Shape;105;p18"/>
          <p:cNvSpPr txBox="1"/>
          <p:nvPr/>
        </p:nvSpPr>
        <p:spPr>
          <a:xfrm>
            <a:off x="407650" y="3258975"/>
            <a:ext cx="8424600" cy="16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 sz="1600"/>
              <a:t>Delay between user’s action and response of application to these actions</a:t>
            </a:r>
            <a:endParaRPr sz="1600"/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 sz="1600"/>
              <a:t>Latency of the whole process, starting from sending data to server, performing inference using model and returning response </a:t>
            </a:r>
            <a:endParaRPr sz="1600"/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 sz="1600"/>
              <a:t>Minimal latency is a key requirement to maintain customer satisfaction</a:t>
            </a:r>
            <a:endParaRPr sz="16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Throughput</a:t>
            </a:r>
            <a:endParaRPr/>
          </a:p>
        </p:txBody>
      </p:sp>
      <p:sp>
        <p:nvSpPr>
          <p:cNvPr id="111" name="Google Shape;111;p19"/>
          <p:cNvSpPr txBox="1"/>
          <p:nvPr/>
        </p:nvSpPr>
        <p:spPr>
          <a:xfrm>
            <a:off x="562200" y="2266550"/>
            <a:ext cx="8270100" cy="125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➢"/>
            </a:pPr>
            <a:r>
              <a:rPr lang="el" sz="1600"/>
              <a:t>Throughput -&gt; Number of successful requests served per unit time say one second.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➢"/>
            </a:pPr>
            <a:r>
              <a:rPr lang="el" sz="1600"/>
              <a:t>In some application only throughput is important not latency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 sz="1600"/>
              <a:t>(For example video from security cameras at high fidelity to ensure security events are spotted quickly )</a:t>
            </a:r>
            <a:endParaRPr sz="16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Cost</a:t>
            </a:r>
            <a:endParaRPr/>
          </a:p>
        </p:txBody>
      </p:sp>
      <p:sp>
        <p:nvSpPr>
          <p:cNvPr id="117" name="Google Shape;117;p20"/>
          <p:cNvSpPr txBox="1"/>
          <p:nvPr/>
        </p:nvSpPr>
        <p:spPr>
          <a:xfrm>
            <a:off x="159425" y="1797000"/>
            <a:ext cx="8334300" cy="225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 sz="1600"/>
              <a:t>The cost associated with each inference should be minimised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 sz="1600"/>
              <a:t>Critical </a:t>
            </a:r>
            <a:r>
              <a:rPr lang="el" sz="1600"/>
              <a:t>infrastructure</a:t>
            </a:r>
            <a:r>
              <a:rPr lang="el" sz="1600"/>
              <a:t> requirements that are expensive</a:t>
            </a:r>
            <a:endParaRPr sz="1600"/>
          </a:p>
          <a:p>
            <a:pPr indent="-3302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l" sz="1600"/>
              <a:t>CPU</a:t>
            </a:r>
            <a:endParaRPr sz="1600"/>
          </a:p>
          <a:p>
            <a:pPr indent="-3302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l" sz="1600"/>
              <a:t>Hardware accelerators like GPU</a:t>
            </a:r>
            <a:endParaRPr sz="1600"/>
          </a:p>
          <a:p>
            <a:pPr indent="-3302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l" sz="1600"/>
              <a:t>Caching infrastructure for faster data retrieval</a:t>
            </a:r>
            <a:endParaRPr sz="1600"/>
          </a:p>
        </p:txBody>
      </p:sp>
      <p:pic>
        <p:nvPicPr>
          <p:cNvPr id="118" name="Google Shape;118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81921" y="1391471"/>
            <a:ext cx="2823225" cy="2932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Minimizing latency, Maximizing Throughput</a:t>
            </a:r>
            <a:endParaRPr/>
          </a:p>
        </p:txBody>
      </p:sp>
      <p:pic>
        <p:nvPicPr>
          <p:cNvPr id="124" name="Google Shape;124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5100" y="1287500"/>
            <a:ext cx="8839204" cy="2859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59975" y="4288351"/>
            <a:ext cx="7224053" cy="6920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Balance Cost, Latency, and Throughput</a:t>
            </a:r>
            <a:endParaRPr/>
          </a:p>
        </p:txBody>
      </p:sp>
      <p:sp>
        <p:nvSpPr>
          <p:cNvPr id="131" name="Google Shape;131;p22"/>
          <p:cNvSpPr txBox="1"/>
          <p:nvPr/>
        </p:nvSpPr>
        <p:spPr>
          <a:xfrm>
            <a:off x="247575" y="1935750"/>
            <a:ext cx="5751900" cy="247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 sz="1600"/>
              <a:t>Cost increases as infrastructure is scaled</a:t>
            </a:r>
            <a:endParaRPr sz="1600"/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 sz="1600"/>
              <a:t>In applications where latency and throughput can suffer slightly:</a:t>
            </a:r>
            <a:endParaRPr sz="1600"/>
          </a:p>
          <a:p>
            <a:pPr indent="-3302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l" sz="1600"/>
              <a:t>Reduce costs by GPU sharing</a:t>
            </a:r>
            <a:endParaRPr sz="1600"/>
          </a:p>
          <a:p>
            <a:pPr indent="-3302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l" sz="1600"/>
              <a:t>Multi-model serving</a:t>
            </a:r>
            <a:endParaRPr sz="1600"/>
          </a:p>
          <a:p>
            <a:pPr indent="-3302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l" sz="1600"/>
              <a:t>Optimizing models used for inference</a:t>
            </a:r>
            <a:endParaRPr sz="1600"/>
          </a:p>
        </p:txBody>
      </p:sp>
      <p:pic>
        <p:nvPicPr>
          <p:cNvPr id="132" name="Google Shape;132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51875" y="1170125"/>
            <a:ext cx="2839726" cy="29900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3"/>
          <p:cNvSpPr txBox="1"/>
          <p:nvPr>
            <p:ph type="title"/>
          </p:nvPr>
        </p:nvSpPr>
        <p:spPr>
          <a:xfrm>
            <a:off x="311700" y="1852075"/>
            <a:ext cx="8520600" cy="1620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Resources and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Requirements for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Serving Models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Optimizing Models for Serving</a:t>
            </a:r>
            <a:endParaRPr/>
          </a:p>
        </p:txBody>
      </p:sp>
      <p:pic>
        <p:nvPicPr>
          <p:cNvPr id="143" name="Google Shape;143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4849" y="1266150"/>
            <a:ext cx="2727150" cy="2803825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24"/>
          <p:cNvSpPr txBox="1"/>
          <p:nvPr/>
        </p:nvSpPr>
        <p:spPr>
          <a:xfrm>
            <a:off x="554850" y="4179650"/>
            <a:ext cx="2862000" cy="39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 sz="1600"/>
              <a:t>Model complexity increases</a:t>
            </a:r>
            <a:endParaRPr sz="1600"/>
          </a:p>
        </p:txBody>
      </p:sp>
      <p:pic>
        <p:nvPicPr>
          <p:cNvPr id="145" name="Google Shape;145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2000" y="1170125"/>
            <a:ext cx="4451624" cy="2754480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24"/>
          <p:cNvSpPr/>
          <p:nvPr/>
        </p:nvSpPr>
        <p:spPr>
          <a:xfrm>
            <a:off x="3566300" y="2381713"/>
            <a:ext cx="830100" cy="5727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24"/>
          <p:cNvSpPr txBox="1"/>
          <p:nvPr/>
        </p:nvSpPr>
        <p:spPr>
          <a:xfrm>
            <a:off x="7018325" y="4179650"/>
            <a:ext cx="1232700" cy="39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 sz="1600"/>
              <a:t>Increase in </a:t>
            </a:r>
            <a:endParaRPr sz="16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Meanwhile as Complexity Increases</a:t>
            </a:r>
            <a:endParaRPr/>
          </a:p>
        </p:txBody>
      </p:sp>
      <p:pic>
        <p:nvPicPr>
          <p:cNvPr id="153" name="Google Shape;153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4849" y="1266150"/>
            <a:ext cx="2727150" cy="2803825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25"/>
          <p:cNvSpPr txBox="1"/>
          <p:nvPr/>
        </p:nvSpPr>
        <p:spPr>
          <a:xfrm>
            <a:off x="554850" y="4179650"/>
            <a:ext cx="2862000" cy="39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 sz="1600"/>
              <a:t>Model complexity increases</a:t>
            </a:r>
            <a:endParaRPr sz="1600"/>
          </a:p>
        </p:txBody>
      </p:sp>
      <p:sp>
        <p:nvSpPr>
          <p:cNvPr id="155" name="Google Shape;155;p25"/>
          <p:cNvSpPr/>
          <p:nvPr/>
        </p:nvSpPr>
        <p:spPr>
          <a:xfrm>
            <a:off x="3566300" y="2381713"/>
            <a:ext cx="830100" cy="5727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6" name="Google Shape;156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48800" y="1170125"/>
            <a:ext cx="4442799" cy="3160958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25"/>
          <p:cNvSpPr txBox="1"/>
          <p:nvPr/>
        </p:nvSpPr>
        <p:spPr>
          <a:xfrm>
            <a:off x="7018325" y="2954425"/>
            <a:ext cx="1232700" cy="39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 sz="1600"/>
              <a:t>Increase in </a:t>
            </a:r>
            <a:endParaRPr sz="1600"/>
          </a:p>
        </p:txBody>
      </p:sp>
      <p:sp>
        <p:nvSpPr>
          <p:cNvPr id="158" name="Google Shape;158;p25"/>
          <p:cNvSpPr txBox="1"/>
          <p:nvPr/>
        </p:nvSpPr>
        <p:spPr>
          <a:xfrm>
            <a:off x="6526775" y="1017725"/>
            <a:ext cx="2514600" cy="39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l" sz="1600">
                <a:solidFill>
                  <a:srgbClr val="FF00FF"/>
                </a:solidFill>
              </a:rPr>
              <a:t>Costs also do increase</a:t>
            </a:r>
            <a:endParaRPr b="1" sz="1600">
              <a:solidFill>
                <a:srgbClr val="FF00FF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Balancing Cost and Complexity</a:t>
            </a:r>
            <a:endParaRPr/>
          </a:p>
        </p:txBody>
      </p:sp>
      <p:sp>
        <p:nvSpPr>
          <p:cNvPr id="164" name="Google Shape;164;p26"/>
          <p:cNvSpPr txBox="1"/>
          <p:nvPr/>
        </p:nvSpPr>
        <p:spPr>
          <a:xfrm>
            <a:off x="311700" y="2490625"/>
            <a:ext cx="5196900" cy="9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" sz="1600"/>
              <a:t>The challenge for Data Scientist/ML practitioners is to balance complexity and cost</a:t>
            </a:r>
            <a:endParaRPr sz="1600"/>
          </a:p>
        </p:txBody>
      </p:sp>
      <p:pic>
        <p:nvPicPr>
          <p:cNvPr id="165" name="Google Shape;165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61000" y="1170125"/>
            <a:ext cx="3330601" cy="28263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Optimizing and Satisfying Metrics</a:t>
            </a:r>
            <a:endParaRPr/>
          </a:p>
        </p:txBody>
      </p:sp>
      <p:pic>
        <p:nvPicPr>
          <p:cNvPr id="171" name="Google Shape;171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70125"/>
            <a:ext cx="4456700" cy="382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61500" y="1671675"/>
            <a:ext cx="4230100" cy="32325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A common approach</a:t>
            </a:r>
            <a:endParaRPr/>
          </a:p>
        </p:txBody>
      </p:sp>
      <p:pic>
        <p:nvPicPr>
          <p:cNvPr id="178" name="Google Shape;178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70125"/>
            <a:ext cx="8839200" cy="2031515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28"/>
          <p:cNvSpPr txBox="1"/>
          <p:nvPr/>
        </p:nvSpPr>
        <p:spPr>
          <a:xfrm>
            <a:off x="-168625" y="3300700"/>
            <a:ext cx="1835400" cy="174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186099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l"/>
              <a:t>Specifically</a:t>
            </a:r>
            <a:r>
              <a:rPr lang="el"/>
              <a:t> define your infrastructure</a:t>
            </a:r>
            <a:endParaRPr/>
          </a:p>
          <a:p>
            <a:pPr indent="-186099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l"/>
              <a:t>CPU, GPU etc</a:t>
            </a:r>
            <a:endParaRPr/>
          </a:p>
        </p:txBody>
      </p:sp>
      <p:sp>
        <p:nvSpPr>
          <p:cNvPr id="180" name="Google Shape;180;p28"/>
          <p:cNvSpPr txBox="1"/>
          <p:nvPr/>
        </p:nvSpPr>
        <p:spPr>
          <a:xfrm>
            <a:off x="1840575" y="3397800"/>
            <a:ext cx="1835400" cy="174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186099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l"/>
              <a:t>Start increasing the complexity</a:t>
            </a:r>
            <a:endParaRPr/>
          </a:p>
        </p:txBody>
      </p:sp>
      <p:sp>
        <p:nvSpPr>
          <p:cNvPr id="181" name="Google Shape;181;p28"/>
          <p:cNvSpPr txBox="1"/>
          <p:nvPr/>
        </p:nvSpPr>
        <p:spPr>
          <a:xfrm>
            <a:off x="3267150" y="3397800"/>
            <a:ext cx="2179800" cy="174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186099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l"/>
              <a:t>In order to increase predictive power</a:t>
            </a:r>
            <a:endParaRPr/>
          </a:p>
        </p:txBody>
      </p:sp>
      <p:sp>
        <p:nvSpPr>
          <p:cNvPr id="182" name="Google Shape;182;p28"/>
          <p:cNvSpPr txBox="1"/>
          <p:nvPr/>
        </p:nvSpPr>
        <p:spPr>
          <a:xfrm>
            <a:off x="5224525" y="3397800"/>
            <a:ext cx="2179800" cy="174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186099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l"/>
              <a:t>Until you hit a one of your gating metrics</a:t>
            </a:r>
            <a:endParaRPr/>
          </a:p>
        </p:txBody>
      </p:sp>
      <p:sp>
        <p:nvSpPr>
          <p:cNvPr id="183" name="Google Shape;183;p28"/>
          <p:cNvSpPr txBox="1"/>
          <p:nvPr/>
        </p:nvSpPr>
        <p:spPr>
          <a:xfrm>
            <a:off x="7047325" y="3397800"/>
            <a:ext cx="2179800" cy="174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186099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l"/>
              <a:t>Either accept or start again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Caching</a:t>
            </a:r>
            <a:endParaRPr/>
          </a:p>
        </p:txBody>
      </p:sp>
      <p:sp>
        <p:nvSpPr>
          <p:cNvPr id="189" name="Google Shape;189;p29"/>
          <p:cNvSpPr txBox="1"/>
          <p:nvPr/>
        </p:nvSpPr>
        <p:spPr>
          <a:xfrm>
            <a:off x="340375" y="1327950"/>
            <a:ext cx="4736100" cy="343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During a projects </a:t>
            </a:r>
            <a:r>
              <a:rPr lang="el"/>
              <a:t>life cycle</a:t>
            </a:r>
            <a:r>
              <a:rPr lang="el"/>
              <a:t> we </a:t>
            </a:r>
            <a:r>
              <a:rPr lang="el"/>
              <a:t>constantly</a:t>
            </a:r>
            <a:r>
              <a:rPr lang="el"/>
              <a:t> repeat data processing steps in different combinations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We need to minimize wasted work to maximize efficiency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What we do? We organize pipelines and caching.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l"/>
              <a:t>Iteration </a:t>
            </a:r>
            <a:r>
              <a:rPr lang="el"/>
              <a:t>efficiency: Reduce cost of frequent iteration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l"/>
              <a:t>Increase productivity: Speeding up iteration frequency helps make problems faster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l"/>
              <a:t>Reduce costs: Your monthly cloud bills will go way down!!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90" name="Google Shape;190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28875" y="1170125"/>
            <a:ext cx="3762724" cy="31105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Caching and Feature Lookup</a:t>
            </a:r>
            <a:endParaRPr/>
          </a:p>
        </p:txBody>
      </p:sp>
      <p:pic>
        <p:nvPicPr>
          <p:cNvPr id="196" name="Google Shape;196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25375" y="1202150"/>
            <a:ext cx="6309506" cy="3820974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30"/>
          <p:cNvSpPr txBox="1"/>
          <p:nvPr/>
        </p:nvSpPr>
        <p:spPr>
          <a:xfrm>
            <a:off x="55500" y="1338175"/>
            <a:ext cx="3852300" cy="123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NoSQL databases are a good solution to implement caching.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Some examples: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1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Deployment Options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Deployment Options</a:t>
            </a:r>
            <a:endParaRPr/>
          </a:p>
        </p:txBody>
      </p:sp>
      <p:pic>
        <p:nvPicPr>
          <p:cNvPr id="208" name="Google Shape;208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2500" y="1287500"/>
            <a:ext cx="2865374" cy="2344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31404" y="1287499"/>
            <a:ext cx="2464872" cy="234495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32"/>
          <p:cNvSpPr txBox="1"/>
          <p:nvPr/>
        </p:nvSpPr>
        <p:spPr>
          <a:xfrm>
            <a:off x="66150" y="3696500"/>
            <a:ext cx="3702900" cy="131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l"/>
              <a:t>A centralized model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l"/>
              <a:t>In a huge data center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l"/>
              <a:t>Access is given by remote calls</a:t>
            </a:r>
            <a:endParaRPr/>
          </a:p>
        </p:txBody>
      </p:sp>
      <p:sp>
        <p:nvSpPr>
          <p:cNvPr id="211" name="Google Shape;211;p32"/>
          <p:cNvSpPr txBox="1"/>
          <p:nvPr/>
        </p:nvSpPr>
        <p:spPr>
          <a:xfrm>
            <a:off x="5129400" y="3632450"/>
            <a:ext cx="3702900" cy="131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l"/>
              <a:t>Distribute unique instances of your model on embedded devices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l"/>
              <a:t>Local loading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l"/>
              <a:t>Phones, personal computers etc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Running in Huge Data Centers</a:t>
            </a:r>
            <a:endParaRPr/>
          </a:p>
        </p:txBody>
      </p:sp>
      <p:sp>
        <p:nvSpPr>
          <p:cNvPr id="217" name="Google Shape;217;p33"/>
          <p:cNvSpPr txBox="1"/>
          <p:nvPr/>
        </p:nvSpPr>
        <p:spPr>
          <a:xfrm>
            <a:off x="514350" y="1263450"/>
            <a:ext cx="4535400" cy="18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 sz="1600"/>
              <a:t>Big cloud providers 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 sz="1600"/>
              <a:t>AWS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 sz="1600"/>
              <a:t>Google Cloud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 sz="1600"/>
              <a:t>Azure</a:t>
            </a:r>
            <a:endParaRPr sz="1600"/>
          </a:p>
        </p:txBody>
      </p:sp>
      <p:pic>
        <p:nvPicPr>
          <p:cNvPr id="218" name="Google Shape;218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13050" y="2571750"/>
            <a:ext cx="2458950" cy="1285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38125" y="1017725"/>
            <a:ext cx="3789450" cy="2230499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33"/>
          <p:cNvSpPr txBox="1"/>
          <p:nvPr/>
        </p:nvSpPr>
        <p:spPr>
          <a:xfrm>
            <a:off x="1314725" y="4048650"/>
            <a:ext cx="4716600" cy="9177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l" sz="1600">
                <a:solidFill>
                  <a:schemeClr val="dk1"/>
                </a:solidFill>
              </a:rPr>
              <a:t>They optimize resource utilization for you</a:t>
            </a:r>
            <a:endParaRPr b="1"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l" sz="1600">
                <a:solidFill>
                  <a:schemeClr val="dk1"/>
                </a:solidFill>
              </a:rPr>
              <a:t>They try to reduce running costs</a:t>
            </a:r>
            <a:endParaRPr b="1"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l" sz="1600">
                <a:solidFill>
                  <a:schemeClr val="dk1"/>
                </a:solidFill>
              </a:rPr>
              <a:t>Pay as you services</a:t>
            </a:r>
            <a:endParaRPr b="1" sz="1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Phone devices</a:t>
            </a:r>
            <a:endParaRPr/>
          </a:p>
        </p:txBody>
      </p:sp>
      <p:pic>
        <p:nvPicPr>
          <p:cNvPr id="226" name="Google Shape;226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6163" y="1778274"/>
            <a:ext cx="7911675" cy="3365224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34"/>
          <p:cNvSpPr txBox="1"/>
          <p:nvPr/>
        </p:nvSpPr>
        <p:spPr>
          <a:xfrm>
            <a:off x="370725" y="1103400"/>
            <a:ext cx="3878400" cy="8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el" sz="1600"/>
              <a:t>Huge Latency/Throughput gains</a:t>
            </a:r>
            <a:endParaRPr b="1"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el" sz="1600"/>
              <a:t>But</a:t>
            </a:r>
            <a:endParaRPr b="1" sz="16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l"/>
              <a:t>Constrained Environments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3" name="Google Shape;233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1" y="1489975"/>
            <a:ext cx="3137900" cy="35224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" name="Google Shape;234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61012" y="1707725"/>
            <a:ext cx="5282987" cy="3208686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35"/>
          <p:cNvSpPr txBox="1"/>
          <p:nvPr/>
        </p:nvSpPr>
        <p:spPr>
          <a:xfrm>
            <a:off x="1144300" y="1041775"/>
            <a:ext cx="1472700" cy="4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l">
                <a:solidFill>
                  <a:srgbClr val="FF00FF"/>
                </a:solidFill>
              </a:rPr>
              <a:t>Local Devices </a:t>
            </a:r>
            <a:endParaRPr b="1">
              <a:solidFill>
                <a:srgbClr val="FF00FF"/>
              </a:solidFill>
            </a:endParaRPr>
          </a:p>
        </p:txBody>
      </p:sp>
      <p:sp>
        <p:nvSpPr>
          <p:cNvPr id="236" name="Google Shape;236;p35"/>
          <p:cNvSpPr txBox="1"/>
          <p:nvPr/>
        </p:nvSpPr>
        <p:spPr>
          <a:xfrm>
            <a:off x="6130750" y="1138625"/>
            <a:ext cx="1472700" cy="4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l">
                <a:solidFill>
                  <a:srgbClr val="FF00FF"/>
                </a:solidFill>
              </a:rPr>
              <a:t>Cloud</a:t>
            </a:r>
            <a:endParaRPr b="1">
              <a:solidFill>
                <a:srgbClr val="FF00FF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Prediction Latency is Almost Always Important </a:t>
            </a:r>
            <a:endParaRPr/>
          </a:p>
        </p:txBody>
      </p:sp>
      <p:sp>
        <p:nvSpPr>
          <p:cNvPr id="242" name="Google Shape;242;p36"/>
          <p:cNvSpPr txBox="1"/>
          <p:nvPr/>
        </p:nvSpPr>
        <p:spPr>
          <a:xfrm>
            <a:off x="258250" y="1412850"/>
            <a:ext cx="8520600" cy="135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l" sz="1800"/>
              <a:t>Opt for on-device inference whenever possible</a:t>
            </a:r>
            <a:endParaRPr sz="1800"/>
          </a:p>
          <a:p>
            <a:pPr indent="-3429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l" sz="1800"/>
              <a:t>Enhances user experience by reducing the response time of your app</a:t>
            </a:r>
            <a:endParaRPr sz="1800"/>
          </a:p>
        </p:txBody>
      </p:sp>
      <p:pic>
        <p:nvPicPr>
          <p:cNvPr id="243" name="Google Shape;243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9725" y="2920650"/>
            <a:ext cx="7613751" cy="20704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37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Cloud Deployment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Web Application for Users</a:t>
            </a:r>
            <a:endParaRPr/>
          </a:p>
        </p:txBody>
      </p:sp>
      <p:pic>
        <p:nvPicPr>
          <p:cNvPr id="254" name="Google Shape;254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746375"/>
            <a:ext cx="8839204" cy="23649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Serving Cloud Systems for easy deployment</a:t>
            </a:r>
            <a:endParaRPr/>
          </a:p>
        </p:txBody>
      </p:sp>
      <p:pic>
        <p:nvPicPr>
          <p:cNvPr id="260" name="Google Shape;260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28075" y="1212825"/>
            <a:ext cx="5504224" cy="3820975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39"/>
          <p:cNvSpPr txBox="1"/>
          <p:nvPr/>
        </p:nvSpPr>
        <p:spPr>
          <a:xfrm>
            <a:off x="236900" y="1925050"/>
            <a:ext cx="4535400" cy="18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 sz="1600"/>
              <a:t>Big cloud providers 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 sz="1600"/>
              <a:t>AWS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 sz="1600"/>
              <a:t>Google Cloud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 sz="1600"/>
              <a:t>Azure</a:t>
            </a:r>
            <a:endParaRPr sz="160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Advantages of Serving with a Managed Service</a:t>
            </a:r>
            <a:endParaRPr/>
          </a:p>
        </p:txBody>
      </p:sp>
      <p:pic>
        <p:nvPicPr>
          <p:cNvPr id="267" name="Google Shape;267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14350" y="1127475"/>
            <a:ext cx="5302355" cy="382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