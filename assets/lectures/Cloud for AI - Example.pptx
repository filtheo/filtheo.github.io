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391742be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391742be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fc05946fc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fc05946fc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c05946fc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c05946fc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c05946fc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fc05946fc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fc05946fc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fc05946fc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fc05946fc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fc05946fc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c05946fc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fc05946fc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c05946fc7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fc05946fc7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fc05946fc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fc05946fc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c05946fc7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fc05946fc7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fc05946fc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fc05946fc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fc05946fc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fc05946fc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c05946fc7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fc05946fc7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fc05946fc7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fc05946fc7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2c48bd5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12c48bd5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2c48bd55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2c48bd55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fc05946fc7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fc05946fc7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248dc51a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248dc51a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f496fdfb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ff496fdfb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248dc51a6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248dc51a6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ff496fdfb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ff496fdfb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ff496fdfb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ff496fdfb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48dc51a6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248dc51a6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248dc51a6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248dc51a6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248dc51a6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248dc51a6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248dc51a6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248dc51a6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248dc51a6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248dc51a6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ff496fdfb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ff496fdfb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ff496fdfb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ff496fdfb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ff496fdfb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ff496fdfb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ff496fdfb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ff496fdfb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ff496fdfb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ff496fdfb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ff496fdfb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ff496fdfb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248dc51a6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248dc51a6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248dc51a6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248dc51a6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248dc51a6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248dc51a6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248dc51a6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248dc51a6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248dc51a6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248dc51a6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248dc51a6e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248dc51a6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248dc51a6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248dc51a6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ff496fdfb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ff496fdfb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248dc51a6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248dc51a6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ff496fdfb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ff496fdfb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ff496fdfb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ff496fdfb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ff496fdfb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ff496fdfb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ff496fdfb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ff496fdfb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ff496fdfb5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ff496fdfb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ff496fdfb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ff496fdfb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ff496fdfb5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ff496fdfb5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ff496fdfb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ff496fdfb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ff496fdfb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ff496fdfb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f496fdfb5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ff496fdfb5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f496fdfb5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ff496fdfb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ff496fdfb5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ff496fdfb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ff496fdfb5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ff496fdfb5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ff496fdfb5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ff496fdfb5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ff496fdfb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ff496fdfb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kaggle.com/c/m5-forecasting-accuracy" TargetMode="External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6.png"/><Relationship Id="rId4" Type="http://schemas.openxmlformats.org/officeDocument/2006/relationships/image" Target="../media/image3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Cloud for AI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End to End MLOps Example</a:t>
            </a:r>
            <a:endParaRPr>
              <a:solidFill>
                <a:srgbClr val="FF00FF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75" y="4041963"/>
            <a:ext cx="8547614" cy="12119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0" y="4435375"/>
            <a:ext cx="2750100" cy="61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Filotas Theodosiou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7225" y="4152422"/>
            <a:ext cx="1101225" cy="9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Food Waste: The Situation.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8125" y="779575"/>
            <a:ext cx="3839025" cy="324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151725" y="1577250"/>
            <a:ext cx="49164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1"/>
                </a:solidFill>
              </a:rPr>
              <a:t>•Flanders has wasted almost 900.000 tones of food in 2020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1"/>
                </a:solidFill>
              </a:rPr>
              <a:t>•That’s enough to feed 800.000 people/year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1"/>
                </a:solidFill>
              </a:rPr>
              <a:t>•Food waste accounts for 8% of Belgium greenhouse emissions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4">
            <a:alphaModFix/>
          </a:blip>
          <a:srcRect b="-9560" l="0" r="0" t="9560"/>
          <a:stretch/>
        </p:blipFill>
        <p:spPr>
          <a:xfrm>
            <a:off x="835837" y="4570799"/>
            <a:ext cx="7805586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What is the Case?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75" y="1614262"/>
            <a:ext cx="8839203" cy="160872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568875" y="3447525"/>
            <a:ext cx="79986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800">
                <a:solidFill>
                  <a:schemeClr val="dk1"/>
                </a:solidFill>
              </a:rPr>
              <a:t>•Total time from the Farm to The Consumer: </a:t>
            </a:r>
            <a:r>
              <a:rPr lang="el" sz="1800">
                <a:solidFill>
                  <a:srgbClr val="92D050"/>
                </a:solidFill>
              </a:rPr>
              <a:t>T = t1 + t2 + t3 + t4</a:t>
            </a:r>
            <a:endParaRPr sz="1800">
              <a:solidFill>
                <a:srgbClr val="92D05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800">
                <a:solidFill>
                  <a:schemeClr val="dk1"/>
                </a:solidFill>
              </a:rPr>
              <a:t>•Is the Consumer willing to wait T for his meal? </a:t>
            </a:r>
            <a:r>
              <a:rPr lang="el" sz="1800">
                <a:solidFill>
                  <a:srgbClr val="FF0000"/>
                </a:solidFill>
              </a:rPr>
              <a:t>No!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800">
                <a:solidFill>
                  <a:schemeClr val="dk1"/>
                </a:solidFill>
              </a:rPr>
              <a:t>•So we need </a:t>
            </a:r>
            <a:r>
              <a:rPr lang="el" sz="1800">
                <a:solidFill>
                  <a:srgbClr val="FF0000"/>
                </a:solidFill>
              </a:rPr>
              <a:t>Inventory!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Much Inventory?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850" y="1704475"/>
            <a:ext cx="7221224" cy="295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Solve the Problem!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Structuring the Problem.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1644026"/>
            <a:ext cx="7978825" cy="16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Structuring the Problem.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0" l="0" r="0" t="3688"/>
          <a:stretch/>
        </p:blipFill>
        <p:spPr>
          <a:xfrm>
            <a:off x="0" y="1080000"/>
            <a:ext cx="8422674" cy="16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237475" y="2977025"/>
            <a:ext cx="8185200" cy="19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Identify the problem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Brainstorm solutions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Assess the feasibility of the solutions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Conclude on strategy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Determine milestones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Set budget, timelines etc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Structuring the Problem.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 rotWithShape="1">
          <a:blip r:embed="rId3">
            <a:alphaModFix/>
          </a:blip>
          <a:srcRect b="0" l="0" r="0" t="3688"/>
          <a:stretch/>
        </p:blipFill>
        <p:spPr>
          <a:xfrm>
            <a:off x="0" y="1080000"/>
            <a:ext cx="8422674" cy="16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237475" y="2977025"/>
            <a:ext cx="8185200" cy="19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AutoNum type="arabicPeriod"/>
            </a:pPr>
            <a:r>
              <a:rPr lang="el" sz="1800">
                <a:solidFill>
                  <a:srgbClr val="FF00FF"/>
                </a:solidFill>
              </a:rPr>
              <a:t>Identify the problem</a:t>
            </a:r>
            <a:endParaRPr sz="1800">
              <a:solidFill>
                <a:srgbClr val="FF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Brainstorm solutions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Assess the feasibility of the solutions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Conclude on strategy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Determine milestones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Set budget, timelines etc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Identify the Problem.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900" y="1330826"/>
            <a:ext cx="6872176" cy="291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1592075" y="4342150"/>
            <a:ext cx="62556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How much to order to optimize inventory management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Structuring the Problem.</a:t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 rotWithShape="1">
          <a:blip r:embed="rId3">
            <a:alphaModFix/>
          </a:blip>
          <a:srcRect b="0" l="0" r="0" t="3688"/>
          <a:stretch/>
        </p:blipFill>
        <p:spPr>
          <a:xfrm>
            <a:off x="0" y="1080000"/>
            <a:ext cx="8422674" cy="16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237475" y="2977025"/>
            <a:ext cx="8185200" cy="19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Identify the problem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AutoNum type="arabicPeriod"/>
            </a:pPr>
            <a:r>
              <a:rPr lang="el" sz="1800">
                <a:solidFill>
                  <a:srgbClr val="FF00FF"/>
                </a:solidFill>
              </a:rPr>
              <a:t>Brainstorm solutions</a:t>
            </a:r>
            <a:endParaRPr sz="1800">
              <a:solidFill>
                <a:srgbClr val="FF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Assess the feasibility of the solutions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Conclude on strategy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Determine milestones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Set budget, timelines etc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Brainstorm Solutions: Demand Forecasting.</a:t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 rotWithShape="1">
          <a:blip r:embed="rId3">
            <a:alphaModFix/>
          </a:blip>
          <a:srcRect b="3670" l="3880" r="-3880" t="-3669"/>
          <a:stretch/>
        </p:blipFill>
        <p:spPr>
          <a:xfrm>
            <a:off x="4176303" y="1757075"/>
            <a:ext cx="4967699" cy="29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311700" y="1225775"/>
            <a:ext cx="927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chemeClr val="dk1"/>
                </a:solidFill>
              </a:rPr>
              <a:t>Demand forecasting is the process of predicting future demand using </a:t>
            </a:r>
            <a:r>
              <a:rPr lang="el" sz="1600">
                <a:solidFill>
                  <a:srgbClr val="FF00FF"/>
                </a:solidFill>
              </a:rPr>
              <a:t>historical data and trends</a:t>
            </a:r>
            <a:endParaRPr sz="1600">
              <a:solidFill>
                <a:srgbClr val="FF00FF"/>
              </a:solidFill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311700" y="1919793"/>
            <a:ext cx="3827700" cy="25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Our Task: 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Predict the demand for meals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Better inventory management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More efficient decision making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No unneeded raw material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Higher profitability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Communicating the Solution</a:t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100" y="1332462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optimize our inventory management”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4813200" y="24488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“Lets use AI to predict the future demand”. Your </a:t>
            </a:r>
            <a:r>
              <a:rPr lang="el" sz="1500">
                <a:solidFill>
                  <a:schemeClr val="dk2"/>
                </a:solidFill>
              </a:rPr>
              <a:t>reorder</a:t>
            </a:r>
            <a:r>
              <a:rPr lang="el" sz="1500">
                <a:solidFill>
                  <a:schemeClr val="dk2"/>
                </a:solidFill>
              </a:rPr>
              <a:t> policy will be based on the model’s predictions.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36" name="Google Shape;136;p24"/>
          <p:cNvSpPr txBox="1"/>
          <p:nvPr/>
        </p:nvSpPr>
        <p:spPr>
          <a:xfrm>
            <a:off x="3762200" y="894150"/>
            <a:ext cx="2292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Talk to the Client.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155475" y="8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Communicating the Solution</a:t>
            </a:r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100" y="1332462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5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“We want to optimize our inventory management”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Sounds good! What do you need from us?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4813200" y="2448875"/>
            <a:ext cx="4330800" cy="2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“Lets use AI to predict the future demand”. Your reorder policy will be based on the model’s predictions.</a:t>
            </a:r>
            <a:endParaRPr sz="1500">
              <a:solidFill>
                <a:schemeClr val="dk2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Do you have data? Let me see all data you have. Transactional, reorders, descriptions, everything.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3762200" y="894150"/>
            <a:ext cx="2292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Talk to the Client.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Structuring the Problem.</a:t>
            </a:r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 rotWithShape="1">
          <a:blip r:embed="rId3">
            <a:alphaModFix/>
          </a:blip>
          <a:srcRect b="0" l="0" r="0" t="3688"/>
          <a:stretch/>
        </p:blipFill>
        <p:spPr>
          <a:xfrm>
            <a:off x="0" y="1080000"/>
            <a:ext cx="8422674" cy="16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 txBox="1"/>
          <p:nvPr/>
        </p:nvSpPr>
        <p:spPr>
          <a:xfrm>
            <a:off x="237475" y="2977025"/>
            <a:ext cx="8185200" cy="19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Identify the problem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Brainstorm solutions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AutoNum type="arabicPeriod"/>
            </a:pPr>
            <a:r>
              <a:rPr lang="el" sz="1800">
                <a:solidFill>
                  <a:srgbClr val="FF00FF"/>
                </a:solidFill>
              </a:rPr>
              <a:t>Assess the feasibility of the solutions</a:t>
            </a:r>
            <a:endParaRPr sz="1800">
              <a:solidFill>
                <a:srgbClr val="FF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Conclude on strategy.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Determine milestones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Set budget, timelines etc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Initial Data</a:t>
            </a:r>
            <a:endParaRPr/>
          </a:p>
        </p:txBody>
      </p:sp>
      <p:sp>
        <p:nvSpPr>
          <p:cNvPr id="159" name="Google Shape;159;p27"/>
          <p:cNvSpPr txBox="1"/>
          <p:nvPr/>
        </p:nvSpPr>
        <p:spPr>
          <a:xfrm>
            <a:off x="197900" y="1124400"/>
            <a:ext cx="868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Data can be accessed via: </a:t>
            </a:r>
            <a:r>
              <a:rPr lang="el" sz="1800" u="sng">
                <a:solidFill>
                  <a:schemeClr val="hlink"/>
                </a:solidFill>
                <a:hlinkClick r:id="rId3"/>
              </a:rPr>
              <a:t>Kaggle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600" y="1803775"/>
            <a:ext cx="8839199" cy="2139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Converted Data</a:t>
            </a:r>
            <a:endParaRPr/>
          </a:p>
        </p:txBody>
      </p:sp>
      <p:sp>
        <p:nvSpPr>
          <p:cNvPr id="166" name="Google Shape;166;p28"/>
          <p:cNvSpPr txBox="1"/>
          <p:nvPr/>
        </p:nvSpPr>
        <p:spPr>
          <a:xfrm>
            <a:off x="197900" y="1124400"/>
            <a:ext cx="868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Cleaned data available in Toledo.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800" y="1803775"/>
            <a:ext cx="5261133" cy="314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Code!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Structuring the Problem.</a:t>
            </a:r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 rotWithShape="1">
          <a:blip r:embed="rId3">
            <a:alphaModFix/>
          </a:blip>
          <a:srcRect b="0" l="0" r="0" t="3688"/>
          <a:stretch/>
        </p:blipFill>
        <p:spPr>
          <a:xfrm>
            <a:off x="0" y="1080000"/>
            <a:ext cx="8422674" cy="16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 txBox="1"/>
          <p:nvPr/>
        </p:nvSpPr>
        <p:spPr>
          <a:xfrm>
            <a:off x="237475" y="2977025"/>
            <a:ext cx="8185200" cy="19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Identify the problem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Brainstorm solutions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Assess the feasibility of the solutions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AutoNum type="arabicPeriod"/>
            </a:pPr>
            <a:r>
              <a:rPr lang="el" sz="1800">
                <a:solidFill>
                  <a:srgbClr val="FF00FF"/>
                </a:solidFill>
              </a:rPr>
              <a:t>Conclude on strategy</a:t>
            </a:r>
            <a:endParaRPr sz="1800">
              <a:solidFill>
                <a:srgbClr val="FF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Determine milestones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Set budget, timelines etc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Structure of the report</a:t>
            </a:r>
            <a:endParaRPr/>
          </a:p>
        </p:txBody>
      </p:sp>
      <p:pic>
        <p:nvPicPr>
          <p:cNvPr id="185" name="Google Shape;1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625" y="262025"/>
            <a:ext cx="4464140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1"/>
          <p:cNvSpPr txBox="1"/>
          <p:nvPr/>
        </p:nvSpPr>
        <p:spPr>
          <a:xfrm>
            <a:off x="451250" y="1405100"/>
            <a:ext cx="3732000" cy="3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The aim of the interview: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Data Understanding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Day-to-Day Operations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i</a:t>
            </a:r>
            <a:r>
              <a:rPr lang="e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nventory Management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Challenges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Obstacles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Meeting Notes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Structure our Methodology:</a:t>
            </a:r>
            <a:endParaRPr/>
          </a:p>
        </p:txBody>
      </p:sp>
      <p:pic>
        <p:nvPicPr>
          <p:cNvPr id="197" name="Google Shape;1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200" y="1191525"/>
            <a:ext cx="676655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Structure our Methodology</a:t>
            </a:r>
            <a:endParaRPr/>
          </a:p>
        </p:txBody>
      </p:sp>
      <p:pic>
        <p:nvPicPr>
          <p:cNvPr id="203" name="Google Shape;2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6500" y="1545024"/>
            <a:ext cx="5588951" cy="240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4"/>
          <p:cNvSpPr txBox="1"/>
          <p:nvPr/>
        </p:nvSpPr>
        <p:spPr>
          <a:xfrm>
            <a:off x="141050" y="1458575"/>
            <a:ext cx="3240300" cy="3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600">
                <a:solidFill>
                  <a:srgbClr val="FF00FF"/>
                </a:solidFill>
              </a:rPr>
              <a:t>Our strategy:</a:t>
            </a:r>
            <a:endParaRPr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F0000"/>
              </a:solidFill>
            </a:endParaRPr>
          </a:p>
          <a:p>
            <a:pPr indent="-19685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l" sz="1600">
                <a:solidFill>
                  <a:schemeClr val="dk1"/>
                </a:solidFill>
              </a:rPr>
              <a:t>Forecast daily demand of meals</a:t>
            </a:r>
            <a:endParaRPr sz="1600">
              <a:solidFill>
                <a:schemeClr val="dk1"/>
              </a:solidFill>
            </a:endParaRPr>
          </a:p>
          <a:p>
            <a:pPr indent="-19685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l" sz="1600">
                <a:solidFill>
                  <a:schemeClr val="dk1"/>
                </a:solidFill>
              </a:rPr>
              <a:t>Decompose meals to raw ingredients</a:t>
            </a:r>
            <a:endParaRPr sz="1600">
              <a:solidFill>
                <a:schemeClr val="dk1"/>
              </a:solidFill>
            </a:endParaRPr>
          </a:p>
          <a:p>
            <a:pPr indent="-19685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l" sz="1600">
                <a:solidFill>
                  <a:schemeClr val="dk1"/>
                </a:solidFill>
              </a:rPr>
              <a:t>Aggregate daily needed raw ingredients</a:t>
            </a:r>
            <a:endParaRPr sz="1600">
              <a:solidFill>
                <a:schemeClr val="dk1"/>
              </a:solidFill>
            </a:endParaRPr>
          </a:p>
          <a:p>
            <a:pPr indent="-19685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l" sz="1600">
                <a:solidFill>
                  <a:schemeClr val="dk1"/>
                </a:solidFill>
              </a:rPr>
              <a:t>Optimize Inventory Management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Structuring the Problem.</a:t>
            </a:r>
            <a:endParaRPr/>
          </a:p>
        </p:txBody>
      </p:sp>
      <p:pic>
        <p:nvPicPr>
          <p:cNvPr id="210" name="Google Shape;210;p35"/>
          <p:cNvPicPr preferRelativeResize="0"/>
          <p:nvPr/>
        </p:nvPicPr>
        <p:blipFill rotWithShape="1">
          <a:blip r:embed="rId3">
            <a:alphaModFix/>
          </a:blip>
          <a:srcRect b="0" l="0" r="0" t="3688"/>
          <a:stretch/>
        </p:blipFill>
        <p:spPr>
          <a:xfrm>
            <a:off x="0" y="1080000"/>
            <a:ext cx="8422674" cy="16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5"/>
          <p:cNvSpPr txBox="1"/>
          <p:nvPr/>
        </p:nvSpPr>
        <p:spPr>
          <a:xfrm>
            <a:off x="237475" y="2977025"/>
            <a:ext cx="8185200" cy="19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Identify the problem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Brainstorm solutions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Assess the feasibility of the solutions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AutoNum type="arabicPeriod"/>
            </a:pPr>
            <a:r>
              <a:rPr lang="el" sz="1800">
                <a:solidFill>
                  <a:srgbClr val="666666"/>
                </a:solidFill>
              </a:rPr>
              <a:t>Conclude on strategy</a:t>
            </a:r>
            <a:endParaRPr sz="1800">
              <a:solidFill>
                <a:srgbClr val="666666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AutoNum type="arabicPeriod"/>
            </a:pPr>
            <a:r>
              <a:rPr lang="el" sz="1800">
                <a:solidFill>
                  <a:srgbClr val="FF00FF"/>
                </a:solidFill>
              </a:rPr>
              <a:t>Determine milestones</a:t>
            </a:r>
            <a:endParaRPr sz="1800">
              <a:solidFill>
                <a:srgbClr val="FF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Set budget, timelines etc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Determine Milestones</a:t>
            </a:r>
            <a:endParaRPr/>
          </a:p>
        </p:txBody>
      </p:sp>
      <p:pic>
        <p:nvPicPr>
          <p:cNvPr id="217" name="Google Shape;2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7500" y="1081225"/>
            <a:ext cx="5638800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6"/>
          <p:cNvSpPr txBox="1"/>
          <p:nvPr/>
        </p:nvSpPr>
        <p:spPr>
          <a:xfrm>
            <a:off x="311700" y="1516375"/>
            <a:ext cx="3441600" cy="24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Set goals: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Clear &amp; Specific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Achievable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Measurable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Time-bound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2"/>
                </a:solidFill>
              </a:rPr>
              <a:t>Easily </a:t>
            </a:r>
            <a:r>
              <a:rPr lang="el" sz="1800">
                <a:solidFill>
                  <a:schemeClr val="dk2"/>
                </a:solidFill>
              </a:rPr>
              <a:t>communicable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Structuring the Problem.</a:t>
            </a:r>
            <a:endParaRPr/>
          </a:p>
        </p:txBody>
      </p:sp>
      <p:pic>
        <p:nvPicPr>
          <p:cNvPr id="224" name="Google Shape;224;p37"/>
          <p:cNvPicPr preferRelativeResize="0"/>
          <p:nvPr/>
        </p:nvPicPr>
        <p:blipFill rotWithShape="1">
          <a:blip r:embed="rId3">
            <a:alphaModFix/>
          </a:blip>
          <a:srcRect b="0" l="0" r="0" t="3688"/>
          <a:stretch/>
        </p:blipFill>
        <p:spPr>
          <a:xfrm>
            <a:off x="0" y="1080000"/>
            <a:ext cx="8422674" cy="162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7"/>
          <p:cNvSpPr txBox="1"/>
          <p:nvPr/>
        </p:nvSpPr>
        <p:spPr>
          <a:xfrm>
            <a:off x="237475" y="2977025"/>
            <a:ext cx="8185200" cy="19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Identify the problem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Brainstorm solutions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Assess the feasibility of the solutions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Conclude on strategy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l" sz="1800">
                <a:solidFill>
                  <a:schemeClr val="dk2"/>
                </a:solidFill>
              </a:rPr>
              <a:t>Determine milestones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AutoNum type="arabicPeriod"/>
            </a:pPr>
            <a:r>
              <a:rPr lang="el" sz="1800">
                <a:solidFill>
                  <a:srgbClr val="FF00FF"/>
                </a:solidFill>
              </a:rPr>
              <a:t>Set budget, timelines etc</a:t>
            </a:r>
            <a:endParaRPr sz="18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Set Timelines</a:t>
            </a: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8" cy="3313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Next Steps:</a:t>
            </a:r>
            <a:endParaRPr/>
          </a:p>
        </p:txBody>
      </p:sp>
      <p:pic>
        <p:nvPicPr>
          <p:cNvPr id="237" name="Google Shape;23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169123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9"/>
          <p:cNvSpPr txBox="1"/>
          <p:nvPr/>
        </p:nvSpPr>
        <p:spPr>
          <a:xfrm>
            <a:off x="322950" y="3222975"/>
            <a:ext cx="7998600" cy="17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Collect and organize all of our data.</a:t>
            </a:r>
            <a:endParaRPr sz="18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Always Remember:</a:t>
            </a:r>
            <a:endParaRPr/>
          </a:p>
        </p:txBody>
      </p:sp>
      <p:pic>
        <p:nvPicPr>
          <p:cNvPr id="244" name="Google Shape;24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9975" y="1202200"/>
            <a:ext cx="506404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Why?</a:t>
            </a:r>
            <a:endParaRPr/>
          </a:p>
        </p:txBody>
      </p:sp>
      <p:pic>
        <p:nvPicPr>
          <p:cNvPr id="250" name="Google Shape;2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4275"/>
            <a:ext cx="8839200" cy="3568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Ensure “Good” Data?</a:t>
            </a:r>
            <a:endParaRPr/>
          </a:p>
        </p:txBody>
      </p:sp>
      <p:sp>
        <p:nvSpPr>
          <p:cNvPr id="256" name="Google Shape;256;p42"/>
          <p:cNvSpPr txBox="1"/>
          <p:nvPr/>
        </p:nvSpPr>
        <p:spPr>
          <a:xfrm>
            <a:off x="44900" y="1266100"/>
            <a:ext cx="8672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rgbClr val="FF00FF"/>
                </a:solidFill>
              </a:rPr>
              <a:t>How much data is enough?</a:t>
            </a:r>
            <a:endParaRPr b="1" sz="1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Depends.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Example: If your data has a lot of variations, multiple different examples are needed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7" name="Google Shape;257;p42"/>
          <p:cNvSpPr txBox="1"/>
          <p:nvPr/>
        </p:nvSpPr>
        <p:spPr>
          <a:xfrm>
            <a:off x="44900" y="2594475"/>
            <a:ext cx="9099000" cy="24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rgbClr val="FF00FF"/>
                </a:solidFill>
              </a:rPr>
              <a:t>What is high quality data?</a:t>
            </a:r>
            <a:endParaRPr b="1" sz="1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2000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Relevant -&gt; Data should match the domain of the task.</a:t>
            </a:r>
            <a:endParaRPr sz="1800">
              <a:solidFill>
                <a:schemeClr val="dk1"/>
              </a:solidFill>
            </a:endParaRPr>
          </a:p>
          <a:p>
            <a:pPr indent="-2000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Representitive -&gt; Data should reflect the diversity and the variability of the task.</a:t>
            </a:r>
            <a:endParaRPr sz="1800">
              <a:solidFill>
                <a:schemeClr val="dk1"/>
              </a:solidFill>
            </a:endParaRPr>
          </a:p>
          <a:p>
            <a:pPr indent="-200025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Reliable -&gt; Data should be accurate, consistent and complete.</a:t>
            </a:r>
            <a:endParaRPr sz="1800">
              <a:solidFill>
                <a:schemeClr val="dk1"/>
              </a:solidFill>
            </a:endParaRPr>
          </a:p>
          <a:p>
            <a:pPr indent="-200025" lvl="0" marL="17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Responsible -&gt; Data should be ethical, legal and respectfull of the rights and interests.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Total sales data:</a:t>
            </a:r>
            <a:endParaRPr/>
          </a:p>
        </p:txBody>
      </p:sp>
      <p:pic>
        <p:nvPicPr>
          <p:cNvPr id="263" name="Google Shape;26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350" y="1151425"/>
            <a:ext cx="729459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Extra information collected</a:t>
            </a:r>
            <a:endParaRPr/>
          </a:p>
        </p:txBody>
      </p:sp>
      <p:pic>
        <p:nvPicPr>
          <p:cNvPr id="269" name="Google Shape;26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375" y="1212900"/>
            <a:ext cx="738721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Understand your Data.</a:t>
            </a:r>
            <a:endParaRPr/>
          </a:p>
        </p:txBody>
      </p:sp>
      <p:sp>
        <p:nvSpPr>
          <p:cNvPr id="275" name="Google Shape;275;p45"/>
          <p:cNvSpPr txBox="1"/>
          <p:nvPr/>
        </p:nvSpPr>
        <p:spPr>
          <a:xfrm>
            <a:off x="349200" y="1017725"/>
            <a:ext cx="84456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1"/>
                </a:solidFill>
              </a:rPr>
              <a:t>Assuming you have gathered (or not) all the requested data.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Exploratory Data Analysis (EDA)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04800" lvl="0" marL="36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Understand the data</a:t>
            </a:r>
            <a:endParaRPr sz="18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(patterns, anomalies, limitations)</a:t>
            </a:r>
            <a:endParaRPr sz="1800">
              <a:solidFill>
                <a:schemeClr val="dk1"/>
              </a:solidFill>
            </a:endParaRPr>
          </a:p>
          <a:p>
            <a:pPr indent="-304800" lvl="0" marL="36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Inspect data quality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(miss values, outliers)</a:t>
            </a:r>
            <a:endParaRPr sz="1800">
              <a:solidFill>
                <a:schemeClr val="dk1"/>
              </a:solidFill>
            </a:endParaRPr>
          </a:p>
          <a:p>
            <a:pPr indent="-304800" lvl="0" marL="36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Guide model selection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(based on data characteristics)</a:t>
            </a:r>
            <a:endParaRPr sz="1800">
              <a:solidFill>
                <a:schemeClr val="dk1"/>
              </a:solidFill>
            </a:endParaRPr>
          </a:p>
          <a:p>
            <a:pPr indent="-304800" lvl="0" marL="36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Report to the client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(show deep data understanding)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Understand your Data.</a:t>
            </a:r>
            <a:endParaRPr/>
          </a:p>
        </p:txBody>
      </p:sp>
      <p:sp>
        <p:nvSpPr>
          <p:cNvPr id="281" name="Google Shape;281;p46"/>
          <p:cNvSpPr txBox="1"/>
          <p:nvPr/>
        </p:nvSpPr>
        <p:spPr>
          <a:xfrm>
            <a:off x="349200" y="1017725"/>
            <a:ext cx="84456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1"/>
                </a:solidFill>
              </a:rPr>
              <a:t>Assuming you have gathered (or not) all the requested data.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82" name="Google Shape;282;p46"/>
          <p:cNvPicPr preferRelativeResize="0"/>
          <p:nvPr/>
        </p:nvPicPr>
        <p:blipFill rotWithShape="1">
          <a:blip r:embed="rId3">
            <a:alphaModFix/>
          </a:blip>
          <a:srcRect b="1999" l="5110" r="-5110" t="-2000"/>
          <a:stretch/>
        </p:blipFill>
        <p:spPr>
          <a:xfrm>
            <a:off x="1954763" y="1401000"/>
            <a:ext cx="5234477" cy="374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Code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Communicate your Findings.</a:t>
            </a:r>
            <a:endParaRPr/>
          </a:p>
        </p:txBody>
      </p:sp>
      <p:pic>
        <p:nvPicPr>
          <p:cNvPr id="293" name="Google Shape;29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100" y="1332462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8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Char char="●"/>
            </a:pPr>
            <a:r>
              <a:rPr lang="el" sz="1500">
                <a:solidFill>
                  <a:srgbClr val="CCCCCC"/>
                </a:solidFill>
              </a:rPr>
              <a:t>“We want to optimize our inventory management”</a:t>
            </a:r>
            <a:endParaRPr sz="1500">
              <a:solidFill>
                <a:srgbClr val="CCCCCC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“Do you have any updates on our project?”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96" name="Google Shape;296;p48"/>
          <p:cNvSpPr txBox="1"/>
          <p:nvPr/>
        </p:nvSpPr>
        <p:spPr>
          <a:xfrm>
            <a:off x="4813200" y="24488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500"/>
              <a:buChar char="●"/>
            </a:pPr>
            <a:r>
              <a:rPr lang="el" sz="1500">
                <a:solidFill>
                  <a:srgbClr val="B7B7B7"/>
                </a:solidFill>
              </a:rPr>
              <a:t>“Lets use AI to predict the future demand”. Your reorder policy will be based on the model’s predictions.</a:t>
            </a:r>
            <a:endParaRPr sz="1500">
              <a:solidFill>
                <a:srgbClr val="B7B7B7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l" sz="1500">
                <a:solidFill>
                  <a:schemeClr val="dk2"/>
                </a:solidFill>
              </a:rPr>
              <a:t>Yes, I have very deep understanding of your data and practises. Check the attached report.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97" name="Google Shape;297;p48"/>
          <p:cNvSpPr txBox="1"/>
          <p:nvPr/>
        </p:nvSpPr>
        <p:spPr>
          <a:xfrm>
            <a:off x="3762200" y="894150"/>
            <a:ext cx="2292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Talk to the Client.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Report with findings of EDA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Next Steps: Start Modeling</a:t>
            </a:r>
            <a:endParaRPr/>
          </a:p>
        </p:txBody>
      </p:sp>
      <p:pic>
        <p:nvPicPr>
          <p:cNvPr id="308" name="Google Shape;308;p50"/>
          <p:cNvPicPr preferRelativeResize="0"/>
          <p:nvPr/>
        </p:nvPicPr>
        <p:blipFill rotWithShape="1">
          <a:blip r:embed="rId3">
            <a:alphaModFix/>
          </a:blip>
          <a:srcRect b="0" l="0" r="0" t="3716"/>
          <a:stretch/>
        </p:blipFill>
        <p:spPr>
          <a:xfrm>
            <a:off x="0" y="1075937"/>
            <a:ext cx="8520599" cy="163339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50"/>
          <p:cNvSpPr txBox="1"/>
          <p:nvPr/>
        </p:nvSpPr>
        <p:spPr>
          <a:xfrm>
            <a:off x="485100" y="3395975"/>
            <a:ext cx="8035500" cy="1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l" sz="1800">
                <a:solidFill>
                  <a:schemeClr val="dk1"/>
                </a:solidFill>
              </a:rPr>
              <a:t>Establish Baselines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l" sz="1800">
                <a:solidFill>
                  <a:schemeClr val="dk1"/>
                </a:solidFill>
              </a:rPr>
              <a:t>Collect pool of models (aim for models of different complexities)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l" sz="1800">
                <a:solidFill>
                  <a:schemeClr val="dk1"/>
                </a:solidFill>
              </a:rPr>
              <a:t>Increase complexity steadily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Establish Baselines</a:t>
            </a:r>
            <a:endParaRPr/>
          </a:p>
        </p:txBody>
      </p:sp>
      <p:sp>
        <p:nvSpPr>
          <p:cNvPr id="315" name="Google Shape;315;p51"/>
          <p:cNvSpPr txBox="1"/>
          <p:nvPr>
            <p:ph idx="1" type="body"/>
          </p:nvPr>
        </p:nvSpPr>
        <p:spPr>
          <a:xfrm>
            <a:off x="311700" y="1342425"/>
            <a:ext cx="5888400" cy="34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How to select a baseline:</a:t>
            </a:r>
            <a:endParaRPr>
              <a:solidFill>
                <a:srgbClr val="FF00FF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l">
                <a:solidFill>
                  <a:schemeClr val="dk1"/>
                </a:solidFill>
              </a:rPr>
              <a:t>Experience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l">
                <a:solidFill>
                  <a:schemeClr val="dk1"/>
                </a:solidFill>
              </a:rPr>
              <a:t>Academic Literature (!)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l">
                <a:solidFill>
                  <a:schemeClr val="dk1"/>
                </a:solidFill>
              </a:rPr>
              <a:t>Web (?)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solidFill>
                  <a:srgbClr val="FF00FF"/>
                </a:solidFill>
              </a:rPr>
              <a:t>Note 1:</a:t>
            </a:r>
            <a:r>
              <a:rPr lang="el">
                <a:solidFill>
                  <a:schemeClr val="dk1"/>
                </a:solidFill>
              </a:rPr>
              <a:t> Its very important for your model to </a:t>
            </a:r>
            <a:r>
              <a:rPr lang="el">
                <a:solidFill>
                  <a:schemeClr val="dk1"/>
                </a:solidFill>
              </a:rPr>
              <a:t>outperform: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>
                <a:solidFill>
                  <a:schemeClr val="dk1"/>
                </a:solidFill>
              </a:rPr>
              <a:t>Current solution used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>
                <a:solidFill>
                  <a:schemeClr val="dk1"/>
                </a:solidFill>
              </a:rPr>
              <a:t>Simplest benchmark available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>
                <a:solidFill>
                  <a:schemeClr val="dk1"/>
                </a:solidFill>
              </a:rPr>
              <a:t>Widely applied models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16" name="Google Shape;316;p51"/>
          <p:cNvPicPr preferRelativeResize="0"/>
          <p:nvPr/>
        </p:nvPicPr>
        <p:blipFill rotWithShape="1">
          <a:blip r:embed="rId3">
            <a:alphaModFix/>
          </a:blip>
          <a:srcRect b="8138" l="0" r="0" t="0"/>
          <a:stretch/>
        </p:blipFill>
        <p:spPr>
          <a:xfrm>
            <a:off x="5822950" y="1342415"/>
            <a:ext cx="3069600" cy="30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1"/>
          <p:cNvSpPr txBox="1"/>
          <p:nvPr/>
        </p:nvSpPr>
        <p:spPr>
          <a:xfrm>
            <a:off x="311700" y="4570800"/>
            <a:ext cx="810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Note 2:</a:t>
            </a:r>
            <a:r>
              <a:rPr lang="el" sz="1800">
                <a:solidFill>
                  <a:schemeClr val="dk2"/>
                </a:solidFill>
              </a:rPr>
              <a:t> </a:t>
            </a:r>
            <a:r>
              <a:rPr lang="el" sz="1800">
                <a:solidFill>
                  <a:schemeClr val="dk1"/>
                </a:solidFill>
              </a:rPr>
              <a:t>If you </a:t>
            </a:r>
            <a:r>
              <a:rPr lang="el" sz="1800">
                <a:solidFill>
                  <a:schemeClr val="dk1"/>
                </a:solidFill>
              </a:rPr>
              <a:t>can't</a:t>
            </a:r>
            <a:r>
              <a:rPr lang="el" sz="1800">
                <a:solidFill>
                  <a:schemeClr val="dk1"/>
                </a:solidFill>
              </a:rPr>
              <a:t> beat them, join them :)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2"/>
          <p:cNvSpPr txBox="1"/>
          <p:nvPr>
            <p:ph type="title"/>
          </p:nvPr>
        </p:nvSpPr>
        <p:spPr>
          <a:xfrm>
            <a:off x="57700" y="10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Establish Baselines</a:t>
            </a:r>
            <a:endParaRPr/>
          </a:p>
        </p:txBody>
      </p:sp>
      <p:pic>
        <p:nvPicPr>
          <p:cNvPr id="323" name="Google Shape;32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00" y="1654875"/>
            <a:ext cx="2983700" cy="287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4300" y="1654867"/>
            <a:ext cx="5897151" cy="1309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4300" y="3119250"/>
            <a:ext cx="6082897" cy="113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Collect Pool of Models</a:t>
            </a:r>
            <a:endParaRPr/>
          </a:p>
        </p:txBody>
      </p:sp>
      <p:pic>
        <p:nvPicPr>
          <p:cNvPr id="331" name="Google Shape;33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8250"/>
            <a:ext cx="8839199" cy="155263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53"/>
          <p:cNvSpPr txBox="1"/>
          <p:nvPr/>
        </p:nvSpPr>
        <p:spPr>
          <a:xfrm>
            <a:off x="2033875" y="1120650"/>
            <a:ext cx="5378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There is a zoo of models used for forecasting</a:t>
            </a:r>
            <a:endParaRPr sz="1800">
              <a:solidFill>
                <a:srgbClr val="FF00FF"/>
              </a:solidFill>
            </a:endParaRPr>
          </a:p>
        </p:txBody>
      </p:sp>
      <p:sp>
        <p:nvSpPr>
          <p:cNvPr id="333" name="Google Shape;333;p53"/>
          <p:cNvSpPr txBox="1"/>
          <p:nvPr>
            <p:ph idx="1" type="body"/>
          </p:nvPr>
        </p:nvSpPr>
        <p:spPr>
          <a:xfrm>
            <a:off x="375850" y="3392400"/>
            <a:ext cx="8520600" cy="15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l">
                <a:solidFill>
                  <a:schemeClr val="dk1"/>
                </a:solidFill>
              </a:rPr>
              <a:t>Rules of Thumb: Baselines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l">
                <a:solidFill>
                  <a:schemeClr val="dk1"/>
                </a:solidFill>
              </a:rPr>
              <a:t>Statistical Models: “Battle-tested” and widely applied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l">
                <a:solidFill>
                  <a:schemeClr val="dk1"/>
                </a:solidFill>
              </a:rPr>
              <a:t>Simple Machine Learning models: Easy to use while taking advantage of ML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l">
                <a:solidFill>
                  <a:schemeClr val="dk1"/>
                </a:solidFill>
              </a:rPr>
              <a:t>Advanced Machine Learning models: Complex to fit but with high potential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Build an Evaluation Protocol</a:t>
            </a:r>
            <a:endParaRPr/>
          </a:p>
        </p:txBody>
      </p:sp>
      <p:sp>
        <p:nvSpPr>
          <p:cNvPr id="339" name="Google Shape;339;p54"/>
          <p:cNvSpPr txBox="1"/>
          <p:nvPr/>
        </p:nvSpPr>
        <p:spPr>
          <a:xfrm>
            <a:off x="128300" y="1223350"/>
            <a:ext cx="5090100" cy="3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How to evaluate forecasts?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095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l" sz="1800">
                <a:solidFill>
                  <a:schemeClr val="dk1"/>
                </a:solidFill>
              </a:rPr>
              <a:t>Split and keep a period as a “test set”</a:t>
            </a:r>
            <a:endParaRPr sz="1800">
              <a:solidFill>
                <a:schemeClr val="dk1"/>
              </a:solidFill>
            </a:endParaRPr>
          </a:p>
          <a:p>
            <a:pPr indent="-2095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l" sz="1800">
                <a:solidFill>
                  <a:schemeClr val="dk1"/>
                </a:solidFill>
              </a:rPr>
              <a:t>Train a model on the “train set”</a:t>
            </a:r>
            <a:endParaRPr sz="1800">
              <a:solidFill>
                <a:schemeClr val="dk1"/>
              </a:solidFill>
            </a:endParaRPr>
          </a:p>
          <a:p>
            <a:pPr indent="-2095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l" sz="1800">
                <a:solidFill>
                  <a:schemeClr val="dk1"/>
                </a:solidFill>
              </a:rPr>
              <a:t>Make predictions for the “test set”</a:t>
            </a:r>
            <a:endParaRPr sz="1800">
              <a:solidFill>
                <a:schemeClr val="dk1"/>
              </a:solidFill>
            </a:endParaRPr>
          </a:p>
          <a:p>
            <a:pPr indent="-209550" lvl="0" marL="17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l" sz="1800">
                <a:solidFill>
                  <a:schemeClr val="dk1"/>
                </a:solidFill>
              </a:rPr>
              <a:t>Compare predictions with the “true values” using a forecasting metric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40" name="Google Shape;34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6075" y="1661750"/>
            <a:ext cx="4360099" cy="22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54"/>
          <p:cNvPicPr preferRelativeResize="0"/>
          <p:nvPr/>
        </p:nvPicPr>
        <p:blipFill rotWithShape="1">
          <a:blip r:embed="rId4">
            <a:alphaModFix/>
          </a:blip>
          <a:srcRect b="0" l="5359" r="-5360" t="0"/>
          <a:stretch/>
        </p:blipFill>
        <p:spPr>
          <a:xfrm>
            <a:off x="3469090" y="4503250"/>
            <a:ext cx="4186781" cy="39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54"/>
          <p:cNvSpPr txBox="1"/>
          <p:nvPr/>
        </p:nvSpPr>
        <p:spPr>
          <a:xfrm>
            <a:off x="1809300" y="4503250"/>
            <a:ext cx="267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1"/>
                </a:solidFill>
              </a:rPr>
              <a:t>For example: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Pick a Metric?</a:t>
            </a:r>
            <a:endParaRPr/>
          </a:p>
        </p:txBody>
      </p:sp>
      <p:pic>
        <p:nvPicPr>
          <p:cNvPr id="348" name="Google Shape;34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6750"/>
            <a:ext cx="8839199" cy="2908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Cross - Validation</a:t>
            </a:r>
            <a:endParaRPr/>
          </a:p>
        </p:txBody>
      </p:sp>
      <p:sp>
        <p:nvSpPr>
          <p:cNvPr id="354" name="Google Shape;354;p56"/>
          <p:cNvSpPr txBox="1"/>
          <p:nvPr/>
        </p:nvSpPr>
        <p:spPr>
          <a:xfrm>
            <a:off x="109075" y="1437175"/>
            <a:ext cx="4621800" cy="3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More advanced (but much more reliable)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9429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Split train - test set</a:t>
            </a:r>
            <a:endParaRPr sz="1800">
              <a:solidFill>
                <a:schemeClr val="dk1"/>
              </a:solidFill>
            </a:endParaRPr>
          </a:p>
          <a:p>
            <a:pPr indent="-29429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Make predictions and evaluate</a:t>
            </a:r>
            <a:endParaRPr sz="1800">
              <a:solidFill>
                <a:schemeClr val="dk1"/>
              </a:solidFill>
            </a:endParaRPr>
          </a:p>
          <a:p>
            <a:pPr indent="-29429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“Roll” the train set by one observation </a:t>
            </a:r>
            <a:endParaRPr sz="1800">
              <a:solidFill>
                <a:schemeClr val="dk1"/>
              </a:solidFill>
            </a:endParaRPr>
          </a:p>
          <a:p>
            <a:pPr indent="-29429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Make predictions and evaluate</a:t>
            </a:r>
            <a:endParaRPr sz="1800">
              <a:solidFill>
                <a:schemeClr val="dk1"/>
              </a:solidFill>
            </a:endParaRPr>
          </a:p>
          <a:p>
            <a:pPr indent="-29429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Repeat … </a:t>
            </a:r>
            <a:endParaRPr sz="1800">
              <a:solidFill>
                <a:schemeClr val="dk1"/>
              </a:solidFill>
            </a:endParaRPr>
          </a:p>
          <a:p>
            <a:pPr indent="-29429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Average all errors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55" name="Google Shape;35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3105" y="2640925"/>
            <a:ext cx="4621795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Benchmarks and evaluations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Select the </a:t>
            </a:r>
            <a:r>
              <a:rPr lang="el"/>
              <a:t>Candidate</a:t>
            </a:r>
            <a:r>
              <a:rPr lang="el"/>
              <a:t> Model</a:t>
            </a:r>
            <a:endParaRPr/>
          </a:p>
        </p:txBody>
      </p:sp>
      <p:sp>
        <p:nvSpPr>
          <p:cNvPr id="366" name="Google Shape;366;p58"/>
          <p:cNvSpPr txBox="1"/>
          <p:nvPr/>
        </p:nvSpPr>
        <p:spPr>
          <a:xfrm>
            <a:off x="419175" y="1088175"/>
            <a:ext cx="76350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There is a limit to how much we can predict</a:t>
            </a:r>
            <a:endParaRPr sz="1800">
              <a:solidFill>
                <a:srgbClr val="FF00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There is a limit to how accurately we can predict!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So why use a Bazooka for an Ant?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67" name="Google Shape;36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20550"/>
            <a:ext cx="8839197" cy="276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Gradient Boosting Decision Trees</a:t>
            </a:r>
            <a:endParaRPr/>
          </a:p>
        </p:txBody>
      </p:sp>
      <p:pic>
        <p:nvPicPr>
          <p:cNvPr id="373" name="Google Shape;37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50" y="1170125"/>
            <a:ext cx="8839199" cy="3734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Main Model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Communicate your Findings.</a:t>
            </a:r>
            <a:endParaRPr/>
          </a:p>
        </p:txBody>
      </p:sp>
      <p:pic>
        <p:nvPicPr>
          <p:cNvPr id="384" name="Google Shape;38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100" y="1332462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61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Char char="●"/>
            </a:pPr>
            <a:r>
              <a:rPr lang="el" sz="1500">
                <a:solidFill>
                  <a:srgbClr val="CCCCCC"/>
                </a:solidFill>
              </a:rPr>
              <a:t>“We want to optimize our inventory management”</a:t>
            </a:r>
            <a:endParaRPr sz="1500">
              <a:solidFill>
                <a:srgbClr val="CCCCCC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500"/>
              <a:buChar char="●"/>
            </a:pPr>
            <a:r>
              <a:rPr lang="el" sz="1500">
                <a:solidFill>
                  <a:srgbClr val="B7B7B7"/>
                </a:solidFill>
              </a:rPr>
              <a:t>“Do you have any updates on our project?”</a:t>
            </a:r>
            <a:endParaRPr sz="1500">
              <a:solidFill>
                <a:srgbClr val="B7B7B7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l" sz="1500">
                <a:solidFill>
                  <a:schemeClr val="dk1"/>
                </a:solidFill>
              </a:rPr>
              <a:t>Can you provide some evidence?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87" name="Google Shape;387;p61"/>
          <p:cNvSpPr txBox="1"/>
          <p:nvPr/>
        </p:nvSpPr>
        <p:spPr>
          <a:xfrm>
            <a:off x="4813200" y="24488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l" sz="1500">
                <a:solidFill>
                  <a:schemeClr val="dk1"/>
                </a:solidFill>
              </a:rPr>
              <a:t>We have </a:t>
            </a:r>
            <a:r>
              <a:rPr lang="el" sz="1500">
                <a:solidFill>
                  <a:schemeClr val="dk1"/>
                </a:solidFill>
              </a:rPr>
              <a:t>successfully</a:t>
            </a:r>
            <a:r>
              <a:rPr lang="el" sz="1500">
                <a:solidFill>
                  <a:schemeClr val="dk1"/>
                </a:solidFill>
              </a:rPr>
              <a:t> reached our agreed goals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388" name="Google Shape;388;p61"/>
          <p:cNvSpPr txBox="1"/>
          <p:nvPr/>
        </p:nvSpPr>
        <p:spPr>
          <a:xfrm>
            <a:off x="3762200" y="894150"/>
            <a:ext cx="2292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Talk to the Client.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Communicate results</a:t>
            </a:r>
            <a:endParaRPr/>
          </a:p>
        </p:txBody>
      </p:sp>
      <p:sp>
        <p:nvSpPr>
          <p:cNvPr id="394" name="Google Shape;394;p62"/>
          <p:cNvSpPr txBox="1"/>
          <p:nvPr/>
        </p:nvSpPr>
        <p:spPr>
          <a:xfrm>
            <a:off x="408475" y="1180575"/>
            <a:ext cx="4854900" cy="20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Client has no technical background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095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Effectively communicate milestones</a:t>
            </a:r>
            <a:endParaRPr sz="1800">
              <a:solidFill>
                <a:schemeClr val="dk1"/>
              </a:solidFill>
            </a:endParaRPr>
          </a:p>
          <a:p>
            <a:pPr indent="-2095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Try to reduce technical details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Communicate results</a:t>
            </a:r>
            <a:endParaRPr/>
          </a:p>
        </p:txBody>
      </p:sp>
      <p:sp>
        <p:nvSpPr>
          <p:cNvPr id="400" name="Google Shape;400;p63"/>
          <p:cNvSpPr txBox="1"/>
          <p:nvPr/>
        </p:nvSpPr>
        <p:spPr>
          <a:xfrm>
            <a:off x="408475" y="1180575"/>
            <a:ext cx="4854900" cy="20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rgbClr val="FF00FF"/>
                </a:solidFill>
              </a:rPr>
              <a:t>Client has no technical background</a:t>
            </a:r>
            <a:endParaRPr sz="18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095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Effectively communicate milestones</a:t>
            </a:r>
            <a:endParaRPr sz="1800">
              <a:solidFill>
                <a:schemeClr val="dk1"/>
              </a:solidFill>
            </a:endParaRPr>
          </a:p>
          <a:p>
            <a:pPr indent="-2095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Try to reduce technical details</a:t>
            </a:r>
            <a:endParaRPr sz="1800">
              <a:solidFill>
                <a:schemeClr val="dk1"/>
              </a:solidFill>
            </a:endParaRPr>
          </a:p>
          <a:p>
            <a:pPr indent="-20955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l" sz="1800">
                <a:solidFill>
                  <a:schemeClr val="dk1"/>
                </a:solidFill>
              </a:rPr>
              <a:t>Business people care for hands-on results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01" name="Google Shape;40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962" y="3255075"/>
            <a:ext cx="6463716" cy="172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Forecast report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Communicate Results</a:t>
            </a:r>
            <a:endParaRPr/>
          </a:p>
        </p:txBody>
      </p:sp>
      <p:pic>
        <p:nvPicPr>
          <p:cNvPr id="412" name="Google Shape;41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9250"/>
            <a:ext cx="8839199" cy="2611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Communicate your Findings.</a:t>
            </a:r>
            <a:endParaRPr/>
          </a:p>
        </p:txBody>
      </p:sp>
      <p:pic>
        <p:nvPicPr>
          <p:cNvPr id="418" name="Google Shape;41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100" y="1332462"/>
            <a:ext cx="1016300" cy="101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0744" y="1189585"/>
            <a:ext cx="969781" cy="13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66"/>
          <p:cNvSpPr txBox="1"/>
          <p:nvPr/>
        </p:nvSpPr>
        <p:spPr>
          <a:xfrm>
            <a:off x="0" y="2448875"/>
            <a:ext cx="49104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Char char="●"/>
            </a:pPr>
            <a:r>
              <a:rPr lang="el" sz="1500">
                <a:solidFill>
                  <a:srgbClr val="CCCCCC"/>
                </a:solidFill>
              </a:rPr>
              <a:t>“We want to optimize our inventory management”</a:t>
            </a:r>
            <a:endParaRPr sz="1500">
              <a:solidFill>
                <a:srgbClr val="CCCCCC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500"/>
              <a:buChar char="●"/>
            </a:pPr>
            <a:r>
              <a:rPr lang="el" sz="1500">
                <a:solidFill>
                  <a:srgbClr val="B7B7B7"/>
                </a:solidFill>
              </a:rPr>
              <a:t>“Do you have any updates on our project?”</a:t>
            </a:r>
            <a:endParaRPr sz="1500">
              <a:solidFill>
                <a:srgbClr val="B7B7B7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500"/>
              <a:buChar char="●"/>
            </a:pPr>
            <a:r>
              <a:rPr lang="el" sz="1500">
                <a:solidFill>
                  <a:srgbClr val="B7B7B7"/>
                </a:solidFill>
              </a:rPr>
              <a:t>Can you provide some evidence?</a:t>
            </a:r>
            <a:endParaRPr sz="1500">
              <a:solidFill>
                <a:srgbClr val="B7B7B7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l" sz="1500">
                <a:solidFill>
                  <a:schemeClr val="dk1"/>
                </a:solidFill>
              </a:rPr>
              <a:t>They are amazing. How can we access the model?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21" name="Google Shape;421;p66"/>
          <p:cNvSpPr txBox="1"/>
          <p:nvPr/>
        </p:nvSpPr>
        <p:spPr>
          <a:xfrm>
            <a:off x="4813200" y="2448875"/>
            <a:ext cx="4330800" cy="19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500"/>
              <a:buChar char="●"/>
            </a:pPr>
            <a:r>
              <a:rPr lang="el" sz="1500">
                <a:solidFill>
                  <a:srgbClr val="999999"/>
                </a:solidFill>
              </a:rPr>
              <a:t>We have successfully reached our agreed goals</a:t>
            </a:r>
            <a:endParaRPr sz="1500">
              <a:solidFill>
                <a:srgbClr val="999999"/>
              </a:solidFill>
            </a:endParaRPr>
          </a:p>
          <a:p>
            <a:pPr indent="-185249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l" sz="1500">
                <a:solidFill>
                  <a:schemeClr val="dk1"/>
                </a:solidFill>
              </a:rPr>
              <a:t>What do you think of these results?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22" name="Google Shape;422;p66"/>
          <p:cNvSpPr txBox="1"/>
          <p:nvPr/>
        </p:nvSpPr>
        <p:spPr>
          <a:xfrm>
            <a:off x="3762200" y="894150"/>
            <a:ext cx="2292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800">
                <a:solidFill>
                  <a:schemeClr val="dk2"/>
                </a:solidFill>
              </a:rPr>
              <a:t>Talk to the Client.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Deploying the Model</a:t>
            </a:r>
            <a:endParaRPr/>
          </a:p>
        </p:txBody>
      </p:sp>
      <p:pic>
        <p:nvPicPr>
          <p:cNvPr id="428" name="Google Shape;42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1925"/>
            <a:ext cx="8839201" cy="1707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Before Deploying</a:t>
            </a:r>
            <a:endParaRPr/>
          </a:p>
        </p:txBody>
      </p:sp>
      <p:sp>
        <p:nvSpPr>
          <p:cNvPr id="434" name="Google Shape;434;p68"/>
          <p:cNvSpPr txBox="1"/>
          <p:nvPr/>
        </p:nvSpPr>
        <p:spPr>
          <a:xfrm>
            <a:off x="436500" y="1324300"/>
            <a:ext cx="8271000" cy="3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>
                <a:solidFill>
                  <a:srgbClr val="FF00FF"/>
                </a:solidFill>
              </a:rPr>
              <a:t>Production Level Code Principles:</a:t>
            </a:r>
            <a:endParaRPr b="1" sz="1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l" sz="1600"/>
              <a:t>Structured project repositories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l" sz="1600"/>
              <a:t>Scalable and reproducible code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l" sz="1600"/>
              <a:t>Clean code principles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l" sz="1600"/>
              <a:t>Logging and Error Handling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l" sz="1600"/>
              <a:t>Documentation and Commenting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l" sz="1600"/>
              <a:t>Code Formatting and Styling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l" sz="1600"/>
              <a:t>Writing good tests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l" sz="1600"/>
              <a:t>Pipelines in ML projects</a:t>
            </a:r>
            <a:endParaRPr sz="16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Code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File Examples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