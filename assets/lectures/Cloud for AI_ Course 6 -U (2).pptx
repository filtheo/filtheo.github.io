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95c9cc925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95c9cc925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95c9cc925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95c9cc925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95c9cc925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95c9cc925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today we have another practical course. </a:t>
            </a:r>
            <a:endParaRPr/>
          </a:p>
          <a:p>
            <a:pPr indent="-298450" lvl="0" marL="457200" rtl="0" algn="l">
              <a:spcBef>
                <a:spcPts val="0"/>
              </a:spcBef>
              <a:spcAft>
                <a:spcPts val="0"/>
              </a:spcAft>
              <a:buSzPts val="1100"/>
              <a:buChar char="-"/>
            </a:pPr>
            <a:r>
              <a:rPr lang="el"/>
              <a:t>How to write good ML code. </a:t>
            </a:r>
            <a:endParaRPr/>
          </a:p>
          <a:p>
            <a:pPr indent="-298450" lvl="0" marL="457200" rtl="0" algn="l">
              <a:spcBef>
                <a:spcPts val="0"/>
              </a:spcBef>
              <a:spcAft>
                <a:spcPts val="0"/>
              </a:spcAft>
              <a:buSzPts val="1100"/>
              <a:buChar char="-"/>
            </a:pPr>
            <a:r>
              <a:rPr lang="el"/>
              <a:t>In my experience go ML code is extremely important to save time and enhance collaboration</a:t>
            </a:r>
            <a:endParaRPr/>
          </a:p>
          <a:p>
            <a:pPr indent="-298450" lvl="0" marL="457200" rtl="0" algn="l">
              <a:spcBef>
                <a:spcPts val="0"/>
              </a:spcBef>
              <a:spcAft>
                <a:spcPts val="0"/>
              </a:spcAft>
              <a:buSzPts val="1100"/>
              <a:buChar char="-"/>
            </a:pPr>
            <a:r>
              <a:rPr lang="el"/>
              <a:t>It helps to </a:t>
            </a:r>
            <a:r>
              <a:rPr lang="el"/>
              <a:t>read</a:t>
            </a:r>
            <a:r>
              <a:rPr lang="el"/>
              <a:t> and reproduce!</a:t>
            </a:r>
            <a:endParaRPr/>
          </a:p>
          <a:p>
            <a:pPr indent="-298450" lvl="0" marL="457200" rtl="0" algn="l">
              <a:spcBef>
                <a:spcPts val="0"/>
              </a:spcBef>
              <a:spcAft>
                <a:spcPts val="0"/>
              </a:spcAft>
              <a:buSzPts val="1100"/>
              <a:buChar char="-"/>
            </a:pPr>
            <a:r>
              <a:rPr lang="el"/>
              <a:t>I am going talk about some basic principles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95c9cc925e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95c9cc925e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what do we mean with production level code?</a:t>
            </a:r>
            <a:endParaRPr/>
          </a:p>
          <a:p>
            <a:pPr indent="-298450" lvl="0" marL="457200" rtl="0" algn="l">
              <a:spcBef>
                <a:spcPts val="0"/>
              </a:spcBef>
              <a:spcAft>
                <a:spcPts val="0"/>
              </a:spcAft>
              <a:buSzPts val="1100"/>
              <a:buChar char="-"/>
            </a:pPr>
            <a:r>
              <a:rPr lang="el"/>
              <a:t>We want robust, </a:t>
            </a:r>
            <a:r>
              <a:rPr lang="el"/>
              <a:t>efficient code that is ready to run in an application somewhere. </a:t>
            </a:r>
            <a:endParaRPr/>
          </a:p>
          <a:p>
            <a:pPr indent="0" lvl="0" marL="45720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9e099d23c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9e099d23c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Remember our ML code is </a:t>
            </a:r>
            <a:r>
              <a:rPr lang="el"/>
              <a:t>only</a:t>
            </a:r>
            <a:r>
              <a:rPr lang="el"/>
              <a:t> a part of a bigger application. So its parts need to communicate </a:t>
            </a:r>
            <a:r>
              <a:rPr lang="el"/>
              <a:t>effectively</a:t>
            </a:r>
            <a:r>
              <a:rPr lang="el"/>
              <a:t> with the rest of the system.</a:t>
            </a:r>
            <a:endParaRPr/>
          </a:p>
          <a:p>
            <a:pPr indent="0" lvl="0" marL="0" rtl="0" algn="l">
              <a:spcBef>
                <a:spcPts val="0"/>
              </a:spcBef>
              <a:spcAft>
                <a:spcPts val="0"/>
              </a:spcAft>
              <a:buNone/>
            </a:pPr>
            <a:r>
              <a:rPr lang="el"/>
              <a:t>For that reason we need</a:t>
            </a:r>
            <a:endParaRPr/>
          </a:p>
          <a:p>
            <a:pPr indent="-298450" lvl="0" marL="457200" rtl="0" algn="l">
              <a:spcBef>
                <a:spcPts val="0"/>
              </a:spcBef>
              <a:spcAft>
                <a:spcPts val="0"/>
              </a:spcAft>
              <a:buSzPts val="1100"/>
              <a:buChar char="-"/>
            </a:pPr>
            <a:r>
              <a:rPr lang="el"/>
              <a:t>Scalable code, meaning as we add extra lines the code will be able to scale </a:t>
            </a:r>
            <a:r>
              <a:rPr lang="el"/>
              <a:t>easily</a:t>
            </a:r>
            <a:endParaRPr/>
          </a:p>
          <a:p>
            <a:pPr indent="-298450" lvl="0" marL="457200" rtl="0" algn="l">
              <a:spcBef>
                <a:spcPts val="0"/>
              </a:spcBef>
              <a:spcAft>
                <a:spcPts val="0"/>
              </a:spcAft>
              <a:buSzPts val="1100"/>
              <a:buChar char="-"/>
            </a:pPr>
            <a:r>
              <a:rPr lang="el"/>
              <a:t>Maintainability</a:t>
            </a:r>
            <a:r>
              <a:rPr lang="el"/>
              <a:t>: We can easily find bugs and debug </a:t>
            </a:r>
            <a:endParaRPr/>
          </a:p>
          <a:p>
            <a:pPr indent="-298450" lvl="0" marL="457200" rtl="0" algn="l">
              <a:spcBef>
                <a:spcPts val="0"/>
              </a:spcBef>
              <a:spcAft>
                <a:spcPts val="0"/>
              </a:spcAft>
              <a:buSzPts val="1100"/>
              <a:buChar char="-"/>
            </a:pPr>
            <a:r>
              <a:rPr lang="el"/>
              <a:t>Reliability</a:t>
            </a:r>
            <a:r>
              <a:rPr lang="el"/>
              <a:t>, we know it works and we trust it to increase our capacity</a:t>
            </a:r>
            <a:endParaRPr/>
          </a:p>
          <a:p>
            <a:pPr indent="-298450" lvl="0" marL="457200" rtl="0" algn="l">
              <a:spcBef>
                <a:spcPts val="0"/>
              </a:spcBef>
              <a:spcAft>
                <a:spcPts val="0"/>
              </a:spcAft>
              <a:buSzPts val="1100"/>
              <a:buChar char="-"/>
            </a:pPr>
            <a:r>
              <a:rPr lang="el"/>
              <a:t>Efficiency, code is efficient, not a lot of loops, no useuless cpus etc</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95c9cc925e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95c9cc925e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l"/>
              <a:t>Notebooks are for a Data Scientist what excel is for Data Analysts. </a:t>
            </a:r>
            <a:endParaRPr/>
          </a:p>
          <a:p>
            <a:pPr indent="-298450" lvl="0" marL="457200" rtl="0" algn="l">
              <a:spcBef>
                <a:spcPts val="0"/>
              </a:spcBef>
              <a:spcAft>
                <a:spcPts val="0"/>
              </a:spcAft>
              <a:buSzPts val="1100"/>
              <a:buChar char="-"/>
            </a:pPr>
            <a:r>
              <a:rPr lang="el"/>
              <a:t>Its </a:t>
            </a:r>
            <a:r>
              <a:rPr lang="el"/>
              <a:t>their most basic tool. </a:t>
            </a:r>
            <a:endParaRPr/>
          </a:p>
          <a:p>
            <a:pPr indent="-298450" lvl="0" marL="457200" rtl="0" algn="l">
              <a:spcBef>
                <a:spcPts val="0"/>
              </a:spcBef>
              <a:spcAft>
                <a:spcPts val="0"/>
              </a:spcAft>
              <a:buSzPts val="1100"/>
              <a:buChar char="-"/>
            </a:pPr>
            <a:r>
              <a:rPr lang="el"/>
              <a:t>I personally love them. They are interactive, you can test new things, you can see what works and what know, you can debug</a:t>
            </a:r>
            <a:endParaRPr/>
          </a:p>
          <a:p>
            <a:pPr indent="-298450" lvl="0" marL="457200" rtl="0" algn="l">
              <a:spcBef>
                <a:spcPts val="0"/>
              </a:spcBef>
              <a:spcAft>
                <a:spcPts val="0"/>
              </a:spcAft>
              <a:buSzPts val="1100"/>
              <a:buChar char="-"/>
            </a:pPr>
            <a:r>
              <a:rPr lang="el"/>
              <a:t>You can run only specific chunks, that means they are statefull and so on. </a:t>
            </a:r>
            <a:endParaRPr/>
          </a:p>
          <a:p>
            <a:pPr indent="-298450" lvl="0" marL="457200" rtl="0" algn="l">
              <a:spcBef>
                <a:spcPts val="0"/>
              </a:spcBef>
              <a:spcAft>
                <a:spcPts val="0"/>
              </a:spcAft>
              <a:buSzPts val="1100"/>
              <a:buChar char="-"/>
            </a:pPr>
            <a:r>
              <a:rPr lang="el"/>
              <a:t>Ah you can also visualize the output of your model, draw graphs, due some exploratory analysis and so on.</a:t>
            </a:r>
            <a:endParaRPr/>
          </a:p>
          <a:p>
            <a:pPr indent="-298450" lvl="0" marL="457200" rtl="0" algn="l">
              <a:spcBef>
                <a:spcPts val="0"/>
              </a:spcBef>
              <a:spcAft>
                <a:spcPts val="0"/>
              </a:spcAft>
              <a:buSzPts val="1100"/>
              <a:buChar char="-"/>
            </a:pPr>
            <a:r>
              <a:rPr lang="el"/>
              <a:t>All in all, a great tool!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9e099d23c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9e099d23c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However when it comes to real world applications we need something more.</a:t>
            </a:r>
            <a:endParaRPr/>
          </a:p>
          <a:p>
            <a:pPr indent="-298450" lvl="0" marL="457200" rtl="0" algn="l">
              <a:spcBef>
                <a:spcPts val="0"/>
              </a:spcBef>
              <a:spcAft>
                <a:spcPts val="0"/>
              </a:spcAft>
              <a:buSzPts val="1100"/>
              <a:buChar char="-"/>
            </a:pPr>
            <a:r>
              <a:rPr lang="el"/>
              <a:t>We need stateless scripts, meaning you explicitly pass our variables to functions and not keep them in </a:t>
            </a:r>
            <a:r>
              <a:rPr lang="el"/>
              <a:t>memory</a:t>
            </a:r>
            <a:r>
              <a:rPr lang="el"/>
              <a:t> as with notebooks</a:t>
            </a:r>
            <a:endParaRPr/>
          </a:p>
          <a:p>
            <a:pPr indent="-298450" lvl="0" marL="457200" rtl="0" algn="l">
              <a:spcBef>
                <a:spcPts val="0"/>
              </a:spcBef>
              <a:spcAft>
                <a:spcPts val="0"/>
              </a:spcAft>
              <a:buSzPts val="1100"/>
              <a:buChar char="-"/>
            </a:pPr>
            <a:r>
              <a:rPr lang="el"/>
              <a:t>We need linear </a:t>
            </a:r>
            <a:r>
              <a:rPr lang="el"/>
              <a:t>execution</a:t>
            </a:r>
            <a:r>
              <a:rPr lang="el"/>
              <a:t>, starting from the start to the end. This way we ensure reprucibility </a:t>
            </a:r>
            <a:endParaRPr/>
          </a:p>
          <a:p>
            <a:pPr indent="-298450" lvl="0" marL="457200" rtl="0" algn="l">
              <a:spcBef>
                <a:spcPts val="0"/>
              </a:spcBef>
              <a:spcAft>
                <a:spcPts val="0"/>
              </a:spcAft>
              <a:buSzPts val="1100"/>
              <a:buChar char="-"/>
            </a:pPr>
            <a:r>
              <a:rPr lang="el"/>
              <a:t>With testing friendly I mean well written documents that we can explore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95c9cc925e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95c9cc925e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lets look at took examples now! </a:t>
            </a:r>
            <a:endParaRPr/>
          </a:p>
          <a:p>
            <a:pPr indent="0" lvl="0" marL="0" rtl="0" algn="l">
              <a:spcBef>
                <a:spcPts val="0"/>
              </a:spcBef>
              <a:spcAft>
                <a:spcPts val="0"/>
              </a:spcAft>
              <a:buNone/>
            </a:pPr>
            <a:r>
              <a:rPr lang="el"/>
              <a:t>What happenes on a research environment and what we want on production!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95c9cc925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95c9cc925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these are some of the concepts we are going to talk about today. </a:t>
            </a:r>
            <a:endParaRPr/>
          </a:p>
          <a:p>
            <a:pPr indent="0" lvl="0" marL="0" rtl="0" algn="l">
              <a:spcBef>
                <a:spcPts val="0"/>
              </a:spcBef>
              <a:spcAft>
                <a:spcPts val="0"/>
              </a:spcAft>
              <a:buNone/>
            </a:pPr>
            <a:r>
              <a:rPr lang="el"/>
              <a:t>I have gathered them from the madewithml.com. </a:t>
            </a:r>
            <a:endParaRPr/>
          </a:p>
          <a:p>
            <a:pPr indent="0" lvl="0" marL="0" rtl="0" algn="l">
              <a:spcBef>
                <a:spcPts val="0"/>
              </a:spcBef>
              <a:spcAft>
                <a:spcPts val="0"/>
              </a:spcAft>
              <a:buNone/>
            </a:pPr>
            <a:r>
              <a:rPr lang="el"/>
              <a:t>A very good resource if you go on MLOps</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l"/>
              <a:t>Read them and explain what we will be doing at each part </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95c9cc925e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95c9cc925e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lets start with Structured project repositories.</a:t>
            </a:r>
            <a:endParaRPr/>
          </a:p>
          <a:p>
            <a:pPr indent="0" lvl="0" marL="0" rtl="0" algn="l">
              <a:spcBef>
                <a:spcPts val="0"/>
              </a:spcBef>
              <a:spcAft>
                <a:spcPts val="0"/>
              </a:spcAft>
              <a:buNone/>
            </a:pPr>
            <a:r>
              <a:rPr lang="el"/>
              <a:t>I have talked about it a bit in the start of our course but lets see what I mean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95c9cc925e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95c9cc925e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talk about the Readme. </a:t>
            </a:r>
            <a:endParaRPr/>
          </a:p>
          <a:p>
            <a:pPr indent="-298450" lvl="0" marL="457200" rtl="0" algn="l">
              <a:spcBef>
                <a:spcPts val="0"/>
              </a:spcBef>
              <a:spcAft>
                <a:spcPts val="0"/>
              </a:spcAft>
              <a:buSzPts val="1100"/>
              <a:buChar char="-"/>
            </a:pPr>
            <a:r>
              <a:rPr lang="el"/>
              <a:t>First of all, when looking for a job, there is nothing more important than your github account. Try to have it clean</a:t>
            </a:r>
            <a:endParaRPr/>
          </a:p>
          <a:p>
            <a:pPr indent="-298450" lvl="0" marL="457200" rtl="0" algn="l">
              <a:spcBef>
                <a:spcPts val="0"/>
              </a:spcBef>
              <a:spcAft>
                <a:spcPts val="0"/>
              </a:spcAft>
              <a:buSzPts val="1100"/>
              <a:buChar char="-"/>
            </a:pPr>
            <a:r>
              <a:rPr lang="el"/>
              <a:t>On your projects always have a good Readme. </a:t>
            </a:r>
            <a:endParaRPr/>
          </a:p>
          <a:p>
            <a:pPr indent="-298450" lvl="0" marL="457200" rtl="0" algn="l">
              <a:spcBef>
                <a:spcPts val="0"/>
              </a:spcBef>
              <a:spcAft>
                <a:spcPts val="0"/>
              </a:spcAft>
              <a:buSzPts val="1100"/>
              <a:buChar char="-"/>
            </a:pPr>
            <a:r>
              <a:rPr lang="el"/>
              <a:t>When someones goes to check your work he wants something to navigate.Some directions. </a:t>
            </a:r>
            <a:endParaRPr/>
          </a:p>
          <a:p>
            <a:pPr indent="-298450" lvl="0" marL="457200" rtl="0" algn="l">
              <a:spcBef>
                <a:spcPts val="0"/>
              </a:spcBef>
              <a:spcAft>
                <a:spcPts val="0"/>
              </a:spcAft>
              <a:buSzPts val="1100"/>
              <a:buChar char="-"/>
            </a:pPr>
            <a:r>
              <a:rPr lang="el"/>
              <a:t>What is the project about, where do I find what I am looking for.</a:t>
            </a:r>
            <a:endParaRPr/>
          </a:p>
          <a:p>
            <a:pPr indent="0" lvl="0" marL="0" rtl="0" algn="l">
              <a:spcBef>
                <a:spcPts val="0"/>
              </a:spcBef>
              <a:spcAft>
                <a:spcPts val="0"/>
              </a:spcAft>
              <a:buNone/>
            </a:pPr>
            <a:r>
              <a:rPr lang="el"/>
              <a:t>Try to keep information up-to-date. Not a lot of words but specific and precise instructions on where to focus etc!</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9e099d23c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9e099d23c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Read the what to include!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95c9cc925e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95c9cc925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Next we have scripts. As we said we move from our notebooks to scripts to deploy in production. </a:t>
            </a:r>
            <a:endParaRPr/>
          </a:p>
          <a:p>
            <a:pPr indent="0" lvl="0" marL="0" rtl="0" algn="l">
              <a:spcBef>
                <a:spcPts val="0"/>
              </a:spcBef>
              <a:spcAft>
                <a:spcPts val="0"/>
              </a:spcAft>
              <a:buNone/>
            </a:pPr>
            <a:r>
              <a:rPr lang="el"/>
              <a:t>Its a necessity to have a good structured and organized structured for your scripts</a:t>
            </a:r>
            <a:endParaRPr/>
          </a:p>
          <a:p>
            <a:pPr indent="0" lvl="0" marL="0" rtl="0" algn="l">
              <a:spcBef>
                <a:spcPts val="0"/>
              </a:spcBef>
              <a:spcAft>
                <a:spcPts val="0"/>
              </a:spcAft>
              <a:buNone/>
            </a:pPr>
            <a:r>
              <a:rPr lang="el"/>
              <a:t>Users should be able to navigate easily and find what they are looking for</a:t>
            </a:r>
            <a:endParaRPr/>
          </a:p>
          <a:p>
            <a:pPr indent="0" lvl="0" marL="0" rtl="0" algn="l">
              <a:spcBef>
                <a:spcPts val="0"/>
              </a:spcBef>
              <a:spcAft>
                <a:spcPts val="0"/>
              </a:spcAft>
              <a:buNone/>
            </a:pPr>
            <a:r>
              <a:rPr lang="el"/>
              <a:t>For example if I want the training script I need to </a:t>
            </a:r>
            <a:r>
              <a:rPr lang="el"/>
              <a:t>easily</a:t>
            </a:r>
            <a:r>
              <a:rPr lang="el"/>
              <a:t> navigate and find it!</a:t>
            </a:r>
            <a:endParaRPr/>
          </a:p>
          <a:p>
            <a:pPr indent="0" lvl="0" marL="0" rtl="0" algn="l">
              <a:spcBef>
                <a:spcPts val="0"/>
              </a:spcBef>
              <a:spcAft>
                <a:spcPts val="0"/>
              </a:spcAft>
              <a:buNone/>
            </a:pPr>
            <a:r>
              <a:rPr lang="el"/>
              <a:t>Use names that refer to what each script contains.</a:t>
            </a:r>
            <a:endParaRPr/>
          </a:p>
          <a:p>
            <a:pPr indent="0" lvl="0" marL="0" rtl="0" algn="l">
              <a:spcBef>
                <a:spcPts val="0"/>
              </a:spcBef>
              <a:spcAft>
                <a:spcPts val="0"/>
              </a:spcAft>
              <a:buNone/>
            </a:pPr>
            <a:r>
              <a:rPr lang="el"/>
              <a:t>For functions that are used on multiple files use a utils.py to include them. I find this practise very </a:t>
            </a:r>
            <a:r>
              <a:rPr lang="el"/>
              <a:t>helpful</a:t>
            </a:r>
            <a:r>
              <a:rPr lang="el"/>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95c9cc925e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95c9cc925e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when we have set our structure for the repo its time to move our code from the notebook.</a:t>
            </a:r>
            <a:endParaRPr/>
          </a:p>
          <a:p>
            <a:pPr indent="-298450" lvl="0" marL="457200" rtl="0" algn="l">
              <a:spcBef>
                <a:spcPts val="0"/>
              </a:spcBef>
              <a:spcAft>
                <a:spcPts val="0"/>
              </a:spcAft>
              <a:buSzPts val="1100"/>
              <a:buChar char="-"/>
            </a:pPr>
            <a:r>
              <a:rPr lang="el"/>
              <a:t>We refactor our code and organize it in small functions with each having a specific modularity. </a:t>
            </a:r>
            <a:endParaRPr/>
          </a:p>
          <a:p>
            <a:pPr indent="-298450" lvl="0" marL="457200" rtl="0" algn="l">
              <a:spcBef>
                <a:spcPts val="0"/>
              </a:spcBef>
              <a:spcAft>
                <a:spcPts val="0"/>
              </a:spcAft>
              <a:buSzPts val="1100"/>
              <a:buChar char="-"/>
            </a:pPr>
            <a:r>
              <a:rPr lang="el"/>
              <a:t>Remember more functions the better. We want as much free code as possible</a:t>
            </a:r>
            <a:endParaRPr/>
          </a:p>
          <a:p>
            <a:pPr indent="-298450" lvl="0" marL="457200" rtl="0" algn="l">
              <a:spcBef>
                <a:spcPts val="0"/>
              </a:spcBef>
              <a:spcAft>
                <a:spcPts val="0"/>
              </a:spcAft>
              <a:buSzPts val="1100"/>
              <a:buChar char="-"/>
            </a:pPr>
            <a:r>
              <a:rPr lang="el"/>
              <a:t>Then what we do is we wrap smaller functions into bigger functions</a:t>
            </a:r>
            <a:endParaRPr/>
          </a:p>
          <a:p>
            <a:pPr indent="-298450" lvl="0" marL="457200" rtl="0" algn="l">
              <a:spcBef>
                <a:spcPts val="0"/>
              </a:spcBef>
              <a:spcAft>
                <a:spcPts val="0"/>
              </a:spcAft>
              <a:buSzPts val="1100"/>
              <a:buChar char="-"/>
            </a:pPr>
            <a:r>
              <a:rPr lang="el"/>
              <a:t>This way we ensure </a:t>
            </a:r>
            <a:r>
              <a:rPr lang="el"/>
              <a:t>maintainability</a:t>
            </a:r>
            <a:r>
              <a:rPr lang="el"/>
              <a:t> and </a:t>
            </a:r>
            <a:r>
              <a:rPr lang="el"/>
              <a:t>reliability. We can easily track back for our errors and improve. </a:t>
            </a:r>
            <a:endParaRPr/>
          </a:p>
          <a:p>
            <a:pPr indent="0" lvl="0" marL="0" rtl="0" algn="l">
              <a:spcBef>
                <a:spcPts val="0"/>
              </a:spcBef>
              <a:spcAft>
                <a:spcPts val="0"/>
              </a:spcAft>
              <a:buNone/>
            </a:pPr>
            <a:r>
              <a:rPr lang="el"/>
              <a:t>Talk a bit on the examples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95c9cc925e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95c9cc925e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two important files they ask for any project.</a:t>
            </a:r>
            <a:endParaRPr/>
          </a:p>
          <a:p>
            <a:pPr indent="0" lvl="0" marL="0" rtl="0" algn="l">
              <a:spcBef>
                <a:spcPts val="0"/>
              </a:spcBef>
              <a:spcAft>
                <a:spcPts val="0"/>
              </a:spcAft>
              <a:buNone/>
            </a:pPr>
            <a:r>
              <a:rPr lang="el"/>
              <a:t>They utils and the config file</a:t>
            </a:r>
            <a:endParaRPr/>
          </a:p>
          <a:p>
            <a:pPr indent="-298450" lvl="0" marL="457200" rtl="0" algn="l">
              <a:spcBef>
                <a:spcPts val="0"/>
              </a:spcBef>
              <a:spcAft>
                <a:spcPts val="0"/>
              </a:spcAft>
              <a:buSzPts val="1100"/>
              <a:buChar char="-"/>
            </a:pPr>
            <a:r>
              <a:rPr lang="el"/>
              <a:t>The config file is where we setp our configuration so we ensure consistency across all our workloads.</a:t>
            </a:r>
            <a:endParaRPr/>
          </a:p>
          <a:p>
            <a:pPr indent="-298450" lvl="0" marL="457200" rtl="0" algn="l">
              <a:spcBef>
                <a:spcPts val="0"/>
              </a:spcBef>
              <a:spcAft>
                <a:spcPts val="0"/>
              </a:spcAft>
              <a:buSzPts val="1100"/>
              <a:buChar char="-"/>
            </a:pPr>
            <a:r>
              <a:rPr lang="el"/>
              <a:t>For example we use it for </a:t>
            </a:r>
            <a:r>
              <a:rPr lang="el"/>
              <a:t>common settings like model registry paths, URLs, directories etc</a:t>
            </a:r>
            <a:endParaRPr/>
          </a:p>
          <a:p>
            <a:pPr indent="-298450" lvl="0" marL="457200" rtl="0" algn="l">
              <a:spcBef>
                <a:spcPts val="0"/>
              </a:spcBef>
              <a:spcAft>
                <a:spcPts val="0"/>
              </a:spcAft>
              <a:buSzPts val="1100"/>
              <a:buChar char="-"/>
            </a:pPr>
            <a:r>
              <a:rPr lang="el"/>
              <a:t>These should be shared across the entire application</a:t>
            </a:r>
            <a:endParaRPr/>
          </a:p>
          <a:p>
            <a:pPr indent="0" lvl="0" marL="0" rtl="0" algn="l">
              <a:spcBef>
                <a:spcPts val="0"/>
              </a:spcBef>
              <a:spcAft>
                <a:spcPts val="0"/>
              </a:spcAft>
              <a:buNone/>
            </a:pPr>
            <a:r>
              <a:rPr lang="el"/>
              <a:t>Next we have the utilities files.</a:t>
            </a:r>
            <a:endParaRPr/>
          </a:p>
          <a:p>
            <a:pPr indent="-298450" lvl="0" marL="457200" rtl="0" algn="l">
              <a:spcBef>
                <a:spcPts val="0"/>
              </a:spcBef>
              <a:spcAft>
                <a:spcPts val="0"/>
              </a:spcAft>
              <a:buSzPts val="1100"/>
              <a:buChar char="-"/>
            </a:pPr>
            <a:r>
              <a:rPr lang="el"/>
              <a:t>It houses shared functions such as the set_seeds which is used for reproducing our experiments</a:t>
            </a:r>
            <a:endParaRPr/>
          </a:p>
          <a:p>
            <a:pPr indent="-298450" lvl="0" marL="457200" rtl="0" algn="l">
              <a:spcBef>
                <a:spcPts val="0"/>
              </a:spcBef>
              <a:spcAft>
                <a:spcPts val="0"/>
              </a:spcAft>
              <a:buSzPts val="1100"/>
              <a:buChar char="-"/>
            </a:pPr>
            <a:r>
              <a:rPr lang="el"/>
              <a:t>We us utility scripts to prevent circular dependencies between different files. For example importitng a functions from one file that imports another from the same file!</a:t>
            </a:r>
            <a:endParaRPr/>
          </a:p>
          <a:p>
            <a:pPr indent="-298450" lvl="0" marL="457200" rtl="0" algn="l">
              <a:spcBef>
                <a:spcPts val="0"/>
              </a:spcBef>
              <a:spcAft>
                <a:spcPts val="0"/>
              </a:spcAft>
              <a:buSzPts val="1100"/>
              <a:buChar char="-"/>
            </a:pPr>
            <a:r>
              <a:rPr lang="el"/>
              <a:t>With the utils.py we facilitate code reuse and we maintain a single point for our shared functions.</a:t>
            </a:r>
            <a:endParaRPr/>
          </a:p>
          <a:p>
            <a:pPr indent="-298450" lvl="0" marL="457200" rtl="0" algn="l">
              <a:spcBef>
                <a:spcPts val="0"/>
              </a:spcBef>
              <a:spcAft>
                <a:spcPts val="0"/>
              </a:spcAft>
              <a:buSzPts val="1100"/>
              <a:buChar char="-"/>
            </a:pPr>
            <a:r>
              <a:rPr lang="el"/>
              <a:t>If it gets too big we have a utils for each module. For training, testing etc.</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fbeec884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fbeec884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95c9cc925e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95c9cc925e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Next we have scalable and reproducible code.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95c9cc925e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95c9cc925e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Oke lets first define what we mean with scalable code.</a:t>
            </a:r>
            <a:endParaRPr/>
          </a:p>
          <a:p>
            <a:pPr indent="-298450" lvl="0" marL="457200" rtl="0" algn="l">
              <a:spcBef>
                <a:spcPts val="0"/>
              </a:spcBef>
              <a:spcAft>
                <a:spcPts val="0"/>
              </a:spcAft>
              <a:buSzPts val="1100"/>
              <a:buChar char="-"/>
            </a:pPr>
            <a:r>
              <a:rPr lang="el"/>
              <a:t>We scalable code we refer to code designed to </a:t>
            </a:r>
            <a:r>
              <a:rPr lang="el"/>
              <a:t>efficiently</a:t>
            </a:r>
            <a:r>
              <a:rPr lang="el"/>
              <a:t> manage increased workload by leveraging additional resources</a:t>
            </a:r>
            <a:endParaRPr/>
          </a:p>
          <a:p>
            <a:pPr indent="-298450" lvl="0" marL="457200" rtl="0" algn="l">
              <a:spcBef>
                <a:spcPts val="0"/>
              </a:spcBef>
              <a:spcAft>
                <a:spcPts val="0"/>
              </a:spcAft>
              <a:buSzPts val="1100"/>
              <a:buChar char="-"/>
            </a:pPr>
            <a:r>
              <a:rPr lang="el"/>
              <a:t>Scalability addresses </a:t>
            </a:r>
            <a:r>
              <a:rPr lang="el"/>
              <a:t>the</a:t>
            </a:r>
            <a:r>
              <a:rPr lang="el"/>
              <a:t> </a:t>
            </a:r>
            <a:r>
              <a:rPr lang="el"/>
              <a:t>challenge</a:t>
            </a:r>
            <a:r>
              <a:rPr lang="el"/>
              <a:t> of growing data volumes and extra computational demands!</a:t>
            </a:r>
            <a:endParaRPr/>
          </a:p>
          <a:p>
            <a:pPr indent="0" lvl="0" marL="0" rtl="0" algn="l">
              <a:spcBef>
                <a:spcPts val="0"/>
              </a:spcBef>
              <a:spcAft>
                <a:spcPts val="0"/>
              </a:spcAft>
              <a:buNone/>
            </a:pPr>
            <a:r>
              <a:rPr lang="el"/>
              <a:t>Lets look at an example</a:t>
            </a:r>
            <a:endParaRPr/>
          </a:p>
          <a:p>
            <a:pPr indent="-298450" lvl="0" marL="457200" rtl="0" algn="l">
              <a:spcBef>
                <a:spcPts val="0"/>
              </a:spcBef>
              <a:spcAft>
                <a:spcPts val="0"/>
              </a:spcAft>
              <a:buSzPts val="1100"/>
              <a:buChar char="-"/>
            </a:pPr>
            <a:r>
              <a:rPr lang="el"/>
              <a:t>Say new data is arriving every weekly. At some point you will reach a point that your code will start running slow</a:t>
            </a:r>
            <a:endParaRPr/>
          </a:p>
          <a:p>
            <a:pPr indent="-298450" lvl="0" marL="457200" rtl="0" algn="l">
              <a:spcBef>
                <a:spcPts val="0"/>
              </a:spcBef>
              <a:spcAft>
                <a:spcPts val="0"/>
              </a:spcAft>
              <a:buSzPts val="1100"/>
              <a:buChar char="-"/>
            </a:pPr>
            <a:r>
              <a:rPr lang="el"/>
              <a:t>We might even hit some bottleneceks</a:t>
            </a:r>
            <a:endParaRPr/>
          </a:p>
          <a:p>
            <a:pPr indent="0" lvl="0" marL="0" rtl="0" algn="l">
              <a:spcBef>
                <a:spcPts val="0"/>
              </a:spcBef>
              <a:spcAft>
                <a:spcPts val="0"/>
              </a:spcAft>
              <a:buNone/>
            </a:pPr>
            <a:r>
              <a:rPr lang="el"/>
              <a:t>What we will need is we will update our hardware. Get extra memory, GPUs etc</a:t>
            </a:r>
            <a:endParaRPr/>
          </a:p>
          <a:p>
            <a:pPr indent="-298450" lvl="0" marL="457200" rtl="0" algn="l">
              <a:spcBef>
                <a:spcPts val="0"/>
              </a:spcBef>
              <a:spcAft>
                <a:spcPts val="0"/>
              </a:spcAft>
              <a:buSzPts val="1100"/>
              <a:buChar char="-"/>
            </a:pPr>
            <a:r>
              <a:rPr lang="el"/>
              <a:t>If we have not account for scalability we would spend some time adjusting our code for the new hardware</a:t>
            </a:r>
            <a:endParaRPr/>
          </a:p>
          <a:p>
            <a:pPr indent="-298450" lvl="0" marL="457200" rtl="0" algn="l">
              <a:spcBef>
                <a:spcPts val="0"/>
              </a:spcBef>
              <a:spcAft>
                <a:spcPts val="0"/>
              </a:spcAft>
              <a:buSzPts val="1100"/>
              <a:buChar char="-"/>
            </a:pPr>
            <a:r>
              <a:rPr lang="el"/>
              <a:t>So the question is: why dont we do that in the first place? Why dont we build scalable code from the beginning?</a:t>
            </a:r>
            <a:endParaRPr/>
          </a:p>
          <a:p>
            <a:pPr indent="-298450" lvl="0" marL="457200" rtl="0" algn="l">
              <a:spcBef>
                <a:spcPts val="0"/>
              </a:spcBef>
              <a:spcAft>
                <a:spcPts val="0"/>
              </a:spcAft>
              <a:buSzPts val="1100"/>
              <a:buChar char="-"/>
            </a:pPr>
            <a:r>
              <a:rPr lang="el"/>
              <a:t>It would save us valuable time!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95c9cc925e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95c9cc925e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This is a small example of scalable code. </a:t>
            </a:r>
            <a:endParaRPr/>
          </a:p>
          <a:p>
            <a:pPr indent="0" lvl="0" marL="0" rtl="0" algn="l">
              <a:spcBef>
                <a:spcPts val="0"/>
              </a:spcBef>
              <a:spcAft>
                <a:spcPts val="0"/>
              </a:spcAft>
              <a:buNone/>
            </a:pPr>
            <a:r>
              <a:rPr lang="el"/>
              <a:t>When we know that our dataset will grow large we need to make sure we are able to load it. </a:t>
            </a:r>
            <a:endParaRPr/>
          </a:p>
          <a:p>
            <a:pPr indent="0" lvl="0" marL="0" rtl="0" algn="l">
              <a:spcBef>
                <a:spcPts val="0"/>
              </a:spcBef>
              <a:spcAft>
                <a:spcPts val="0"/>
              </a:spcAft>
              <a:buNone/>
            </a:pPr>
            <a:r>
              <a:rPr lang="el"/>
              <a:t>So we load and preprocess in batches!</a:t>
            </a:r>
            <a:endParaRPr/>
          </a:p>
          <a:p>
            <a:pPr indent="0" lvl="0" marL="0" rtl="0" algn="l">
              <a:spcBef>
                <a:spcPts val="0"/>
              </a:spcBef>
              <a:spcAft>
                <a:spcPts val="0"/>
              </a:spcAft>
              <a:buNone/>
            </a:pPr>
            <a:r>
              <a:rPr lang="el"/>
              <a:t>A very common approach in practise. </a:t>
            </a:r>
            <a:endParaRPr/>
          </a:p>
          <a:p>
            <a:pPr indent="0" lvl="0" marL="0" rtl="0" algn="l">
              <a:spcBef>
                <a:spcPts val="0"/>
              </a:spcBef>
              <a:spcAft>
                <a:spcPts val="0"/>
              </a:spcAft>
              <a:buNone/>
            </a:pPr>
            <a:r>
              <a:rPr lang="el"/>
              <a:t>I am sure you will do a project someday where you will hve to load a big dataset that wont fit in the RAM of your computer. When that day comes, use functions like this. Load, work in batches and save again in batches!</a:t>
            </a:r>
            <a:endParaRPr/>
          </a:p>
          <a:p>
            <a:pPr indent="0" lvl="0" marL="0" rtl="0" algn="l">
              <a:spcBef>
                <a:spcPts val="0"/>
              </a:spcBef>
              <a:spcAft>
                <a:spcPts val="0"/>
              </a:spcAft>
              <a:buNone/>
            </a:pPr>
            <a:r>
              <a:rPr lang="el"/>
              <a:t>If possible add some parallization too!</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95c9cc925e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95c9cc925e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next we have reproducible code. What do we mean by that?</a:t>
            </a:r>
            <a:endParaRPr/>
          </a:p>
          <a:p>
            <a:pPr indent="0" lvl="0" marL="0" rtl="0" algn="l">
              <a:spcBef>
                <a:spcPts val="0"/>
              </a:spcBef>
              <a:spcAft>
                <a:spcPts val="0"/>
              </a:spcAft>
              <a:buNone/>
            </a:pPr>
            <a:r>
              <a:rPr lang="el"/>
              <a:t>With reproducible I refer to code that will yieldthe same results across different environments.</a:t>
            </a:r>
            <a:endParaRPr/>
          </a:p>
          <a:p>
            <a:pPr indent="0" lvl="0" marL="0" rtl="0" algn="l">
              <a:spcBef>
                <a:spcPts val="0"/>
              </a:spcBef>
              <a:spcAft>
                <a:spcPts val="0"/>
              </a:spcAft>
              <a:buNone/>
            </a:pPr>
            <a:r>
              <a:rPr lang="el"/>
              <a:t>This is very important for a number of reasons. </a:t>
            </a:r>
            <a:endParaRPr/>
          </a:p>
          <a:p>
            <a:pPr indent="-298450" lvl="0" marL="457200" rtl="0" algn="l">
              <a:spcBef>
                <a:spcPts val="0"/>
              </a:spcBef>
              <a:spcAft>
                <a:spcPts val="0"/>
              </a:spcAft>
              <a:buSzPts val="1100"/>
              <a:buChar char="-"/>
            </a:pPr>
            <a:r>
              <a:rPr lang="el"/>
              <a:t>For example our manager our colleagues need to reproduce our results</a:t>
            </a:r>
            <a:endParaRPr/>
          </a:p>
          <a:p>
            <a:pPr indent="-298450" lvl="0" marL="457200" rtl="0" algn="l">
              <a:spcBef>
                <a:spcPts val="0"/>
              </a:spcBef>
              <a:spcAft>
                <a:spcPts val="0"/>
              </a:spcAft>
              <a:buSzPts val="1100"/>
              <a:buChar char="-"/>
            </a:pPr>
            <a:r>
              <a:rPr lang="el"/>
              <a:t>Or we want consistency between our clients etc.</a:t>
            </a:r>
            <a:endParaRPr/>
          </a:p>
          <a:p>
            <a:pPr indent="0" lvl="0" marL="0" rtl="0" algn="l">
              <a:spcBef>
                <a:spcPts val="0"/>
              </a:spcBef>
              <a:spcAft>
                <a:spcPts val="0"/>
              </a:spcAft>
              <a:buNone/>
            </a:pPr>
            <a:r>
              <a:rPr lang="el"/>
              <a:t>Take for example this. You train a network, you get perfect results. When I re-run your code I get completely different results and thus, worse accuracy.</a:t>
            </a:r>
            <a:endParaRPr/>
          </a:p>
          <a:p>
            <a:pPr indent="0" lvl="0" marL="0" rtl="0" algn="l">
              <a:spcBef>
                <a:spcPts val="0"/>
              </a:spcBef>
              <a:spcAft>
                <a:spcPts val="0"/>
              </a:spcAft>
              <a:buNone/>
            </a:pPr>
            <a:r>
              <a:rPr lang="el"/>
              <a:t>I would then challenge your claims that your accuracy is 99%. </a:t>
            </a:r>
            <a:endParaRPr/>
          </a:p>
          <a:p>
            <a:pPr indent="0" lvl="0" marL="0" rtl="0" algn="l">
              <a:spcBef>
                <a:spcPts val="0"/>
              </a:spcBef>
              <a:spcAft>
                <a:spcPts val="0"/>
              </a:spcAft>
              <a:buNone/>
            </a:pPr>
            <a:r>
              <a:rPr lang="el"/>
              <a:t>Why does that happen? </a:t>
            </a:r>
            <a:endParaRPr/>
          </a:p>
          <a:p>
            <a:pPr indent="0" lvl="0" marL="0" rtl="0" algn="l">
              <a:spcBef>
                <a:spcPts val="0"/>
              </a:spcBef>
              <a:spcAft>
                <a:spcPts val="0"/>
              </a:spcAft>
              <a:buNone/>
            </a:pPr>
            <a:r>
              <a:rPr lang="el"/>
              <a:t>Most ML models are prone to multiple things. for example weight initialization, operations type (floats64 vs floats32 etc). Its very important to ensure </a:t>
            </a:r>
            <a:endParaRPr/>
          </a:p>
          <a:p>
            <a:pPr indent="0" lvl="0" marL="0" rtl="0" algn="l">
              <a:spcBef>
                <a:spcPts val="0"/>
              </a:spcBef>
              <a:spcAft>
                <a:spcPts val="0"/>
              </a:spcAft>
              <a:buNone/>
            </a:pPr>
            <a:r>
              <a:rPr lang="el"/>
              <a:t>So how do we achieve reproducibility: Just describe the content there a bit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95c9cc925e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95c9cc925e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Thats an example of reproducible code. When we begin we set every package that uses random number generators to a specific seed number.</a:t>
            </a:r>
            <a:endParaRPr/>
          </a:p>
          <a:p>
            <a:pPr indent="0" lvl="0" marL="0" rtl="0" algn="l">
              <a:spcBef>
                <a:spcPts val="0"/>
              </a:spcBef>
              <a:spcAft>
                <a:spcPts val="0"/>
              </a:spcAft>
              <a:buNone/>
            </a:pPr>
            <a:r>
              <a:rPr lang="el"/>
              <a:t>We </a:t>
            </a:r>
            <a:r>
              <a:rPr lang="el"/>
              <a:t>usually</a:t>
            </a:r>
            <a:r>
              <a:rPr lang="el"/>
              <a:t> do that on functions on utils but config would work as well!</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95c9cc925e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95c9cc925e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why do we care about these things so much?</a:t>
            </a:r>
            <a:endParaRPr/>
          </a:p>
          <a:p>
            <a:pPr indent="-298450" lvl="0" marL="457200" rtl="0" algn="l">
              <a:spcBef>
                <a:spcPts val="0"/>
              </a:spcBef>
              <a:spcAft>
                <a:spcPts val="0"/>
              </a:spcAft>
              <a:buSzPts val="1100"/>
              <a:buChar char="-"/>
            </a:pPr>
            <a:r>
              <a:rPr lang="el"/>
              <a:t>Read for academic</a:t>
            </a:r>
            <a:endParaRPr/>
          </a:p>
          <a:p>
            <a:pPr indent="0" lvl="0" marL="0" rtl="0" algn="l">
              <a:spcBef>
                <a:spcPts val="0"/>
              </a:spcBef>
              <a:spcAft>
                <a:spcPts val="0"/>
              </a:spcAft>
              <a:buNone/>
            </a:pPr>
            <a:r>
              <a:rPr lang="el"/>
              <a:t>In production we have more things to worry about!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95c9cc925e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95c9cc925e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Oke, next we are going to talk about clean code principles. What makes good clean code!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95c9cc925e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95c9cc925e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Thats a very important topic. Its something that will come a lot on job interviews so you have to be prepared here!</a:t>
            </a:r>
            <a:endParaRPr/>
          </a:p>
          <a:p>
            <a:pPr indent="0" lvl="0" marL="0" rtl="0" algn="l">
              <a:spcBef>
                <a:spcPts val="0"/>
              </a:spcBef>
              <a:spcAft>
                <a:spcPts val="0"/>
              </a:spcAft>
              <a:buNone/>
            </a:pPr>
            <a:r>
              <a:rPr lang="el"/>
              <a:t>We need to write clean code! </a:t>
            </a:r>
            <a:endParaRPr/>
          </a:p>
          <a:p>
            <a:pPr indent="0" lvl="0" marL="0" rtl="0" algn="l">
              <a:spcBef>
                <a:spcPts val="0"/>
              </a:spcBef>
              <a:spcAft>
                <a:spcPts val="0"/>
              </a:spcAft>
              <a:buNone/>
            </a:pPr>
            <a:r>
              <a:rPr lang="el"/>
              <a:t>Our code will be read, adjusted by others so people need to understand what you write.</a:t>
            </a:r>
            <a:endParaRPr/>
          </a:p>
          <a:p>
            <a:pPr indent="0" lvl="0" marL="0" rtl="0" algn="l">
              <a:spcBef>
                <a:spcPts val="0"/>
              </a:spcBef>
              <a:spcAft>
                <a:spcPts val="0"/>
              </a:spcAft>
              <a:buNone/>
            </a:pPr>
            <a:r>
              <a:rPr lang="el"/>
              <a:t>How can you debug if you dont understand what you are </a:t>
            </a:r>
            <a:r>
              <a:rPr lang="el"/>
              <a:t>writing</a:t>
            </a:r>
            <a:r>
              <a:rPr lang="el"/>
              <a:t>? How are you going to assist your colleague??</a:t>
            </a:r>
            <a:endParaRPr/>
          </a:p>
          <a:p>
            <a:pPr indent="0" lvl="0" marL="0" rtl="0" algn="l">
              <a:spcBef>
                <a:spcPts val="0"/>
              </a:spcBef>
              <a:spcAft>
                <a:spcPts val="0"/>
              </a:spcAft>
              <a:buNone/>
            </a:pPr>
            <a:r>
              <a:rPr lang="el"/>
              <a:t>Even worse, imagine going back on a project you worked a month ago. Will you be able to understand what you were talking about?</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l"/>
              <a:t>Your code needs to be readable and as simple as it gets. Simple code is better than a good model! Trust me</a:t>
            </a:r>
            <a:endParaRPr/>
          </a:p>
          <a:p>
            <a:pPr indent="-298450" lvl="0" marL="457200" rtl="0" algn="l">
              <a:spcBef>
                <a:spcPts val="0"/>
              </a:spcBef>
              <a:spcAft>
                <a:spcPts val="0"/>
              </a:spcAft>
              <a:buSzPts val="1100"/>
              <a:buChar char="-"/>
            </a:pPr>
            <a:r>
              <a:rPr lang="el"/>
              <a:t>It should be clear and </a:t>
            </a:r>
            <a:r>
              <a:rPr lang="el"/>
              <a:t>consistent across the entire document</a:t>
            </a:r>
            <a:endParaRPr/>
          </a:p>
          <a:p>
            <a:pPr indent="-298450" lvl="0" marL="457200" rtl="0" algn="l">
              <a:spcBef>
                <a:spcPts val="0"/>
              </a:spcBef>
              <a:spcAft>
                <a:spcPts val="0"/>
              </a:spcAft>
              <a:buSzPts val="1100"/>
              <a:buChar char="-"/>
            </a:pPr>
            <a:r>
              <a:rPr lang="el"/>
              <a:t>Most importanly it should be efficient. You should realy dosome good usage of your Data Structures. This is something you will be tasked with on any interview you go out there!</a:t>
            </a:r>
            <a:endParaRPr/>
          </a:p>
          <a:p>
            <a:pPr indent="0" lvl="0" marL="0" rtl="0" algn="l">
              <a:spcBef>
                <a:spcPts val="0"/>
              </a:spcBef>
              <a:spcAft>
                <a:spcPts val="0"/>
              </a:spcAft>
              <a:buNone/>
            </a:pPr>
            <a:r>
              <a:rPr lang="el"/>
              <a:t>Check these two examples and you tell me the differences!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95c9cc925e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95c9cc925e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Just read the examples here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95c9cc925e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95c9cc925e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Read the examples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295c9cc925e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295c9cc925e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Except for being very common questions in data science and ML interviews, data </a:t>
            </a:r>
            <a:r>
              <a:rPr lang="el"/>
              <a:t>structures</a:t>
            </a:r>
            <a:r>
              <a:rPr lang="el"/>
              <a:t> are very important for algorithmic efficiency.</a:t>
            </a:r>
            <a:endParaRPr/>
          </a:p>
          <a:p>
            <a:pPr indent="0" lvl="0" marL="0" rtl="0" algn="l">
              <a:spcBef>
                <a:spcPts val="0"/>
              </a:spcBef>
              <a:spcAft>
                <a:spcPts val="0"/>
              </a:spcAft>
              <a:buNone/>
            </a:pPr>
            <a:r>
              <a:rPr lang="el"/>
              <a:t>This impacts model performance and then resource utilization. So we need to be </a:t>
            </a:r>
            <a:r>
              <a:rPr lang="el"/>
              <a:t>very</a:t>
            </a:r>
            <a:r>
              <a:rPr lang="el"/>
              <a:t> </a:t>
            </a:r>
            <a:r>
              <a:rPr lang="el"/>
              <a:t>careful</a:t>
            </a:r>
            <a:r>
              <a:rPr lang="el"/>
              <a:t> how we use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For MLOps the main structures we are going to work with are arrays, lists and dictionaries. I wont go in a data structure course but I am happy to give details!!</a:t>
            </a:r>
            <a:endParaRPr/>
          </a:p>
          <a:p>
            <a:pPr indent="0" lvl="0" marL="0" rtl="0" algn="l">
              <a:spcBef>
                <a:spcPts val="0"/>
              </a:spcBef>
              <a:spcAft>
                <a:spcPts val="0"/>
              </a:spcAft>
              <a:buNone/>
            </a:pPr>
            <a:r>
              <a:rPr lang="el"/>
              <a:t>then just read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95c9cc925e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295c9cc925e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Any questions so far? Good, now lets move to error handling! Another very important concept.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95c9cc925e_0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95c9cc925e_0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Examples of logging:</a:t>
            </a:r>
            <a:endParaRPr/>
          </a:p>
          <a:p>
            <a:pPr indent="-298450" lvl="0" marL="457200" rtl="0" algn="l">
              <a:spcBef>
                <a:spcPts val="0"/>
              </a:spcBef>
              <a:spcAft>
                <a:spcPts val="0"/>
              </a:spcAft>
              <a:buSzPts val="1100"/>
              <a:buChar char="-"/>
            </a:pPr>
            <a:r>
              <a:rPr lang="el"/>
              <a:t>Training of a NN</a:t>
            </a:r>
            <a:endParaRPr/>
          </a:p>
          <a:p>
            <a:pPr indent="-298450" lvl="0" marL="457200" rtl="0" algn="l">
              <a:spcBef>
                <a:spcPts val="0"/>
              </a:spcBef>
              <a:spcAft>
                <a:spcPts val="0"/>
              </a:spcAft>
              <a:buSzPts val="1100"/>
              <a:buChar char="-"/>
            </a:pPr>
            <a:r>
              <a:rPr lang="el"/>
              <a:t>Bugs!</a:t>
            </a:r>
            <a:endParaRPr/>
          </a:p>
          <a:p>
            <a:pPr indent="-298450" lvl="0" marL="457200" rtl="0" algn="l">
              <a:spcBef>
                <a:spcPts val="0"/>
              </a:spcBef>
              <a:spcAft>
                <a:spcPts val="0"/>
              </a:spcAft>
              <a:buSzPts val="1100"/>
              <a:buChar char="-"/>
            </a:pPr>
            <a:r>
              <a:rPr lang="el"/>
              <a:t>Weird results</a:t>
            </a:r>
            <a:endParaRPr/>
          </a:p>
          <a:p>
            <a:pPr indent="0" lvl="0" marL="0" rtl="0" algn="l">
              <a:spcBef>
                <a:spcPts val="0"/>
              </a:spcBef>
              <a:spcAft>
                <a:spcPts val="0"/>
              </a:spcAft>
              <a:buNone/>
            </a:pPr>
            <a:r>
              <a:rPr lang="el"/>
              <a:t>Used for debugging because its </a:t>
            </a:r>
            <a:r>
              <a:rPr lang="el"/>
              <a:t>more</a:t>
            </a:r>
            <a:r>
              <a:rPr lang="el"/>
              <a:t> </a:t>
            </a:r>
            <a:r>
              <a:rPr lang="el"/>
              <a:t>powerful than simply printing</a:t>
            </a:r>
            <a:endParaRPr/>
          </a:p>
          <a:p>
            <a:pPr indent="0" lvl="0" marL="0" rtl="0" algn="l">
              <a:spcBef>
                <a:spcPts val="0"/>
              </a:spcBef>
              <a:spcAft>
                <a:spcPts val="0"/>
              </a:spcAft>
              <a:buNone/>
            </a:pPr>
            <a:r>
              <a:rPr lang="el"/>
              <a:t>Also we can save these logs on specific folders, chose the formatting we want to help us in our application, and send them to anyone we want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95c9cc925e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95c9cc925e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Say different levels and read them!</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95c9cc925e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95c9cc925e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Thats an example of using logging. So </a:t>
            </a:r>
            <a:r>
              <a:rPr lang="el"/>
              <a:t>instead</a:t>
            </a:r>
            <a:r>
              <a:rPr lang="el"/>
              <a:t> of simply printing, we want to send our logs to a file </a:t>
            </a:r>
            <a:r>
              <a:rPr lang="el"/>
              <a:t>somewhere</a:t>
            </a:r>
            <a:r>
              <a:rPr lang="el"/>
              <a:t> to keep our updates.</a:t>
            </a:r>
            <a:endParaRPr/>
          </a:p>
          <a:p>
            <a:pPr indent="0" lvl="0" marL="0" rtl="0" algn="l">
              <a:spcBef>
                <a:spcPts val="0"/>
              </a:spcBef>
              <a:spcAft>
                <a:spcPts val="0"/>
              </a:spcAft>
              <a:buNone/>
            </a:pPr>
            <a:r>
              <a:rPr lang="el"/>
              <a:t>Read examples when you use and show the code to the example </a:t>
            </a:r>
            <a:endParaRPr/>
          </a:p>
          <a:p>
            <a:pPr indent="0" lvl="0" marL="0" rtl="0" algn="l">
              <a:spcBef>
                <a:spcPts val="0"/>
              </a:spcBef>
              <a:spcAft>
                <a:spcPts val="0"/>
              </a:spcAft>
              <a:buNone/>
            </a:pPr>
            <a:r>
              <a:rPr lang="el"/>
              <a:t>The warning on no data</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95c9cc925e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95c9cc925e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Walk through the examples</a:t>
            </a:r>
            <a:endParaRPr/>
          </a:p>
          <a:p>
            <a:pPr indent="0" lvl="0" marL="0" rtl="0" algn="l">
              <a:spcBef>
                <a:spcPts val="0"/>
              </a:spcBef>
              <a:spcAft>
                <a:spcPts val="0"/>
              </a:spcAft>
              <a:buNone/>
            </a:pPr>
            <a:r>
              <a:rPr lang="el"/>
              <a:t>We define the logger on the config.py file </a:t>
            </a:r>
            <a:endParaRPr/>
          </a:p>
          <a:p>
            <a:pPr indent="0" lvl="0" marL="0" rtl="0" algn="l">
              <a:spcBef>
                <a:spcPts val="0"/>
              </a:spcBef>
              <a:spcAft>
                <a:spcPts val="0"/>
              </a:spcAft>
              <a:buNone/>
            </a:pPr>
            <a:r>
              <a:rPr lang="el"/>
              <a:t>Formaters:</a:t>
            </a:r>
            <a:endParaRPr/>
          </a:p>
          <a:p>
            <a:pPr indent="-298450" lvl="0" marL="457200" rtl="0" algn="l">
              <a:spcBef>
                <a:spcPts val="0"/>
              </a:spcBef>
              <a:spcAft>
                <a:spcPts val="0"/>
              </a:spcAft>
              <a:buSzPts val="1100"/>
              <a:buChar char="-"/>
            </a:pPr>
            <a:r>
              <a:rPr lang="el"/>
              <a:t>One for small messages</a:t>
            </a:r>
            <a:endParaRPr/>
          </a:p>
          <a:p>
            <a:pPr indent="-298450" lvl="0" marL="457200" rtl="0" algn="l">
              <a:spcBef>
                <a:spcPts val="0"/>
              </a:spcBef>
              <a:spcAft>
                <a:spcPts val="0"/>
              </a:spcAft>
              <a:buSzPts val="1100"/>
              <a:buChar char="-"/>
            </a:pPr>
            <a:r>
              <a:rPr lang="el"/>
              <a:t>One for big detailed messages!</a:t>
            </a:r>
            <a:endParaRPr/>
          </a:p>
          <a:p>
            <a:pPr indent="0" lvl="0" marL="0" rtl="0" algn="l">
              <a:spcBef>
                <a:spcPts val="0"/>
              </a:spcBef>
              <a:spcAft>
                <a:spcPts val="0"/>
              </a:spcAft>
              <a:buNone/>
            </a:pPr>
            <a:r>
              <a:rPr lang="el"/>
              <a:t>Handlers:</a:t>
            </a:r>
            <a:endParaRPr/>
          </a:p>
          <a:p>
            <a:pPr indent="-298450" lvl="0" marL="457200" rtl="0" algn="l">
              <a:spcBef>
                <a:spcPts val="0"/>
              </a:spcBef>
              <a:spcAft>
                <a:spcPts val="0"/>
              </a:spcAft>
              <a:buSzPts val="1100"/>
              <a:buChar char="-"/>
            </a:pPr>
            <a:r>
              <a:rPr lang="el"/>
              <a:t>Where to send the logs</a:t>
            </a:r>
            <a:endParaRPr/>
          </a:p>
          <a:p>
            <a:pPr indent="-298450" lvl="0" marL="457200" rtl="0" algn="l">
              <a:spcBef>
                <a:spcPts val="0"/>
              </a:spcBef>
              <a:spcAft>
                <a:spcPts val="0"/>
              </a:spcAft>
              <a:buSzPts val="1100"/>
              <a:buChar char="-"/>
            </a:pPr>
            <a:r>
              <a:rPr lang="el"/>
              <a:t>Each type of log can be send in different locations</a:t>
            </a:r>
            <a:endParaRPr/>
          </a:p>
          <a:p>
            <a:pPr indent="-298450" lvl="0" marL="457200" rtl="0" algn="l">
              <a:spcBef>
                <a:spcPts val="0"/>
              </a:spcBef>
              <a:spcAft>
                <a:spcPts val="0"/>
              </a:spcAft>
              <a:buSzPts val="1100"/>
              <a:buChar char="-"/>
            </a:pPr>
            <a:r>
              <a:rPr lang="el"/>
              <a:t>Read it from the notes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95c9cc925e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95c9cc925e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Now lets move to error handling. How to better </a:t>
            </a:r>
            <a:r>
              <a:rPr lang="el"/>
              <a:t>understand</a:t>
            </a:r>
            <a:r>
              <a:rPr lang="el"/>
              <a:t> the error on our applications. </a:t>
            </a:r>
            <a:endParaRPr/>
          </a:p>
          <a:p>
            <a:pPr indent="0" lvl="0" marL="0" rtl="0" algn="l">
              <a:spcBef>
                <a:spcPts val="0"/>
              </a:spcBef>
              <a:spcAft>
                <a:spcPts val="0"/>
              </a:spcAft>
              <a:buNone/>
            </a:pPr>
            <a:r>
              <a:rPr lang="el"/>
              <a:t>Instead of relying on errors of our packages (each imported package has specific error messages) we can define our own!</a:t>
            </a:r>
            <a:endParaRPr/>
          </a:p>
          <a:p>
            <a:pPr indent="0" lvl="0" marL="0" rtl="0" algn="l">
              <a:spcBef>
                <a:spcPts val="0"/>
              </a:spcBef>
              <a:spcAft>
                <a:spcPts val="0"/>
              </a:spcAft>
              <a:buNone/>
            </a:pPr>
            <a:r>
              <a:rPr lang="el"/>
              <a:t>How? with try-expects!</a:t>
            </a:r>
            <a:endParaRPr/>
          </a:p>
          <a:p>
            <a:pPr indent="0" lvl="0" marL="0" rtl="0" algn="l">
              <a:spcBef>
                <a:spcPts val="0"/>
              </a:spcBef>
              <a:spcAft>
                <a:spcPts val="0"/>
              </a:spcAft>
              <a:buNone/>
            </a:pPr>
            <a:r>
              <a:rPr lang="el"/>
              <a:t>I believe you have seen these before. </a:t>
            </a:r>
            <a:endParaRPr/>
          </a:p>
          <a:p>
            <a:pPr indent="0" lvl="0" marL="0" rtl="0" algn="l">
              <a:spcBef>
                <a:spcPts val="0"/>
              </a:spcBef>
              <a:spcAft>
                <a:spcPts val="0"/>
              </a:spcAft>
              <a:buNone/>
            </a:pPr>
            <a:r>
              <a:rPr lang="el"/>
              <a:t>Its very important to use them on snippets you believe an error is probable. Then you give your own message so you get an idea what is going on.</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95c9cc925e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95c9cc925e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to put everything </a:t>
            </a:r>
            <a:r>
              <a:rPr lang="el"/>
              <a:t>together</a:t>
            </a:r>
            <a:r>
              <a:rPr lang="el"/>
              <a:t>!</a:t>
            </a:r>
            <a:endParaRPr/>
          </a:p>
          <a:p>
            <a:pPr indent="0" lvl="0" marL="0" rtl="0" algn="l">
              <a:spcBef>
                <a:spcPts val="0"/>
              </a:spcBef>
              <a:spcAft>
                <a:spcPts val="0"/>
              </a:spcAft>
              <a:buNone/>
            </a:pPr>
            <a:r>
              <a:rPr lang="el"/>
              <a:t>We use logging &amp; error-handling to:</a:t>
            </a:r>
            <a:endParaRPr/>
          </a:p>
          <a:p>
            <a:pPr indent="-298450" lvl="0" marL="457200" rtl="0" algn="l">
              <a:spcBef>
                <a:spcPts val="0"/>
              </a:spcBef>
              <a:spcAft>
                <a:spcPts val="0"/>
              </a:spcAft>
              <a:buSzPts val="1100"/>
              <a:buChar char="-"/>
            </a:pPr>
            <a:r>
              <a:rPr lang="el"/>
              <a:t>Ensure robustness of our experiment. We now how to handle everything the system might come across!</a:t>
            </a:r>
            <a:endParaRPr/>
          </a:p>
          <a:p>
            <a:pPr indent="-298450" lvl="0" marL="457200" rtl="0" algn="l">
              <a:spcBef>
                <a:spcPts val="0"/>
              </a:spcBef>
              <a:spcAft>
                <a:spcPts val="0"/>
              </a:spcAft>
              <a:buSzPts val="1100"/>
              <a:buChar char="-"/>
            </a:pPr>
            <a:r>
              <a:rPr lang="el"/>
              <a:t>Enhance the </a:t>
            </a:r>
            <a:r>
              <a:rPr lang="el"/>
              <a:t>traceability</a:t>
            </a:r>
            <a:r>
              <a:rPr lang="el"/>
              <a:t> and get insights for our experiments</a:t>
            </a:r>
            <a:endParaRPr/>
          </a:p>
          <a:p>
            <a:pPr indent="-298450" lvl="0" marL="457200" rtl="0" algn="l">
              <a:spcBef>
                <a:spcPts val="0"/>
              </a:spcBef>
              <a:spcAft>
                <a:spcPts val="0"/>
              </a:spcAft>
              <a:buSzPts val="1100"/>
              <a:buChar char="-"/>
            </a:pPr>
            <a:r>
              <a:rPr lang="el"/>
              <a:t>Assist us in debugging. We can more easily track where the bug is coming from. and since we have good functions we can always go and fix it</a:t>
            </a:r>
            <a:endParaRPr/>
          </a:p>
          <a:p>
            <a:pPr indent="0" lvl="0" marL="0" rtl="0" algn="l">
              <a:spcBef>
                <a:spcPts val="0"/>
              </a:spcBef>
              <a:spcAft>
                <a:spcPts val="0"/>
              </a:spcAft>
              <a:buNone/>
            </a:pPr>
            <a:r>
              <a:rPr lang="el"/>
              <a:t>Here is an example of how to combine error handling and logging!</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95c9cc925e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95c9cc925e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Good, next we have documentation and </a:t>
            </a:r>
            <a:r>
              <a:rPr lang="el"/>
              <a:t>commenting</a:t>
            </a:r>
            <a:r>
              <a:rPr lang="el"/>
              <a:t>.</a:t>
            </a:r>
            <a:endParaRPr/>
          </a:p>
          <a:p>
            <a:pPr indent="0" lvl="0" marL="0" rtl="0" algn="l">
              <a:spcBef>
                <a:spcPts val="0"/>
              </a:spcBef>
              <a:spcAft>
                <a:spcPts val="0"/>
              </a:spcAft>
              <a:buNone/>
            </a:pPr>
            <a:r>
              <a:rPr lang="el"/>
              <a:t>Another extremely important concept!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95c9cc925e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95c9cc925e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back to the </a:t>
            </a:r>
            <a:r>
              <a:rPr lang="el"/>
              <a:t>example</a:t>
            </a:r>
            <a:r>
              <a:rPr lang="el"/>
              <a:t> we talked about before.</a:t>
            </a:r>
            <a:endParaRPr/>
          </a:p>
          <a:p>
            <a:pPr indent="0" lvl="0" marL="0" rtl="0" algn="l">
              <a:spcBef>
                <a:spcPts val="0"/>
              </a:spcBef>
              <a:spcAft>
                <a:spcPts val="0"/>
              </a:spcAft>
              <a:buNone/>
            </a:pPr>
            <a:r>
              <a:rPr lang="el"/>
              <a:t>Imagine going back to a project you build 1 year ago to take one function you need to use again.</a:t>
            </a:r>
            <a:endParaRPr/>
          </a:p>
          <a:p>
            <a:pPr indent="0" lvl="0" marL="0" rtl="0" algn="l">
              <a:spcBef>
                <a:spcPts val="0"/>
              </a:spcBef>
              <a:spcAft>
                <a:spcPts val="0"/>
              </a:spcAft>
              <a:buNone/>
            </a:pPr>
            <a:r>
              <a:rPr lang="el"/>
              <a:t>How would you be able to understand how the functions works?</a:t>
            </a:r>
            <a:endParaRPr/>
          </a:p>
          <a:p>
            <a:pPr indent="0" lvl="0" marL="0" rtl="0" algn="l">
              <a:spcBef>
                <a:spcPts val="0"/>
              </a:spcBef>
              <a:spcAft>
                <a:spcPts val="0"/>
              </a:spcAft>
              <a:buNone/>
            </a:pPr>
            <a:r>
              <a:rPr lang="el"/>
              <a:t>Or how would your colleague understand your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In my eyes, documentation is the mosti </a:t>
            </a:r>
            <a:r>
              <a:rPr lang="el"/>
              <a:t>important</a:t>
            </a:r>
            <a:r>
              <a:rPr lang="el"/>
              <a:t> concept in ML coding! </a:t>
            </a:r>
            <a:endParaRPr/>
          </a:p>
          <a:p>
            <a:pPr indent="-298450" lvl="0" marL="457200" rtl="0" algn="l">
              <a:spcBef>
                <a:spcPts val="0"/>
              </a:spcBef>
              <a:spcAft>
                <a:spcPts val="0"/>
              </a:spcAft>
              <a:buSzPts val="1100"/>
              <a:buChar char="-"/>
            </a:pPr>
            <a:r>
              <a:rPr lang="el"/>
              <a:t>Describe each documentation principle</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95c9cc925e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295c9cc925e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start with typings!</a:t>
            </a:r>
            <a:endParaRPr/>
          </a:p>
          <a:p>
            <a:pPr indent="0" lvl="0" marL="0" rtl="0" algn="l">
              <a:spcBef>
                <a:spcPts val="0"/>
              </a:spcBef>
              <a:spcAft>
                <a:spcPts val="0"/>
              </a:spcAft>
              <a:buNone/>
            </a:pPr>
            <a:r>
              <a:rPr lang="el"/>
              <a:t>Typings are very important. They ensure you will always get your desired outcome. </a:t>
            </a:r>
            <a:endParaRPr/>
          </a:p>
          <a:p>
            <a:pPr indent="0" lvl="0" marL="0" rtl="0" algn="l">
              <a:spcBef>
                <a:spcPts val="0"/>
              </a:spcBef>
              <a:spcAft>
                <a:spcPts val="0"/>
              </a:spcAft>
              <a:buNone/>
            </a:pPr>
            <a:r>
              <a:rPr lang="el"/>
              <a:t>They </a:t>
            </a:r>
            <a:r>
              <a:rPr lang="el"/>
              <a:t>assist</a:t>
            </a:r>
            <a:r>
              <a:rPr lang="el"/>
              <a:t> with both error handling and reproducibility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95c9cc925e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95c9cc925e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Next we have docstrings</a:t>
            </a:r>
            <a:endParaRPr/>
          </a:p>
          <a:p>
            <a:pPr indent="-298450" lvl="0" marL="457200" rtl="0" algn="l">
              <a:spcBef>
                <a:spcPts val="0"/>
              </a:spcBef>
              <a:spcAft>
                <a:spcPts val="0"/>
              </a:spcAft>
              <a:buSzPts val="1100"/>
              <a:buChar char="-"/>
            </a:pPr>
            <a:r>
              <a:rPr lang="el"/>
              <a:t>Just talk about them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95c9cc925e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95c9cc925e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commenting is the most important part for me. </a:t>
            </a:r>
            <a:endParaRPr/>
          </a:p>
          <a:p>
            <a:pPr indent="0" lvl="0" marL="0" rtl="0" algn="l">
              <a:spcBef>
                <a:spcPts val="0"/>
              </a:spcBef>
              <a:spcAft>
                <a:spcPts val="0"/>
              </a:spcAft>
              <a:buNone/>
            </a:pPr>
            <a:r>
              <a:rPr lang="el"/>
              <a:t>I have always been arguing with colleague with how bad they do their commenting and that I cannot work with that!</a:t>
            </a:r>
            <a:endParaRPr/>
          </a:p>
          <a:p>
            <a:pPr indent="0" lvl="0" marL="0" rtl="0" algn="l">
              <a:spcBef>
                <a:spcPts val="0"/>
              </a:spcBef>
              <a:spcAft>
                <a:spcPts val="0"/>
              </a:spcAft>
              <a:buNone/>
            </a:pPr>
            <a:r>
              <a:rPr lang="el"/>
              <a:t>Lets give some tips!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295c9cc925e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295c9cc925e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next we have Code Formatting and Styling! Not so </a:t>
            </a:r>
            <a:r>
              <a:rPr lang="el"/>
              <a:t>important</a:t>
            </a:r>
            <a:r>
              <a:rPr lang="el"/>
              <a:t> but alway make up for coding practises.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295c9cc925e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295c9cc925e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One of the nicest lines from Van Rossum, the creator of Python. We read code way more than we right! </a:t>
            </a:r>
            <a:endParaRPr/>
          </a:p>
          <a:p>
            <a:pPr indent="0" lvl="0" marL="0" rtl="0" algn="l">
              <a:spcBef>
                <a:spcPts val="0"/>
              </a:spcBef>
              <a:spcAft>
                <a:spcPts val="0"/>
              </a:spcAft>
              <a:buNone/>
            </a:pPr>
            <a:r>
              <a:rPr lang="el"/>
              <a:t>So lets make it pretty!!</a:t>
            </a:r>
            <a:endParaRPr/>
          </a:p>
          <a:p>
            <a:pPr indent="0" lvl="0" marL="0" rtl="0" algn="l">
              <a:spcBef>
                <a:spcPts val="0"/>
              </a:spcBef>
              <a:spcAft>
                <a:spcPts val="0"/>
              </a:spcAft>
              <a:buNone/>
            </a:pPr>
            <a:r>
              <a:rPr lang="el"/>
              <a:t>Lets help ourselves save some future time </a:t>
            </a:r>
            <a:endParaRPr/>
          </a:p>
          <a:p>
            <a:pPr indent="0" lvl="0" marL="0" rtl="0" algn="l">
              <a:spcBef>
                <a:spcPts val="0"/>
              </a:spcBef>
              <a:spcAft>
                <a:spcPts val="0"/>
              </a:spcAft>
              <a:buNone/>
            </a:pPr>
            <a:r>
              <a:rPr lang="el"/>
              <a:t>Read some of the aspects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295c9cc925e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295c9cc925e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read examples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295c9cc925e_0_3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295c9cc925e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Explain the two modules</a:t>
            </a:r>
            <a:endParaRPr/>
          </a:p>
          <a:p>
            <a:pPr indent="0" lvl="0" marL="0" rtl="0" algn="l">
              <a:spcBef>
                <a:spcPts val="0"/>
              </a:spcBef>
              <a:spcAft>
                <a:spcPts val="0"/>
              </a:spcAft>
              <a:buNone/>
            </a:pPr>
            <a:r>
              <a:rPr lang="el"/>
              <a:t>Say you can easily install and use them on your Visual Studio Code.</a:t>
            </a:r>
            <a:endParaRPr/>
          </a:p>
          <a:p>
            <a:pPr indent="0" lvl="0" marL="0" rtl="0" algn="l">
              <a:spcBef>
                <a:spcPts val="0"/>
              </a:spcBef>
              <a:spcAft>
                <a:spcPts val="0"/>
              </a:spcAft>
              <a:buNone/>
            </a:pPr>
            <a:r>
              <a:rPr lang="el"/>
              <a:t>They work </a:t>
            </a:r>
            <a:r>
              <a:rPr lang="el"/>
              <a:t>automatically</a:t>
            </a:r>
            <a:r>
              <a:rPr lang="el"/>
              <a:t> and you dont need to do anything.</a:t>
            </a:r>
            <a:endParaRPr/>
          </a:p>
          <a:p>
            <a:pPr indent="0" lvl="0" marL="0" rtl="0" algn="l">
              <a:spcBef>
                <a:spcPts val="0"/>
              </a:spcBef>
              <a:spcAft>
                <a:spcPts val="0"/>
              </a:spcAft>
              <a:buNone/>
            </a:pPr>
            <a:r>
              <a:rPr lang="el"/>
              <a:t>For example Black changes the style every time you save!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29637dc93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29637dc93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next we have tests.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9637dc93f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9637dc93f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Before we through our model in production we need to make sure that everything works as we planned.</a:t>
            </a:r>
            <a:endParaRPr/>
          </a:p>
          <a:p>
            <a:pPr indent="0" lvl="0" marL="0" rtl="0" algn="l">
              <a:spcBef>
                <a:spcPts val="0"/>
              </a:spcBef>
              <a:spcAft>
                <a:spcPts val="0"/>
              </a:spcAft>
              <a:buNone/>
            </a:pPr>
            <a:r>
              <a:rPr lang="el"/>
              <a:t>We need to test different things!</a:t>
            </a:r>
            <a:endParaRPr/>
          </a:p>
          <a:p>
            <a:pPr indent="-298450" lvl="0" marL="457200" rtl="0" algn="l">
              <a:spcBef>
                <a:spcPts val="0"/>
              </a:spcBef>
              <a:spcAft>
                <a:spcPts val="0"/>
              </a:spcAft>
              <a:buSzPts val="1100"/>
              <a:buChar char="-"/>
            </a:pPr>
            <a:r>
              <a:rPr lang="el"/>
              <a:t>We need to test our code for bugs, edge cases etc</a:t>
            </a:r>
            <a:endParaRPr/>
          </a:p>
          <a:p>
            <a:pPr indent="-298450" lvl="0" marL="457200" rtl="0" algn="l">
              <a:spcBef>
                <a:spcPts val="0"/>
              </a:spcBef>
              <a:spcAft>
                <a:spcPts val="0"/>
              </a:spcAft>
              <a:buSzPts val="1100"/>
              <a:buChar char="-"/>
            </a:pPr>
            <a:r>
              <a:rPr lang="el"/>
              <a:t>We need to check that our data is ok, no outliers, no nans etc</a:t>
            </a:r>
            <a:endParaRPr/>
          </a:p>
          <a:p>
            <a:pPr indent="-298450" lvl="0" marL="457200" rtl="0" algn="l">
              <a:spcBef>
                <a:spcPts val="0"/>
              </a:spcBef>
              <a:spcAft>
                <a:spcPts val="0"/>
              </a:spcAft>
              <a:buSzPts val="1100"/>
              <a:buChar char="-"/>
            </a:pPr>
            <a:r>
              <a:rPr lang="el"/>
              <a:t>We need to check that our model behaves as it should even on edge cases!</a:t>
            </a:r>
            <a:endParaRPr/>
          </a:p>
          <a:p>
            <a:pPr indent="0" lvl="0" marL="0" rtl="0" algn="l">
              <a:spcBef>
                <a:spcPts val="0"/>
              </a:spcBef>
              <a:spcAft>
                <a:spcPts val="0"/>
              </a:spcAft>
              <a:buNone/>
            </a:pPr>
            <a:r>
              <a:rPr lang="el"/>
              <a:t>We are test important</a:t>
            </a:r>
            <a:endParaRPr/>
          </a:p>
          <a:p>
            <a:pPr indent="-298450" lvl="0" marL="457200" rtl="0" algn="l">
              <a:spcBef>
                <a:spcPts val="0"/>
              </a:spcBef>
              <a:spcAft>
                <a:spcPts val="0"/>
              </a:spcAft>
              <a:buSzPts val="1100"/>
              <a:buChar char="-"/>
            </a:pPr>
            <a:r>
              <a:rPr lang="el"/>
              <a:t>We find errors very early and save important time</a:t>
            </a:r>
            <a:endParaRPr/>
          </a:p>
          <a:p>
            <a:pPr indent="-298450" lvl="0" marL="457200" rtl="0" algn="l">
              <a:spcBef>
                <a:spcPts val="0"/>
              </a:spcBef>
              <a:spcAft>
                <a:spcPts val="0"/>
              </a:spcAft>
              <a:buSzPts val="1100"/>
              <a:buChar char="-"/>
            </a:pPr>
            <a:r>
              <a:rPr lang="el"/>
              <a:t>We can save so much time and costs by catching the errors before they escalate!</a:t>
            </a:r>
            <a:endParaRPr/>
          </a:p>
          <a:p>
            <a:pPr indent="-298450" lvl="0" marL="457200" rtl="0" algn="l">
              <a:spcBef>
                <a:spcPts val="0"/>
              </a:spcBef>
              <a:spcAft>
                <a:spcPts val="0"/>
              </a:spcAft>
              <a:buSzPts val="1100"/>
              <a:buChar char="-"/>
            </a:pPr>
            <a:r>
              <a:rPr lang="el"/>
              <a:t>Once we design them, they will run </a:t>
            </a:r>
            <a:r>
              <a:rPr lang="el"/>
              <a:t>automatically</a:t>
            </a:r>
            <a:r>
              <a:rPr lang="el"/>
              <a:t> so we dont need to worry about them!</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9637dc93f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9637dc93f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we have 4 different important types of tests!</a:t>
            </a:r>
            <a:endParaRPr/>
          </a:p>
          <a:p>
            <a:pPr indent="-298450" lvl="0" marL="457200" rtl="0" algn="l">
              <a:spcBef>
                <a:spcPts val="0"/>
              </a:spcBef>
              <a:spcAft>
                <a:spcPts val="0"/>
              </a:spcAft>
              <a:buSzPts val="1100"/>
              <a:buChar char="-"/>
            </a:pPr>
            <a:r>
              <a:rPr lang="el"/>
              <a:t>Unit tests: they are focused on individual </a:t>
            </a:r>
            <a:r>
              <a:rPr lang="el"/>
              <a:t>components</a:t>
            </a:r>
            <a:r>
              <a:rPr lang="el"/>
              <a:t> with single </a:t>
            </a:r>
            <a:r>
              <a:rPr lang="el"/>
              <a:t>responsibilities</a:t>
            </a:r>
            <a:r>
              <a:rPr lang="el"/>
              <a:t>. they are </a:t>
            </a:r>
            <a:r>
              <a:rPr lang="el"/>
              <a:t>useful</a:t>
            </a:r>
            <a:r>
              <a:rPr lang="el"/>
              <a:t> for validating small pieces of code like functions or methods</a:t>
            </a:r>
            <a:endParaRPr/>
          </a:p>
          <a:p>
            <a:pPr indent="-298450" lvl="0" marL="457200" rtl="0" algn="l">
              <a:spcBef>
                <a:spcPts val="0"/>
              </a:spcBef>
              <a:spcAft>
                <a:spcPts val="0"/>
              </a:spcAft>
              <a:buSzPts val="1100"/>
              <a:buChar char="-"/>
            </a:pPr>
            <a:r>
              <a:rPr lang="el"/>
              <a:t>Integration tests: ensure different </a:t>
            </a:r>
            <a:r>
              <a:rPr lang="el"/>
              <a:t>components</a:t>
            </a:r>
            <a:r>
              <a:rPr lang="el"/>
              <a:t> work together correctly. They test interfaces between data flows for example the full data preprocessing pipeline)</a:t>
            </a:r>
            <a:endParaRPr/>
          </a:p>
          <a:p>
            <a:pPr indent="-298450" lvl="0" marL="457200" rtl="0" algn="l">
              <a:spcBef>
                <a:spcPts val="0"/>
              </a:spcBef>
              <a:spcAft>
                <a:spcPts val="0"/>
              </a:spcAft>
              <a:buSzPts val="1100"/>
              <a:buChar char="-"/>
            </a:pPr>
            <a:r>
              <a:rPr lang="el"/>
              <a:t>Systems Tests: They are comprehensive evelatuions of the entire systems functionality. They test if the system meets the requirements end-to-end.</a:t>
            </a:r>
            <a:endParaRPr/>
          </a:p>
          <a:p>
            <a:pPr indent="-298450" lvl="0" marL="457200" rtl="0" algn="l">
              <a:spcBef>
                <a:spcPts val="0"/>
              </a:spcBef>
              <a:spcAft>
                <a:spcPts val="0"/>
              </a:spcAft>
              <a:buSzPts val="1100"/>
              <a:buChar char="-"/>
            </a:pPr>
            <a:r>
              <a:rPr lang="el"/>
              <a:t>Acceptance Tests: the finall tells. COnfirms that the system fullfils business requirements. It validates if the system is read for deployment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9637dc93f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9637dc93f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To write good tests we use the arrange-act-assert methodology. </a:t>
            </a:r>
            <a:endParaRPr/>
          </a:p>
          <a:p>
            <a:pPr indent="-298450" lvl="0" marL="457200" rtl="0" algn="l">
              <a:spcBef>
                <a:spcPts val="0"/>
              </a:spcBef>
              <a:spcAft>
                <a:spcPts val="0"/>
              </a:spcAft>
              <a:buSzPts val="1100"/>
              <a:buChar char="-"/>
            </a:pPr>
            <a:r>
              <a:rPr lang="el"/>
              <a:t>Describe it</a:t>
            </a:r>
            <a:endParaRPr/>
          </a:p>
          <a:p>
            <a:pPr indent="0" lvl="0" marL="0" rtl="0" algn="l">
              <a:spcBef>
                <a:spcPts val="0"/>
              </a:spcBef>
              <a:spcAft>
                <a:spcPts val="0"/>
              </a:spcAft>
              <a:buNone/>
            </a:pPr>
            <a:r>
              <a:rPr lang="el"/>
              <a:t>There are many tools in python that helps us work with these things like unittest and pytests. They implement they above with ease!</a:t>
            </a:r>
            <a:endParaRPr/>
          </a:p>
          <a:p>
            <a:pPr indent="0" lvl="0" marL="0" rtl="0" algn="l">
              <a:spcBef>
                <a:spcPts val="0"/>
              </a:spcBef>
              <a:spcAft>
                <a:spcPts val="0"/>
              </a:spcAft>
              <a:buNone/>
            </a:pPr>
            <a:r>
              <a:rPr lang="el"/>
              <a:t>They also offer many build-in </a:t>
            </a:r>
            <a:r>
              <a:rPr lang="el"/>
              <a:t>functionalities</a:t>
            </a:r>
            <a:r>
              <a:rPr lang="el"/>
              <a:t> so they work very good at scale!</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29637dc93f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29637dc93f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How to set-up testing!</a:t>
            </a:r>
            <a:endParaRPr/>
          </a:p>
          <a:p>
            <a:pPr indent="0" lvl="0" marL="0" rtl="0" algn="l">
              <a:spcBef>
                <a:spcPts val="0"/>
              </a:spcBef>
              <a:spcAft>
                <a:spcPts val="0"/>
              </a:spcAft>
              <a:buNone/>
            </a:pPr>
            <a:r>
              <a:rPr lang="el"/>
              <a:t>(Just read and </a:t>
            </a:r>
            <a:r>
              <a:rPr lang="el"/>
              <a:t>explain</a:t>
            </a:r>
            <a:r>
              <a:rPr lang="el"/>
              <a:t> here)</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9637dc93f0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29637dc93f0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now lets view a simple example!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9637dc93f0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9637dc93f0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Some other important concepts for testings regard the following.</a:t>
            </a:r>
            <a:endParaRPr/>
          </a:p>
          <a:p>
            <a:pPr indent="0" lvl="0" marL="0" rtl="0" algn="l">
              <a:spcBef>
                <a:spcPts val="0"/>
              </a:spcBef>
              <a:spcAft>
                <a:spcPts val="0"/>
              </a:spcAft>
              <a:buNone/>
            </a:pPr>
            <a:r>
              <a:rPr lang="el"/>
              <a:t>I suggest  you going to this link to review them in case you have to write tests!</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9637dc93f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9637dc93f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now we go to Data Testing.</a:t>
            </a:r>
            <a:endParaRPr/>
          </a:p>
          <a:p>
            <a:pPr indent="0" lvl="0" marL="0" rtl="0" algn="l">
              <a:spcBef>
                <a:spcPts val="0"/>
              </a:spcBef>
              <a:spcAft>
                <a:spcPts val="0"/>
              </a:spcAft>
              <a:buNone/>
            </a:pPr>
            <a:r>
              <a:rPr lang="el"/>
              <a:t>Except for our code we also need to test our data!</a:t>
            </a:r>
            <a:endParaRPr/>
          </a:p>
          <a:p>
            <a:pPr indent="0" lvl="0" marL="0" rtl="0" algn="l">
              <a:spcBef>
                <a:spcPts val="0"/>
              </a:spcBef>
              <a:spcAft>
                <a:spcPts val="0"/>
              </a:spcAft>
              <a:buNone/>
            </a:pPr>
            <a:r>
              <a:rPr lang="el"/>
              <a:t>Why? (Read the bullet points)</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Thankfully we have libraries that do this for us. We are going to use the great_expectations library to test the </a:t>
            </a:r>
            <a:r>
              <a:rPr lang="el"/>
              <a:t>validity</a:t>
            </a:r>
            <a:r>
              <a:rPr lang="el"/>
              <a:t> our data.</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9637dc93f0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9637dc93f0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First we create some guidelines on how what our data should like like!</a:t>
            </a:r>
            <a:endParaRPr/>
          </a:p>
          <a:p>
            <a:pPr indent="0" lvl="0" marL="0" rtl="0" algn="l">
              <a:spcBef>
                <a:spcPts val="0"/>
              </a:spcBef>
              <a:spcAft>
                <a:spcPts val="0"/>
              </a:spcAft>
              <a:buNone/>
            </a:pPr>
            <a:r>
              <a:rPr lang="el"/>
              <a:t>We need to think how the dataset should be, we need to think all the features, the types, the </a:t>
            </a:r>
            <a:r>
              <a:rPr lang="el"/>
              <a:t>columns</a:t>
            </a:r>
            <a:r>
              <a:rPr lang="el"/>
              <a:t> etc!</a:t>
            </a:r>
            <a:endParaRPr/>
          </a:p>
          <a:p>
            <a:pPr indent="0" lvl="0" marL="0" rtl="0" algn="l">
              <a:spcBef>
                <a:spcPts val="0"/>
              </a:spcBef>
              <a:spcAft>
                <a:spcPts val="0"/>
              </a:spcAft>
              <a:buNone/>
            </a:pPr>
            <a:r>
              <a:rPr lang="el"/>
              <a:t>Then for each of the expectations we create a test that runs </a:t>
            </a:r>
            <a:r>
              <a:rPr lang="el"/>
              <a:t>automatically</a:t>
            </a:r>
            <a:r>
              <a:rPr lang="el"/>
              <a:t> as we get new data!</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9637dc93f0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9637dc93f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finally we have to test our Models!</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We need to be certain that they work each unique stage! We have training, we have evaluation, inference and deployment!</a:t>
            </a:r>
            <a:endParaRPr/>
          </a:p>
          <a:p>
            <a:pPr indent="0" lvl="0" marL="0" rtl="0" algn="l">
              <a:spcBef>
                <a:spcPts val="0"/>
              </a:spcBef>
              <a:spcAft>
                <a:spcPts val="0"/>
              </a:spcAft>
              <a:buNone/>
            </a:pPr>
            <a:r>
              <a:rPr lang="el"/>
              <a:t>These tests should be written together while we develop our code. This helps in many things</a:t>
            </a:r>
            <a:endParaRPr/>
          </a:p>
          <a:p>
            <a:pPr indent="-298450" lvl="0" marL="457200" rtl="0" algn="l">
              <a:spcBef>
                <a:spcPts val="0"/>
              </a:spcBef>
              <a:spcAft>
                <a:spcPts val="0"/>
              </a:spcAft>
              <a:buSzPts val="1100"/>
              <a:buChar char="-"/>
            </a:pPr>
            <a:r>
              <a:rPr lang="el"/>
              <a:t>(Read what it helps us with)</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9637dc93f0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29637dc93f0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Read the examples!</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9637dc93f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29637dc93f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Finaly we have pipelines! We have talked about these in the past. They are very important in ensuring the ML circle works effectively</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9637dc93f0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29637dc93f0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Pipelines should be views as automated </a:t>
            </a:r>
            <a:r>
              <a:rPr lang="el"/>
              <a:t>sequences</a:t>
            </a:r>
            <a:r>
              <a:rPr lang="el"/>
              <a:t> that streamline ML workflows! Once designed, they can automate almost </a:t>
            </a:r>
            <a:r>
              <a:rPr lang="el"/>
              <a:t>everything</a:t>
            </a:r>
            <a:r>
              <a:rPr lang="el"/>
              <a: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Why are they important?</a:t>
            </a:r>
            <a:endParaRPr/>
          </a:p>
          <a:p>
            <a:pPr indent="-298450" lvl="0" marL="457200" rtl="0" algn="l">
              <a:spcBef>
                <a:spcPts val="0"/>
              </a:spcBef>
              <a:spcAft>
                <a:spcPts val="0"/>
              </a:spcAft>
              <a:buSzPts val="1100"/>
              <a:buChar char="-"/>
            </a:pPr>
            <a:r>
              <a:rPr lang="el"/>
              <a:t>They ensure </a:t>
            </a:r>
            <a:r>
              <a:rPr lang="el"/>
              <a:t>uniformity</a:t>
            </a:r>
            <a:r>
              <a:rPr lang="el"/>
              <a:t> in the ML process!</a:t>
            </a:r>
            <a:endParaRPr/>
          </a:p>
          <a:p>
            <a:pPr indent="-298450" lvl="0" marL="457200" rtl="0" algn="l">
              <a:spcBef>
                <a:spcPts val="0"/>
              </a:spcBef>
              <a:spcAft>
                <a:spcPts val="0"/>
              </a:spcAft>
              <a:buSzPts val="1100"/>
              <a:buChar char="-"/>
            </a:pPr>
            <a:r>
              <a:rPr lang="el"/>
              <a:t>The enable </a:t>
            </a:r>
            <a:r>
              <a:rPr lang="el"/>
              <a:t>repeatable</a:t>
            </a:r>
            <a:r>
              <a:rPr lang="el"/>
              <a:t> workflows, which are very crucial for validating results!</a:t>
            </a:r>
            <a:endParaRPr/>
          </a:p>
          <a:p>
            <a:pPr indent="-298450" lvl="0" marL="457200" rtl="0" algn="l">
              <a:spcBef>
                <a:spcPts val="0"/>
              </a:spcBef>
              <a:spcAft>
                <a:spcPts val="0"/>
              </a:spcAft>
              <a:buSzPts val="1100"/>
              <a:buChar char="-"/>
            </a:pPr>
            <a:r>
              <a:rPr lang="el"/>
              <a:t>They greatly simplify the process of getting our models into production!</a:t>
            </a:r>
            <a:endParaRPr/>
          </a:p>
          <a:p>
            <a:pPr indent="-298450" lvl="0" marL="457200" rtl="0" algn="l">
              <a:spcBef>
                <a:spcPts val="0"/>
              </a:spcBef>
              <a:spcAft>
                <a:spcPts val="0"/>
              </a:spcAft>
              <a:buSzPts val="1100"/>
              <a:buChar char="-"/>
            </a:pPr>
            <a:r>
              <a:rPr lang="el"/>
              <a:t>Most </a:t>
            </a:r>
            <a:r>
              <a:rPr lang="el"/>
              <a:t>importantly</a:t>
            </a:r>
            <a:r>
              <a:rPr lang="el"/>
              <a:t> they assist in automation. They reduce the number of manual interventions allowing us to save precious time and reduce errors</a:t>
            </a:r>
            <a:endParaRPr/>
          </a:p>
          <a:p>
            <a:pPr indent="-298450" lvl="0" marL="457200" rtl="0" algn="l">
              <a:spcBef>
                <a:spcPts val="0"/>
              </a:spcBef>
              <a:spcAft>
                <a:spcPts val="0"/>
              </a:spcAft>
              <a:buSzPts val="1100"/>
              <a:buChar char="-"/>
            </a:pPr>
            <a:r>
              <a:rPr lang="el"/>
              <a:t>Finaly it makes it much easier to identify issue and track the performance of the system</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29637dc93f0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29637dc93f0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In general a full ML workflow as we have talked about multiple times involves several iterative steps!</a:t>
            </a:r>
            <a:endParaRPr/>
          </a:p>
          <a:p>
            <a:pPr indent="0" lvl="0" marL="0" rtl="0" algn="l">
              <a:spcBef>
                <a:spcPts val="0"/>
              </a:spcBef>
              <a:spcAft>
                <a:spcPts val="0"/>
              </a:spcAft>
              <a:buNone/>
            </a:pPr>
            <a:r>
              <a:rPr lang="el"/>
              <a:t>When we do it </a:t>
            </a:r>
            <a:r>
              <a:rPr lang="el"/>
              <a:t>manually</a:t>
            </a:r>
            <a:r>
              <a:rPr lang="el"/>
              <a:t>, they can be extremely time consuming, </a:t>
            </a:r>
            <a:r>
              <a:rPr lang="el"/>
              <a:t>especially</a:t>
            </a:r>
            <a:r>
              <a:rPr lang="el"/>
              <a:t> when we clean and preprocess our data. </a:t>
            </a:r>
            <a:endParaRPr/>
          </a:p>
          <a:p>
            <a:pPr indent="0" lvl="0" marL="0" rtl="0" algn="l">
              <a:spcBef>
                <a:spcPts val="0"/>
              </a:spcBef>
              <a:spcAft>
                <a:spcPts val="0"/>
              </a:spcAft>
              <a:buNone/>
            </a:pPr>
            <a:r>
              <a:rPr lang="el"/>
              <a:t>So pipelines automate this procedure to help us save time and write better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You can view pipelines as steps of the ML workflow being entered in the right order (Load, preprocess, train, make predictions)</a:t>
            </a:r>
            <a:endParaRPr/>
          </a:p>
          <a:p>
            <a:pPr indent="0" lvl="0" marL="0" rtl="0" algn="l">
              <a:spcBef>
                <a:spcPts val="0"/>
              </a:spcBef>
              <a:spcAft>
                <a:spcPts val="0"/>
              </a:spcAft>
              <a:buNone/>
            </a:pPr>
            <a:r>
              <a:rPr lang="el"/>
              <a:t>Thats an </a:t>
            </a:r>
            <a:r>
              <a:rPr lang="el"/>
              <a:t>example</a:t>
            </a:r>
            <a:r>
              <a:rPr lang="el"/>
              <a:t> of a very simple pipeline.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9637dc93f0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29637dc93f0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We have 3 very important pipelines in ML workflows</a:t>
            </a:r>
            <a:endParaRPr/>
          </a:p>
          <a:p>
            <a:pPr indent="0" lvl="0" marL="0" rtl="0" algn="l">
              <a:spcBef>
                <a:spcPts val="0"/>
              </a:spcBef>
              <a:spcAft>
                <a:spcPts val="0"/>
              </a:spcAft>
              <a:buNone/>
            </a:pPr>
            <a:r>
              <a:rPr lang="el"/>
              <a:t>Describe them!</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29637dc93f0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29637dc93f0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29637dc93f0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29637dc93f0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27.png"/><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6.png"/><Relationship Id="rId4" Type="http://schemas.openxmlformats.org/officeDocument/2006/relationships/image" Target="../media/image23.png"/><Relationship Id="rId5" Type="http://schemas.openxmlformats.org/officeDocument/2006/relationships/image" Target="../media/image20.png"/><Relationship Id="rId6"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9.png"/><Relationship Id="rId4" Type="http://schemas.openxmlformats.org/officeDocument/2006/relationships/image" Target="../media/image38.png"/><Relationship Id="rId5" Type="http://schemas.openxmlformats.org/officeDocument/2006/relationships/image" Target="../media/image26.png"/><Relationship Id="rId6"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3.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3.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0.png"/><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hyperlink" Target="https://peps.python.org/pep-0008/" TargetMode="External"/><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42.png"/><Relationship Id="rId6"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47.png"/><Relationship Id="rId4" Type="http://schemas.openxmlformats.org/officeDocument/2006/relationships/image" Target="../media/image4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wiki.c2.com/?ArrangeActAssert" TargetMode="External"/><Relationship Id="rId4" Type="http://schemas.openxmlformats.org/officeDocument/2006/relationships/hyperlink" Target="https://docs.python.org/3/library/unittest.html" TargetMode="External"/><Relationship Id="rId5" Type="http://schemas.openxmlformats.org/officeDocument/2006/relationships/hyperlink" Target="https://docs.pytest.org/en/stable/"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4.png"/><Relationship Id="rId4" Type="http://schemas.openxmlformats.org/officeDocument/2006/relationships/image" Target="../media/image57.png"/><Relationship Id="rId5" Type="http://schemas.openxmlformats.org/officeDocument/2006/relationships/image" Target="../media/image46.png"/><Relationship Id="rId6" Type="http://schemas.openxmlformats.org/officeDocument/2006/relationships/image" Target="../media/image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hyperlink" Target="https://madewithml.com/courses/mlops/testing/#data"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github.com/great-expectations/great_expectations"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60.png"/><Relationship Id="rId4" Type="http://schemas.openxmlformats.org/officeDocument/2006/relationships/image" Target="../media/image65.png"/><Relationship Id="rId5"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62.png"/><Relationship Id="rId4" Type="http://schemas.openxmlformats.org/officeDocument/2006/relationships/image" Target="../media/image54.png"/><Relationship Id="rId5" Type="http://schemas.openxmlformats.org/officeDocument/2006/relationships/image" Target="../media/image52.png"/><Relationship Id="rId6" Type="http://schemas.openxmlformats.org/officeDocument/2006/relationships/image" Target="../media/image5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8.png"/><Relationship Id="rId4" Type="http://schemas.openxmlformats.org/officeDocument/2006/relationships/image" Target="../media/image6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64.png"/><Relationship Id="rId4" Type="http://schemas.openxmlformats.org/officeDocument/2006/relationships/image" Target="../media/image63.png"/><Relationship Id="rId5" Type="http://schemas.openxmlformats.org/officeDocument/2006/relationships/image" Target="../media/image5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Cloud for AI</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a:t>Course 6: </a:t>
            </a:r>
            <a:r>
              <a:rPr lang="el">
                <a:solidFill>
                  <a:srgbClr val="FF00FF"/>
                </a:solidFill>
              </a:rPr>
              <a:t>Production-Level Code</a:t>
            </a:r>
            <a:endParaRPr>
              <a:solidFill>
                <a:srgbClr val="FF00FF"/>
              </a:solidFill>
            </a:endParaRPr>
          </a:p>
        </p:txBody>
      </p:sp>
      <p:pic>
        <p:nvPicPr>
          <p:cNvPr id="56" name="Google Shape;56;p13"/>
          <p:cNvPicPr preferRelativeResize="0"/>
          <p:nvPr/>
        </p:nvPicPr>
        <p:blipFill>
          <a:blip r:embed="rId3">
            <a:alphaModFix/>
          </a:blip>
          <a:stretch>
            <a:fillRect/>
          </a:stretch>
        </p:blipFill>
        <p:spPr>
          <a:xfrm>
            <a:off x="596375" y="4041963"/>
            <a:ext cx="8547614" cy="1211975"/>
          </a:xfrm>
          <a:prstGeom prst="rect">
            <a:avLst/>
          </a:prstGeom>
          <a:noFill/>
          <a:ln cap="flat" cmpd="sng" w="9525">
            <a:solidFill>
              <a:schemeClr val="lt1"/>
            </a:solidFill>
            <a:prstDash val="solid"/>
            <a:round/>
            <a:headEnd len="sm" w="sm" type="none"/>
            <a:tailEnd len="sm" w="sm" type="none"/>
          </a:ln>
        </p:spPr>
      </p:pic>
      <p:sp>
        <p:nvSpPr>
          <p:cNvPr id="57" name="Google Shape;57;p13"/>
          <p:cNvSpPr txBox="1"/>
          <p:nvPr>
            <p:ph idx="1" type="subTitle"/>
          </p:nvPr>
        </p:nvSpPr>
        <p:spPr>
          <a:xfrm>
            <a:off x="0" y="4435375"/>
            <a:ext cx="2750100" cy="618000"/>
          </a:xfrm>
          <a:prstGeom prst="rect">
            <a:avLst/>
          </a:prstGeom>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l" sz="1800">
                <a:solidFill>
                  <a:schemeClr val="dk1"/>
                </a:solidFill>
              </a:rPr>
              <a:t>Filotas Theodosiou</a:t>
            </a:r>
            <a:endParaRPr sz="1800">
              <a:solidFill>
                <a:schemeClr val="dk1"/>
              </a:solidFill>
            </a:endParaRPr>
          </a:p>
        </p:txBody>
      </p:sp>
      <p:pic>
        <p:nvPicPr>
          <p:cNvPr id="58" name="Google Shape;58;p13"/>
          <p:cNvPicPr preferRelativeResize="0"/>
          <p:nvPr/>
        </p:nvPicPr>
        <p:blipFill>
          <a:blip r:embed="rId4">
            <a:alphaModFix/>
          </a:blip>
          <a:stretch>
            <a:fillRect/>
          </a:stretch>
        </p:blipFill>
        <p:spPr>
          <a:xfrm>
            <a:off x="6447225" y="4152422"/>
            <a:ext cx="1101225" cy="991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What are we going talk about today?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Clr>
                <a:schemeClr val="dk1"/>
              </a:buClr>
              <a:buSzPct val="30555"/>
              <a:buFont typeface="Arial"/>
              <a:buNone/>
            </a:pPr>
            <a:r>
              <a:rPr lang="el"/>
              <a:t>What are we going talk about today?</a:t>
            </a:r>
            <a:endParaRPr/>
          </a:p>
          <a:p>
            <a:pPr indent="0" lvl="0" marL="0" rtl="0" algn="ctr">
              <a:spcBef>
                <a:spcPts val="0"/>
              </a:spcBef>
              <a:spcAft>
                <a:spcPts val="0"/>
              </a:spcAft>
              <a:buNone/>
            </a:pPr>
            <a:r>
              <a:rPr lang="el">
                <a:solidFill>
                  <a:srgbClr val="FF00FF"/>
                </a:solidFill>
              </a:rPr>
              <a:t>Writing code ML code</a:t>
            </a:r>
            <a:endParaRPr>
              <a:solidFill>
                <a:srgbClr val="FF00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significance of production-level code.</a:t>
            </a:r>
            <a:endParaRPr/>
          </a:p>
        </p:txBody>
      </p:sp>
      <p:sp>
        <p:nvSpPr>
          <p:cNvPr id="74" name="Google Shape;74;p16"/>
          <p:cNvSpPr txBox="1"/>
          <p:nvPr/>
        </p:nvSpPr>
        <p:spPr>
          <a:xfrm>
            <a:off x="443600" y="1151950"/>
            <a:ext cx="8307000" cy="18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What do we mean with production level code?</a:t>
            </a:r>
            <a:endParaRPr>
              <a:solidFill>
                <a:srgbClr val="FF00FF"/>
              </a:solidFill>
            </a:endParaRPr>
          </a:p>
          <a:p>
            <a:pPr indent="0" lvl="0" marL="0" rtl="0" algn="l">
              <a:spcBef>
                <a:spcPts val="0"/>
              </a:spcBef>
              <a:spcAft>
                <a:spcPts val="0"/>
              </a:spcAft>
              <a:buNone/>
            </a:pPr>
            <a:r>
              <a:rPr lang="el"/>
              <a:t>Software that is robust, efficient and ready for deployment in a real-world environment. </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The significance of production-level code.</a:t>
            </a:r>
            <a:endParaRPr/>
          </a:p>
        </p:txBody>
      </p:sp>
      <p:sp>
        <p:nvSpPr>
          <p:cNvPr id="80" name="Google Shape;80;p17"/>
          <p:cNvSpPr txBox="1"/>
          <p:nvPr/>
        </p:nvSpPr>
        <p:spPr>
          <a:xfrm>
            <a:off x="443600" y="1151950"/>
            <a:ext cx="8307000" cy="18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What do we mean with production level code?</a:t>
            </a:r>
            <a:endParaRPr>
              <a:solidFill>
                <a:srgbClr val="FF00FF"/>
              </a:solidFill>
            </a:endParaRPr>
          </a:p>
          <a:p>
            <a:pPr indent="0" lvl="0" marL="0" rtl="0" algn="l">
              <a:spcBef>
                <a:spcPts val="0"/>
              </a:spcBef>
              <a:spcAft>
                <a:spcPts val="0"/>
              </a:spcAft>
              <a:buNone/>
            </a:pPr>
            <a:r>
              <a:rPr lang="el"/>
              <a:t>Software that is robust, efficient and ready for deployment in a real-world environment.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Criteria for production level code:</a:t>
            </a:r>
            <a:endParaRPr>
              <a:solidFill>
                <a:srgbClr val="FF00FF"/>
              </a:solidFill>
            </a:endParaRPr>
          </a:p>
          <a:p>
            <a:pPr indent="-317500" lvl="0" marL="457200" rtl="0" algn="l">
              <a:spcBef>
                <a:spcPts val="0"/>
              </a:spcBef>
              <a:spcAft>
                <a:spcPts val="0"/>
              </a:spcAft>
              <a:buSzPts val="1400"/>
              <a:buChar char="-"/>
            </a:pPr>
            <a:r>
              <a:rPr lang="el"/>
              <a:t>Scalability: handling an increasing amount of work smoothly</a:t>
            </a:r>
            <a:endParaRPr/>
          </a:p>
          <a:p>
            <a:pPr indent="-317500" lvl="0" marL="457200" rtl="0" algn="l">
              <a:spcBef>
                <a:spcPts val="0"/>
              </a:spcBef>
              <a:spcAft>
                <a:spcPts val="0"/>
              </a:spcAft>
              <a:buSzPts val="1400"/>
              <a:buChar char="-"/>
            </a:pPr>
            <a:r>
              <a:rPr lang="el"/>
              <a:t>Maintainability: Easy to understand and modify</a:t>
            </a:r>
            <a:endParaRPr/>
          </a:p>
          <a:p>
            <a:pPr indent="-317500" lvl="0" marL="457200" rtl="0" algn="l">
              <a:spcBef>
                <a:spcPts val="0"/>
              </a:spcBef>
              <a:spcAft>
                <a:spcPts val="0"/>
              </a:spcAft>
              <a:buSzPts val="1400"/>
              <a:buChar char="-"/>
            </a:pPr>
            <a:r>
              <a:rPr lang="el"/>
              <a:t>Reliability: Operates as expected under varying conditions</a:t>
            </a:r>
            <a:endParaRPr/>
          </a:p>
          <a:p>
            <a:pPr indent="-317500" lvl="0" marL="457200" rtl="0" algn="l">
              <a:spcBef>
                <a:spcPts val="0"/>
              </a:spcBef>
              <a:spcAft>
                <a:spcPts val="0"/>
              </a:spcAft>
              <a:buSzPts val="1400"/>
              <a:buChar char="-"/>
            </a:pPr>
            <a:r>
              <a:rPr lang="el"/>
              <a:t>Efficiency: Does not waste valuable resources</a:t>
            </a:r>
            <a:endParaRPr/>
          </a:p>
          <a:p>
            <a:pPr indent="0" lvl="0" marL="0" rtl="0" algn="l">
              <a:spcBef>
                <a:spcPts val="0"/>
              </a:spcBef>
              <a:spcAft>
                <a:spcPts val="0"/>
              </a:spcAft>
              <a:buNone/>
            </a:pPr>
            <a:r>
              <a:t/>
            </a:r>
            <a:endParaRPr/>
          </a:p>
        </p:txBody>
      </p:sp>
      <p:pic>
        <p:nvPicPr>
          <p:cNvPr id="81" name="Google Shape;81;p17"/>
          <p:cNvPicPr preferRelativeResize="0"/>
          <p:nvPr/>
        </p:nvPicPr>
        <p:blipFill>
          <a:blip r:embed="rId3">
            <a:alphaModFix/>
          </a:blip>
          <a:stretch>
            <a:fillRect/>
          </a:stretch>
        </p:blipFill>
        <p:spPr>
          <a:xfrm>
            <a:off x="1803025" y="3019453"/>
            <a:ext cx="5464226" cy="1811600"/>
          </a:xfrm>
          <a:prstGeom prst="rect">
            <a:avLst/>
          </a:prstGeom>
          <a:noFill/>
          <a:ln>
            <a:noFill/>
          </a:ln>
        </p:spPr>
      </p:pic>
      <p:sp>
        <p:nvSpPr>
          <p:cNvPr id="82" name="Google Shape;82;p17"/>
          <p:cNvSpPr txBox="1"/>
          <p:nvPr/>
        </p:nvSpPr>
        <p:spPr>
          <a:xfrm>
            <a:off x="1589288" y="4831050"/>
            <a:ext cx="5891700" cy="3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t>Remember: Your code needs to effectively communicate with the entire ML system</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Production level code and Notebooks</a:t>
            </a:r>
            <a:endParaRPr/>
          </a:p>
        </p:txBody>
      </p:sp>
      <p:sp>
        <p:nvSpPr>
          <p:cNvPr id="88" name="Google Shape;88;p18"/>
          <p:cNvSpPr txBox="1"/>
          <p:nvPr/>
        </p:nvSpPr>
        <p:spPr>
          <a:xfrm>
            <a:off x="450750" y="1187725"/>
            <a:ext cx="4536300" cy="37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What is the issue with Jupyter Notebooks?</a:t>
            </a:r>
            <a:endParaRPr>
              <a:solidFill>
                <a:srgbClr val="FF00FF"/>
              </a:solidFill>
            </a:endParaRPr>
          </a:p>
          <a:p>
            <a:pPr indent="0" lvl="0" marL="0" rtl="0" algn="l">
              <a:spcBef>
                <a:spcPts val="0"/>
              </a:spcBef>
              <a:spcAft>
                <a:spcPts val="0"/>
              </a:spcAft>
              <a:buNone/>
            </a:pPr>
            <a:r>
              <a:rPr lang="el"/>
              <a:t>Notebooks are great for development</a:t>
            </a:r>
            <a:endParaRPr/>
          </a:p>
          <a:p>
            <a:pPr indent="-317500" lvl="0" marL="457200" rtl="0" algn="l">
              <a:spcBef>
                <a:spcPts val="0"/>
              </a:spcBef>
              <a:spcAft>
                <a:spcPts val="0"/>
              </a:spcAft>
              <a:buSzPts val="1400"/>
              <a:buChar char="-"/>
            </a:pPr>
            <a:r>
              <a:rPr lang="el"/>
              <a:t>Interactive</a:t>
            </a:r>
            <a:endParaRPr/>
          </a:p>
          <a:p>
            <a:pPr indent="-317500" lvl="0" marL="457200" rtl="0" algn="l">
              <a:spcBef>
                <a:spcPts val="0"/>
              </a:spcBef>
              <a:spcAft>
                <a:spcPts val="0"/>
              </a:spcAft>
              <a:buSzPts val="1400"/>
              <a:buChar char="-"/>
            </a:pPr>
            <a:r>
              <a:rPr lang="el"/>
              <a:t>Stateful</a:t>
            </a:r>
            <a:r>
              <a:rPr lang="el"/>
              <a:t> (</a:t>
            </a:r>
            <a:r>
              <a:rPr lang="el"/>
              <a:t>don't</a:t>
            </a:r>
            <a:r>
              <a:rPr lang="el"/>
              <a:t> have to re-run code)</a:t>
            </a:r>
            <a:endParaRPr/>
          </a:p>
          <a:p>
            <a:pPr indent="-317500" lvl="0" marL="457200" rtl="0" algn="l">
              <a:spcBef>
                <a:spcPts val="0"/>
              </a:spcBef>
              <a:spcAft>
                <a:spcPts val="0"/>
              </a:spcAft>
              <a:buSzPts val="1400"/>
              <a:buChar char="-"/>
            </a:pPr>
            <a:r>
              <a:rPr lang="el"/>
              <a:t>Allows for output visualization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89" name="Google Shape;89;p18"/>
          <p:cNvPicPr preferRelativeResize="0"/>
          <p:nvPr/>
        </p:nvPicPr>
        <p:blipFill>
          <a:blip r:embed="rId3">
            <a:alphaModFix/>
          </a:blip>
          <a:stretch>
            <a:fillRect/>
          </a:stretch>
        </p:blipFill>
        <p:spPr>
          <a:xfrm>
            <a:off x="5149225" y="1151950"/>
            <a:ext cx="3832026" cy="301225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Production level code and Notebooks</a:t>
            </a:r>
            <a:endParaRPr/>
          </a:p>
        </p:txBody>
      </p:sp>
      <p:sp>
        <p:nvSpPr>
          <p:cNvPr id="95" name="Google Shape;95;p19"/>
          <p:cNvSpPr txBox="1"/>
          <p:nvPr/>
        </p:nvSpPr>
        <p:spPr>
          <a:xfrm>
            <a:off x="450750" y="1187725"/>
            <a:ext cx="4536300" cy="37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What is the issue with Jupyter Notebooks?</a:t>
            </a:r>
            <a:endParaRPr>
              <a:solidFill>
                <a:srgbClr val="FF00FF"/>
              </a:solidFill>
            </a:endParaRPr>
          </a:p>
          <a:p>
            <a:pPr indent="0" lvl="0" marL="0" rtl="0" algn="l">
              <a:spcBef>
                <a:spcPts val="0"/>
              </a:spcBef>
              <a:spcAft>
                <a:spcPts val="0"/>
              </a:spcAft>
              <a:buNone/>
            </a:pPr>
            <a:r>
              <a:rPr lang="el"/>
              <a:t>Notebooks are great for development</a:t>
            </a:r>
            <a:endParaRPr/>
          </a:p>
          <a:p>
            <a:pPr indent="-317500" lvl="0" marL="457200" rtl="0" algn="l">
              <a:spcBef>
                <a:spcPts val="0"/>
              </a:spcBef>
              <a:spcAft>
                <a:spcPts val="0"/>
              </a:spcAft>
              <a:buSzPts val="1400"/>
              <a:buChar char="-"/>
            </a:pPr>
            <a:r>
              <a:rPr lang="el"/>
              <a:t>Interactive</a:t>
            </a:r>
            <a:endParaRPr/>
          </a:p>
          <a:p>
            <a:pPr indent="-317500" lvl="0" marL="457200" rtl="0" algn="l">
              <a:spcBef>
                <a:spcPts val="0"/>
              </a:spcBef>
              <a:spcAft>
                <a:spcPts val="0"/>
              </a:spcAft>
              <a:buSzPts val="1400"/>
              <a:buChar char="-"/>
            </a:pPr>
            <a:r>
              <a:rPr lang="el"/>
              <a:t>Stateful (don't have to re-run code)</a:t>
            </a:r>
            <a:endParaRPr/>
          </a:p>
          <a:p>
            <a:pPr indent="-317500" lvl="0" marL="457200" rtl="0" algn="l">
              <a:spcBef>
                <a:spcPts val="0"/>
              </a:spcBef>
              <a:spcAft>
                <a:spcPts val="0"/>
              </a:spcAft>
              <a:buSzPts val="1400"/>
              <a:buChar char="-"/>
            </a:pPr>
            <a:r>
              <a:rPr lang="el"/>
              <a:t>Allows for output visualization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For applications though, we need scripts that are:</a:t>
            </a:r>
            <a:endParaRPr>
              <a:solidFill>
                <a:srgbClr val="FF00FF"/>
              </a:solidFill>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l"/>
              <a:t>Stateless: explicitly pass variables to functions instead of keeping them in global memory</a:t>
            </a:r>
            <a:endParaRPr/>
          </a:p>
          <a:p>
            <a:pPr indent="-317500" lvl="0" marL="457200" rtl="0" algn="l">
              <a:spcBef>
                <a:spcPts val="0"/>
              </a:spcBef>
              <a:spcAft>
                <a:spcPts val="0"/>
              </a:spcAft>
              <a:buSzPts val="1400"/>
              <a:buChar char="●"/>
            </a:pPr>
            <a:r>
              <a:rPr lang="el"/>
              <a:t>Linear: Execute code from start to finish</a:t>
            </a:r>
            <a:endParaRPr/>
          </a:p>
          <a:p>
            <a:pPr indent="-317500" lvl="0" marL="457200" rtl="0" algn="l">
              <a:spcBef>
                <a:spcPts val="0"/>
              </a:spcBef>
              <a:spcAft>
                <a:spcPts val="0"/>
              </a:spcAft>
              <a:buSzPts val="1400"/>
              <a:buChar char="●"/>
            </a:pPr>
            <a:r>
              <a:rPr lang="el"/>
              <a:t>Testing-friendly: Easy to compose and run</a:t>
            </a:r>
            <a:endParaRPr/>
          </a:p>
        </p:txBody>
      </p:sp>
      <p:pic>
        <p:nvPicPr>
          <p:cNvPr id="96" name="Google Shape;96;p19"/>
          <p:cNvPicPr preferRelativeResize="0"/>
          <p:nvPr/>
        </p:nvPicPr>
        <p:blipFill>
          <a:blip r:embed="rId3">
            <a:alphaModFix/>
          </a:blip>
          <a:stretch>
            <a:fillRect/>
          </a:stretch>
        </p:blipFill>
        <p:spPr>
          <a:xfrm>
            <a:off x="5149225" y="1151950"/>
            <a:ext cx="3832026" cy="30122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Some examples</a:t>
            </a:r>
            <a:endParaRPr/>
          </a:p>
        </p:txBody>
      </p:sp>
      <p:sp>
        <p:nvSpPr>
          <p:cNvPr id="102" name="Google Shape;102;p20"/>
          <p:cNvSpPr txBox="1"/>
          <p:nvPr/>
        </p:nvSpPr>
        <p:spPr>
          <a:xfrm>
            <a:off x="379200" y="1066100"/>
            <a:ext cx="83139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You are tasked with creating a simple script to read a CSV file and calculate the average of a column</a:t>
            </a:r>
            <a:endParaRPr/>
          </a:p>
        </p:txBody>
      </p:sp>
      <p:sp>
        <p:nvSpPr>
          <p:cNvPr id="103" name="Google Shape;103;p20"/>
          <p:cNvSpPr txBox="1"/>
          <p:nvPr/>
        </p:nvSpPr>
        <p:spPr>
          <a:xfrm>
            <a:off x="121650" y="1572700"/>
            <a:ext cx="3598800" cy="298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Research Environment </a:t>
            </a:r>
            <a:r>
              <a:rPr lang="el">
                <a:solidFill>
                  <a:srgbClr val="FF00FF"/>
                </a:solidFill>
              </a:rPr>
              <a:t>(Notebooks)</a:t>
            </a:r>
            <a:endParaRPr>
              <a:solidFill>
                <a:srgbClr val="FF00FF"/>
              </a:solidFill>
            </a:endParaRPr>
          </a:p>
          <a:p>
            <a:pPr indent="-184150" lvl="0" marL="269999" rtl="0" algn="l">
              <a:spcBef>
                <a:spcPts val="0"/>
              </a:spcBef>
              <a:spcAft>
                <a:spcPts val="0"/>
              </a:spcAft>
              <a:buSzPts val="1400"/>
              <a:buChar char="●"/>
            </a:pPr>
            <a:r>
              <a:rPr lang="el"/>
              <a:t>Just solve the task at hand!</a:t>
            </a:r>
            <a:endParaRPr/>
          </a:p>
          <a:p>
            <a:pPr indent="-184150" lvl="0" marL="269999" rtl="0" algn="l">
              <a:spcBef>
                <a:spcPts val="0"/>
              </a:spcBef>
              <a:spcAft>
                <a:spcPts val="0"/>
              </a:spcAft>
              <a:buSzPts val="1400"/>
              <a:buChar char="●"/>
            </a:pPr>
            <a:r>
              <a:rPr lang="el"/>
              <a:t>If you encounter error, find ad-hoc solution</a:t>
            </a:r>
            <a:endParaRPr/>
          </a:p>
          <a:p>
            <a:pPr indent="-184150" lvl="0" marL="269999" rtl="0" algn="l">
              <a:spcBef>
                <a:spcPts val="0"/>
              </a:spcBef>
              <a:spcAft>
                <a:spcPts val="0"/>
              </a:spcAft>
              <a:buSzPts val="1400"/>
              <a:buChar char="●"/>
            </a:pPr>
            <a:r>
              <a:rPr lang="el"/>
              <a:t>No error handling, logging no scalability</a:t>
            </a:r>
            <a:endParaRPr/>
          </a:p>
        </p:txBody>
      </p:sp>
      <p:pic>
        <p:nvPicPr>
          <p:cNvPr id="104" name="Google Shape;104;p20"/>
          <p:cNvPicPr preferRelativeResize="0"/>
          <p:nvPr/>
        </p:nvPicPr>
        <p:blipFill rotWithShape="1">
          <a:blip r:embed="rId3">
            <a:alphaModFix/>
          </a:blip>
          <a:srcRect b="0" l="0" r="37539" t="0"/>
          <a:stretch/>
        </p:blipFill>
        <p:spPr>
          <a:xfrm>
            <a:off x="643925" y="3026525"/>
            <a:ext cx="2222625" cy="1262475"/>
          </a:xfrm>
          <a:prstGeom prst="rect">
            <a:avLst/>
          </a:prstGeom>
          <a:noFill/>
          <a:ln>
            <a:noFill/>
          </a:ln>
        </p:spPr>
      </p:pic>
      <p:sp>
        <p:nvSpPr>
          <p:cNvPr id="105" name="Google Shape;105;p20"/>
          <p:cNvSpPr txBox="1"/>
          <p:nvPr/>
        </p:nvSpPr>
        <p:spPr>
          <a:xfrm>
            <a:off x="4745902" y="1572700"/>
            <a:ext cx="4086300" cy="298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Production </a:t>
            </a:r>
            <a:r>
              <a:rPr lang="el">
                <a:solidFill>
                  <a:srgbClr val="FF00FF"/>
                </a:solidFill>
              </a:rPr>
              <a:t>Environment (Script)</a:t>
            </a:r>
            <a:endParaRPr>
              <a:solidFill>
                <a:srgbClr val="FF00FF"/>
              </a:solidFill>
            </a:endParaRPr>
          </a:p>
          <a:p>
            <a:pPr indent="-184150" lvl="0" marL="269999" rtl="0" algn="l">
              <a:spcBef>
                <a:spcPts val="0"/>
              </a:spcBef>
              <a:spcAft>
                <a:spcPts val="0"/>
              </a:spcAft>
              <a:buSzPts val="1400"/>
              <a:buChar char="●"/>
            </a:pPr>
            <a:r>
              <a:rPr lang="el"/>
              <a:t>Clear structure, error handling, logging</a:t>
            </a:r>
            <a:endParaRPr/>
          </a:p>
          <a:p>
            <a:pPr indent="-184150" lvl="0" marL="269999" rtl="0" algn="l">
              <a:spcBef>
                <a:spcPts val="0"/>
              </a:spcBef>
              <a:spcAft>
                <a:spcPts val="0"/>
              </a:spcAft>
              <a:buSzPts val="1400"/>
              <a:buChar char="●"/>
            </a:pPr>
            <a:r>
              <a:rPr lang="el"/>
              <a:t>Robust, scalable and </a:t>
            </a:r>
            <a:r>
              <a:rPr lang="el"/>
              <a:t>maintainable</a:t>
            </a:r>
            <a:r>
              <a:rPr lang="el"/>
              <a:t> code</a:t>
            </a:r>
            <a:endParaRPr/>
          </a:p>
        </p:txBody>
      </p:sp>
      <p:pic>
        <p:nvPicPr>
          <p:cNvPr id="106" name="Google Shape;106;p20"/>
          <p:cNvPicPr preferRelativeResize="0"/>
          <p:nvPr/>
        </p:nvPicPr>
        <p:blipFill>
          <a:blip r:embed="rId4">
            <a:alphaModFix/>
          </a:blip>
          <a:stretch>
            <a:fillRect/>
          </a:stretch>
        </p:blipFill>
        <p:spPr>
          <a:xfrm>
            <a:off x="4929725" y="2433087"/>
            <a:ext cx="3144050" cy="2592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Key Concepts of Production-Level Code</a:t>
            </a:r>
            <a:endParaRPr/>
          </a:p>
        </p:txBody>
      </p:sp>
      <p:sp>
        <p:nvSpPr>
          <p:cNvPr id="112" name="Google Shape;112;p21"/>
          <p:cNvSpPr txBox="1"/>
          <p:nvPr/>
        </p:nvSpPr>
        <p:spPr>
          <a:xfrm>
            <a:off x="436500" y="1495400"/>
            <a:ext cx="8271000" cy="253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AutoNum type="arabicPeriod"/>
            </a:pPr>
            <a:r>
              <a:rPr lang="el"/>
              <a:t>Structured project repositories</a:t>
            </a:r>
            <a:endParaRPr/>
          </a:p>
          <a:p>
            <a:pPr indent="-317500" lvl="0" marL="457200" rtl="0" algn="l">
              <a:lnSpc>
                <a:spcPct val="115000"/>
              </a:lnSpc>
              <a:spcBef>
                <a:spcPts val="0"/>
              </a:spcBef>
              <a:spcAft>
                <a:spcPts val="0"/>
              </a:spcAft>
              <a:buSzPts val="1400"/>
              <a:buAutoNum type="arabicPeriod"/>
            </a:pPr>
            <a:r>
              <a:rPr lang="el"/>
              <a:t>Scalable and reproducible code</a:t>
            </a:r>
            <a:endParaRPr/>
          </a:p>
          <a:p>
            <a:pPr indent="-317500" lvl="0" marL="457200" rtl="0" algn="l">
              <a:lnSpc>
                <a:spcPct val="115000"/>
              </a:lnSpc>
              <a:spcBef>
                <a:spcPts val="0"/>
              </a:spcBef>
              <a:spcAft>
                <a:spcPts val="0"/>
              </a:spcAft>
              <a:buSzPts val="1400"/>
              <a:buAutoNum type="arabicPeriod"/>
            </a:pPr>
            <a:r>
              <a:rPr lang="el"/>
              <a:t>Clean code principles</a:t>
            </a:r>
            <a:endParaRPr/>
          </a:p>
          <a:p>
            <a:pPr indent="-317500" lvl="0" marL="457200" rtl="0" algn="l">
              <a:lnSpc>
                <a:spcPct val="115000"/>
              </a:lnSpc>
              <a:spcBef>
                <a:spcPts val="0"/>
              </a:spcBef>
              <a:spcAft>
                <a:spcPts val="0"/>
              </a:spcAft>
              <a:buSzPts val="1400"/>
              <a:buAutoNum type="arabicPeriod"/>
            </a:pPr>
            <a:r>
              <a:rPr lang="el"/>
              <a:t>Logging and Error Handling</a:t>
            </a:r>
            <a:endParaRPr/>
          </a:p>
          <a:p>
            <a:pPr indent="-317500" lvl="0" marL="457200" rtl="0" algn="l">
              <a:lnSpc>
                <a:spcPct val="115000"/>
              </a:lnSpc>
              <a:spcBef>
                <a:spcPts val="0"/>
              </a:spcBef>
              <a:spcAft>
                <a:spcPts val="0"/>
              </a:spcAft>
              <a:buSzPts val="1400"/>
              <a:buAutoNum type="arabicPeriod"/>
            </a:pPr>
            <a:r>
              <a:rPr lang="el"/>
              <a:t>Documentation and Commenting</a:t>
            </a:r>
            <a:endParaRPr/>
          </a:p>
          <a:p>
            <a:pPr indent="-317500" lvl="0" marL="457200" rtl="0" algn="l">
              <a:lnSpc>
                <a:spcPct val="115000"/>
              </a:lnSpc>
              <a:spcBef>
                <a:spcPts val="0"/>
              </a:spcBef>
              <a:spcAft>
                <a:spcPts val="0"/>
              </a:spcAft>
              <a:buSzPts val="1400"/>
              <a:buAutoNum type="arabicPeriod"/>
            </a:pPr>
            <a:r>
              <a:rPr lang="el"/>
              <a:t>Code Formatting and Styling</a:t>
            </a:r>
            <a:endParaRPr/>
          </a:p>
          <a:p>
            <a:pPr indent="-317500" lvl="0" marL="457200" rtl="0" algn="l">
              <a:lnSpc>
                <a:spcPct val="115000"/>
              </a:lnSpc>
              <a:spcBef>
                <a:spcPts val="0"/>
              </a:spcBef>
              <a:spcAft>
                <a:spcPts val="0"/>
              </a:spcAft>
              <a:buSzPts val="1400"/>
              <a:buAutoNum type="arabicPeriod"/>
            </a:pPr>
            <a:r>
              <a:rPr lang="el"/>
              <a:t>Writing good tests</a:t>
            </a:r>
            <a:endParaRPr/>
          </a:p>
          <a:p>
            <a:pPr indent="-317500" lvl="0" marL="457200" rtl="0" algn="l">
              <a:lnSpc>
                <a:spcPct val="115000"/>
              </a:lnSpc>
              <a:spcBef>
                <a:spcPts val="0"/>
              </a:spcBef>
              <a:spcAft>
                <a:spcPts val="0"/>
              </a:spcAft>
              <a:buSzPts val="1400"/>
              <a:buAutoNum type="arabicPeriod"/>
            </a:pPr>
            <a:r>
              <a:rPr lang="el"/>
              <a:t>Pipelines in ML projects</a:t>
            </a:r>
            <a:endParaRPr/>
          </a:p>
        </p:txBody>
      </p:sp>
      <p:sp>
        <p:nvSpPr>
          <p:cNvPr id="113" name="Google Shape;113;p21"/>
          <p:cNvSpPr txBox="1"/>
          <p:nvPr/>
        </p:nvSpPr>
        <p:spPr>
          <a:xfrm>
            <a:off x="475500" y="4674700"/>
            <a:ext cx="57462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t>https://madewithml.com/</a:t>
            </a:r>
            <a:endParaRPr sz="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Key Concepts of Production-Level Code</a:t>
            </a:r>
            <a:endParaRPr/>
          </a:p>
        </p:txBody>
      </p:sp>
      <p:sp>
        <p:nvSpPr>
          <p:cNvPr id="119" name="Google Shape;119;p22"/>
          <p:cNvSpPr txBox="1"/>
          <p:nvPr/>
        </p:nvSpPr>
        <p:spPr>
          <a:xfrm>
            <a:off x="436500" y="1495400"/>
            <a:ext cx="8271000" cy="253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FF00FF"/>
              </a:buClr>
              <a:buSzPts val="1400"/>
              <a:buAutoNum type="arabicPeriod"/>
            </a:pPr>
            <a:r>
              <a:rPr lang="el">
                <a:solidFill>
                  <a:srgbClr val="FF00FF"/>
                </a:solidFill>
              </a:rPr>
              <a:t>Structured project repositories</a:t>
            </a:r>
            <a:endParaRPr>
              <a:solidFill>
                <a:srgbClr val="FF00FF"/>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Scalable and reproducible code</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Clean code principles</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Logging and Error Handling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Documentation and Commenting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Code Formatting and Styling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Writing good tests</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Pipelines in ML projects</a:t>
            </a:r>
            <a:endParaRPr>
              <a:solidFill>
                <a:srgbClr val="999999"/>
              </a:solidFill>
            </a:endParaRPr>
          </a:p>
        </p:txBody>
      </p:sp>
      <p:sp>
        <p:nvSpPr>
          <p:cNvPr id="120" name="Google Shape;120;p22"/>
          <p:cNvSpPr txBox="1"/>
          <p:nvPr/>
        </p:nvSpPr>
        <p:spPr>
          <a:xfrm>
            <a:off x="475500" y="4674700"/>
            <a:ext cx="57462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t>https://madewithml.com/</a:t>
            </a:r>
            <a:endParaRPr sz="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Setup your Repository 1.</a:t>
            </a:r>
            <a:endParaRPr/>
          </a:p>
        </p:txBody>
      </p:sp>
      <p:sp>
        <p:nvSpPr>
          <p:cNvPr id="126" name="Google Shape;126;p23"/>
          <p:cNvSpPr txBox="1"/>
          <p:nvPr/>
        </p:nvSpPr>
        <p:spPr>
          <a:xfrm>
            <a:off x="386375" y="1237800"/>
            <a:ext cx="8357100" cy="13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Readme: </a:t>
            </a:r>
            <a:endParaRPr/>
          </a:p>
          <a:p>
            <a:pPr indent="-317500" lvl="0" marL="457200" rtl="0" algn="l">
              <a:spcBef>
                <a:spcPts val="0"/>
              </a:spcBef>
              <a:spcAft>
                <a:spcPts val="0"/>
              </a:spcAft>
              <a:buSzPts val="1400"/>
              <a:buChar char="-"/>
            </a:pPr>
            <a:r>
              <a:rPr lang="el"/>
              <a:t>Always a good idea to start organizing your scripts with Readme.md file </a:t>
            </a:r>
            <a:endParaRPr/>
          </a:p>
          <a:p>
            <a:pPr indent="-317500" lvl="0" marL="457200" rtl="0" algn="l">
              <a:spcBef>
                <a:spcPts val="0"/>
              </a:spcBef>
              <a:spcAft>
                <a:spcPts val="0"/>
              </a:spcAft>
              <a:buSzPts val="1400"/>
              <a:buChar char="-"/>
            </a:pPr>
            <a:r>
              <a:rPr lang="el"/>
              <a:t>Its where you organize all the instructions necessary to walkthrough the codebase</a:t>
            </a:r>
            <a:endParaRPr/>
          </a:p>
          <a:p>
            <a:pPr indent="-317500" lvl="0" marL="457200" rtl="0" algn="l">
              <a:spcBef>
                <a:spcPts val="0"/>
              </a:spcBef>
              <a:spcAft>
                <a:spcPts val="0"/>
              </a:spcAft>
              <a:buSzPts val="1400"/>
              <a:buChar char="-"/>
            </a:pPr>
            <a:r>
              <a:rPr lang="el"/>
              <a:t>Keep information on how to set-up environment, run scripts etc.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27" name="Google Shape;127;p23"/>
          <p:cNvPicPr preferRelativeResize="0"/>
          <p:nvPr/>
        </p:nvPicPr>
        <p:blipFill>
          <a:blip r:embed="rId3">
            <a:alphaModFix/>
          </a:blip>
          <a:stretch>
            <a:fillRect/>
          </a:stretch>
        </p:blipFill>
        <p:spPr>
          <a:xfrm>
            <a:off x="436450" y="2339375"/>
            <a:ext cx="6159425" cy="869575"/>
          </a:xfrm>
          <a:prstGeom prst="rect">
            <a:avLst/>
          </a:prstGeom>
          <a:noFill/>
          <a:ln>
            <a:noFill/>
          </a:ln>
        </p:spPr>
      </p:pic>
      <p:sp>
        <p:nvSpPr>
          <p:cNvPr id="128" name="Google Shape;128;p23"/>
          <p:cNvSpPr txBox="1"/>
          <p:nvPr/>
        </p:nvSpPr>
        <p:spPr>
          <a:xfrm>
            <a:off x="543775" y="3171000"/>
            <a:ext cx="54378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600"/>
              <a:t>https://madewithml.com/courses/mlops/scripting/</a:t>
            </a:r>
            <a:endParaRPr sz="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Setup your Repository 1.</a:t>
            </a:r>
            <a:endParaRPr/>
          </a:p>
        </p:txBody>
      </p:sp>
      <p:sp>
        <p:nvSpPr>
          <p:cNvPr id="134" name="Google Shape;134;p24"/>
          <p:cNvSpPr txBox="1"/>
          <p:nvPr/>
        </p:nvSpPr>
        <p:spPr>
          <a:xfrm>
            <a:off x="386375" y="1237800"/>
            <a:ext cx="8357100" cy="133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Readme: </a:t>
            </a:r>
            <a:endParaRPr/>
          </a:p>
          <a:p>
            <a:pPr indent="-317500" lvl="0" marL="457200" rtl="0" algn="l">
              <a:spcBef>
                <a:spcPts val="0"/>
              </a:spcBef>
              <a:spcAft>
                <a:spcPts val="0"/>
              </a:spcAft>
              <a:buSzPts val="1400"/>
              <a:buChar char="-"/>
            </a:pPr>
            <a:r>
              <a:rPr lang="el"/>
              <a:t>Always a good idea to start organizing your scripts with Readme.md file </a:t>
            </a:r>
            <a:endParaRPr/>
          </a:p>
          <a:p>
            <a:pPr indent="-317500" lvl="0" marL="457200" rtl="0" algn="l">
              <a:spcBef>
                <a:spcPts val="0"/>
              </a:spcBef>
              <a:spcAft>
                <a:spcPts val="0"/>
              </a:spcAft>
              <a:buSzPts val="1400"/>
              <a:buChar char="-"/>
            </a:pPr>
            <a:r>
              <a:rPr lang="el"/>
              <a:t>Its where you organize all the instructions necessary to walkthrough the codebase</a:t>
            </a:r>
            <a:endParaRPr/>
          </a:p>
          <a:p>
            <a:pPr indent="-317500" lvl="0" marL="457200" rtl="0" algn="l">
              <a:spcBef>
                <a:spcPts val="0"/>
              </a:spcBef>
              <a:spcAft>
                <a:spcPts val="0"/>
              </a:spcAft>
              <a:buSzPts val="1400"/>
              <a:buChar char="-"/>
            </a:pPr>
            <a:r>
              <a:rPr lang="el"/>
              <a:t>Keep information on how to set-up environment, run scripts etc.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35" name="Google Shape;135;p24"/>
          <p:cNvPicPr preferRelativeResize="0"/>
          <p:nvPr/>
        </p:nvPicPr>
        <p:blipFill>
          <a:blip r:embed="rId3">
            <a:alphaModFix/>
          </a:blip>
          <a:stretch>
            <a:fillRect/>
          </a:stretch>
        </p:blipFill>
        <p:spPr>
          <a:xfrm>
            <a:off x="436450" y="2339375"/>
            <a:ext cx="6159425" cy="869575"/>
          </a:xfrm>
          <a:prstGeom prst="rect">
            <a:avLst/>
          </a:prstGeom>
          <a:noFill/>
          <a:ln>
            <a:noFill/>
          </a:ln>
        </p:spPr>
      </p:pic>
      <p:sp>
        <p:nvSpPr>
          <p:cNvPr id="136" name="Google Shape;136;p24"/>
          <p:cNvSpPr txBox="1"/>
          <p:nvPr/>
        </p:nvSpPr>
        <p:spPr>
          <a:xfrm>
            <a:off x="543775" y="3171000"/>
            <a:ext cx="5437800" cy="3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600"/>
              <a:t>https://madewithml.com/courses/mlops/scripting/</a:t>
            </a:r>
            <a:endParaRPr sz="600"/>
          </a:p>
        </p:txBody>
      </p:sp>
      <p:sp>
        <p:nvSpPr>
          <p:cNvPr id="137" name="Google Shape;137;p24"/>
          <p:cNvSpPr txBox="1"/>
          <p:nvPr/>
        </p:nvSpPr>
        <p:spPr>
          <a:xfrm>
            <a:off x="386375" y="3485700"/>
            <a:ext cx="2540700" cy="145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solidFill>
                  <a:schemeClr val="dk1"/>
                </a:solidFill>
              </a:rPr>
              <a:t>What to include:</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304800" lvl="0" marL="457200" rtl="0" algn="l">
              <a:spcBef>
                <a:spcPts val="0"/>
              </a:spcBef>
              <a:spcAft>
                <a:spcPts val="0"/>
              </a:spcAft>
              <a:buClr>
                <a:schemeClr val="dk1"/>
              </a:buClr>
              <a:buSzPts val="1200"/>
              <a:buChar char="●"/>
            </a:pPr>
            <a:r>
              <a:rPr lang="el" sz="1200">
                <a:solidFill>
                  <a:schemeClr val="dk1"/>
                </a:solidFill>
              </a:rPr>
              <a:t>Project title</a:t>
            </a:r>
            <a:endParaRPr sz="1200">
              <a:solidFill>
                <a:schemeClr val="dk1"/>
              </a:solidFill>
            </a:endParaRPr>
          </a:p>
          <a:p>
            <a:pPr indent="-304800" lvl="0" marL="457200" rtl="0" algn="l">
              <a:spcBef>
                <a:spcPts val="0"/>
              </a:spcBef>
              <a:spcAft>
                <a:spcPts val="0"/>
              </a:spcAft>
              <a:buClr>
                <a:schemeClr val="dk1"/>
              </a:buClr>
              <a:buSzPts val="1200"/>
              <a:buChar char="●"/>
            </a:pPr>
            <a:r>
              <a:rPr lang="el" sz="1200">
                <a:solidFill>
                  <a:schemeClr val="dk1"/>
                </a:solidFill>
              </a:rPr>
              <a:t>Description</a:t>
            </a:r>
            <a:endParaRPr sz="1200">
              <a:solidFill>
                <a:schemeClr val="dk1"/>
              </a:solidFill>
            </a:endParaRPr>
          </a:p>
          <a:p>
            <a:pPr indent="-304800" lvl="0" marL="457200" rtl="0" algn="l">
              <a:spcBef>
                <a:spcPts val="0"/>
              </a:spcBef>
              <a:spcAft>
                <a:spcPts val="0"/>
              </a:spcAft>
              <a:buClr>
                <a:schemeClr val="dk1"/>
              </a:buClr>
              <a:buSzPts val="1200"/>
              <a:buChar char="●"/>
            </a:pPr>
            <a:r>
              <a:rPr lang="el" sz="1200">
                <a:solidFill>
                  <a:schemeClr val="dk1"/>
                </a:solidFill>
              </a:rPr>
              <a:t>Installation guidelines</a:t>
            </a:r>
            <a:endParaRPr sz="1200">
              <a:solidFill>
                <a:schemeClr val="dk1"/>
              </a:solidFill>
            </a:endParaRPr>
          </a:p>
          <a:p>
            <a:pPr indent="-304800" lvl="0" marL="457200" rtl="0" algn="l">
              <a:spcBef>
                <a:spcPts val="0"/>
              </a:spcBef>
              <a:spcAft>
                <a:spcPts val="0"/>
              </a:spcAft>
              <a:buClr>
                <a:schemeClr val="dk1"/>
              </a:buClr>
              <a:buSzPts val="1200"/>
              <a:buChar char="●"/>
            </a:pPr>
            <a:r>
              <a:rPr lang="el" sz="1200">
                <a:solidFill>
                  <a:schemeClr val="dk1"/>
                </a:solidFill>
              </a:rPr>
              <a:t>Examples</a:t>
            </a:r>
            <a:endParaRPr sz="1200">
              <a:solidFill>
                <a:schemeClr val="dk1"/>
              </a:solidFill>
            </a:endParaRPr>
          </a:p>
          <a:p>
            <a:pPr indent="-304800" lvl="0" marL="457200" rtl="0" algn="l">
              <a:spcBef>
                <a:spcPts val="0"/>
              </a:spcBef>
              <a:spcAft>
                <a:spcPts val="0"/>
              </a:spcAft>
              <a:buClr>
                <a:schemeClr val="dk1"/>
              </a:buClr>
              <a:buSzPts val="1200"/>
              <a:buChar char="●"/>
            </a:pPr>
            <a:r>
              <a:rPr lang="el" sz="1200">
                <a:solidFill>
                  <a:schemeClr val="dk1"/>
                </a:solidFill>
              </a:rPr>
              <a:t>Contributions</a:t>
            </a:r>
            <a:endParaRPr sz="1200">
              <a:solidFill>
                <a:schemeClr val="dk1"/>
              </a:solidFill>
            </a:endParaRPr>
          </a:p>
          <a:p>
            <a:pPr indent="-304800" lvl="0" marL="457200" rtl="0" algn="l">
              <a:spcBef>
                <a:spcPts val="0"/>
              </a:spcBef>
              <a:spcAft>
                <a:spcPts val="0"/>
              </a:spcAft>
              <a:buClr>
                <a:schemeClr val="dk1"/>
              </a:buClr>
              <a:buSzPts val="1200"/>
              <a:buChar char="●"/>
            </a:pPr>
            <a:r>
              <a:rPr lang="el" sz="1200">
                <a:solidFill>
                  <a:schemeClr val="dk1"/>
                </a:solidFill>
              </a:rPr>
              <a:t>etc</a:t>
            </a:r>
            <a:endParaRPr sz="12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Setup your Repository 2.</a:t>
            </a:r>
            <a:endParaRPr/>
          </a:p>
        </p:txBody>
      </p:sp>
      <p:sp>
        <p:nvSpPr>
          <p:cNvPr id="143" name="Google Shape;143;p25"/>
          <p:cNvSpPr txBox="1"/>
          <p:nvPr/>
        </p:nvSpPr>
        <p:spPr>
          <a:xfrm>
            <a:off x="429300" y="1130475"/>
            <a:ext cx="8307000" cy="144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Scripts: Move your code from notebooks to scripts</a:t>
            </a:r>
            <a:endParaRPr/>
          </a:p>
          <a:p>
            <a:pPr indent="-317500" lvl="0" marL="457200" rtl="0" algn="l">
              <a:spcBef>
                <a:spcPts val="0"/>
              </a:spcBef>
              <a:spcAft>
                <a:spcPts val="0"/>
              </a:spcAft>
              <a:buSzPts val="1400"/>
              <a:buChar char="-"/>
            </a:pPr>
            <a:r>
              <a:rPr lang="el"/>
              <a:t>Create different files and directories for the project </a:t>
            </a:r>
            <a:endParaRPr/>
          </a:p>
          <a:p>
            <a:pPr indent="-317500" lvl="0" marL="457200" rtl="0" algn="l">
              <a:spcBef>
                <a:spcPts val="0"/>
              </a:spcBef>
              <a:spcAft>
                <a:spcPts val="0"/>
              </a:spcAft>
              <a:buSzPts val="1400"/>
              <a:buChar char="-"/>
            </a:pPr>
            <a:r>
              <a:rPr lang="el"/>
              <a:t>Choose names that relate to a specific workload</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A usual structure:</a:t>
            </a:r>
            <a:endParaRPr/>
          </a:p>
        </p:txBody>
      </p:sp>
      <p:pic>
        <p:nvPicPr>
          <p:cNvPr id="144" name="Google Shape;144;p25"/>
          <p:cNvPicPr preferRelativeResize="0"/>
          <p:nvPr/>
        </p:nvPicPr>
        <p:blipFill>
          <a:blip r:embed="rId3">
            <a:alphaModFix/>
          </a:blip>
          <a:stretch>
            <a:fillRect/>
          </a:stretch>
        </p:blipFill>
        <p:spPr>
          <a:xfrm>
            <a:off x="565225" y="2571750"/>
            <a:ext cx="3183950" cy="18082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Setup your Repository 3.</a:t>
            </a:r>
            <a:endParaRPr/>
          </a:p>
        </p:txBody>
      </p:sp>
      <p:sp>
        <p:nvSpPr>
          <p:cNvPr id="150" name="Google Shape;150;p26"/>
          <p:cNvSpPr txBox="1"/>
          <p:nvPr/>
        </p:nvSpPr>
        <p:spPr>
          <a:xfrm>
            <a:off x="374100" y="1116200"/>
            <a:ext cx="8395800" cy="4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Once you have your structured set =&gt; Move code from notebooks to scripts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51" name="Google Shape;151;p26"/>
          <p:cNvPicPr preferRelativeResize="0"/>
          <p:nvPr/>
        </p:nvPicPr>
        <p:blipFill>
          <a:blip r:embed="rId3">
            <a:alphaModFix/>
          </a:blip>
          <a:stretch>
            <a:fillRect/>
          </a:stretch>
        </p:blipFill>
        <p:spPr>
          <a:xfrm>
            <a:off x="97050" y="2311371"/>
            <a:ext cx="2170150" cy="1658450"/>
          </a:xfrm>
          <a:prstGeom prst="rect">
            <a:avLst/>
          </a:prstGeom>
          <a:noFill/>
          <a:ln>
            <a:noFill/>
          </a:ln>
        </p:spPr>
      </p:pic>
      <p:sp>
        <p:nvSpPr>
          <p:cNvPr id="152" name="Google Shape;152;p26"/>
          <p:cNvSpPr txBox="1"/>
          <p:nvPr/>
        </p:nvSpPr>
        <p:spPr>
          <a:xfrm>
            <a:off x="0" y="1566800"/>
            <a:ext cx="2668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solidFill>
                  <a:srgbClr val="FF00FF"/>
                </a:solidFill>
              </a:rPr>
              <a:t>Tip 1: </a:t>
            </a:r>
            <a:endParaRPr sz="1200">
              <a:solidFill>
                <a:srgbClr val="FF00FF"/>
              </a:solidFill>
            </a:endParaRPr>
          </a:p>
          <a:p>
            <a:pPr indent="0" lvl="0" marL="0" rtl="0" algn="l">
              <a:spcBef>
                <a:spcPts val="0"/>
              </a:spcBef>
              <a:spcAft>
                <a:spcPts val="0"/>
              </a:spcAft>
              <a:buClr>
                <a:schemeClr val="dk1"/>
              </a:buClr>
              <a:buSzPts val="1100"/>
              <a:buFont typeface="Arial"/>
              <a:buNone/>
            </a:pPr>
            <a:r>
              <a:rPr lang="el" sz="1200">
                <a:solidFill>
                  <a:schemeClr val="dk1"/>
                </a:solidFill>
              </a:rPr>
              <a:t>Convert the code of each notebook cell into a function</a:t>
            </a:r>
            <a:endParaRPr sz="1200"/>
          </a:p>
        </p:txBody>
      </p:sp>
      <p:sp>
        <p:nvSpPr>
          <p:cNvPr id="153" name="Google Shape;153;p26"/>
          <p:cNvSpPr txBox="1"/>
          <p:nvPr/>
        </p:nvSpPr>
        <p:spPr>
          <a:xfrm>
            <a:off x="4216375" y="1566800"/>
            <a:ext cx="3391500" cy="82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solidFill>
                  <a:srgbClr val="FF00FF"/>
                </a:solidFill>
              </a:rPr>
              <a:t>Tip 2: </a:t>
            </a:r>
            <a:endParaRPr sz="1200">
              <a:solidFill>
                <a:srgbClr val="FF00FF"/>
              </a:solidFill>
            </a:endParaRPr>
          </a:p>
          <a:p>
            <a:pPr indent="0" lvl="0" marL="0" rtl="0" algn="l">
              <a:spcBef>
                <a:spcPts val="0"/>
              </a:spcBef>
              <a:spcAft>
                <a:spcPts val="0"/>
              </a:spcAft>
              <a:buNone/>
            </a:pPr>
            <a:r>
              <a:rPr lang="el" sz="1200">
                <a:solidFill>
                  <a:schemeClr val="dk1"/>
                </a:solidFill>
              </a:rPr>
              <a:t>Wrap small </a:t>
            </a:r>
            <a:r>
              <a:rPr lang="el" sz="1200">
                <a:solidFill>
                  <a:schemeClr val="dk1"/>
                </a:solidFill>
              </a:rPr>
              <a:t>functions around more abstract to easily execute them during workload</a:t>
            </a:r>
            <a:endParaRPr sz="1200">
              <a:solidFill>
                <a:schemeClr val="dk1"/>
              </a:solidFill>
            </a:endParaRPr>
          </a:p>
          <a:p>
            <a:pPr indent="0" lvl="0" marL="0" rtl="0" algn="l">
              <a:spcBef>
                <a:spcPts val="0"/>
              </a:spcBef>
              <a:spcAft>
                <a:spcPts val="0"/>
              </a:spcAft>
              <a:buNone/>
            </a:pPr>
            <a:r>
              <a:rPr lang="el" sz="1200">
                <a:solidFill>
                  <a:schemeClr val="dk1"/>
                </a:solidFill>
              </a:rPr>
              <a:t>(Pipelines!!)</a:t>
            </a:r>
            <a:endParaRPr sz="1200">
              <a:solidFill>
                <a:schemeClr val="dk1"/>
              </a:solidFill>
            </a:endParaRPr>
          </a:p>
        </p:txBody>
      </p:sp>
      <p:pic>
        <p:nvPicPr>
          <p:cNvPr id="154" name="Google Shape;154;p26"/>
          <p:cNvPicPr preferRelativeResize="0"/>
          <p:nvPr/>
        </p:nvPicPr>
        <p:blipFill>
          <a:blip r:embed="rId4">
            <a:alphaModFix/>
          </a:blip>
          <a:stretch>
            <a:fillRect/>
          </a:stretch>
        </p:blipFill>
        <p:spPr>
          <a:xfrm>
            <a:off x="3069525" y="2630713"/>
            <a:ext cx="2312825" cy="1456550"/>
          </a:xfrm>
          <a:prstGeom prst="rect">
            <a:avLst/>
          </a:prstGeom>
          <a:noFill/>
          <a:ln>
            <a:noFill/>
          </a:ln>
        </p:spPr>
      </p:pic>
      <p:pic>
        <p:nvPicPr>
          <p:cNvPr id="155" name="Google Shape;155;p26"/>
          <p:cNvPicPr preferRelativeResize="0"/>
          <p:nvPr/>
        </p:nvPicPr>
        <p:blipFill>
          <a:blip r:embed="rId5">
            <a:alphaModFix/>
          </a:blip>
          <a:stretch>
            <a:fillRect/>
          </a:stretch>
        </p:blipFill>
        <p:spPr>
          <a:xfrm>
            <a:off x="5816140" y="2464425"/>
            <a:ext cx="3132909" cy="1874974"/>
          </a:xfrm>
          <a:prstGeom prst="rect">
            <a:avLst/>
          </a:prstGeom>
          <a:noFill/>
          <a:ln>
            <a:noFill/>
          </a:ln>
        </p:spPr>
      </p:pic>
      <p:sp>
        <p:nvSpPr>
          <p:cNvPr id="156" name="Google Shape;156;p26"/>
          <p:cNvSpPr/>
          <p:nvPr/>
        </p:nvSpPr>
        <p:spPr>
          <a:xfrm>
            <a:off x="5409638" y="3191100"/>
            <a:ext cx="379200" cy="221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Setup your Repository 4.</a:t>
            </a:r>
            <a:endParaRPr/>
          </a:p>
        </p:txBody>
      </p:sp>
      <p:sp>
        <p:nvSpPr>
          <p:cNvPr id="162" name="Google Shape;162;p27"/>
          <p:cNvSpPr txBox="1"/>
          <p:nvPr/>
        </p:nvSpPr>
        <p:spPr>
          <a:xfrm>
            <a:off x="186025" y="1087550"/>
            <a:ext cx="65538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Config files.</a:t>
            </a:r>
            <a:endParaRPr>
              <a:solidFill>
                <a:srgbClr val="FF00FF"/>
              </a:solidFill>
            </a:endParaRPr>
          </a:p>
          <a:p>
            <a:pPr indent="0" lvl="0" marL="0" rtl="0" algn="l">
              <a:spcBef>
                <a:spcPts val="0"/>
              </a:spcBef>
              <a:spcAft>
                <a:spcPts val="0"/>
              </a:spcAft>
              <a:buNone/>
            </a:pPr>
            <a:r>
              <a:rPr lang="el"/>
              <a:t>This file includes all of the setups and configurations for all/most workloads</a:t>
            </a:r>
            <a:endParaRPr/>
          </a:p>
        </p:txBody>
      </p:sp>
      <p:pic>
        <p:nvPicPr>
          <p:cNvPr id="163" name="Google Shape;163;p27"/>
          <p:cNvPicPr preferRelativeResize="0"/>
          <p:nvPr/>
        </p:nvPicPr>
        <p:blipFill rotWithShape="1">
          <a:blip r:embed="rId3">
            <a:alphaModFix/>
          </a:blip>
          <a:srcRect b="0" l="0" r="37976" t="0"/>
          <a:stretch/>
        </p:blipFill>
        <p:spPr>
          <a:xfrm>
            <a:off x="7026125" y="763500"/>
            <a:ext cx="1974775" cy="1808250"/>
          </a:xfrm>
          <a:prstGeom prst="rect">
            <a:avLst/>
          </a:prstGeom>
          <a:noFill/>
          <a:ln>
            <a:noFill/>
          </a:ln>
        </p:spPr>
      </p:pic>
      <p:sp>
        <p:nvSpPr>
          <p:cNvPr id="164" name="Google Shape;164;p27"/>
          <p:cNvSpPr/>
          <p:nvPr/>
        </p:nvSpPr>
        <p:spPr>
          <a:xfrm>
            <a:off x="7290875" y="958750"/>
            <a:ext cx="873000" cy="2217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 name="Google Shape;165;p27"/>
          <p:cNvSpPr/>
          <p:nvPr/>
        </p:nvSpPr>
        <p:spPr>
          <a:xfrm>
            <a:off x="7290875" y="2306025"/>
            <a:ext cx="873000" cy="221700"/>
          </a:xfrm>
          <a:prstGeom prst="ellipse">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6" name="Google Shape;166;p27"/>
          <p:cNvPicPr preferRelativeResize="0"/>
          <p:nvPr/>
        </p:nvPicPr>
        <p:blipFill>
          <a:blip r:embed="rId4">
            <a:alphaModFix/>
          </a:blip>
          <a:stretch>
            <a:fillRect/>
          </a:stretch>
        </p:blipFill>
        <p:spPr>
          <a:xfrm>
            <a:off x="186035" y="1730075"/>
            <a:ext cx="3862839" cy="1175075"/>
          </a:xfrm>
          <a:prstGeom prst="rect">
            <a:avLst/>
          </a:prstGeom>
          <a:noFill/>
          <a:ln>
            <a:noFill/>
          </a:ln>
        </p:spPr>
      </p:pic>
      <p:sp>
        <p:nvSpPr>
          <p:cNvPr id="167" name="Google Shape;167;p27"/>
          <p:cNvSpPr txBox="1"/>
          <p:nvPr/>
        </p:nvSpPr>
        <p:spPr>
          <a:xfrm>
            <a:off x="186025" y="3028700"/>
            <a:ext cx="7584300" cy="7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Utilities </a:t>
            </a:r>
            <a:r>
              <a:rPr lang="el">
                <a:solidFill>
                  <a:srgbClr val="FF00FF"/>
                </a:solidFill>
              </a:rPr>
              <a:t>files.</a:t>
            </a:r>
            <a:endParaRPr>
              <a:solidFill>
                <a:srgbClr val="FF00FF"/>
              </a:solidFill>
            </a:endParaRPr>
          </a:p>
          <a:p>
            <a:pPr indent="0" lvl="0" marL="0" rtl="0" algn="l">
              <a:spcBef>
                <a:spcPts val="0"/>
              </a:spcBef>
              <a:spcAft>
                <a:spcPts val="0"/>
              </a:spcAft>
              <a:buNone/>
            </a:pPr>
            <a:r>
              <a:rPr lang="el"/>
              <a:t>A script to include components that will be reused across scripts. </a:t>
            </a:r>
            <a:endParaRPr/>
          </a:p>
          <a:p>
            <a:pPr indent="0" lvl="0" marL="0" rtl="0" algn="l">
              <a:spcBef>
                <a:spcPts val="0"/>
              </a:spcBef>
              <a:spcAft>
                <a:spcPts val="0"/>
              </a:spcAft>
              <a:buNone/>
            </a:pPr>
            <a:r>
              <a:rPr lang="el"/>
              <a:t>You can avoid circular dependency conflicts (two scripts call a function from one another)</a:t>
            </a:r>
            <a:endParaRPr/>
          </a:p>
        </p:txBody>
      </p:sp>
      <p:pic>
        <p:nvPicPr>
          <p:cNvPr id="168" name="Google Shape;168;p27"/>
          <p:cNvPicPr preferRelativeResize="0"/>
          <p:nvPr/>
        </p:nvPicPr>
        <p:blipFill>
          <a:blip r:embed="rId5">
            <a:alphaModFix/>
          </a:blip>
          <a:stretch>
            <a:fillRect/>
          </a:stretch>
        </p:blipFill>
        <p:spPr>
          <a:xfrm>
            <a:off x="264723" y="3786049"/>
            <a:ext cx="3977800" cy="1293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Create Virtual Environments.</a:t>
            </a:r>
            <a:endParaRPr/>
          </a:p>
        </p:txBody>
      </p:sp>
      <p:sp>
        <p:nvSpPr>
          <p:cNvPr id="174" name="Google Shape;174;p28"/>
          <p:cNvSpPr txBox="1"/>
          <p:nvPr/>
        </p:nvSpPr>
        <p:spPr>
          <a:xfrm>
            <a:off x="343900" y="1061600"/>
            <a:ext cx="8290800" cy="109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500">
                <a:solidFill>
                  <a:srgbClr val="FF00FF"/>
                </a:solidFill>
              </a:rPr>
              <a:t>An isolated workspace to manage dependencies and versions.</a:t>
            </a:r>
            <a:endParaRPr sz="1500">
              <a:solidFill>
                <a:srgbClr val="FF00FF"/>
              </a:solidFill>
            </a:endParaRPr>
          </a:p>
          <a:p>
            <a:pPr indent="-323850" lvl="0" marL="457200" rtl="0" algn="l">
              <a:spcBef>
                <a:spcPts val="0"/>
              </a:spcBef>
              <a:spcAft>
                <a:spcPts val="0"/>
              </a:spcAft>
              <a:buClr>
                <a:schemeClr val="dk1"/>
              </a:buClr>
              <a:buSzPts val="1500"/>
              <a:buChar char="●"/>
            </a:pPr>
            <a:r>
              <a:rPr lang="el" sz="1500">
                <a:solidFill>
                  <a:schemeClr val="dk1"/>
                </a:solidFill>
              </a:rPr>
              <a:t>Dependency management: Different projects require different libraries or versions</a:t>
            </a:r>
            <a:endParaRPr sz="1500">
              <a:solidFill>
                <a:schemeClr val="dk1"/>
              </a:solidFill>
            </a:endParaRPr>
          </a:p>
          <a:p>
            <a:pPr indent="-323850" lvl="0" marL="457200" rtl="0" algn="l">
              <a:spcBef>
                <a:spcPts val="0"/>
              </a:spcBef>
              <a:spcAft>
                <a:spcPts val="0"/>
              </a:spcAft>
              <a:buClr>
                <a:schemeClr val="dk1"/>
              </a:buClr>
              <a:buSzPts val="1500"/>
              <a:buChar char="●"/>
            </a:pPr>
            <a:r>
              <a:rPr lang="el" sz="1500">
                <a:solidFill>
                  <a:schemeClr val="dk1"/>
                </a:solidFill>
              </a:rPr>
              <a:t>Reproducibility: Everyone running the </a:t>
            </a:r>
            <a:r>
              <a:rPr lang="el" sz="1500">
                <a:solidFill>
                  <a:schemeClr val="dk1"/>
                </a:solidFill>
              </a:rPr>
              <a:t>applications</a:t>
            </a:r>
            <a:r>
              <a:rPr lang="el" sz="1500">
                <a:solidFill>
                  <a:schemeClr val="dk1"/>
                </a:solidFill>
              </a:rPr>
              <a:t> uses the same libraries</a:t>
            </a:r>
            <a:endParaRPr sz="1500">
              <a:solidFill>
                <a:schemeClr val="dk1"/>
              </a:solidFill>
            </a:endParaRPr>
          </a:p>
          <a:p>
            <a:pPr indent="-323850" lvl="0" marL="457200" rtl="0" algn="l">
              <a:spcBef>
                <a:spcPts val="0"/>
              </a:spcBef>
              <a:spcAft>
                <a:spcPts val="0"/>
              </a:spcAft>
              <a:buClr>
                <a:schemeClr val="dk1"/>
              </a:buClr>
              <a:buSzPts val="1500"/>
              <a:buChar char="●"/>
            </a:pPr>
            <a:r>
              <a:rPr lang="el" sz="1500">
                <a:solidFill>
                  <a:schemeClr val="dk1"/>
                </a:solidFill>
              </a:rPr>
              <a:t>Isolation</a:t>
            </a:r>
            <a:r>
              <a:rPr lang="el" sz="1500">
                <a:solidFill>
                  <a:schemeClr val="dk1"/>
                </a:solidFill>
              </a:rPr>
              <a:t>: Libraries and tools from one project do not affect the others</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sz="1500">
              <a:solidFill>
                <a:schemeClr val="dk1"/>
              </a:solidFill>
            </a:endParaRPr>
          </a:p>
        </p:txBody>
      </p:sp>
      <p:pic>
        <p:nvPicPr>
          <p:cNvPr id="175" name="Google Shape;175;p28"/>
          <p:cNvPicPr preferRelativeResize="0"/>
          <p:nvPr/>
        </p:nvPicPr>
        <p:blipFill rotWithShape="1">
          <a:blip r:embed="rId3">
            <a:alphaModFix/>
          </a:blip>
          <a:srcRect b="72512" l="0" r="70978" t="0"/>
          <a:stretch/>
        </p:blipFill>
        <p:spPr>
          <a:xfrm>
            <a:off x="533925" y="3087050"/>
            <a:ext cx="1619175" cy="269675"/>
          </a:xfrm>
          <a:prstGeom prst="rect">
            <a:avLst/>
          </a:prstGeom>
          <a:noFill/>
          <a:ln>
            <a:noFill/>
          </a:ln>
        </p:spPr>
      </p:pic>
      <p:sp>
        <p:nvSpPr>
          <p:cNvPr id="176" name="Google Shape;176;p28"/>
          <p:cNvSpPr txBox="1"/>
          <p:nvPr/>
        </p:nvSpPr>
        <p:spPr>
          <a:xfrm>
            <a:off x="396675" y="2142000"/>
            <a:ext cx="8290800" cy="109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500">
                <a:solidFill>
                  <a:srgbClr val="1155CC"/>
                </a:solidFill>
              </a:rPr>
              <a:t>venv </a:t>
            </a:r>
            <a:r>
              <a:rPr lang="el" sz="1500">
                <a:solidFill>
                  <a:schemeClr val="dk1"/>
                </a:solidFill>
              </a:rPr>
              <a:t>(for Python 3) allows you to manage separate </a:t>
            </a:r>
            <a:r>
              <a:rPr lang="el" sz="1500">
                <a:solidFill>
                  <a:schemeClr val="dk1"/>
                </a:solidFill>
              </a:rPr>
              <a:t>package</a:t>
            </a:r>
            <a:r>
              <a:rPr lang="el" sz="1500">
                <a:solidFill>
                  <a:schemeClr val="dk1"/>
                </a:solidFill>
              </a:rPr>
              <a:t> installations</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l" sz="1500">
                <a:solidFill>
                  <a:schemeClr val="dk1"/>
                </a:solidFill>
              </a:rPr>
              <a:t>When you switch projects you create a new virtual environment:</a:t>
            </a:r>
            <a:endParaRPr sz="1500">
              <a:solidFill>
                <a:schemeClr val="dk1"/>
              </a:solidFill>
            </a:endParaRPr>
          </a:p>
        </p:txBody>
      </p:sp>
      <p:sp>
        <p:nvSpPr>
          <p:cNvPr id="177" name="Google Shape;177;p28"/>
          <p:cNvSpPr/>
          <p:nvPr/>
        </p:nvSpPr>
        <p:spPr>
          <a:xfrm>
            <a:off x="1540050" y="2997875"/>
            <a:ext cx="486000" cy="4560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8" name="Google Shape;178;p28"/>
          <p:cNvCxnSpPr>
            <a:stCxn id="177" idx="6"/>
          </p:cNvCxnSpPr>
          <p:nvPr/>
        </p:nvCxnSpPr>
        <p:spPr>
          <a:xfrm>
            <a:off x="2026050" y="3225875"/>
            <a:ext cx="426000" cy="0"/>
          </a:xfrm>
          <a:prstGeom prst="straightConnector1">
            <a:avLst/>
          </a:prstGeom>
          <a:noFill/>
          <a:ln cap="flat" cmpd="sng" w="9525">
            <a:solidFill>
              <a:srgbClr val="FF0000"/>
            </a:solidFill>
            <a:prstDash val="solid"/>
            <a:round/>
            <a:headEnd len="med" w="med" type="none"/>
            <a:tailEnd len="med" w="med" type="triangle"/>
          </a:ln>
        </p:spPr>
      </p:cxnSp>
      <p:sp>
        <p:nvSpPr>
          <p:cNvPr id="179" name="Google Shape;179;p28"/>
          <p:cNvSpPr txBox="1"/>
          <p:nvPr/>
        </p:nvSpPr>
        <p:spPr>
          <a:xfrm>
            <a:off x="2399800" y="3057475"/>
            <a:ext cx="1480200" cy="32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00"/>
                </a:solidFill>
              </a:rPr>
              <a:t>Location</a:t>
            </a:r>
            <a:endParaRPr>
              <a:solidFill>
                <a:srgbClr val="FF0000"/>
              </a:solidFill>
            </a:endParaRPr>
          </a:p>
        </p:txBody>
      </p:sp>
      <p:sp>
        <p:nvSpPr>
          <p:cNvPr id="180" name="Google Shape;180;p28"/>
          <p:cNvSpPr txBox="1"/>
          <p:nvPr/>
        </p:nvSpPr>
        <p:spPr>
          <a:xfrm>
            <a:off x="508375" y="3558575"/>
            <a:ext cx="2803500" cy="5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dk1"/>
                </a:solidFill>
              </a:rPr>
              <a:t>And then you can activate it:</a:t>
            </a:r>
            <a:endParaRPr sz="1600">
              <a:solidFill>
                <a:schemeClr val="dk1"/>
              </a:solidFill>
            </a:endParaRPr>
          </a:p>
        </p:txBody>
      </p:sp>
      <p:pic>
        <p:nvPicPr>
          <p:cNvPr id="181" name="Google Shape;181;p28"/>
          <p:cNvPicPr preferRelativeResize="0"/>
          <p:nvPr/>
        </p:nvPicPr>
        <p:blipFill>
          <a:blip r:embed="rId4">
            <a:alphaModFix/>
          </a:blip>
          <a:stretch>
            <a:fillRect/>
          </a:stretch>
        </p:blipFill>
        <p:spPr>
          <a:xfrm>
            <a:off x="3224565" y="3618400"/>
            <a:ext cx="1347436" cy="328800"/>
          </a:xfrm>
          <a:prstGeom prst="rect">
            <a:avLst/>
          </a:prstGeom>
          <a:noFill/>
          <a:ln>
            <a:noFill/>
          </a:ln>
        </p:spPr>
      </p:pic>
      <p:sp>
        <p:nvSpPr>
          <p:cNvPr id="182" name="Google Shape;182;p28"/>
          <p:cNvSpPr txBox="1"/>
          <p:nvPr/>
        </p:nvSpPr>
        <p:spPr>
          <a:xfrm>
            <a:off x="456050" y="4298625"/>
            <a:ext cx="4530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dk1"/>
                </a:solidFill>
              </a:rPr>
              <a:t>Then you install your packages:</a:t>
            </a:r>
            <a:endParaRPr sz="1600">
              <a:solidFill>
                <a:schemeClr val="dk1"/>
              </a:solidFill>
            </a:endParaRPr>
          </a:p>
        </p:txBody>
      </p:sp>
      <p:pic>
        <p:nvPicPr>
          <p:cNvPr id="183" name="Google Shape;183;p28"/>
          <p:cNvPicPr preferRelativeResize="0"/>
          <p:nvPr/>
        </p:nvPicPr>
        <p:blipFill>
          <a:blip r:embed="rId5">
            <a:alphaModFix/>
          </a:blip>
          <a:stretch>
            <a:fillRect/>
          </a:stretch>
        </p:blipFill>
        <p:spPr>
          <a:xfrm>
            <a:off x="3529994" y="4324700"/>
            <a:ext cx="2346582" cy="396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Key Concepts of Production-Level Code</a:t>
            </a:r>
            <a:endParaRPr/>
          </a:p>
        </p:txBody>
      </p:sp>
      <p:sp>
        <p:nvSpPr>
          <p:cNvPr id="189" name="Google Shape;189;p29"/>
          <p:cNvSpPr txBox="1"/>
          <p:nvPr/>
        </p:nvSpPr>
        <p:spPr>
          <a:xfrm>
            <a:off x="436500" y="1495400"/>
            <a:ext cx="8271000" cy="253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AutoNum type="arabicPeriod"/>
            </a:pPr>
            <a:r>
              <a:rPr lang="el"/>
              <a:t>Structured project repositories</a:t>
            </a:r>
            <a:endParaRPr/>
          </a:p>
          <a:p>
            <a:pPr indent="-317500" lvl="0" marL="457200" rtl="0" algn="l">
              <a:lnSpc>
                <a:spcPct val="115000"/>
              </a:lnSpc>
              <a:spcBef>
                <a:spcPts val="0"/>
              </a:spcBef>
              <a:spcAft>
                <a:spcPts val="0"/>
              </a:spcAft>
              <a:buClr>
                <a:srgbClr val="FF00FF"/>
              </a:buClr>
              <a:buSzPts val="1400"/>
              <a:buAutoNum type="arabicPeriod"/>
            </a:pPr>
            <a:r>
              <a:rPr lang="el">
                <a:solidFill>
                  <a:srgbClr val="FF00FF"/>
                </a:solidFill>
              </a:rPr>
              <a:t>Scalable and reproducible code</a:t>
            </a:r>
            <a:endParaRPr>
              <a:solidFill>
                <a:srgbClr val="FF00FF"/>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Clean code principles</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Logging and Error Handling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Documentation and Commenting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Code Formatting and Styling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Writing good tests</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Pipelines in ML projects</a:t>
            </a:r>
            <a:endParaRPr>
              <a:solidFill>
                <a:srgbClr val="999999"/>
              </a:solidFill>
            </a:endParaRPr>
          </a:p>
        </p:txBody>
      </p:sp>
      <p:sp>
        <p:nvSpPr>
          <p:cNvPr id="190" name="Google Shape;190;p29"/>
          <p:cNvSpPr txBox="1"/>
          <p:nvPr/>
        </p:nvSpPr>
        <p:spPr>
          <a:xfrm>
            <a:off x="475500" y="4674700"/>
            <a:ext cx="57462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t>https://madewithml.com/</a:t>
            </a:r>
            <a:endParaRPr sz="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Scalable Code</a:t>
            </a:r>
            <a:endParaRPr/>
          </a:p>
        </p:txBody>
      </p:sp>
      <p:sp>
        <p:nvSpPr>
          <p:cNvPr id="196" name="Google Shape;196;p30"/>
          <p:cNvSpPr txBox="1"/>
          <p:nvPr/>
        </p:nvSpPr>
        <p:spPr>
          <a:xfrm>
            <a:off x="354625" y="1380900"/>
            <a:ext cx="8256900" cy="203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Definition:</a:t>
            </a:r>
            <a:endParaRPr>
              <a:solidFill>
                <a:srgbClr val="FF00FF"/>
              </a:solidFill>
            </a:endParaRPr>
          </a:p>
          <a:p>
            <a:pPr indent="0" lvl="0" marL="0" rtl="0" algn="l">
              <a:spcBef>
                <a:spcPts val="0"/>
              </a:spcBef>
              <a:spcAft>
                <a:spcPts val="0"/>
              </a:spcAft>
              <a:buNone/>
            </a:pPr>
            <a:r>
              <a:rPr lang="el"/>
              <a:t>Code that can handle an increasing amount of work by adding resources</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Assume that new data is coming in every week</a:t>
            </a:r>
            <a:endParaRPr/>
          </a:p>
          <a:p>
            <a:pPr indent="-317500" lvl="0" marL="457200" rtl="0" algn="l">
              <a:spcBef>
                <a:spcPts val="0"/>
              </a:spcBef>
              <a:spcAft>
                <a:spcPts val="0"/>
              </a:spcAft>
              <a:buSzPts val="1400"/>
              <a:buChar char="-"/>
            </a:pPr>
            <a:r>
              <a:rPr lang="el"/>
              <a:t>At some point the efficiency of your code will start decreasing</a:t>
            </a:r>
            <a:endParaRPr/>
          </a:p>
          <a:p>
            <a:pPr indent="-317500" lvl="0" marL="457200" rtl="0" algn="l">
              <a:spcBef>
                <a:spcPts val="0"/>
              </a:spcBef>
              <a:spcAft>
                <a:spcPts val="0"/>
              </a:spcAft>
              <a:buSzPts val="1400"/>
              <a:buChar char="-"/>
            </a:pPr>
            <a:r>
              <a:rPr lang="el"/>
              <a:t>You update your hardware (either </a:t>
            </a:r>
            <a:r>
              <a:rPr lang="el"/>
              <a:t>horizontally</a:t>
            </a:r>
            <a:r>
              <a:rPr lang="el"/>
              <a:t> or </a:t>
            </a:r>
            <a:r>
              <a:rPr lang="el"/>
              <a:t>vertically</a:t>
            </a:r>
            <a:r>
              <a:rPr lang="el"/>
              <a:t>)</a:t>
            </a:r>
            <a:endParaRPr/>
          </a:p>
          <a:p>
            <a:pPr indent="-317500" lvl="0" marL="457200" rtl="0" algn="l">
              <a:spcBef>
                <a:spcPts val="0"/>
              </a:spcBef>
              <a:spcAft>
                <a:spcPts val="0"/>
              </a:spcAft>
              <a:buSzPts val="1400"/>
              <a:buChar char="-"/>
            </a:pPr>
            <a:r>
              <a:rPr lang="el"/>
              <a:t>You update your code to match the hardware update!</a:t>
            </a:r>
            <a:endParaRPr/>
          </a:p>
          <a:p>
            <a:pPr indent="0" lvl="0" marL="457200" rtl="0" algn="l">
              <a:spcBef>
                <a:spcPts val="0"/>
              </a:spcBef>
              <a:spcAft>
                <a:spcPts val="0"/>
              </a:spcAft>
              <a:buNone/>
            </a:pPr>
            <a:r>
              <a:t/>
            </a:r>
            <a:endParaRPr/>
          </a:p>
          <a:p>
            <a:pPr indent="0" lvl="0" marL="0" rtl="0" algn="l">
              <a:spcBef>
                <a:spcPts val="0"/>
              </a:spcBef>
              <a:spcAft>
                <a:spcPts val="0"/>
              </a:spcAft>
              <a:buNone/>
            </a:pPr>
            <a:r>
              <a:rPr lang="el"/>
              <a:t>Why not have scalable code in the first place?</a:t>
            </a:r>
            <a:endParaRPr/>
          </a:p>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Example of Scalable code.</a:t>
            </a:r>
            <a:endParaRPr/>
          </a:p>
        </p:txBody>
      </p:sp>
      <p:sp>
        <p:nvSpPr>
          <p:cNvPr id="202" name="Google Shape;202;p31"/>
          <p:cNvSpPr txBox="1"/>
          <p:nvPr/>
        </p:nvSpPr>
        <p:spPr>
          <a:xfrm>
            <a:off x="443600" y="1223500"/>
            <a:ext cx="83886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Load data as data size increases!</a:t>
            </a:r>
            <a:endParaRPr/>
          </a:p>
        </p:txBody>
      </p:sp>
      <p:pic>
        <p:nvPicPr>
          <p:cNvPr id="203" name="Google Shape;203;p31"/>
          <p:cNvPicPr preferRelativeResize="0"/>
          <p:nvPr/>
        </p:nvPicPr>
        <p:blipFill>
          <a:blip r:embed="rId3">
            <a:alphaModFix/>
          </a:blip>
          <a:stretch>
            <a:fillRect/>
          </a:stretch>
        </p:blipFill>
        <p:spPr>
          <a:xfrm>
            <a:off x="479400" y="1705900"/>
            <a:ext cx="5094924" cy="1091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Reproducible Code</a:t>
            </a:r>
            <a:endParaRPr/>
          </a:p>
        </p:txBody>
      </p:sp>
      <p:sp>
        <p:nvSpPr>
          <p:cNvPr id="209" name="Google Shape;209;p32"/>
          <p:cNvSpPr txBox="1"/>
          <p:nvPr/>
        </p:nvSpPr>
        <p:spPr>
          <a:xfrm>
            <a:off x="429300" y="1173425"/>
            <a:ext cx="8285400" cy="35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Definition:</a:t>
            </a:r>
            <a:endParaRPr>
              <a:solidFill>
                <a:srgbClr val="FF00FF"/>
              </a:solidFill>
            </a:endParaRPr>
          </a:p>
          <a:p>
            <a:pPr indent="0" lvl="0" marL="0" rtl="0" algn="l">
              <a:spcBef>
                <a:spcPts val="0"/>
              </a:spcBef>
              <a:spcAft>
                <a:spcPts val="0"/>
              </a:spcAft>
              <a:buNone/>
            </a:pPr>
            <a:r>
              <a:rPr lang="el"/>
              <a:t>Code that yields the same results across different runs and environments.</a:t>
            </a:r>
            <a:endParaRPr/>
          </a:p>
          <a:p>
            <a:pPr indent="0" lvl="0" marL="0" rtl="0" algn="l">
              <a:spcBef>
                <a:spcPts val="0"/>
              </a:spcBef>
              <a:spcAft>
                <a:spcPts val="0"/>
              </a:spcAft>
              <a:buNone/>
            </a:pPr>
            <a:r>
              <a:rPr lang="el"/>
              <a:t>Important in ensuring </a:t>
            </a:r>
            <a:r>
              <a:rPr lang="el"/>
              <a:t>consistency</a:t>
            </a:r>
            <a:r>
              <a:rPr lang="el"/>
              <a:t> and validity</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Assume you train a Neural Network in your Laptop</a:t>
            </a:r>
            <a:endParaRPr/>
          </a:p>
          <a:p>
            <a:pPr indent="0" lvl="0" marL="0" rtl="0" algn="l">
              <a:spcBef>
                <a:spcPts val="0"/>
              </a:spcBef>
              <a:spcAft>
                <a:spcPts val="0"/>
              </a:spcAft>
              <a:buNone/>
            </a:pPr>
            <a:r>
              <a:rPr lang="el"/>
              <a:t>Your manager runs the same code and gets completely different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Why? </a:t>
            </a:r>
            <a:endParaRPr>
              <a:solidFill>
                <a:srgbClr val="FF00FF"/>
              </a:solidFill>
            </a:endParaRPr>
          </a:p>
          <a:p>
            <a:pPr indent="0" lvl="0" marL="0" rtl="0" algn="l">
              <a:spcBef>
                <a:spcPts val="0"/>
              </a:spcBef>
              <a:spcAft>
                <a:spcPts val="0"/>
              </a:spcAft>
              <a:buNone/>
            </a:pPr>
            <a:r>
              <a:rPr lang="el"/>
              <a:t>Neural Network training is prone to multiple things like weight initialization.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How?</a:t>
            </a:r>
            <a:endParaRPr>
              <a:solidFill>
                <a:srgbClr val="FF00FF"/>
              </a:solidFill>
            </a:endParaRPr>
          </a:p>
          <a:p>
            <a:pPr indent="-317500" lvl="0" marL="457200" rtl="0" algn="l">
              <a:spcBef>
                <a:spcPts val="0"/>
              </a:spcBef>
              <a:spcAft>
                <a:spcPts val="0"/>
              </a:spcAft>
              <a:buSzPts val="1400"/>
              <a:buChar char="-"/>
            </a:pPr>
            <a:r>
              <a:rPr lang="el"/>
              <a:t>Dockerize (next lecture)</a:t>
            </a:r>
            <a:endParaRPr/>
          </a:p>
          <a:p>
            <a:pPr indent="-317500" lvl="0" marL="457200" rtl="0" algn="l">
              <a:spcBef>
                <a:spcPts val="0"/>
              </a:spcBef>
              <a:spcAft>
                <a:spcPts val="0"/>
              </a:spcAft>
              <a:buSzPts val="1400"/>
              <a:buChar char="-"/>
            </a:pPr>
            <a:r>
              <a:rPr lang="el"/>
              <a:t>Set seeds!!! (very important)</a:t>
            </a:r>
            <a:endParaRPr/>
          </a:p>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Example of Reproducible code</a:t>
            </a:r>
            <a:endParaRPr/>
          </a:p>
        </p:txBody>
      </p:sp>
      <p:sp>
        <p:nvSpPr>
          <p:cNvPr id="215" name="Google Shape;215;p33"/>
          <p:cNvSpPr txBox="1"/>
          <p:nvPr/>
        </p:nvSpPr>
        <p:spPr>
          <a:xfrm>
            <a:off x="443600" y="1230650"/>
            <a:ext cx="7813200" cy="10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Set all seeds to fixed numbers to ensure consistency</a:t>
            </a:r>
            <a:endParaRPr/>
          </a:p>
        </p:txBody>
      </p:sp>
      <p:pic>
        <p:nvPicPr>
          <p:cNvPr id="216" name="Google Shape;216;p33"/>
          <p:cNvPicPr preferRelativeResize="0"/>
          <p:nvPr/>
        </p:nvPicPr>
        <p:blipFill>
          <a:blip r:embed="rId3">
            <a:alphaModFix/>
          </a:blip>
          <a:stretch>
            <a:fillRect/>
          </a:stretch>
        </p:blipFill>
        <p:spPr>
          <a:xfrm>
            <a:off x="586700" y="1728150"/>
            <a:ext cx="3274775" cy="1909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Importance of Scalable &amp; Reproducible Code</a:t>
            </a:r>
            <a:endParaRPr/>
          </a:p>
        </p:txBody>
      </p:sp>
      <p:sp>
        <p:nvSpPr>
          <p:cNvPr id="222" name="Google Shape;222;p34"/>
          <p:cNvSpPr txBox="1"/>
          <p:nvPr/>
        </p:nvSpPr>
        <p:spPr>
          <a:xfrm>
            <a:off x="407825" y="1202025"/>
            <a:ext cx="8292600" cy="371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In academic code:</a:t>
            </a:r>
            <a:endParaRPr>
              <a:solidFill>
                <a:srgbClr val="FF00FF"/>
              </a:solidFill>
            </a:endParaRPr>
          </a:p>
          <a:p>
            <a:pPr indent="0" lvl="0" marL="0" rtl="0" algn="l">
              <a:spcBef>
                <a:spcPts val="0"/>
              </a:spcBef>
              <a:spcAft>
                <a:spcPts val="0"/>
              </a:spcAft>
              <a:buNone/>
            </a:pPr>
            <a:r>
              <a:rPr lang="el"/>
              <a:t>Focus is often on proving concepts under controlled conditions (a fixed experiment) to get results.</a:t>
            </a:r>
            <a:endParaRPr/>
          </a:p>
          <a:p>
            <a:pPr indent="0" lvl="0" marL="0" rtl="0" algn="l">
              <a:spcBef>
                <a:spcPts val="0"/>
              </a:spcBef>
              <a:spcAft>
                <a:spcPts val="0"/>
              </a:spcAft>
              <a:buNone/>
            </a:pPr>
            <a:r>
              <a:rPr lang="el"/>
              <a:t>We do not care so much to scale or reproduce the experiment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In production environment: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Scalability:</a:t>
            </a:r>
            <a:endParaRPr>
              <a:solidFill>
                <a:srgbClr val="FF00FF"/>
              </a:solidFill>
            </a:endParaRPr>
          </a:p>
          <a:p>
            <a:pPr indent="-317500" lvl="0" marL="457200" rtl="0" algn="l">
              <a:spcBef>
                <a:spcPts val="0"/>
              </a:spcBef>
              <a:spcAft>
                <a:spcPts val="0"/>
              </a:spcAft>
              <a:buSzPts val="1400"/>
              <a:buChar char="-"/>
            </a:pPr>
            <a:r>
              <a:rPr lang="el"/>
              <a:t>Ensures the </a:t>
            </a:r>
            <a:r>
              <a:rPr lang="el"/>
              <a:t>system</a:t>
            </a:r>
            <a:r>
              <a:rPr lang="el"/>
              <a:t> can handle real-world data volumes and user loads</a:t>
            </a:r>
            <a:endParaRPr/>
          </a:p>
          <a:p>
            <a:pPr indent="-317500" lvl="0" marL="457200" rtl="0" algn="l">
              <a:spcBef>
                <a:spcPts val="0"/>
              </a:spcBef>
              <a:spcAft>
                <a:spcPts val="0"/>
              </a:spcAft>
              <a:buSzPts val="1400"/>
              <a:buChar char="-"/>
            </a:pPr>
            <a:r>
              <a:rPr lang="el"/>
              <a:t>Facilitates resource </a:t>
            </a:r>
            <a:r>
              <a:rPr lang="el"/>
              <a:t>optimization</a:t>
            </a:r>
            <a:r>
              <a:rPr lang="el"/>
              <a:t> and cost-effectiveness</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Reproducibility:</a:t>
            </a:r>
            <a:endParaRPr>
              <a:solidFill>
                <a:srgbClr val="FF00FF"/>
              </a:solidFill>
            </a:endParaRPr>
          </a:p>
          <a:p>
            <a:pPr indent="-317500" lvl="0" marL="457200" rtl="0" algn="l">
              <a:spcBef>
                <a:spcPts val="0"/>
              </a:spcBef>
              <a:spcAft>
                <a:spcPts val="0"/>
              </a:spcAft>
              <a:buSzPts val="1400"/>
              <a:buChar char="-"/>
            </a:pPr>
            <a:r>
              <a:rPr lang="el"/>
              <a:t>Guarantees consistent model behavior. Crucial for real-world applications</a:t>
            </a:r>
            <a:endParaRPr/>
          </a:p>
          <a:p>
            <a:pPr indent="-317500" lvl="0" marL="457200" rtl="0" algn="l">
              <a:spcBef>
                <a:spcPts val="0"/>
              </a:spcBef>
              <a:spcAft>
                <a:spcPts val="0"/>
              </a:spcAft>
              <a:buSzPts val="1400"/>
              <a:buChar char="-"/>
            </a:pPr>
            <a:r>
              <a:rPr lang="el"/>
              <a:t>Aids in debugging and iterative development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Key Concepts of Production-Level Code</a:t>
            </a:r>
            <a:endParaRPr/>
          </a:p>
        </p:txBody>
      </p:sp>
      <p:sp>
        <p:nvSpPr>
          <p:cNvPr id="228" name="Google Shape;228;p35"/>
          <p:cNvSpPr txBox="1"/>
          <p:nvPr/>
        </p:nvSpPr>
        <p:spPr>
          <a:xfrm>
            <a:off x="436500" y="1495400"/>
            <a:ext cx="8271000" cy="253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AutoNum type="arabicPeriod"/>
            </a:pPr>
            <a:r>
              <a:rPr lang="el"/>
              <a:t>Structured project repositories</a:t>
            </a:r>
            <a:endParaRPr/>
          </a:p>
          <a:p>
            <a:pPr indent="-317500" lvl="0" marL="457200" rtl="0" algn="l">
              <a:lnSpc>
                <a:spcPct val="115000"/>
              </a:lnSpc>
              <a:spcBef>
                <a:spcPts val="0"/>
              </a:spcBef>
              <a:spcAft>
                <a:spcPts val="0"/>
              </a:spcAft>
              <a:buSzPts val="1400"/>
              <a:buAutoNum type="arabicPeriod"/>
            </a:pPr>
            <a:r>
              <a:rPr lang="el"/>
              <a:t>Scalable and reproducible code</a:t>
            </a:r>
            <a:endParaRPr/>
          </a:p>
          <a:p>
            <a:pPr indent="-317500" lvl="0" marL="457200" rtl="0" algn="l">
              <a:lnSpc>
                <a:spcPct val="115000"/>
              </a:lnSpc>
              <a:spcBef>
                <a:spcPts val="0"/>
              </a:spcBef>
              <a:spcAft>
                <a:spcPts val="0"/>
              </a:spcAft>
              <a:buClr>
                <a:srgbClr val="FF00FF"/>
              </a:buClr>
              <a:buSzPts val="1400"/>
              <a:buAutoNum type="arabicPeriod"/>
            </a:pPr>
            <a:r>
              <a:rPr lang="el">
                <a:solidFill>
                  <a:srgbClr val="FF00FF"/>
                </a:solidFill>
              </a:rPr>
              <a:t>Clean code principles</a:t>
            </a:r>
            <a:endParaRPr>
              <a:solidFill>
                <a:srgbClr val="FF00FF"/>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Logging and Error Handling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Documentation and Commenting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Code Formatting and Styling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Writing good tests</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Pipelines in ML projects</a:t>
            </a:r>
            <a:endParaRPr>
              <a:solidFill>
                <a:srgbClr val="999999"/>
              </a:solidFill>
            </a:endParaRPr>
          </a:p>
        </p:txBody>
      </p:sp>
      <p:sp>
        <p:nvSpPr>
          <p:cNvPr id="229" name="Google Shape;229;p35"/>
          <p:cNvSpPr txBox="1"/>
          <p:nvPr/>
        </p:nvSpPr>
        <p:spPr>
          <a:xfrm>
            <a:off x="475500" y="4674700"/>
            <a:ext cx="57462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t>https://madewithml.com/</a:t>
            </a:r>
            <a:endParaRPr sz="9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Clean Code Principles</a:t>
            </a:r>
            <a:endParaRPr/>
          </a:p>
        </p:txBody>
      </p:sp>
      <p:sp>
        <p:nvSpPr>
          <p:cNvPr id="235" name="Google Shape;235;p36"/>
          <p:cNvSpPr txBox="1"/>
          <p:nvPr/>
        </p:nvSpPr>
        <p:spPr>
          <a:xfrm>
            <a:off x="279025" y="1109025"/>
            <a:ext cx="8264100" cy="215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Write code that is easy to read, understand and maintain by others.</a:t>
            </a:r>
            <a:endParaRPr/>
          </a:p>
          <a:p>
            <a:pPr indent="0" lvl="0" marL="0" rtl="0" algn="l">
              <a:spcBef>
                <a:spcPts val="0"/>
              </a:spcBef>
              <a:spcAft>
                <a:spcPts val="0"/>
              </a:spcAft>
              <a:buNone/>
            </a:pPr>
            <a:r>
              <a:rPr lang="el"/>
              <a:t>It helps in reducing bugs, easing the debugging process and promoting effective collaboration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Principles:</a:t>
            </a:r>
            <a:endParaRPr/>
          </a:p>
          <a:p>
            <a:pPr indent="-317500" lvl="0" marL="457200" rtl="0" algn="l">
              <a:spcBef>
                <a:spcPts val="0"/>
              </a:spcBef>
              <a:spcAft>
                <a:spcPts val="0"/>
              </a:spcAft>
              <a:buSzPts val="1400"/>
              <a:buChar char="-"/>
            </a:pPr>
            <a:r>
              <a:rPr lang="el"/>
              <a:t>Readability</a:t>
            </a:r>
            <a:endParaRPr/>
          </a:p>
          <a:p>
            <a:pPr indent="-317500" lvl="0" marL="457200" rtl="0" algn="l">
              <a:spcBef>
                <a:spcPts val="0"/>
              </a:spcBef>
              <a:spcAft>
                <a:spcPts val="0"/>
              </a:spcAft>
              <a:buSzPts val="1400"/>
              <a:buChar char="-"/>
            </a:pPr>
            <a:r>
              <a:rPr lang="el"/>
              <a:t>Simplicity</a:t>
            </a:r>
            <a:endParaRPr/>
          </a:p>
          <a:p>
            <a:pPr indent="-317500" lvl="0" marL="457200" rtl="0" algn="l">
              <a:spcBef>
                <a:spcPts val="0"/>
              </a:spcBef>
              <a:spcAft>
                <a:spcPts val="0"/>
              </a:spcAft>
              <a:buSzPts val="1400"/>
              <a:buChar char="-"/>
            </a:pPr>
            <a:r>
              <a:rPr lang="el"/>
              <a:t>Clarity</a:t>
            </a:r>
            <a:endParaRPr/>
          </a:p>
          <a:p>
            <a:pPr indent="-317500" lvl="0" marL="457200" rtl="0" algn="l">
              <a:spcBef>
                <a:spcPts val="0"/>
              </a:spcBef>
              <a:spcAft>
                <a:spcPts val="0"/>
              </a:spcAft>
              <a:buSzPts val="1400"/>
              <a:buChar char="-"/>
            </a:pPr>
            <a:r>
              <a:rPr lang="el"/>
              <a:t>Consistency</a:t>
            </a:r>
            <a:endParaRPr/>
          </a:p>
          <a:p>
            <a:pPr indent="-317500" lvl="0" marL="457200" rtl="0" algn="l">
              <a:spcBef>
                <a:spcPts val="0"/>
              </a:spcBef>
              <a:spcAft>
                <a:spcPts val="0"/>
              </a:spcAft>
              <a:buSzPts val="1400"/>
              <a:buChar char="-"/>
            </a:pPr>
            <a:r>
              <a:rPr lang="el"/>
              <a:t>Good usage of Data Structures</a:t>
            </a:r>
            <a:endParaRPr/>
          </a:p>
        </p:txBody>
      </p:sp>
      <p:pic>
        <p:nvPicPr>
          <p:cNvPr id="236" name="Google Shape;236;p36"/>
          <p:cNvPicPr preferRelativeResize="0"/>
          <p:nvPr/>
        </p:nvPicPr>
        <p:blipFill>
          <a:blip r:embed="rId3">
            <a:alphaModFix/>
          </a:blip>
          <a:stretch>
            <a:fillRect/>
          </a:stretch>
        </p:blipFill>
        <p:spPr>
          <a:xfrm>
            <a:off x="1681400" y="3615025"/>
            <a:ext cx="1641625" cy="955150"/>
          </a:xfrm>
          <a:prstGeom prst="rect">
            <a:avLst/>
          </a:prstGeom>
          <a:noFill/>
          <a:ln>
            <a:noFill/>
          </a:ln>
        </p:spPr>
      </p:pic>
      <p:pic>
        <p:nvPicPr>
          <p:cNvPr id="237" name="Google Shape;237;p36"/>
          <p:cNvPicPr preferRelativeResize="0"/>
          <p:nvPr/>
        </p:nvPicPr>
        <p:blipFill>
          <a:blip r:embed="rId4">
            <a:alphaModFix/>
          </a:blip>
          <a:stretch>
            <a:fillRect/>
          </a:stretch>
        </p:blipFill>
        <p:spPr>
          <a:xfrm>
            <a:off x="4786650" y="3597550"/>
            <a:ext cx="2958250" cy="990100"/>
          </a:xfrm>
          <a:prstGeom prst="rect">
            <a:avLst/>
          </a:prstGeom>
          <a:noFill/>
          <a:ln>
            <a:noFill/>
          </a:ln>
        </p:spPr>
      </p:pic>
      <p:sp>
        <p:nvSpPr>
          <p:cNvPr id="238" name="Google Shape;238;p36"/>
          <p:cNvSpPr txBox="1"/>
          <p:nvPr/>
        </p:nvSpPr>
        <p:spPr>
          <a:xfrm>
            <a:off x="1829613" y="3262725"/>
            <a:ext cx="13452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Messy </a:t>
            </a:r>
            <a:r>
              <a:rPr lang="el">
                <a:solidFill>
                  <a:srgbClr val="FF00FF"/>
                </a:solidFill>
              </a:rPr>
              <a:t>code</a:t>
            </a:r>
            <a:endParaRPr>
              <a:solidFill>
                <a:srgbClr val="FF00FF"/>
              </a:solidFill>
            </a:endParaRPr>
          </a:p>
        </p:txBody>
      </p:sp>
      <p:sp>
        <p:nvSpPr>
          <p:cNvPr id="239" name="Google Shape;239;p36"/>
          <p:cNvSpPr txBox="1"/>
          <p:nvPr/>
        </p:nvSpPr>
        <p:spPr>
          <a:xfrm>
            <a:off x="5509388" y="3262725"/>
            <a:ext cx="13452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Clean code</a:t>
            </a:r>
            <a:endParaRPr>
              <a:solidFill>
                <a:srgbClr val="FF00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Readability &amp; Simplicity  </a:t>
            </a:r>
            <a:endParaRPr/>
          </a:p>
        </p:txBody>
      </p:sp>
      <p:sp>
        <p:nvSpPr>
          <p:cNvPr id="245" name="Google Shape;245;p37"/>
          <p:cNvSpPr txBox="1"/>
          <p:nvPr/>
        </p:nvSpPr>
        <p:spPr>
          <a:xfrm>
            <a:off x="311700" y="1073250"/>
            <a:ext cx="8220900" cy="880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Choose </a:t>
            </a:r>
            <a:r>
              <a:rPr lang="el"/>
              <a:t>meaningful</a:t>
            </a:r>
            <a:r>
              <a:rPr lang="el"/>
              <a:t> variable and function names</a:t>
            </a:r>
            <a:endParaRPr/>
          </a:p>
          <a:p>
            <a:pPr indent="-317500" lvl="0" marL="457200" rtl="0" algn="l">
              <a:spcBef>
                <a:spcPts val="0"/>
              </a:spcBef>
              <a:spcAft>
                <a:spcPts val="0"/>
              </a:spcAft>
              <a:buSzPts val="1400"/>
              <a:buChar char="●"/>
            </a:pPr>
            <a:r>
              <a:rPr lang="el"/>
              <a:t>Keep functions and classes small, focused on a single task!</a:t>
            </a:r>
            <a:endParaRPr/>
          </a:p>
        </p:txBody>
      </p:sp>
      <p:pic>
        <p:nvPicPr>
          <p:cNvPr id="246" name="Google Shape;246;p37"/>
          <p:cNvPicPr preferRelativeResize="0"/>
          <p:nvPr/>
        </p:nvPicPr>
        <p:blipFill>
          <a:blip r:embed="rId3">
            <a:alphaModFix/>
          </a:blip>
          <a:stretch>
            <a:fillRect/>
          </a:stretch>
        </p:blipFill>
        <p:spPr>
          <a:xfrm>
            <a:off x="865775" y="2137025"/>
            <a:ext cx="1941950" cy="642450"/>
          </a:xfrm>
          <a:prstGeom prst="rect">
            <a:avLst/>
          </a:prstGeom>
          <a:noFill/>
          <a:ln>
            <a:noFill/>
          </a:ln>
        </p:spPr>
      </p:pic>
      <p:pic>
        <p:nvPicPr>
          <p:cNvPr id="247" name="Google Shape;247;p37"/>
          <p:cNvPicPr preferRelativeResize="0"/>
          <p:nvPr/>
        </p:nvPicPr>
        <p:blipFill>
          <a:blip r:embed="rId4">
            <a:alphaModFix/>
          </a:blip>
          <a:stretch>
            <a:fillRect/>
          </a:stretch>
        </p:blipFill>
        <p:spPr>
          <a:xfrm>
            <a:off x="4300125" y="2137025"/>
            <a:ext cx="3834500" cy="602475"/>
          </a:xfrm>
          <a:prstGeom prst="rect">
            <a:avLst/>
          </a:prstGeom>
          <a:noFill/>
          <a:ln>
            <a:noFill/>
          </a:ln>
        </p:spPr>
      </p:pic>
      <p:sp>
        <p:nvSpPr>
          <p:cNvPr id="248" name="Google Shape;248;p37"/>
          <p:cNvSpPr txBox="1"/>
          <p:nvPr/>
        </p:nvSpPr>
        <p:spPr>
          <a:xfrm>
            <a:off x="772750" y="1724350"/>
            <a:ext cx="21609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Poor readability</a:t>
            </a:r>
            <a:endParaRPr>
              <a:solidFill>
                <a:srgbClr val="FF00FF"/>
              </a:solidFill>
            </a:endParaRPr>
          </a:p>
        </p:txBody>
      </p:sp>
      <p:sp>
        <p:nvSpPr>
          <p:cNvPr id="249" name="Google Shape;249;p37"/>
          <p:cNvSpPr txBox="1"/>
          <p:nvPr/>
        </p:nvSpPr>
        <p:spPr>
          <a:xfrm>
            <a:off x="4981975" y="1673113"/>
            <a:ext cx="21609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Good </a:t>
            </a:r>
            <a:r>
              <a:rPr lang="el">
                <a:solidFill>
                  <a:srgbClr val="FF00FF"/>
                </a:solidFill>
              </a:rPr>
              <a:t>readability</a:t>
            </a:r>
            <a:endParaRPr>
              <a:solidFill>
                <a:srgbClr val="FF00FF"/>
              </a:solidFill>
            </a:endParaRPr>
          </a:p>
        </p:txBody>
      </p:sp>
      <p:sp>
        <p:nvSpPr>
          <p:cNvPr id="250" name="Google Shape;250;p37"/>
          <p:cNvSpPr txBox="1"/>
          <p:nvPr/>
        </p:nvSpPr>
        <p:spPr>
          <a:xfrm>
            <a:off x="356775" y="2884350"/>
            <a:ext cx="8220900" cy="880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Avoid unnecessary complexity</a:t>
            </a:r>
            <a:endParaRPr/>
          </a:p>
          <a:p>
            <a:pPr indent="-317500" lvl="0" marL="457200" rtl="0" algn="l">
              <a:spcBef>
                <a:spcPts val="0"/>
              </a:spcBef>
              <a:spcAft>
                <a:spcPts val="0"/>
              </a:spcAft>
              <a:buSzPts val="1400"/>
              <a:buChar char="●"/>
            </a:pPr>
            <a:r>
              <a:rPr lang="el"/>
              <a:t>Leveraging simplicity in code structured and logic</a:t>
            </a:r>
            <a:endParaRPr/>
          </a:p>
        </p:txBody>
      </p:sp>
      <p:pic>
        <p:nvPicPr>
          <p:cNvPr id="251" name="Google Shape;251;p37"/>
          <p:cNvPicPr preferRelativeResize="0"/>
          <p:nvPr/>
        </p:nvPicPr>
        <p:blipFill>
          <a:blip r:embed="rId5">
            <a:alphaModFix/>
          </a:blip>
          <a:stretch>
            <a:fillRect/>
          </a:stretch>
        </p:blipFill>
        <p:spPr>
          <a:xfrm>
            <a:off x="636810" y="3959800"/>
            <a:ext cx="2577865" cy="1076325"/>
          </a:xfrm>
          <a:prstGeom prst="rect">
            <a:avLst/>
          </a:prstGeom>
          <a:noFill/>
          <a:ln>
            <a:noFill/>
          </a:ln>
        </p:spPr>
      </p:pic>
      <p:pic>
        <p:nvPicPr>
          <p:cNvPr id="252" name="Google Shape;252;p37"/>
          <p:cNvPicPr preferRelativeResize="0"/>
          <p:nvPr/>
        </p:nvPicPr>
        <p:blipFill>
          <a:blip r:embed="rId6">
            <a:alphaModFix/>
          </a:blip>
          <a:stretch>
            <a:fillRect/>
          </a:stretch>
        </p:blipFill>
        <p:spPr>
          <a:xfrm>
            <a:off x="4132197" y="4056225"/>
            <a:ext cx="4728725" cy="979900"/>
          </a:xfrm>
          <a:prstGeom prst="rect">
            <a:avLst/>
          </a:prstGeom>
          <a:noFill/>
          <a:ln>
            <a:noFill/>
          </a:ln>
        </p:spPr>
      </p:pic>
      <p:sp>
        <p:nvSpPr>
          <p:cNvPr id="253" name="Google Shape;253;p37"/>
          <p:cNvSpPr txBox="1"/>
          <p:nvPr/>
        </p:nvSpPr>
        <p:spPr>
          <a:xfrm>
            <a:off x="845288" y="3580638"/>
            <a:ext cx="21609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Complex Code</a:t>
            </a:r>
            <a:endParaRPr>
              <a:solidFill>
                <a:srgbClr val="FF00FF"/>
              </a:solidFill>
            </a:endParaRPr>
          </a:p>
        </p:txBody>
      </p:sp>
      <p:sp>
        <p:nvSpPr>
          <p:cNvPr id="254" name="Google Shape;254;p37"/>
          <p:cNvSpPr txBox="1"/>
          <p:nvPr/>
        </p:nvSpPr>
        <p:spPr>
          <a:xfrm>
            <a:off x="5227425" y="3694950"/>
            <a:ext cx="21609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Simplified Code</a:t>
            </a:r>
            <a:endParaRPr>
              <a:solidFill>
                <a:srgbClr val="FF00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Clarity &amp; Consistency</a:t>
            </a:r>
            <a:endParaRPr/>
          </a:p>
        </p:txBody>
      </p:sp>
      <p:sp>
        <p:nvSpPr>
          <p:cNvPr id="260" name="Google Shape;260;p38"/>
          <p:cNvSpPr txBox="1"/>
          <p:nvPr/>
        </p:nvSpPr>
        <p:spPr>
          <a:xfrm>
            <a:off x="479375" y="1166250"/>
            <a:ext cx="8321100" cy="815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Writing code that explicitly states its purpose</a:t>
            </a:r>
            <a:endParaRPr/>
          </a:p>
          <a:p>
            <a:pPr indent="-317500" lvl="0" marL="457200" rtl="0" algn="l">
              <a:spcBef>
                <a:spcPts val="0"/>
              </a:spcBef>
              <a:spcAft>
                <a:spcPts val="0"/>
              </a:spcAft>
              <a:buSzPts val="1400"/>
              <a:buChar char="●"/>
            </a:pPr>
            <a:r>
              <a:rPr lang="el"/>
              <a:t>Avoid clever or tricky code that is hard to follow</a:t>
            </a:r>
            <a:endParaRPr/>
          </a:p>
        </p:txBody>
      </p:sp>
      <p:pic>
        <p:nvPicPr>
          <p:cNvPr id="261" name="Google Shape;261;p38"/>
          <p:cNvPicPr preferRelativeResize="0"/>
          <p:nvPr/>
        </p:nvPicPr>
        <p:blipFill>
          <a:blip r:embed="rId3">
            <a:alphaModFix/>
          </a:blip>
          <a:stretch>
            <a:fillRect/>
          </a:stretch>
        </p:blipFill>
        <p:spPr>
          <a:xfrm>
            <a:off x="944425" y="2130475"/>
            <a:ext cx="2443675" cy="694375"/>
          </a:xfrm>
          <a:prstGeom prst="rect">
            <a:avLst/>
          </a:prstGeom>
          <a:noFill/>
          <a:ln>
            <a:noFill/>
          </a:ln>
        </p:spPr>
      </p:pic>
      <p:pic>
        <p:nvPicPr>
          <p:cNvPr id="262" name="Google Shape;262;p38"/>
          <p:cNvPicPr preferRelativeResize="0"/>
          <p:nvPr/>
        </p:nvPicPr>
        <p:blipFill>
          <a:blip r:embed="rId4">
            <a:alphaModFix/>
          </a:blip>
          <a:stretch>
            <a:fillRect/>
          </a:stretch>
        </p:blipFill>
        <p:spPr>
          <a:xfrm>
            <a:off x="4443225" y="2086587"/>
            <a:ext cx="3491200" cy="782150"/>
          </a:xfrm>
          <a:prstGeom prst="rect">
            <a:avLst/>
          </a:prstGeom>
          <a:noFill/>
          <a:ln>
            <a:noFill/>
          </a:ln>
        </p:spPr>
      </p:pic>
      <p:sp>
        <p:nvSpPr>
          <p:cNvPr id="263" name="Google Shape;263;p38"/>
          <p:cNvSpPr txBox="1"/>
          <p:nvPr/>
        </p:nvSpPr>
        <p:spPr>
          <a:xfrm>
            <a:off x="1123350" y="1822675"/>
            <a:ext cx="21609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Tricky Code</a:t>
            </a:r>
            <a:endParaRPr>
              <a:solidFill>
                <a:srgbClr val="FF00FF"/>
              </a:solidFill>
            </a:endParaRPr>
          </a:p>
        </p:txBody>
      </p:sp>
      <p:sp>
        <p:nvSpPr>
          <p:cNvPr id="264" name="Google Shape;264;p38"/>
          <p:cNvSpPr txBox="1"/>
          <p:nvPr/>
        </p:nvSpPr>
        <p:spPr>
          <a:xfrm>
            <a:off x="4996300" y="1735850"/>
            <a:ext cx="21609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Cleaner code</a:t>
            </a:r>
            <a:endParaRPr>
              <a:solidFill>
                <a:srgbClr val="FF00FF"/>
              </a:solidFill>
            </a:endParaRPr>
          </a:p>
        </p:txBody>
      </p:sp>
      <p:sp>
        <p:nvSpPr>
          <p:cNvPr id="265" name="Google Shape;265;p38"/>
          <p:cNvSpPr txBox="1"/>
          <p:nvPr/>
        </p:nvSpPr>
        <p:spPr>
          <a:xfrm>
            <a:off x="411450" y="2973375"/>
            <a:ext cx="8321100" cy="815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Stick to a consistent coding style and naming conventions</a:t>
            </a:r>
            <a:endParaRPr/>
          </a:p>
          <a:p>
            <a:pPr indent="-317500" lvl="0" marL="457200" rtl="0" algn="l">
              <a:spcBef>
                <a:spcPts val="0"/>
              </a:spcBef>
              <a:spcAft>
                <a:spcPts val="0"/>
              </a:spcAft>
              <a:buSzPts val="1400"/>
              <a:buChar char="●"/>
            </a:pPr>
            <a:r>
              <a:rPr lang="el"/>
              <a:t>Follow the established patterns and practises of the codebase</a:t>
            </a:r>
            <a:endParaRPr/>
          </a:p>
        </p:txBody>
      </p:sp>
      <p:pic>
        <p:nvPicPr>
          <p:cNvPr id="266" name="Google Shape;266;p38"/>
          <p:cNvPicPr preferRelativeResize="0"/>
          <p:nvPr/>
        </p:nvPicPr>
        <p:blipFill>
          <a:blip r:embed="rId5">
            <a:alphaModFix/>
          </a:blip>
          <a:stretch>
            <a:fillRect/>
          </a:stretch>
        </p:blipFill>
        <p:spPr>
          <a:xfrm>
            <a:off x="901475" y="4009151"/>
            <a:ext cx="2443675" cy="1054124"/>
          </a:xfrm>
          <a:prstGeom prst="rect">
            <a:avLst/>
          </a:prstGeom>
          <a:noFill/>
          <a:ln>
            <a:noFill/>
          </a:ln>
        </p:spPr>
      </p:pic>
      <p:pic>
        <p:nvPicPr>
          <p:cNvPr id="267" name="Google Shape;267;p38"/>
          <p:cNvPicPr preferRelativeResize="0"/>
          <p:nvPr/>
        </p:nvPicPr>
        <p:blipFill>
          <a:blip r:embed="rId6">
            <a:alphaModFix/>
          </a:blip>
          <a:stretch>
            <a:fillRect/>
          </a:stretch>
        </p:blipFill>
        <p:spPr>
          <a:xfrm>
            <a:off x="4485800" y="3993272"/>
            <a:ext cx="3406050" cy="1085903"/>
          </a:xfrm>
          <a:prstGeom prst="rect">
            <a:avLst/>
          </a:prstGeom>
          <a:noFill/>
          <a:ln>
            <a:noFill/>
          </a:ln>
        </p:spPr>
      </p:pic>
      <p:sp>
        <p:nvSpPr>
          <p:cNvPr id="268" name="Google Shape;268;p38"/>
          <p:cNvSpPr txBox="1"/>
          <p:nvPr/>
        </p:nvSpPr>
        <p:spPr>
          <a:xfrm>
            <a:off x="1085813" y="3685475"/>
            <a:ext cx="21609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Inconsistent code</a:t>
            </a:r>
            <a:endParaRPr>
              <a:solidFill>
                <a:srgbClr val="FF00FF"/>
              </a:solidFill>
            </a:endParaRPr>
          </a:p>
        </p:txBody>
      </p:sp>
      <p:sp>
        <p:nvSpPr>
          <p:cNvPr id="269" name="Google Shape;269;p38"/>
          <p:cNvSpPr txBox="1"/>
          <p:nvPr/>
        </p:nvSpPr>
        <p:spPr>
          <a:xfrm>
            <a:off x="5368350" y="3685475"/>
            <a:ext cx="2160900" cy="30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Consistent Code</a:t>
            </a:r>
            <a:endParaRPr>
              <a:solidFill>
                <a:srgbClr val="FF00FF"/>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Efficient use of Data Structures</a:t>
            </a:r>
            <a:endParaRPr/>
          </a:p>
        </p:txBody>
      </p:sp>
      <p:sp>
        <p:nvSpPr>
          <p:cNvPr id="275" name="Google Shape;275;p39"/>
          <p:cNvSpPr txBox="1"/>
          <p:nvPr/>
        </p:nvSpPr>
        <p:spPr>
          <a:xfrm>
            <a:off x="414975" y="1130475"/>
            <a:ext cx="8417400" cy="392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A de-facto question in every Data Science &amp; ML job!</a:t>
            </a:r>
            <a:endParaRPr>
              <a:solidFill>
                <a:srgbClr val="FF00FF"/>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l"/>
              <a:t>The effective use of data structures facilitates access and modification of data </a:t>
            </a:r>
            <a:endParaRPr/>
          </a:p>
          <a:p>
            <a:pPr indent="0" lvl="0" marL="0" rtl="0" algn="l">
              <a:spcBef>
                <a:spcPts val="0"/>
              </a:spcBef>
              <a:spcAft>
                <a:spcPts val="0"/>
              </a:spcAft>
              <a:buNone/>
            </a:pPr>
            <a:r>
              <a:rPr lang="el"/>
              <a:t>=&gt; crucial for algorithmic efficiency.</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Focus for MLOps is on arrays, lists and dictionaries. </a:t>
            </a:r>
            <a:endParaRPr/>
          </a:p>
          <a:p>
            <a:pPr indent="0" lvl="0" marL="0" rtl="0" algn="l">
              <a:spcBef>
                <a:spcPts val="0"/>
              </a:spcBef>
              <a:spcAft>
                <a:spcPts val="0"/>
              </a:spcAft>
              <a:buNone/>
            </a:pPr>
            <a:r>
              <a:rPr lang="el"/>
              <a:t>Will not go into details (Happy to share resources)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l">
                <a:solidFill>
                  <a:srgbClr val="FF00FF"/>
                </a:solidFill>
              </a:rPr>
              <a:t>Arrays:</a:t>
            </a:r>
            <a:r>
              <a:rPr lang="el"/>
              <a:t> Suitable for storing data that does not change in size</a:t>
            </a:r>
            <a:endParaRPr/>
          </a:p>
          <a:p>
            <a:pPr indent="-317500" lvl="0" marL="457200" rtl="0" algn="l">
              <a:spcBef>
                <a:spcPts val="0"/>
              </a:spcBef>
              <a:spcAft>
                <a:spcPts val="0"/>
              </a:spcAft>
              <a:buSzPts val="1400"/>
              <a:buChar char="●"/>
            </a:pPr>
            <a:r>
              <a:rPr lang="el">
                <a:solidFill>
                  <a:srgbClr val="FF00FF"/>
                </a:solidFill>
              </a:rPr>
              <a:t>Lists:</a:t>
            </a:r>
            <a:r>
              <a:rPr lang="el"/>
              <a:t> Suitable for storing collections of data that may change in size</a:t>
            </a:r>
            <a:endParaRPr/>
          </a:p>
          <a:p>
            <a:pPr indent="-317500" lvl="0" marL="457200" rtl="0" algn="l">
              <a:spcBef>
                <a:spcPts val="0"/>
              </a:spcBef>
              <a:spcAft>
                <a:spcPts val="0"/>
              </a:spcAft>
              <a:buSzPts val="1400"/>
              <a:buChar char="●"/>
            </a:pPr>
            <a:r>
              <a:rPr lang="el">
                <a:solidFill>
                  <a:srgbClr val="FF00FF"/>
                </a:solidFill>
              </a:rPr>
              <a:t>Dictionaries:</a:t>
            </a:r>
            <a:r>
              <a:rPr lang="el"/>
              <a:t> Suitable for fast lookups and retrieving data in unordered collection</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l"/>
              <a:t>Understand the time complexity of operations in these data structures</a:t>
            </a:r>
            <a:endParaRPr/>
          </a:p>
          <a:p>
            <a:pPr indent="-317500" lvl="0" marL="457200" rtl="0" algn="l">
              <a:spcBef>
                <a:spcPts val="0"/>
              </a:spcBef>
              <a:spcAft>
                <a:spcPts val="0"/>
              </a:spcAft>
              <a:buSzPts val="1400"/>
              <a:buAutoNum type="arabicPeriod"/>
            </a:pPr>
            <a:r>
              <a:rPr lang="el"/>
              <a:t>Choose the right data structure based on your task at hand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Key Concepts of Production-Level Code</a:t>
            </a:r>
            <a:endParaRPr/>
          </a:p>
        </p:txBody>
      </p:sp>
      <p:sp>
        <p:nvSpPr>
          <p:cNvPr id="281" name="Google Shape;281;p40"/>
          <p:cNvSpPr txBox="1"/>
          <p:nvPr/>
        </p:nvSpPr>
        <p:spPr>
          <a:xfrm>
            <a:off x="436500" y="1495400"/>
            <a:ext cx="8271000" cy="253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AutoNum type="arabicPeriod"/>
            </a:pPr>
            <a:r>
              <a:rPr lang="el"/>
              <a:t>Structured project repositories</a:t>
            </a:r>
            <a:endParaRPr/>
          </a:p>
          <a:p>
            <a:pPr indent="-317500" lvl="0" marL="457200" rtl="0" algn="l">
              <a:lnSpc>
                <a:spcPct val="115000"/>
              </a:lnSpc>
              <a:spcBef>
                <a:spcPts val="0"/>
              </a:spcBef>
              <a:spcAft>
                <a:spcPts val="0"/>
              </a:spcAft>
              <a:buSzPts val="1400"/>
              <a:buAutoNum type="arabicPeriod"/>
            </a:pPr>
            <a:r>
              <a:rPr lang="el"/>
              <a:t>Scalable and reproducible code</a:t>
            </a:r>
            <a:endParaRPr/>
          </a:p>
          <a:p>
            <a:pPr indent="-317500" lvl="0" marL="457200" rtl="0" algn="l">
              <a:lnSpc>
                <a:spcPct val="115000"/>
              </a:lnSpc>
              <a:spcBef>
                <a:spcPts val="0"/>
              </a:spcBef>
              <a:spcAft>
                <a:spcPts val="0"/>
              </a:spcAft>
              <a:buSzPts val="1400"/>
              <a:buAutoNum type="arabicPeriod"/>
            </a:pPr>
            <a:r>
              <a:rPr lang="el"/>
              <a:t>Clean code principles</a:t>
            </a:r>
            <a:endParaRPr/>
          </a:p>
          <a:p>
            <a:pPr indent="-317500" lvl="0" marL="457200" rtl="0" algn="l">
              <a:lnSpc>
                <a:spcPct val="115000"/>
              </a:lnSpc>
              <a:spcBef>
                <a:spcPts val="0"/>
              </a:spcBef>
              <a:spcAft>
                <a:spcPts val="0"/>
              </a:spcAft>
              <a:buClr>
                <a:srgbClr val="FF00FF"/>
              </a:buClr>
              <a:buSzPts val="1400"/>
              <a:buAutoNum type="arabicPeriod"/>
            </a:pPr>
            <a:r>
              <a:rPr lang="el">
                <a:solidFill>
                  <a:srgbClr val="FF00FF"/>
                </a:solidFill>
              </a:rPr>
              <a:t>Logging and Error Handling</a:t>
            </a:r>
            <a:endParaRPr>
              <a:solidFill>
                <a:srgbClr val="FF00FF"/>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Documentation and Commenting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Code Formatting and Styling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Writing good tests</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Pipelines in ML projects</a:t>
            </a:r>
            <a:endParaRPr>
              <a:solidFill>
                <a:srgbClr val="999999"/>
              </a:solidFill>
            </a:endParaRPr>
          </a:p>
        </p:txBody>
      </p:sp>
      <p:sp>
        <p:nvSpPr>
          <p:cNvPr id="282" name="Google Shape;282;p40"/>
          <p:cNvSpPr txBox="1"/>
          <p:nvPr/>
        </p:nvSpPr>
        <p:spPr>
          <a:xfrm>
            <a:off x="475500" y="4674700"/>
            <a:ext cx="57462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t>https://madewithml.com/</a:t>
            </a:r>
            <a:endParaRPr sz="9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Intuition of Logging</a:t>
            </a:r>
            <a:endParaRPr/>
          </a:p>
        </p:txBody>
      </p:sp>
      <p:sp>
        <p:nvSpPr>
          <p:cNvPr id="288" name="Google Shape;288;p41"/>
          <p:cNvSpPr txBox="1"/>
          <p:nvPr/>
        </p:nvSpPr>
        <p:spPr>
          <a:xfrm>
            <a:off x="429300" y="1202025"/>
            <a:ext cx="8292600" cy="372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What is Logging?</a:t>
            </a:r>
            <a:endParaRPr>
              <a:solidFill>
                <a:srgbClr val="FF00FF"/>
              </a:solidFill>
            </a:endParaRPr>
          </a:p>
          <a:p>
            <a:pPr indent="0" lvl="0" marL="0" rtl="0" algn="l">
              <a:spcBef>
                <a:spcPts val="0"/>
              </a:spcBef>
              <a:spcAft>
                <a:spcPts val="0"/>
              </a:spcAft>
              <a:buNone/>
            </a:pPr>
            <a:r>
              <a:rPr lang="el"/>
              <a:t>Logging is the process of tracking and recording key events that occur in our applications</a:t>
            </a:r>
            <a:endParaRPr/>
          </a:p>
          <a:p>
            <a:pPr indent="-317500" lvl="0" marL="457200" rtl="0" algn="l">
              <a:spcBef>
                <a:spcPts val="0"/>
              </a:spcBef>
              <a:spcAft>
                <a:spcPts val="0"/>
              </a:spcAft>
              <a:buSzPts val="1400"/>
              <a:buChar char="-"/>
            </a:pPr>
            <a:r>
              <a:rPr lang="el"/>
              <a:t>For inspection</a:t>
            </a:r>
            <a:endParaRPr/>
          </a:p>
          <a:p>
            <a:pPr indent="-317500" lvl="0" marL="457200" rtl="0" algn="l">
              <a:spcBef>
                <a:spcPts val="0"/>
              </a:spcBef>
              <a:spcAft>
                <a:spcPts val="0"/>
              </a:spcAft>
              <a:buSzPts val="1400"/>
              <a:buChar char="-"/>
            </a:pPr>
            <a:r>
              <a:rPr lang="el"/>
              <a:t>For debugging</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Why logging?</a:t>
            </a:r>
            <a:endParaRPr>
              <a:solidFill>
                <a:srgbClr val="FF00FF"/>
              </a:solidFill>
            </a:endParaRPr>
          </a:p>
          <a:p>
            <a:pPr indent="-317500" lvl="0" marL="457200" rtl="0" algn="l">
              <a:spcBef>
                <a:spcPts val="0"/>
              </a:spcBef>
              <a:spcAft>
                <a:spcPts val="0"/>
              </a:spcAft>
              <a:buSzPts val="1400"/>
              <a:buChar char="-"/>
            </a:pPr>
            <a:r>
              <a:rPr lang="el"/>
              <a:t>More </a:t>
            </a:r>
            <a:r>
              <a:rPr lang="el"/>
              <a:t>powerful</a:t>
            </a:r>
            <a:r>
              <a:rPr lang="el"/>
              <a:t> than print() statements</a:t>
            </a:r>
            <a:endParaRPr/>
          </a:p>
          <a:p>
            <a:pPr indent="-317500" lvl="0" marL="457200" rtl="0" algn="l">
              <a:spcBef>
                <a:spcPts val="0"/>
              </a:spcBef>
              <a:spcAft>
                <a:spcPts val="0"/>
              </a:spcAft>
              <a:buSzPts val="1400"/>
              <a:buChar char="-"/>
            </a:pPr>
            <a:r>
              <a:rPr lang="el"/>
              <a:t>They send information to specific locations for every user</a:t>
            </a:r>
            <a:endParaRPr/>
          </a:p>
          <a:p>
            <a:pPr indent="-317500" lvl="0" marL="457200" rtl="0" algn="l">
              <a:spcBef>
                <a:spcPts val="0"/>
              </a:spcBef>
              <a:spcAft>
                <a:spcPts val="0"/>
              </a:spcAft>
              <a:buSzPts val="1400"/>
              <a:buChar char="-"/>
            </a:pPr>
            <a:r>
              <a:rPr lang="el"/>
              <a:t>They use custom </a:t>
            </a:r>
            <a:r>
              <a:rPr lang="el"/>
              <a:t>formatting</a:t>
            </a:r>
            <a:r>
              <a:rPr lang="el"/>
              <a:t>, shared interfaces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A key component of every ML application.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Levels of Logging</a:t>
            </a:r>
            <a:endParaRPr/>
          </a:p>
        </p:txBody>
      </p:sp>
      <p:sp>
        <p:nvSpPr>
          <p:cNvPr id="294" name="Google Shape;294;p42"/>
          <p:cNvSpPr txBox="1"/>
          <p:nvPr/>
        </p:nvSpPr>
        <p:spPr>
          <a:xfrm>
            <a:off x="472225" y="1130475"/>
            <a:ext cx="8278200" cy="5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There are different levels of logging based on the criticality and the priority.</a:t>
            </a:r>
            <a:endParaRPr/>
          </a:p>
        </p:txBody>
      </p:sp>
      <p:pic>
        <p:nvPicPr>
          <p:cNvPr id="295" name="Google Shape;295;p42"/>
          <p:cNvPicPr preferRelativeResize="0"/>
          <p:nvPr/>
        </p:nvPicPr>
        <p:blipFill>
          <a:blip r:embed="rId3">
            <a:alphaModFix/>
          </a:blip>
          <a:stretch>
            <a:fillRect/>
          </a:stretch>
        </p:blipFill>
        <p:spPr>
          <a:xfrm>
            <a:off x="2303875" y="1517744"/>
            <a:ext cx="4117700" cy="2473749"/>
          </a:xfrm>
          <a:prstGeom prst="rect">
            <a:avLst/>
          </a:prstGeom>
          <a:noFill/>
          <a:ln>
            <a:noFill/>
          </a:ln>
        </p:spPr>
      </p:pic>
      <p:sp>
        <p:nvSpPr>
          <p:cNvPr id="296" name="Google Shape;296;p42"/>
          <p:cNvSpPr txBox="1"/>
          <p:nvPr/>
        </p:nvSpPr>
        <p:spPr>
          <a:xfrm>
            <a:off x="432900" y="3991500"/>
            <a:ext cx="8278200" cy="1117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Debug has the lowest </a:t>
            </a:r>
            <a:r>
              <a:rPr lang="el"/>
              <a:t>priority</a:t>
            </a:r>
            <a:endParaRPr/>
          </a:p>
          <a:p>
            <a:pPr indent="-317500" lvl="0" marL="457200" rtl="0" algn="l">
              <a:spcBef>
                <a:spcPts val="0"/>
              </a:spcBef>
              <a:spcAft>
                <a:spcPts val="0"/>
              </a:spcAft>
              <a:buSzPts val="1400"/>
              <a:buChar char="-"/>
            </a:pPr>
            <a:r>
              <a:rPr lang="el"/>
              <a:t>Critical has the highest</a:t>
            </a:r>
            <a:endParaRPr/>
          </a:p>
          <a:p>
            <a:pPr indent="0" lvl="0" marL="0" rtl="0" algn="l">
              <a:spcBef>
                <a:spcPts val="0"/>
              </a:spcBef>
              <a:spcAft>
                <a:spcPts val="0"/>
              </a:spcAft>
              <a:buNone/>
            </a:pPr>
            <a:r>
              <a:t/>
            </a:r>
            <a:endParaRPr/>
          </a:p>
        </p:txBody>
      </p:sp>
      <p:sp>
        <p:nvSpPr>
          <p:cNvPr id="297" name="Google Shape;297;p42"/>
          <p:cNvSpPr/>
          <p:nvPr/>
        </p:nvSpPr>
        <p:spPr>
          <a:xfrm>
            <a:off x="4350225" y="2003375"/>
            <a:ext cx="1287900" cy="193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98" name="Google Shape;298;p42"/>
          <p:cNvCxnSpPr>
            <a:stCxn id="297" idx="6"/>
          </p:cNvCxnSpPr>
          <p:nvPr/>
        </p:nvCxnSpPr>
        <p:spPr>
          <a:xfrm flipH="1" rot="10800000">
            <a:off x="5638125" y="1817375"/>
            <a:ext cx="1073100" cy="282600"/>
          </a:xfrm>
          <a:prstGeom prst="straightConnector1">
            <a:avLst/>
          </a:prstGeom>
          <a:noFill/>
          <a:ln cap="flat" cmpd="sng" w="9525">
            <a:solidFill>
              <a:schemeClr val="dk2"/>
            </a:solidFill>
            <a:prstDash val="solid"/>
            <a:round/>
            <a:headEnd len="med" w="med" type="none"/>
            <a:tailEnd len="med" w="med" type="triangle"/>
          </a:ln>
        </p:spPr>
      </p:cxnSp>
      <p:sp>
        <p:nvSpPr>
          <p:cNvPr id="299" name="Google Shape;299;p42"/>
          <p:cNvSpPr txBox="1"/>
          <p:nvPr/>
        </p:nvSpPr>
        <p:spPr>
          <a:xfrm>
            <a:off x="6711225" y="1588400"/>
            <a:ext cx="1935300" cy="2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lowest priority to print</a:t>
            </a:r>
            <a:endParaRPr>
              <a:solidFill>
                <a:srgbClr val="FF00FF"/>
              </a:solidFill>
            </a:endParaRPr>
          </a:p>
        </p:txBody>
      </p:sp>
      <p:sp>
        <p:nvSpPr>
          <p:cNvPr id="300" name="Google Shape;300;p42"/>
          <p:cNvSpPr/>
          <p:nvPr/>
        </p:nvSpPr>
        <p:spPr>
          <a:xfrm>
            <a:off x="3398600" y="2003375"/>
            <a:ext cx="1008600" cy="1932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1" name="Google Shape;301;p42"/>
          <p:cNvSpPr txBox="1"/>
          <p:nvPr/>
        </p:nvSpPr>
        <p:spPr>
          <a:xfrm>
            <a:off x="266800" y="1745675"/>
            <a:ext cx="1935300" cy="25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Where to send error</a:t>
            </a:r>
            <a:endParaRPr>
              <a:solidFill>
                <a:srgbClr val="FF00FF"/>
              </a:solidFill>
            </a:endParaRPr>
          </a:p>
        </p:txBody>
      </p:sp>
      <p:cxnSp>
        <p:nvCxnSpPr>
          <p:cNvPr id="302" name="Google Shape;302;p42"/>
          <p:cNvCxnSpPr>
            <a:stCxn id="300" idx="2"/>
          </p:cNvCxnSpPr>
          <p:nvPr/>
        </p:nvCxnSpPr>
        <p:spPr>
          <a:xfrm rot="10800000">
            <a:off x="2046200" y="1967675"/>
            <a:ext cx="1352400" cy="1323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When to use Logging</a:t>
            </a:r>
            <a:endParaRPr/>
          </a:p>
        </p:txBody>
      </p:sp>
      <p:pic>
        <p:nvPicPr>
          <p:cNvPr id="308" name="Google Shape;308;p43"/>
          <p:cNvPicPr preferRelativeResize="0"/>
          <p:nvPr/>
        </p:nvPicPr>
        <p:blipFill>
          <a:blip r:embed="rId3">
            <a:alphaModFix/>
          </a:blip>
          <a:stretch>
            <a:fillRect/>
          </a:stretch>
        </p:blipFill>
        <p:spPr>
          <a:xfrm>
            <a:off x="3980300" y="1134375"/>
            <a:ext cx="4899476" cy="3820975"/>
          </a:xfrm>
          <a:prstGeom prst="rect">
            <a:avLst/>
          </a:prstGeom>
          <a:noFill/>
          <a:ln>
            <a:noFill/>
          </a:ln>
        </p:spPr>
      </p:pic>
      <p:sp>
        <p:nvSpPr>
          <p:cNvPr id="309" name="Google Shape;309;p43"/>
          <p:cNvSpPr txBox="1"/>
          <p:nvPr/>
        </p:nvSpPr>
        <p:spPr>
          <a:xfrm>
            <a:off x="414975" y="1330825"/>
            <a:ext cx="3148200" cy="349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Print progress on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l"/>
              <a:t>Training a NN</a:t>
            </a:r>
            <a:endParaRPr/>
          </a:p>
          <a:p>
            <a:pPr indent="-317500" lvl="0" marL="457200" rtl="0" algn="l">
              <a:spcBef>
                <a:spcPts val="0"/>
              </a:spcBef>
              <a:spcAft>
                <a:spcPts val="0"/>
              </a:spcAft>
              <a:buSzPts val="1400"/>
              <a:buChar char="-"/>
            </a:pPr>
            <a:r>
              <a:rPr lang="el"/>
              <a:t>Tracking hyperparameters</a:t>
            </a:r>
            <a:endParaRPr/>
          </a:p>
          <a:p>
            <a:pPr indent="-317500" lvl="0" marL="457200" rtl="0" algn="l">
              <a:spcBef>
                <a:spcPts val="0"/>
              </a:spcBef>
              <a:spcAft>
                <a:spcPts val="0"/>
              </a:spcAft>
              <a:buSzPts val="1400"/>
              <a:buChar char="-"/>
            </a:pPr>
            <a:r>
              <a:rPr lang="el"/>
              <a:t>Detecting logging anomalies</a:t>
            </a:r>
            <a:endParaRPr/>
          </a:p>
          <a:p>
            <a:pPr indent="-317500" lvl="0" marL="457200" rtl="0" algn="l">
              <a:spcBef>
                <a:spcPts val="0"/>
              </a:spcBef>
              <a:spcAft>
                <a:spcPts val="0"/>
              </a:spcAft>
              <a:buSzPts val="1400"/>
              <a:buChar char="-"/>
            </a:pPr>
            <a:r>
              <a:rPr lang="el"/>
              <a:t>etc…</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In short: </a:t>
            </a:r>
            <a:endParaRPr/>
          </a:p>
          <a:p>
            <a:pPr indent="0" lvl="0" marL="0" rtl="0" algn="l">
              <a:spcBef>
                <a:spcPts val="0"/>
              </a:spcBef>
              <a:spcAft>
                <a:spcPts val="0"/>
              </a:spcAft>
              <a:buNone/>
            </a:pPr>
            <a:r>
              <a:rPr lang="el"/>
              <a:t>We replace print() with logginst statements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How to set-up Logging</a:t>
            </a:r>
            <a:endParaRPr/>
          </a:p>
        </p:txBody>
      </p:sp>
      <p:pic>
        <p:nvPicPr>
          <p:cNvPr id="315" name="Google Shape;315;p44"/>
          <p:cNvPicPr preferRelativeResize="0"/>
          <p:nvPr/>
        </p:nvPicPr>
        <p:blipFill>
          <a:blip r:embed="rId3">
            <a:alphaModFix/>
          </a:blip>
          <a:stretch>
            <a:fillRect/>
          </a:stretch>
        </p:blipFill>
        <p:spPr>
          <a:xfrm>
            <a:off x="5541536" y="1125075"/>
            <a:ext cx="3328040" cy="3964074"/>
          </a:xfrm>
          <a:prstGeom prst="rect">
            <a:avLst/>
          </a:prstGeom>
          <a:noFill/>
          <a:ln>
            <a:noFill/>
          </a:ln>
        </p:spPr>
      </p:pic>
      <p:sp>
        <p:nvSpPr>
          <p:cNvPr id="316" name="Google Shape;316;p44"/>
          <p:cNvSpPr txBox="1"/>
          <p:nvPr/>
        </p:nvSpPr>
        <p:spPr>
          <a:xfrm>
            <a:off x="100175" y="1214575"/>
            <a:ext cx="5251800" cy="37851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l" sz="1200"/>
              <a:t>First set-up the location where the logs will be saved</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l" sz="1200"/>
              <a:t>Next configure the Logger for the application</a:t>
            </a:r>
            <a:endParaRPr sz="1200"/>
          </a:p>
          <a:p>
            <a:pPr indent="0" lvl="0" marL="0" rtl="0" algn="l">
              <a:spcBef>
                <a:spcPts val="0"/>
              </a:spcBef>
              <a:spcAft>
                <a:spcPts val="0"/>
              </a:spcAft>
              <a:buNone/>
            </a:pPr>
            <a:r>
              <a:t/>
            </a:r>
            <a:endParaRPr sz="1200"/>
          </a:p>
          <a:p>
            <a:pPr indent="-171450" lvl="0" marL="269999" rtl="0" algn="l">
              <a:spcBef>
                <a:spcPts val="0"/>
              </a:spcBef>
              <a:spcAft>
                <a:spcPts val="0"/>
              </a:spcAft>
              <a:buSzPts val="1200"/>
              <a:buAutoNum type="arabicPeriod"/>
            </a:pPr>
            <a:r>
              <a:rPr lang="el" sz="1200"/>
              <a:t>Define two </a:t>
            </a:r>
            <a:r>
              <a:rPr lang="el" sz="1200">
                <a:solidFill>
                  <a:srgbClr val="FF00FF"/>
                </a:solidFill>
              </a:rPr>
              <a:t>F</a:t>
            </a:r>
            <a:r>
              <a:rPr lang="el" sz="1200">
                <a:solidFill>
                  <a:srgbClr val="FF00FF"/>
                </a:solidFill>
              </a:rPr>
              <a:t>ormatters</a:t>
            </a:r>
            <a:r>
              <a:rPr lang="el" sz="1200">
                <a:solidFill>
                  <a:srgbClr val="FF00FF"/>
                </a:solidFill>
              </a:rPr>
              <a:t> </a:t>
            </a:r>
            <a:r>
              <a:rPr lang="el" sz="1200"/>
              <a:t>(format and style of logs) for </a:t>
            </a:r>
            <a:r>
              <a:rPr lang="el" sz="1200"/>
              <a:t>minimal and detailed</a:t>
            </a:r>
            <a:endParaRPr sz="1200"/>
          </a:p>
          <a:p>
            <a:pPr indent="-171450" lvl="0" marL="269999" rtl="0" algn="l">
              <a:spcBef>
                <a:spcPts val="0"/>
              </a:spcBef>
              <a:spcAft>
                <a:spcPts val="0"/>
              </a:spcAft>
              <a:buSzPts val="1200"/>
              <a:buAutoNum type="arabicPeriod"/>
            </a:pPr>
            <a:r>
              <a:rPr lang="el" sz="1200"/>
              <a:t>Define the different </a:t>
            </a:r>
            <a:r>
              <a:rPr lang="el" sz="1200">
                <a:solidFill>
                  <a:srgbClr val="FF00FF"/>
                </a:solidFill>
              </a:rPr>
              <a:t>Handlers </a:t>
            </a:r>
            <a:r>
              <a:rPr lang="el" sz="1200">
                <a:solidFill>
                  <a:schemeClr val="dk1"/>
                </a:solidFill>
              </a:rPr>
              <a:t>(details about location of where to send logs)</a:t>
            </a:r>
            <a:endParaRPr sz="1200">
              <a:solidFill>
                <a:schemeClr val="dk1"/>
              </a:solidFill>
            </a:endParaRPr>
          </a:p>
          <a:p>
            <a:pPr indent="-180975" lvl="1" marL="630000" rtl="0" algn="l">
              <a:spcBef>
                <a:spcPts val="0"/>
              </a:spcBef>
              <a:spcAft>
                <a:spcPts val="0"/>
              </a:spcAft>
              <a:buClr>
                <a:schemeClr val="dk1"/>
              </a:buClr>
              <a:buSzPts val="1200"/>
              <a:buAutoNum type="alphaLcPeriod"/>
            </a:pPr>
            <a:r>
              <a:rPr lang="el" sz="1200">
                <a:solidFill>
                  <a:schemeClr val="dk1"/>
                </a:solidFill>
              </a:rPr>
              <a:t>console: Sends logs to the stdout for message over Debug level</a:t>
            </a:r>
            <a:endParaRPr sz="1200">
              <a:solidFill>
                <a:schemeClr val="dk1"/>
              </a:solidFill>
            </a:endParaRPr>
          </a:p>
          <a:p>
            <a:pPr indent="-180975" lvl="1" marL="630000" rtl="0" algn="l">
              <a:spcBef>
                <a:spcPts val="0"/>
              </a:spcBef>
              <a:spcAft>
                <a:spcPts val="0"/>
              </a:spcAft>
              <a:buClr>
                <a:schemeClr val="dk1"/>
              </a:buClr>
              <a:buSzPts val="1200"/>
              <a:buAutoNum type="alphaLcPeriod"/>
            </a:pPr>
            <a:r>
              <a:rPr lang="el" sz="1200">
                <a:solidFill>
                  <a:schemeClr val="dk1"/>
                </a:solidFill>
              </a:rPr>
              <a:t>info: Send log messaged to logs/info.logs for messages about info</a:t>
            </a:r>
            <a:endParaRPr sz="1200">
              <a:solidFill>
                <a:schemeClr val="dk1"/>
              </a:solidFill>
            </a:endParaRPr>
          </a:p>
          <a:p>
            <a:pPr indent="-180975" lvl="1" marL="630000" rtl="0" algn="l">
              <a:spcBef>
                <a:spcPts val="0"/>
              </a:spcBef>
              <a:spcAft>
                <a:spcPts val="0"/>
              </a:spcAft>
              <a:buClr>
                <a:schemeClr val="dk1"/>
              </a:buClr>
              <a:buSzPts val="1200"/>
              <a:buAutoNum type="alphaLcPeriod"/>
            </a:pPr>
            <a:r>
              <a:rPr lang="el" sz="1200">
                <a:solidFill>
                  <a:schemeClr val="dk1"/>
                </a:solidFill>
              </a:rPr>
              <a:t>error: Send log messages to logs/error.log for messages over error</a:t>
            </a:r>
            <a:endParaRPr sz="1200">
              <a:solidFill>
                <a:schemeClr val="dk1"/>
              </a:solidFill>
            </a:endParaRPr>
          </a:p>
          <a:p>
            <a:pPr indent="-171450" lvl="0" marL="269999" rtl="0" algn="l">
              <a:spcBef>
                <a:spcPts val="0"/>
              </a:spcBef>
              <a:spcAft>
                <a:spcPts val="0"/>
              </a:spcAft>
              <a:buClr>
                <a:schemeClr val="dk1"/>
              </a:buClr>
              <a:buSzPts val="1200"/>
              <a:buAutoNum type="arabicPeriod"/>
            </a:pPr>
            <a:r>
              <a:rPr lang="el" sz="1200">
                <a:solidFill>
                  <a:schemeClr val="dk1"/>
                </a:solidFill>
              </a:rPr>
              <a:t>Attach different Handlers to the </a:t>
            </a:r>
            <a:r>
              <a:rPr lang="el" sz="1200">
                <a:solidFill>
                  <a:srgbClr val="FF00FF"/>
                </a:solidFill>
              </a:rPr>
              <a:t>Logger</a:t>
            </a:r>
            <a:endParaRPr sz="1200">
              <a:solidFill>
                <a:srgbClr val="FF00FF"/>
              </a:solidFill>
            </a:endParaRPr>
          </a:p>
        </p:txBody>
      </p:sp>
      <p:pic>
        <p:nvPicPr>
          <p:cNvPr id="317" name="Google Shape;317;p44"/>
          <p:cNvPicPr preferRelativeResize="0"/>
          <p:nvPr/>
        </p:nvPicPr>
        <p:blipFill>
          <a:blip r:embed="rId4">
            <a:alphaModFix/>
          </a:blip>
          <a:stretch>
            <a:fillRect/>
          </a:stretch>
        </p:blipFill>
        <p:spPr>
          <a:xfrm>
            <a:off x="5541525" y="445024"/>
            <a:ext cx="2872250" cy="416475"/>
          </a:xfrm>
          <a:prstGeom prst="rect">
            <a:avLst/>
          </a:prstGeom>
          <a:noFill/>
          <a:ln>
            <a:noFill/>
          </a:ln>
        </p:spPr>
      </p:pic>
      <p:cxnSp>
        <p:nvCxnSpPr>
          <p:cNvPr id="318" name="Google Shape;318;p44"/>
          <p:cNvCxnSpPr/>
          <p:nvPr/>
        </p:nvCxnSpPr>
        <p:spPr>
          <a:xfrm flipH="1" rot="10800000">
            <a:off x="4786650" y="844325"/>
            <a:ext cx="772800" cy="565200"/>
          </a:xfrm>
          <a:prstGeom prst="straightConnector1">
            <a:avLst/>
          </a:prstGeom>
          <a:noFill/>
          <a:ln cap="flat" cmpd="sng" w="9525">
            <a:solidFill>
              <a:schemeClr val="dk2"/>
            </a:solidFill>
            <a:prstDash val="solid"/>
            <a:round/>
            <a:headEnd len="med" w="med" type="none"/>
            <a:tailEnd len="med" w="med" type="triangle"/>
          </a:ln>
        </p:spPr>
      </p:cxnSp>
      <p:sp>
        <p:nvSpPr>
          <p:cNvPr id="319" name="Google Shape;319;p44"/>
          <p:cNvSpPr/>
          <p:nvPr/>
        </p:nvSpPr>
        <p:spPr>
          <a:xfrm>
            <a:off x="5559375" y="1416675"/>
            <a:ext cx="3273000" cy="780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0" name="Google Shape;320;p44"/>
          <p:cNvCxnSpPr/>
          <p:nvPr/>
        </p:nvCxnSpPr>
        <p:spPr>
          <a:xfrm flipH="1" rot="10800000">
            <a:off x="4768725" y="1690750"/>
            <a:ext cx="772800" cy="565200"/>
          </a:xfrm>
          <a:prstGeom prst="straightConnector1">
            <a:avLst/>
          </a:prstGeom>
          <a:noFill/>
          <a:ln cap="flat" cmpd="sng" w="9525">
            <a:solidFill>
              <a:schemeClr val="dk2"/>
            </a:solidFill>
            <a:prstDash val="solid"/>
            <a:round/>
            <a:headEnd len="med" w="med" type="none"/>
            <a:tailEnd len="med" w="med" type="triangle"/>
          </a:ln>
        </p:spPr>
      </p:cxnSp>
      <p:sp>
        <p:nvSpPr>
          <p:cNvPr id="321" name="Google Shape;321;p44"/>
          <p:cNvSpPr/>
          <p:nvPr/>
        </p:nvSpPr>
        <p:spPr>
          <a:xfrm>
            <a:off x="5468500" y="2255950"/>
            <a:ext cx="3273000" cy="2172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2" name="Google Shape;322;p44"/>
          <p:cNvSpPr/>
          <p:nvPr/>
        </p:nvSpPr>
        <p:spPr>
          <a:xfrm>
            <a:off x="5569050" y="4488125"/>
            <a:ext cx="3273000" cy="599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3" name="Google Shape;323;p44"/>
          <p:cNvCxnSpPr/>
          <p:nvPr/>
        </p:nvCxnSpPr>
        <p:spPr>
          <a:xfrm flipH="1" rot="10800000">
            <a:off x="5035600" y="3026425"/>
            <a:ext cx="695400" cy="134400"/>
          </a:xfrm>
          <a:prstGeom prst="straightConnector1">
            <a:avLst/>
          </a:prstGeom>
          <a:noFill/>
          <a:ln cap="flat" cmpd="sng" w="9525">
            <a:solidFill>
              <a:schemeClr val="dk2"/>
            </a:solidFill>
            <a:prstDash val="solid"/>
            <a:round/>
            <a:headEnd len="med" w="med" type="none"/>
            <a:tailEnd len="med" w="med" type="triangle"/>
          </a:ln>
        </p:spPr>
      </p:cxnSp>
      <p:cxnSp>
        <p:nvCxnSpPr>
          <p:cNvPr id="324" name="Google Shape;324;p44"/>
          <p:cNvCxnSpPr/>
          <p:nvPr/>
        </p:nvCxnSpPr>
        <p:spPr>
          <a:xfrm>
            <a:off x="3113075" y="3828375"/>
            <a:ext cx="2353200" cy="765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Implementing Error-Handling</a:t>
            </a:r>
            <a:endParaRPr/>
          </a:p>
        </p:txBody>
      </p:sp>
      <p:sp>
        <p:nvSpPr>
          <p:cNvPr id="330" name="Google Shape;330;p45"/>
          <p:cNvSpPr txBox="1"/>
          <p:nvPr/>
        </p:nvSpPr>
        <p:spPr>
          <a:xfrm>
            <a:off x="386375" y="1030300"/>
            <a:ext cx="8586000" cy="14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Common error handling techniques: try &amp; except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Important Tip: Utilize them for raising specific error messages!</a:t>
            </a:r>
            <a:endParaRPr/>
          </a:p>
        </p:txBody>
      </p:sp>
      <p:pic>
        <p:nvPicPr>
          <p:cNvPr id="331" name="Google Shape;331;p45"/>
          <p:cNvPicPr preferRelativeResize="0"/>
          <p:nvPr/>
        </p:nvPicPr>
        <p:blipFill>
          <a:blip r:embed="rId3">
            <a:alphaModFix/>
          </a:blip>
          <a:stretch>
            <a:fillRect/>
          </a:stretch>
        </p:blipFill>
        <p:spPr>
          <a:xfrm>
            <a:off x="4572000" y="2306125"/>
            <a:ext cx="3454576" cy="2370199"/>
          </a:xfrm>
          <a:prstGeom prst="rect">
            <a:avLst/>
          </a:prstGeom>
          <a:noFill/>
          <a:ln>
            <a:noFill/>
          </a:ln>
        </p:spPr>
      </p:pic>
      <p:sp>
        <p:nvSpPr>
          <p:cNvPr id="332" name="Google Shape;332;p45"/>
          <p:cNvSpPr txBox="1"/>
          <p:nvPr/>
        </p:nvSpPr>
        <p:spPr>
          <a:xfrm>
            <a:off x="658350" y="3061850"/>
            <a:ext cx="3648900" cy="68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Given this message we know where the model failed!!</a:t>
            </a:r>
            <a:endParaRPr>
              <a:solidFill>
                <a:srgbClr val="FF00F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Combining</a:t>
            </a:r>
            <a:r>
              <a:rPr lang="el"/>
              <a:t> Logging with Error-Handling</a:t>
            </a:r>
            <a:endParaRPr/>
          </a:p>
        </p:txBody>
      </p:sp>
      <p:sp>
        <p:nvSpPr>
          <p:cNvPr id="338" name="Google Shape;338;p46"/>
          <p:cNvSpPr txBox="1"/>
          <p:nvPr/>
        </p:nvSpPr>
        <p:spPr>
          <a:xfrm>
            <a:off x="414975" y="1051775"/>
            <a:ext cx="4614900" cy="38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Why Logging &amp; Error-Handling</a:t>
            </a:r>
            <a:endParaRPr/>
          </a:p>
          <a:p>
            <a:pPr indent="0" lvl="0" marL="0" rtl="0" algn="l">
              <a:spcBef>
                <a:spcPts val="0"/>
              </a:spcBef>
              <a:spcAft>
                <a:spcPts val="0"/>
              </a:spcAft>
              <a:buNone/>
            </a:pPr>
            <a:r>
              <a:t/>
            </a:r>
            <a:endParaRPr/>
          </a:p>
          <a:p>
            <a:pPr indent="-317500" lvl="0" marL="457200" rtl="0" algn="l">
              <a:spcBef>
                <a:spcPts val="0"/>
              </a:spcBef>
              <a:spcAft>
                <a:spcPts val="0"/>
              </a:spcAft>
              <a:buClr>
                <a:srgbClr val="FF00FF"/>
              </a:buClr>
              <a:buSzPts val="1400"/>
              <a:buAutoNum type="arabicPeriod"/>
            </a:pPr>
            <a:r>
              <a:rPr lang="el">
                <a:solidFill>
                  <a:srgbClr val="FF00FF"/>
                </a:solidFill>
              </a:rPr>
              <a:t>Ensures Robustness</a:t>
            </a:r>
            <a:endParaRPr>
              <a:solidFill>
                <a:srgbClr val="FF00FF"/>
              </a:solidFill>
            </a:endParaRPr>
          </a:p>
          <a:p>
            <a:pPr indent="0" lvl="0" marL="0" rtl="0" algn="l">
              <a:spcBef>
                <a:spcPts val="0"/>
              </a:spcBef>
              <a:spcAft>
                <a:spcPts val="0"/>
              </a:spcAft>
              <a:buNone/>
            </a:pPr>
            <a:r>
              <a:rPr lang="el"/>
              <a:t>Catching and handling exceptions to prevent system crashes</a:t>
            </a:r>
            <a:endParaRPr/>
          </a:p>
          <a:p>
            <a:pPr indent="0" lvl="0" marL="0" rtl="0" algn="l">
              <a:spcBef>
                <a:spcPts val="0"/>
              </a:spcBef>
              <a:spcAft>
                <a:spcPts val="0"/>
              </a:spcAft>
              <a:buNone/>
            </a:pPr>
            <a:r>
              <a:t/>
            </a:r>
            <a:endParaRPr/>
          </a:p>
          <a:p>
            <a:pPr indent="-317500" lvl="0" marL="457200" rtl="0" algn="l">
              <a:spcBef>
                <a:spcPts val="0"/>
              </a:spcBef>
              <a:spcAft>
                <a:spcPts val="0"/>
              </a:spcAft>
              <a:buClr>
                <a:srgbClr val="FF00FF"/>
              </a:buClr>
              <a:buSzPts val="1400"/>
              <a:buAutoNum type="arabicPeriod"/>
            </a:pPr>
            <a:r>
              <a:rPr lang="el">
                <a:solidFill>
                  <a:srgbClr val="FF00FF"/>
                </a:solidFill>
              </a:rPr>
              <a:t>Enhances Traceability</a:t>
            </a:r>
            <a:endParaRPr>
              <a:solidFill>
                <a:srgbClr val="FF00FF"/>
              </a:solidFill>
            </a:endParaRPr>
          </a:p>
          <a:p>
            <a:pPr indent="0" lvl="0" marL="0" rtl="0" algn="l">
              <a:spcBef>
                <a:spcPts val="0"/>
              </a:spcBef>
              <a:spcAft>
                <a:spcPts val="0"/>
              </a:spcAft>
              <a:buNone/>
            </a:pPr>
            <a:r>
              <a:rPr lang="el"/>
              <a:t>Centralized logging for monitoring system behavior over time =&gt; better insights &amp; post-analysis</a:t>
            </a:r>
            <a:endParaRPr/>
          </a:p>
          <a:p>
            <a:pPr indent="0" lvl="0" marL="0" rtl="0" algn="l">
              <a:spcBef>
                <a:spcPts val="0"/>
              </a:spcBef>
              <a:spcAft>
                <a:spcPts val="0"/>
              </a:spcAft>
              <a:buNone/>
            </a:pPr>
            <a:r>
              <a:t/>
            </a:r>
            <a:endParaRPr/>
          </a:p>
          <a:p>
            <a:pPr indent="-317500" lvl="0" marL="457200" rtl="0" algn="l">
              <a:spcBef>
                <a:spcPts val="0"/>
              </a:spcBef>
              <a:spcAft>
                <a:spcPts val="0"/>
              </a:spcAft>
              <a:buClr>
                <a:srgbClr val="FF00FF"/>
              </a:buClr>
              <a:buSzPts val="1400"/>
              <a:buAutoNum type="arabicPeriod"/>
            </a:pPr>
            <a:r>
              <a:rPr lang="el">
                <a:solidFill>
                  <a:srgbClr val="FF00FF"/>
                </a:solidFill>
              </a:rPr>
              <a:t>Facilitates Debugging</a:t>
            </a:r>
            <a:endParaRPr>
              <a:solidFill>
                <a:srgbClr val="FF00FF"/>
              </a:solidFill>
            </a:endParaRPr>
          </a:p>
          <a:p>
            <a:pPr indent="0" lvl="0" marL="0" rtl="0" algn="l">
              <a:spcBef>
                <a:spcPts val="0"/>
              </a:spcBef>
              <a:spcAft>
                <a:spcPts val="0"/>
              </a:spcAft>
              <a:buNone/>
            </a:pPr>
            <a:r>
              <a:rPr lang="el"/>
              <a:t>Reproduce issues with detailed log records to </a:t>
            </a:r>
            <a:r>
              <a:rPr lang="el"/>
              <a:t>diagnose and fix issues</a:t>
            </a:r>
            <a:endParaRPr/>
          </a:p>
        </p:txBody>
      </p:sp>
      <p:pic>
        <p:nvPicPr>
          <p:cNvPr id="339" name="Google Shape;339;p46"/>
          <p:cNvPicPr preferRelativeResize="0"/>
          <p:nvPr/>
        </p:nvPicPr>
        <p:blipFill>
          <a:blip r:embed="rId3">
            <a:alphaModFix/>
          </a:blip>
          <a:stretch>
            <a:fillRect/>
          </a:stretch>
        </p:blipFill>
        <p:spPr>
          <a:xfrm>
            <a:off x="5232375" y="1665125"/>
            <a:ext cx="3809325" cy="265140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Key Concepts of Production-Level Code</a:t>
            </a:r>
            <a:endParaRPr/>
          </a:p>
        </p:txBody>
      </p:sp>
      <p:sp>
        <p:nvSpPr>
          <p:cNvPr id="345" name="Google Shape;345;p47"/>
          <p:cNvSpPr txBox="1"/>
          <p:nvPr/>
        </p:nvSpPr>
        <p:spPr>
          <a:xfrm>
            <a:off x="436500" y="1495400"/>
            <a:ext cx="8271000" cy="253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AutoNum type="arabicPeriod"/>
            </a:pPr>
            <a:r>
              <a:rPr lang="el"/>
              <a:t>Structured project repositories</a:t>
            </a:r>
            <a:endParaRPr/>
          </a:p>
          <a:p>
            <a:pPr indent="-317500" lvl="0" marL="457200" rtl="0" algn="l">
              <a:lnSpc>
                <a:spcPct val="115000"/>
              </a:lnSpc>
              <a:spcBef>
                <a:spcPts val="0"/>
              </a:spcBef>
              <a:spcAft>
                <a:spcPts val="0"/>
              </a:spcAft>
              <a:buSzPts val="1400"/>
              <a:buAutoNum type="arabicPeriod"/>
            </a:pPr>
            <a:r>
              <a:rPr lang="el"/>
              <a:t>Scalable and reproducible code</a:t>
            </a:r>
            <a:endParaRPr/>
          </a:p>
          <a:p>
            <a:pPr indent="-317500" lvl="0" marL="457200" rtl="0" algn="l">
              <a:lnSpc>
                <a:spcPct val="115000"/>
              </a:lnSpc>
              <a:spcBef>
                <a:spcPts val="0"/>
              </a:spcBef>
              <a:spcAft>
                <a:spcPts val="0"/>
              </a:spcAft>
              <a:buSzPts val="1400"/>
              <a:buAutoNum type="arabicPeriod"/>
            </a:pPr>
            <a:r>
              <a:rPr lang="el"/>
              <a:t>Clean code principles</a:t>
            </a:r>
            <a:endParaRPr/>
          </a:p>
          <a:p>
            <a:pPr indent="-317500" lvl="0" marL="457200" rtl="0" algn="l">
              <a:lnSpc>
                <a:spcPct val="115000"/>
              </a:lnSpc>
              <a:spcBef>
                <a:spcPts val="0"/>
              </a:spcBef>
              <a:spcAft>
                <a:spcPts val="0"/>
              </a:spcAft>
              <a:buClr>
                <a:schemeClr val="dk1"/>
              </a:buClr>
              <a:buSzPts val="1400"/>
              <a:buAutoNum type="arabicPeriod"/>
            </a:pPr>
            <a:r>
              <a:rPr lang="el">
                <a:solidFill>
                  <a:schemeClr val="dk1"/>
                </a:solidFill>
              </a:rPr>
              <a:t>Logging and Error Handling</a:t>
            </a:r>
            <a:endParaRPr>
              <a:solidFill>
                <a:schemeClr val="dk1"/>
              </a:solidFill>
            </a:endParaRPr>
          </a:p>
          <a:p>
            <a:pPr indent="-317500" lvl="0" marL="457200" rtl="0" algn="l">
              <a:lnSpc>
                <a:spcPct val="115000"/>
              </a:lnSpc>
              <a:spcBef>
                <a:spcPts val="0"/>
              </a:spcBef>
              <a:spcAft>
                <a:spcPts val="0"/>
              </a:spcAft>
              <a:buClr>
                <a:srgbClr val="FF00FF"/>
              </a:buClr>
              <a:buSzPts val="1400"/>
              <a:buAutoNum type="arabicPeriod"/>
            </a:pPr>
            <a:r>
              <a:rPr lang="el">
                <a:solidFill>
                  <a:srgbClr val="FF00FF"/>
                </a:solidFill>
              </a:rPr>
              <a:t>Documentation and Commenting</a:t>
            </a:r>
            <a:endParaRPr>
              <a:solidFill>
                <a:srgbClr val="FF00FF"/>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Code Formatting and Styling</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Writing good tests</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Pipelines in ML projects</a:t>
            </a:r>
            <a:endParaRPr>
              <a:solidFill>
                <a:srgbClr val="999999"/>
              </a:solidFill>
            </a:endParaRPr>
          </a:p>
        </p:txBody>
      </p:sp>
      <p:sp>
        <p:nvSpPr>
          <p:cNvPr id="346" name="Google Shape;346;p47"/>
          <p:cNvSpPr txBox="1"/>
          <p:nvPr/>
        </p:nvSpPr>
        <p:spPr>
          <a:xfrm>
            <a:off x="475500" y="4674700"/>
            <a:ext cx="57462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t>https://madewithml.com/</a:t>
            </a:r>
            <a:endParaRPr sz="9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Intuition of Documentation</a:t>
            </a:r>
            <a:endParaRPr/>
          </a:p>
        </p:txBody>
      </p:sp>
      <p:pic>
        <p:nvPicPr>
          <p:cNvPr id="352" name="Google Shape;352;p48"/>
          <p:cNvPicPr preferRelativeResize="0"/>
          <p:nvPr/>
        </p:nvPicPr>
        <p:blipFill>
          <a:blip r:embed="rId3">
            <a:alphaModFix/>
          </a:blip>
          <a:stretch>
            <a:fillRect/>
          </a:stretch>
        </p:blipFill>
        <p:spPr>
          <a:xfrm>
            <a:off x="404725" y="1175125"/>
            <a:ext cx="3105500" cy="303800"/>
          </a:xfrm>
          <a:prstGeom prst="rect">
            <a:avLst/>
          </a:prstGeom>
          <a:noFill/>
          <a:ln>
            <a:noFill/>
          </a:ln>
        </p:spPr>
      </p:pic>
      <p:cxnSp>
        <p:nvCxnSpPr>
          <p:cNvPr id="353" name="Google Shape;353;p48"/>
          <p:cNvCxnSpPr>
            <a:stCxn id="352" idx="3"/>
          </p:cNvCxnSpPr>
          <p:nvPr/>
        </p:nvCxnSpPr>
        <p:spPr>
          <a:xfrm>
            <a:off x="3510225" y="1327025"/>
            <a:ext cx="682500" cy="0"/>
          </a:xfrm>
          <a:prstGeom prst="straightConnector1">
            <a:avLst/>
          </a:prstGeom>
          <a:noFill/>
          <a:ln cap="flat" cmpd="sng" w="9525">
            <a:solidFill>
              <a:schemeClr val="dk2"/>
            </a:solidFill>
            <a:prstDash val="solid"/>
            <a:round/>
            <a:headEnd len="med" w="med" type="none"/>
            <a:tailEnd len="med" w="med" type="triangle"/>
          </a:ln>
        </p:spPr>
      </p:cxnSp>
      <p:sp>
        <p:nvSpPr>
          <p:cNvPr id="354" name="Google Shape;354;p48"/>
          <p:cNvSpPr txBox="1"/>
          <p:nvPr/>
        </p:nvSpPr>
        <p:spPr>
          <a:xfrm>
            <a:off x="4257150" y="1080125"/>
            <a:ext cx="2432700" cy="49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solidFill>
                  <a:srgbClr val="FF00FF"/>
                </a:solidFill>
              </a:rPr>
              <a:t>When you review your code after two years without comments, remember me!</a:t>
            </a:r>
            <a:endParaRPr sz="900">
              <a:solidFill>
                <a:srgbClr val="FF00FF"/>
              </a:solidFill>
            </a:endParaRPr>
          </a:p>
        </p:txBody>
      </p:sp>
      <p:sp>
        <p:nvSpPr>
          <p:cNvPr id="355" name="Google Shape;355;p48"/>
          <p:cNvSpPr txBox="1"/>
          <p:nvPr/>
        </p:nvSpPr>
        <p:spPr>
          <a:xfrm>
            <a:off x="500850" y="1681400"/>
            <a:ext cx="8178000" cy="233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Improve the quality of your codebase &amp; make it easier for others.</a:t>
            </a:r>
            <a:endParaRPr/>
          </a:p>
          <a:p>
            <a:pPr indent="0" lvl="0" marL="0" rtl="0" algn="l">
              <a:spcBef>
                <a:spcPts val="0"/>
              </a:spcBef>
              <a:spcAft>
                <a:spcPts val="0"/>
              </a:spcAft>
              <a:buNone/>
            </a:pPr>
            <a:r>
              <a:rPr lang="el"/>
              <a:t>After some days you will forget what your code was like!!</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Most important components</a:t>
            </a:r>
            <a:endParaRPr/>
          </a:p>
          <a:p>
            <a:pPr indent="0" lvl="0" marL="0" rtl="0" algn="l">
              <a:spcBef>
                <a:spcPts val="0"/>
              </a:spcBef>
              <a:spcAft>
                <a:spcPts val="0"/>
              </a:spcAft>
              <a:buNone/>
            </a:pPr>
            <a:r>
              <a:t/>
            </a:r>
            <a:endParaRPr/>
          </a:p>
          <a:p>
            <a:pPr indent="-317500" lvl="0" marL="457200" rtl="0" algn="l">
              <a:spcBef>
                <a:spcPts val="0"/>
              </a:spcBef>
              <a:spcAft>
                <a:spcPts val="0"/>
              </a:spcAft>
              <a:buClr>
                <a:schemeClr val="dk1"/>
              </a:buClr>
              <a:buSzPts val="1400"/>
              <a:buChar char="-"/>
            </a:pPr>
            <a:r>
              <a:rPr lang="el">
                <a:solidFill>
                  <a:srgbClr val="FF00FF"/>
                </a:solidFill>
              </a:rPr>
              <a:t>docstrings:</a:t>
            </a:r>
            <a:r>
              <a:rPr lang="el">
                <a:solidFill>
                  <a:schemeClr val="dk1"/>
                </a:solidFill>
              </a:rPr>
              <a:t> Descriptions for functions and classes to describe utilities</a:t>
            </a:r>
            <a:endParaRPr/>
          </a:p>
          <a:p>
            <a:pPr indent="-317500" lvl="0" marL="457200" rtl="0" algn="l">
              <a:spcBef>
                <a:spcPts val="0"/>
              </a:spcBef>
              <a:spcAft>
                <a:spcPts val="0"/>
              </a:spcAft>
              <a:buSzPts val="1400"/>
              <a:buChar char="-"/>
            </a:pPr>
            <a:r>
              <a:rPr lang="el">
                <a:solidFill>
                  <a:srgbClr val="FF00FF"/>
                </a:solidFill>
              </a:rPr>
              <a:t>comments:</a:t>
            </a:r>
            <a:r>
              <a:rPr lang="el"/>
              <a:t> short descriptions as to why a piece of code exists</a:t>
            </a:r>
            <a:endParaRPr/>
          </a:p>
          <a:p>
            <a:pPr indent="-317500" lvl="0" marL="457200" rtl="0" algn="l">
              <a:spcBef>
                <a:spcPts val="0"/>
              </a:spcBef>
              <a:spcAft>
                <a:spcPts val="0"/>
              </a:spcAft>
              <a:buSzPts val="1400"/>
              <a:buChar char="-"/>
            </a:pPr>
            <a:r>
              <a:rPr lang="el">
                <a:solidFill>
                  <a:srgbClr val="FF00FF"/>
                </a:solidFill>
              </a:rPr>
              <a:t>typing:</a:t>
            </a:r>
            <a:r>
              <a:rPr lang="el"/>
              <a:t> Specification of a functions input/output. </a:t>
            </a:r>
            <a:endParaRPr/>
          </a:p>
          <a:p>
            <a:pPr indent="-317500" lvl="0" marL="457200" rtl="0" algn="l">
              <a:spcBef>
                <a:spcPts val="0"/>
              </a:spcBef>
              <a:spcAft>
                <a:spcPts val="0"/>
              </a:spcAft>
              <a:buSzPts val="1400"/>
              <a:buChar char="-"/>
            </a:pPr>
            <a:r>
              <a:rPr lang="el">
                <a:solidFill>
                  <a:srgbClr val="FF00FF"/>
                </a:solidFill>
              </a:rPr>
              <a:t>docs:</a:t>
            </a:r>
            <a:r>
              <a:rPr lang="el"/>
              <a:t> Rendered webpage summarizing all functions, classes, workflows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Typing</a:t>
            </a:r>
            <a:endParaRPr/>
          </a:p>
        </p:txBody>
      </p:sp>
      <p:sp>
        <p:nvSpPr>
          <p:cNvPr id="361" name="Google Shape;361;p49"/>
          <p:cNvSpPr txBox="1"/>
          <p:nvPr/>
        </p:nvSpPr>
        <p:spPr>
          <a:xfrm>
            <a:off x="311700" y="1223525"/>
            <a:ext cx="4257300" cy="122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Allows to be as explicit as possible with your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Explicitly defining the types of a functions inputs and outputs allows reproducibility and scalability</a:t>
            </a:r>
            <a:endParaRPr/>
          </a:p>
        </p:txBody>
      </p:sp>
      <p:pic>
        <p:nvPicPr>
          <p:cNvPr id="362" name="Google Shape;362;p49"/>
          <p:cNvPicPr preferRelativeResize="0"/>
          <p:nvPr/>
        </p:nvPicPr>
        <p:blipFill>
          <a:blip r:embed="rId3">
            <a:alphaModFix/>
          </a:blip>
          <a:stretch>
            <a:fillRect/>
          </a:stretch>
        </p:blipFill>
        <p:spPr>
          <a:xfrm>
            <a:off x="1150811" y="3014450"/>
            <a:ext cx="1973589" cy="449425"/>
          </a:xfrm>
          <a:prstGeom prst="rect">
            <a:avLst/>
          </a:prstGeom>
          <a:noFill/>
          <a:ln>
            <a:noFill/>
          </a:ln>
        </p:spPr>
      </p:pic>
      <p:pic>
        <p:nvPicPr>
          <p:cNvPr id="363" name="Google Shape;363;p49"/>
          <p:cNvPicPr preferRelativeResize="0"/>
          <p:nvPr/>
        </p:nvPicPr>
        <p:blipFill>
          <a:blip r:embed="rId4">
            <a:alphaModFix/>
          </a:blip>
          <a:stretch>
            <a:fillRect/>
          </a:stretch>
        </p:blipFill>
        <p:spPr>
          <a:xfrm>
            <a:off x="5180175" y="3014450"/>
            <a:ext cx="3416824" cy="449425"/>
          </a:xfrm>
          <a:prstGeom prst="rect">
            <a:avLst/>
          </a:prstGeom>
          <a:noFill/>
          <a:ln>
            <a:noFill/>
          </a:ln>
        </p:spPr>
      </p:pic>
      <p:sp>
        <p:nvSpPr>
          <p:cNvPr id="364" name="Google Shape;364;p49"/>
          <p:cNvSpPr/>
          <p:nvPr/>
        </p:nvSpPr>
        <p:spPr>
          <a:xfrm>
            <a:off x="3770088" y="3106863"/>
            <a:ext cx="764400" cy="264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Docstrings</a:t>
            </a:r>
            <a:endParaRPr/>
          </a:p>
        </p:txBody>
      </p:sp>
      <p:pic>
        <p:nvPicPr>
          <p:cNvPr id="370" name="Google Shape;370;p50"/>
          <p:cNvPicPr preferRelativeResize="0"/>
          <p:nvPr/>
        </p:nvPicPr>
        <p:blipFill>
          <a:blip r:embed="rId3">
            <a:alphaModFix/>
          </a:blip>
          <a:stretch>
            <a:fillRect/>
          </a:stretch>
        </p:blipFill>
        <p:spPr>
          <a:xfrm>
            <a:off x="4302250" y="881775"/>
            <a:ext cx="4574489" cy="3820974"/>
          </a:xfrm>
          <a:prstGeom prst="rect">
            <a:avLst/>
          </a:prstGeom>
          <a:noFill/>
          <a:ln>
            <a:noFill/>
          </a:ln>
        </p:spPr>
      </p:pic>
      <p:sp>
        <p:nvSpPr>
          <p:cNvPr id="371" name="Google Shape;371;p50"/>
          <p:cNvSpPr txBox="1"/>
          <p:nvPr/>
        </p:nvSpPr>
        <p:spPr>
          <a:xfrm>
            <a:off x="311700" y="1269525"/>
            <a:ext cx="3234000" cy="81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Describes the overall utility, the input and the output of the function</a:t>
            </a:r>
            <a:endParaRPr/>
          </a:p>
        </p:txBody>
      </p:sp>
      <p:sp>
        <p:nvSpPr>
          <p:cNvPr id="372" name="Google Shape;372;p50"/>
          <p:cNvSpPr txBox="1"/>
          <p:nvPr/>
        </p:nvSpPr>
        <p:spPr>
          <a:xfrm>
            <a:off x="150250" y="2384425"/>
            <a:ext cx="4152000" cy="197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There are tools (extension of VIS code) that allow for automatic documentation generation</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arenR"/>
            </a:pPr>
            <a:r>
              <a:rPr lang="el"/>
              <a:t>Sphinx</a:t>
            </a:r>
            <a:r>
              <a:rPr lang="el"/>
              <a:t> -&gt; my personal favourite!</a:t>
            </a:r>
            <a:endParaRPr/>
          </a:p>
          <a:p>
            <a:pPr indent="-317500" lvl="0" marL="457200" rtl="0" algn="l">
              <a:spcBef>
                <a:spcPts val="0"/>
              </a:spcBef>
              <a:spcAft>
                <a:spcPts val="0"/>
              </a:spcAft>
              <a:buSzPts val="1400"/>
              <a:buAutoNum type="arabicParenR"/>
            </a:pPr>
            <a:r>
              <a:rPr lang="el"/>
              <a:t>Doxygen</a:t>
            </a:r>
            <a:endParaRPr/>
          </a:p>
          <a:p>
            <a:pPr indent="-317500" lvl="0" marL="457200" rtl="0" algn="l">
              <a:spcBef>
                <a:spcPts val="0"/>
              </a:spcBef>
              <a:spcAft>
                <a:spcPts val="0"/>
              </a:spcAft>
              <a:buSzPts val="1400"/>
              <a:buAutoNum type="arabicParenR"/>
            </a:pPr>
            <a:r>
              <a:rPr lang="el"/>
              <a:t>pydoc</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Unpopular tip:</a:t>
            </a:r>
            <a:endParaRPr>
              <a:solidFill>
                <a:srgbClr val="FF00FF"/>
              </a:solidFill>
            </a:endParaRPr>
          </a:p>
          <a:p>
            <a:pPr indent="0" lvl="0" marL="0" rtl="0" algn="l">
              <a:spcBef>
                <a:spcPts val="0"/>
              </a:spcBef>
              <a:spcAft>
                <a:spcPts val="0"/>
              </a:spcAft>
              <a:buNone/>
            </a:pPr>
            <a:r>
              <a:rPr lang="el"/>
              <a:t>Use Copilot or chatGPT, they do </a:t>
            </a:r>
            <a:r>
              <a:rPr lang="el"/>
              <a:t>surprisingly</a:t>
            </a:r>
            <a:r>
              <a:rPr lang="el"/>
              <a:t> well)</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Commenting</a:t>
            </a:r>
            <a:endParaRPr/>
          </a:p>
        </p:txBody>
      </p:sp>
      <p:sp>
        <p:nvSpPr>
          <p:cNvPr id="378" name="Google Shape;378;p51"/>
          <p:cNvSpPr txBox="1"/>
          <p:nvPr/>
        </p:nvSpPr>
        <p:spPr>
          <a:xfrm>
            <a:off x="472225" y="1216350"/>
            <a:ext cx="8328300" cy="37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Extremely important for good quality of code!</a:t>
            </a:r>
            <a:endParaRPr/>
          </a:p>
          <a:p>
            <a:pPr indent="0" lvl="0" marL="0" rtl="0" algn="l">
              <a:spcBef>
                <a:spcPts val="0"/>
              </a:spcBef>
              <a:spcAft>
                <a:spcPts val="0"/>
              </a:spcAft>
              <a:buNone/>
            </a:pPr>
            <a:r>
              <a:rPr lang="el"/>
              <a:t>Assist in explaining complex code, stating intentions, marking todos and noting external dependencies</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What to do:</a:t>
            </a:r>
            <a:endParaRPr>
              <a:solidFill>
                <a:srgbClr val="FF00FF"/>
              </a:solidFill>
            </a:endParaRPr>
          </a:p>
          <a:p>
            <a:pPr indent="-317500" lvl="0" marL="457200" rtl="0" algn="l">
              <a:spcBef>
                <a:spcPts val="0"/>
              </a:spcBef>
              <a:spcAft>
                <a:spcPts val="0"/>
              </a:spcAft>
              <a:buSzPts val="1400"/>
              <a:buChar char="-"/>
            </a:pPr>
            <a:r>
              <a:rPr lang="el"/>
              <a:t>Write </a:t>
            </a:r>
            <a:r>
              <a:rPr lang="el"/>
              <a:t>clear concise comments that explain the why, not the how (code tells the how!!!)</a:t>
            </a:r>
            <a:endParaRPr/>
          </a:p>
          <a:p>
            <a:pPr indent="-317500" lvl="0" marL="457200" rtl="0" algn="l">
              <a:spcBef>
                <a:spcPts val="0"/>
              </a:spcBef>
              <a:spcAft>
                <a:spcPts val="0"/>
              </a:spcAft>
              <a:buSzPts val="1400"/>
              <a:buChar char="-"/>
            </a:pPr>
            <a:r>
              <a:rPr lang="el"/>
              <a:t>Comments on sections where functionality might not be obvious (otherwise is chunk!!!)</a:t>
            </a:r>
            <a:endParaRPr/>
          </a:p>
          <a:p>
            <a:pPr indent="-317500" lvl="0" marL="457200" rtl="0" algn="l">
              <a:spcBef>
                <a:spcPts val="0"/>
              </a:spcBef>
              <a:spcAft>
                <a:spcPts val="0"/>
              </a:spcAft>
              <a:buSzPts val="1400"/>
              <a:buChar char="-"/>
            </a:pPr>
            <a:r>
              <a:rPr lang="el"/>
              <a:t>Update comments when code is changed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What not to do:</a:t>
            </a:r>
            <a:endParaRPr>
              <a:solidFill>
                <a:srgbClr val="FF00FF"/>
              </a:solidFill>
            </a:endParaRPr>
          </a:p>
          <a:p>
            <a:pPr indent="-317500" lvl="0" marL="457200" rtl="0" algn="l">
              <a:spcBef>
                <a:spcPts val="0"/>
              </a:spcBef>
              <a:spcAft>
                <a:spcPts val="0"/>
              </a:spcAft>
              <a:buSzPts val="1400"/>
              <a:buChar char="-"/>
            </a:pPr>
            <a:r>
              <a:rPr lang="el"/>
              <a:t>Avoid commenting obvious code</a:t>
            </a:r>
            <a:endParaRPr/>
          </a:p>
          <a:p>
            <a:pPr indent="-317500" lvl="0" marL="457200" rtl="0" algn="l">
              <a:spcBef>
                <a:spcPts val="0"/>
              </a:spcBef>
              <a:spcAft>
                <a:spcPts val="0"/>
              </a:spcAft>
              <a:buSzPts val="1400"/>
              <a:buChar char="-"/>
            </a:pPr>
            <a:r>
              <a:rPr lang="el"/>
              <a:t>Avoid redundant or outdated comments</a:t>
            </a:r>
            <a:endParaRPr/>
          </a:p>
          <a:p>
            <a:pPr indent="-317500" lvl="0" marL="457200" rtl="0" algn="l">
              <a:spcBef>
                <a:spcPts val="0"/>
              </a:spcBef>
              <a:spcAft>
                <a:spcPts val="0"/>
              </a:spcAft>
              <a:buSzPts val="1400"/>
              <a:buChar char="-"/>
            </a:pPr>
            <a:r>
              <a:rPr lang="el"/>
              <a:t>Avoid large blocks of comments</a:t>
            </a:r>
            <a:endParaRPr/>
          </a:p>
        </p:txBody>
      </p:sp>
      <p:pic>
        <p:nvPicPr>
          <p:cNvPr id="379" name="Google Shape;379;p51"/>
          <p:cNvPicPr preferRelativeResize="0"/>
          <p:nvPr/>
        </p:nvPicPr>
        <p:blipFill>
          <a:blip r:embed="rId3">
            <a:alphaModFix/>
          </a:blip>
          <a:stretch>
            <a:fillRect/>
          </a:stretch>
        </p:blipFill>
        <p:spPr>
          <a:xfrm>
            <a:off x="5624671" y="3147550"/>
            <a:ext cx="2734405" cy="572700"/>
          </a:xfrm>
          <a:prstGeom prst="rect">
            <a:avLst/>
          </a:prstGeom>
          <a:noFill/>
          <a:ln>
            <a:noFill/>
          </a:ln>
        </p:spPr>
      </p:pic>
      <p:sp>
        <p:nvSpPr>
          <p:cNvPr id="380" name="Google Shape;380;p51"/>
          <p:cNvSpPr txBox="1"/>
          <p:nvPr/>
        </p:nvSpPr>
        <p:spPr>
          <a:xfrm>
            <a:off x="5724825" y="2818425"/>
            <a:ext cx="2239500" cy="28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Good commenting</a:t>
            </a:r>
            <a:endParaRPr>
              <a:solidFill>
                <a:srgbClr val="FF00FF"/>
              </a:solidFill>
            </a:endParaRPr>
          </a:p>
        </p:txBody>
      </p:sp>
      <p:pic>
        <p:nvPicPr>
          <p:cNvPr id="381" name="Google Shape;381;p51"/>
          <p:cNvPicPr preferRelativeResize="0"/>
          <p:nvPr/>
        </p:nvPicPr>
        <p:blipFill>
          <a:blip r:embed="rId4">
            <a:alphaModFix/>
          </a:blip>
          <a:stretch>
            <a:fillRect/>
          </a:stretch>
        </p:blipFill>
        <p:spPr>
          <a:xfrm>
            <a:off x="5667606" y="4315944"/>
            <a:ext cx="1919319" cy="572700"/>
          </a:xfrm>
          <a:prstGeom prst="rect">
            <a:avLst/>
          </a:prstGeom>
          <a:noFill/>
          <a:ln>
            <a:noFill/>
          </a:ln>
        </p:spPr>
      </p:pic>
      <p:sp>
        <p:nvSpPr>
          <p:cNvPr id="382" name="Google Shape;382;p51"/>
          <p:cNvSpPr txBox="1"/>
          <p:nvPr/>
        </p:nvSpPr>
        <p:spPr>
          <a:xfrm>
            <a:off x="5624675" y="4029750"/>
            <a:ext cx="2239500" cy="28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Bad </a:t>
            </a:r>
            <a:r>
              <a:rPr lang="el">
                <a:solidFill>
                  <a:srgbClr val="FF00FF"/>
                </a:solidFill>
              </a:rPr>
              <a:t>commenting</a:t>
            </a:r>
            <a:endParaRPr>
              <a:solidFill>
                <a:srgbClr val="FF00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Key Concepts of Production-Level Code</a:t>
            </a:r>
            <a:endParaRPr/>
          </a:p>
        </p:txBody>
      </p:sp>
      <p:sp>
        <p:nvSpPr>
          <p:cNvPr id="388" name="Google Shape;388;p52"/>
          <p:cNvSpPr txBox="1"/>
          <p:nvPr/>
        </p:nvSpPr>
        <p:spPr>
          <a:xfrm>
            <a:off x="436500" y="1495400"/>
            <a:ext cx="8271000" cy="253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AutoNum type="arabicPeriod"/>
            </a:pPr>
            <a:r>
              <a:rPr lang="el"/>
              <a:t>Structured project repositories</a:t>
            </a:r>
            <a:endParaRPr/>
          </a:p>
          <a:p>
            <a:pPr indent="-317500" lvl="0" marL="457200" rtl="0" algn="l">
              <a:lnSpc>
                <a:spcPct val="115000"/>
              </a:lnSpc>
              <a:spcBef>
                <a:spcPts val="0"/>
              </a:spcBef>
              <a:spcAft>
                <a:spcPts val="0"/>
              </a:spcAft>
              <a:buSzPts val="1400"/>
              <a:buAutoNum type="arabicPeriod"/>
            </a:pPr>
            <a:r>
              <a:rPr lang="el"/>
              <a:t>Scalable and reproducible code</a:t>
            </a:r>
            <a:endParaRPr/>
          </a:p>
          <a:p>
            <a:pPr indent="-317500" lvl="0" marL="457200" rtl="0" algn="l">
              <a:lnSpc>
                <a:spcPct val="115000"/>
              </a:lnSpc>
              <a:spcBef>
                <a:spcPts val="0"/>
              </a:spcBef>
              <a:spcAft>
                <a:spcPts val="0"/>
              </a:spcAft>
              <a:buSzPts val="1400"/>
              <a:buAutoNum type="arabicPeriod"/>
            </a:pPr>
            <a:r>
              <a:rPr lang="el"/>
              <a:t>Clean code principles</a:t>
            </a:r>
            <a:endParaRPr/>
          </a:p>
          <a:p>
            <a:pPr indent="-317500" lvl="0" marL="457200" rtl="0" algn="l">
              <a:lnSpc>
                <a:spcPct val="115000"/>
              </a:lnSpc>
              <a:spcBef>
                <a:spcPts val="0"/>
              </a:spcBef>
              <a:spcAft>
                <a:spcPts val="0"/>
              </a:spcAft>
              <a:buClr>
                <a:schemeClr val="dk1"/>
              </a:buClr>
              <a:buSzPts val="1400"/>
              <a:buAutoNum type="arabicPeriod"/>
            </a:pPr>
            <a:r>
              <a:rPr lang="el">
                <a:solidFill>
                  <a:schemeClr val="dk1"/>
                </a:solidFill>
              </a:rPr>
              <a:t>Logging and Error Handling</a:t>
            </a:r>
            <a:endParaRPr>
              <a:solidFill>
                <a:schemeClr val="dk1"/>
              </a:solidFill>
            </a:endParaRPr>
          </a:p>
          <a:p>
            <a:pPr indent="-317500" lvl="0" marL="457200" rtl="0" algn="l">
              <a:lnSpc>
                <a:spcPct val="115000"/>
              </a:lnSpc>
              <a:spcBef>
                <a:spcPts val="0"/>
              </a:spcBef>
              <a:spcAft>
                <a:spcPts val="0"/>
              </a:spcAft>
              <a:buSzPts val="1400"/>
              <a:buAutoNum type="arabicPeriod"/>
            </a:pPr>
            <a:r>
              <a:rPr lang="el"/>
              <a:t>Documentation and Commenting</a:t>
            </a:r>
            <a:endParaRPr/>
          </a:p>
          <a:p>
            <a:pPr indent="-317500" lvl="0" marL="457200" rtl="0" algn="l">
              <a:lnSpc>
                <a:spcPct val="115000"/>
              </a:lnSpc>
              <a:spcBef>
                <a:spcPts val="0"/>
              </a:spcBef>
              <a:spcAft>
                <a:spcPts val="0"/>
              </a:spcAft>
              <a:buClr>
                <a:srgbClr val="FF00FF"/>
              </a:buClr>
              <a:buSzPts val="1400"/>
              <a:buAutoNum type="arabicPeriod"/>
            </a:pPr>
            <a:r>
              <a:rPr lang="el">
                <a:solidFill>
                  <a:srgbClr val="FF00FF"/>
                </a:solidFill>
              </a:rPr>
              <a:t>Code Formatting and Styling</a:t>
            </a:r>
            <a:endParaRPr>
              <a:solidFill>
                <a:srgbClr val="FF00FF"/>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Writing good tests</a:t>
            </a:r>
            <a:endParaRPr>
              <a:solidFill>
                <a:srgbClr val="999999"/>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Pipelines in ML projects</a:t>
            </a:r>
            <a:endParaRPr>
              <a:solidFill>
                <a:srgbClr val="999999"/>
              </a:solidFill>
            </a:endParaRPr>
          </a:p>
        </p:txBody>
      </p:sp>
      <p:sp>
        <p:nvSpPr>
          <p:cNvPr id="389" name="Google Shape;389;p52"/>
          <p:cNvSpPr txBox="1"/>
          <p:nvPr/>
        </p:nvSpPr>
        <p:spPr>
          <a:xfrm>
            <a:off x="475500" y="4674700"/>
            <a:ext cx="57462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t>https://madewithml.com/</a:t>
            </a:r>
            <a:endParaRPr sz="9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Intuition for Code Styling</a:t>
            </a:r>
            <a:endParaRPr/>
          </a:p>
        </p:txBody>
      </p:sp>
      <p:sp>
        <p:nvSpPr>
          <p:cNvPr id="395" name="Google Shape;395;p53"/>
          <p:cNvSpPr txBox="1"/>
          <p:nvPr/>
        </p:nvSpPr>
        <p:spPr>
          <a:xfrm>
            <a:off x="311700" y="1803025"/>
            <a:ext cx="8335500" cy="27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When you write code its almost never the last time you see it or the last time you edit it.</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l"/>
              <a:t>You need to explain what is going on (documentation &amp; commenting)</a:t>
            </a:r>
            <a:endParaRPr/>
          </a:p>
          <a:p>
            <a:pPr indent="-317500" lvl="0" marL="457200" rtl="0" algn="l">
              <a:spcBef>
                <a:spcPts val="0"/>
              </a:spcBef>
              <a:spcAft>
                <a:spcPts val="0"/>
              </a:spcAft>
              <a:buSzPts val="1400"/>
              <a:buChar char="-"/>
            </a:pPr>
            <a:r>
              <a:rPr lang="el"/>
              <a:t>Make it easy to read</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How to make it easier to read? </a:t>
            </a:r>
            <a:endParaRPr>
              <a:solidFill>
                <a:srgbClr val="FF00FF"/>
              </a:solidFill>
            </a:endParaRPr>
          </a:p>
          <a:p>
            <a:pPr indent="0" lvl="0" marL="0" rtl="0" algn="l">
              <a:spcBef>
                <a:spcPts val="0"/>
              </a:spcBef>
              <a:spcAft>
                <a:spcPts val="0"/>
              </a:spcAft>
              <a:buNone/>
            </a:pPr>
            <a:r>
              <a:rPr lang="el"/>
              <a:t>Follow consistent style and </a:t>
            </a:r>
            <a:r>
              <a:rPr lang="el"/>
              <a:t>formatting</a:t>
            </a:r>
            <a:r>
              <a:rPr lang="el"/>
              <a:t> conventions (</a:t>
            </a:r>
            <a:r>
              <a:rPr lang="el" u="sng">
                <a:solidFill>
                  <a:schemeClr val="hlink"/>
                </a:solidFill>
                <a:hlinkClick r:id="rId3"/>
              </a:rPr>
              <a:t>PEP8</a:t>
            </a:r>
            <a:r>
              <a:rPr lang="el"/>
              <a:t> is the most widely applied)</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The most important aspects</a:t>
            </a:r>
            <a:endParaRPr/>
          </a:p>
          <a:p>
            <a:pPr indent="-317500" lvl="0" marL="457200" rtl="0" algn="l">
              <a:spcBef>
                <a:spcPts val="0"/>
              </a:spcBef>
              <a:spcAft>
                <a:spcPts val="0"/>
              </a:spcAft>
              <a:buSzPts val="1400"/>
              <a:buChar char="-"/>
            </a:pPr>
            <a:r>
              <a:rPr lang="el">
                <a:solidFill>
                  <a:srgbClr val="FF00FF"/>
                </a:solidFill>
              </a:rPr>
              <a:t>Collaboration</a:t>
            </a:r>
            <a:r>
              <a:rPr lang="el">
                <a:solidFill>
                  <a:srgbClr val="FF00FF"/>
                </a:solidFill>
              </a:rPr>
              <a:t>:</a:t>
            </a:r>
            <a:r>
              <a:rPr lang="el"/>
              <a:t>  teams write in the same coding style</a:t>
            </a:r>
            <a:endParaRPr/>
          </a:p>
          <a:p>
            <a:pPr indent="-317500" lvl="0" marL="457200" rtl="0" algn="l">
              <a:spcBef>
                <a:spcPts val="0"/>
              </a:spcBef>
              <a:spcAft>
                <a:spcPts val="0"/>
              </a:spcAft>
              <a:buSzPts val="1400"/>
              <a:buChar char="-"/>
            </a:pPr>
            <a:r>
              <a:rPr lang="el">
                <a:solidFill>
                  <a:srgbClr val="FF00FF"/>
                </a:solidFill>
              </a:rPr>
              <a:t>Consistency:</a:t>
            </a:r>
            <a:r>
              <a:rPr lang="el"/>
              <a:t> Same patterns across all scripts</a:t>
            </a:r>
            <a:endParaRPr/>
          </a:p>
          <a:p>
            <a:pPr indent="-317500" lvl="0" marL="457200" rtl="0" algn="l">
              <a:spcBef>
                <a:spcPts val="0"/>
              </a:spcBef>
              <a:spcAft>
                <a:spcPts val="0"/>
              </a:spcAft>
              <a:buSzPts val="1400"/>
              <a:buChar char="-"/>
            </a:pPr>
            <a:r>
              <a:rPr lang="el">
                <a:solidFill>
                  <a:srgbClr val="FF00FF"/>
                </a:solidFill>
              </a:rPr>
              <a:t>Automation:</a:t>
            </a:r>
            <a:r>
              <a:rPr lang="el"/>
              <a:t> Code is styled effortless after initial configuration</a:t>
            </a:r>
            <a:endParaRPr/>
          </a:p>
        </p:txBody>
      </p:sp>
      <p:pic>
        <p:nvPicPr>
          <p:cNvPr id="396" name="Google Shape;396;p53"/>
          <p:cNvPicPr preferRelativeResize="0"/>
          <p:nvPr/>
        </p:nvPicPr>
        <p:blipFill>
          <a:blip r:embed="rId4">
            <a:alphaModFix/>
          </a:blip>
          <a:stretch>
            <a:fillRect/>
          </a:stretch>
        </p:blipFill>
        <p:spPr>
          <a:xfrm>
            <a:off x="218225" y="1119175"/>
            <a:ext cx="5953975" cy="4506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Examples</a:t>
            </a:r>
            <a:endParaRPr/>
          </a:p>
        </p:txBody>
      </p:sp>
      <p:sp>
        <p:nvSpPr>
          <p:cNvPr id="402" name="Google Shape;402;p54"/>
          <p:cNvSpPr txBox="1"/>
          <p:nvPr/>
        </p:nvSpPr>
        <p:spPr>
          <a:xfrm>
            <a:off x="6096025" y="634075"/>
            <a:ext cx="2346900" cy="42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000"/>
              <a:t>https://peps.python.org/pep-0008/</a:t>
            </a:r>
            <a:endParaRPr sz="1000"/>
          </a:p>
        </p:txBody>
      </p:sp>
      <p:sp>
        <p:nvSpPr>
          <p:cNvPr id="403" name="Google Shape;403;p54"/>
          <p:cNvSpPr txBox="1"/>
          <p:nvPr/>
        </p:nvSpPr>
        <p:spPr>
          <a:xfrm>
            <a:off x="367075" y="1063375"/>
            <a:ext cx="23826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Indentation</a:t>
            </a:r>
            <a:endParaRPr>
              <a:solidFill>
                <a:srgbClr val="FF00FF"/>
              </a:solidFill>
            </a:endParaRPr>
          </a:p>
        </p:txBody>
      </p:sp>
      <p:pic>
        <p:nvPicPr>
          <p:cNvPr id="404" name="Google Shape;404;p54"/>
          <p:cNvPicPr preferRelativeResize="0"/>
          <p:nvPr/>
        </p:nvPicPr>
        <p:blipFill>
          <a:blip r:embed="rId3">
            <a:alphaModFix/>
          </a:blip>
          <a:stretch>
            <a:fillRect/>
          </a:stretch>
        </p:blipFill>
        <p:spPr>
          <a:xfrm>
            <a:off x="367079" y="1428175"/>
            <a:ext cx="4113450" cy="1778525"/>
          </a:xfrm>
          <a:prstGeom prst="rect">
            <a:avLst/>
          </a:prstGeom>
          <a:noFill/>
          <a:ln>
            <a:noFill/>
          </a:ln>
        </p:spPr>
      </p:pic>
      <p:pic>
        <p:nvPicPr>
          <p:cNvPr id="405" name="Google Shape;405;p54"/>
          <p:cNvPicPr preferRelativeResize="0"/>
          <p:nvPr/>
        </p:nvPicPr>
        <p:blipFill>
          <a:blip r:embed="rId4">
            <a:alphaModFix/>
          </a:blip>
          <a:stretch>
            <a:fillRect/>
          </a:stretch>
        </p:blipFill>
        <p:spPr>
          <a:xfrm>
            <a:off x="4724400" y="1666525"/>
            <a:ext cx="4225199" cy="1465650"/>
          </a:xfrm>
          <a:prstGeom prst="rect">
            <a:avLst/>
          </a:prstGeom>
          <a:noFill/>
          <a:ln>
            <a:noFill/>
          </a:ln>
        </p:spPr>
      </p:pic>
      <p:sp>
        <p:nvSpPr>
          <p:cNvPr id="406" name="Google Shape;406;p54"/>
          <p:cNvSpPr txBox="1"/>
          <p:nvPr/>
        </p:nvSpPr>
        <p:spPr>
          <a:xfrm>
            <a:off x="367075" y="3442800"/>
            <a:ext cx="23826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Line breaks</a:t>
            </a:r>
            <a:endParaRPr>
              <a:solidFill>
                <a:srgbClr val="FF00FF"/>
              </a:solidFill>
            </a:endParaRPr>
          </a:p>
        </p:txBody>
      </p:sp>
      <p:pic>
        <p:nvPicPr>
          <p:cNvPr id="407" name="Google Shape;407;p54"/>
          <p:cNvPicPr preferRelativeResize="0"/>
          <p:nvPr/>
        </p:nvPicPr>
        <p:blipFill>
          <a:blip r:embed="rId5">
            <a:alphaModFix/>
          </a:blip>
          <a:stretch>
            <a:fillRect/>
          </a:stretch>
        </p:blipFill>
        <p:spPr>
          <a:xfrm>
            <a:off x="5108600" y="3904150"/>
            <a:ext cx="3554775" cy="1101100"/>
          </a:xfrm>
          <a:prstGeom prst="rect">
            <a:avLst/>
          </a:prstGeom>
          <a:noFill/>
          <a:ln>
            <a:noFill/>
          </a:ln>
        </p:spPr>
      </p:pic>
      <p:pic>
        <p:nvPicPr>
          <p:cNvPr id="408" name="Google Shape;408;p54"/>
          <p:cNvPicPr preferRelativeResize="0"/>
          <p:nvPr/>
        </p:nvPicPr>
        <p:blipFill>
          <a:blip r:embed="rId6">
            <a:alphaModFix/>
          </a:blip>
          <a:stretch>
            <a:fillRect/>
          </a:stretch>
        </p:blipFill>
        <p:spPr>
          <a:xfrm>
            <a:off x="367070" y="3857700"/>
            <a:ext cx="3488951" cy="11011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Tools for Formating!</a:t>
            </a:r>
            <a:endParaRPr/>
          </a:p>
        </p:txBody>
      </p:sp>
      <p:sp>
        <p:nvSpPr>
          <p:cNvPr id="414" name="Google Shape;414;p55"/>
          <p:cNvSpPr txBox="1"/>
          <p:nvPr/>
        </p:nvSpPr>
        <p:spPr>
          <a:xfrm>
            <a:off x="493700" y="1094700"/>
            <a:ext cx="5623800" cy="151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Black: </a:t>
            </a:r>
            <a:endParaRPr>
              <a:solidFill>
                <a:srgbClr val="FF00FF"/>
              </a:solidFill>
            </a:endParaRPr>
          </a:p>
          <a:p>
            <a:pPr indent="0" lvl="0" marL="0" rtl="0" algn="l">
              <a:spcBef>
                <a:spcPts val="0"/>
              </a:spcBef>
              <a:spcAft>
                <a:spcPts val="0"/>
              </a:spcAft>
              <a:buNone/>
            </a:pPr>
            <a:r>
              <a:rPr lang="el"/>
              <a:t>An automatic code formatter that makes code </a:t>
            </a:r>
            <a:r>
              <a:rPr lang="el"/>
              <a:t>conform</a:t>
            </a:r>
            <a:r>
              <a:rPr lang="el"/>
              <a:t> to the default PEP 8 style</a:t>
            </a:r>
            <a:endParaRPr/>
          </a:p>
          <a:p>
            <a:pPr indent="-317500" lvl="0" marL="457200" rtl="0" algn="l">
              <a:spcBef>
                <a:spcPts val="0"/>
              </a:spcBef>
              <a:spcAft>
                <a:spcPts val="0"/>
              </a:spcAft>
              <a:buSzPts val="1400"/>
              <a:buChar char="-"/>
            </a:pPr>
            <a:r>
              <a:rPr lang="el"/>
              <a:t>Easy to install and set-up</a:t>
            </a:r>
            <a:endParaRPr/>
          </a:p>
          <a:p>
            <a:pPr indent="-317500" lvl="0" marL="457200" rtl="0" algn="l">
              <a:spcBef>
                <a:spcPts val="0"/>
              </a:spcBef>
              <a:spcAft>
                <a:spcPts val="0"/>
              </a:spcAft>
              <a:buSzPts val="1400"/>
              <a:buChar char="-"/>
            </a:pPr>
            <a:r>
              <a:rPr lang="el"/>
              <a:t>Changes applied </a:t>
            </a:r>
            <a:r>
              <a:rPr lang="el"/>
              <a:t>automatically</a:t>
            </a:r>
            <a:r>
              <a:rPr lang="el"/>
              <a:t> after saving</a:t>
            </a:r>
            <a:endParaRPr/>
          </a:p>
        </p:txBody>
      </p:sp>
      <p:pic>
        <p:nvPicPr>
          <p:cNvPr id="415" name="Google Shape;415;p55"/>
          <p:cNvPicPr preferRelativeResize="0"/>
          <p:nvPr/>
        </p:nvPicPr>
        <p:blipFill>
          <a:blip r:embed="rId3">
            <a:alphaModFix/>
          </a:blip>
          <a:stretch>
            <a:fillRect/>
          </a:stretch>
        </p:blipFill>
        <p:spPr>
          <a:xfrm>
            <a:off x="6446575" y="1394450"/>
            <a:ext cx="1807975" cy="987875"/>
          </a:xfrm>
          <a:prstGeom prst="rect">
            <a:avLst/>
          </a:prstGeom>
          <a:noFill/>
          <a:ln>
            <a:noFill/>
          </a:ln>
        </p:spPr>
      </p:pic>
      <p:sp>
        <p:nvSpPr>
          <p:cNvPr id="416" name="Google Shape;416;p55"/>
          <p:cNvSpPr txBox="1"/>
          <p:nvPr/>
        </p:nvSpPr>
        <p:spPr>
          <a:xfrm>
            <a:off x="493700" y="2382325"/>
            <a:ext cx="5623800" cy="12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Flake8:</a:t>
            </a:r>
            <a:endParaRPr>
              <a:solidFill>
                <a:srgbClr val="FF00FF"/>
              </a:solidFill>
            </a:endParaRPr>
          </a:p>
          <a:p>
            <a:pPr indent="0" lvl="0" marL="0" rtl="0" algn="l">
              <a:spcBef>
                <a:spcPts val="0"/>
              </a:spcBef>
              <a:spcAft>
                <a:spcPts val="0"/>
              </a:spcAft>
              <a:buNone/>
            </a:pPr>
            <a:r>
              <a:rPr lang="el"/>
              <a:t>A tool that </a:t>
            </a:r>
            <a:r>
              <a:rPr lang="el"/>
              <a:t>automatically check your code against coding styles (PEP 8), checks for syntax errors and complex or error-prone lines</a:t>
            </a:r>
            <a:endParaRPr/>
          </a:p>
          <a:p>
            <a:pPr indent="-317500" lvl="0" marL="457200" rtl="0" algn="l">
              <a:spcBef>
                <a:spcPts val="0"/>
              </a:spcBef>
              <a:spcAft>
                <a:spcPts val="0"/>
              </a:spcAft>
              <a:buSzPts val="1400"/>
              <a:buChar char="-"/>
            </a:pPr>
            <a:r>
              <a:rPr lang="el"/>
              <a:t>Easy to install and set-up</a:t>
            </a:r>
            <a:endParaRPr/>
          </a:p>
          <a:p>
            <a:pPr indent="-317500" lvl="0" marL="457200" rtl="0" algn="l">
              <a:spcBef>
                <a:spcPts val="0"/>
              </a:spcBef>
              <a:spcAft>
                <a:spcPts val="0"/>
              </a:spcAft>
              <a:buSzPts val="1400"/>
              <a:buChar char="-"/>
            </a:pPr>
            <a:r>
              <a:rPr lang="el"/>
              <a:t>Returns warnings!</a:t>
            </a:r>
            <a:endParaRPr/>
          </a:p>
        </p:txBody>
      </p:sp>
      <p:sp>
        <p:nvSpPr>
          <p:cNvPr id="417" name="Google Shape;417;p55"/>
          <p:cNvSpPr txBox="1"/>
          <p:nvPr/>
        </p:nvSpPr>
        <p:spPr>
          <a:xfrm>
            <a:off x="386375" y="4071150"/>
            <a:ext cx="5623800" cy="37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Combine the two to maximize your code efficiency</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Key Concepts of Production-Level Code</a:t>
            </a:r>
            <a:endParaRPr/>
          </a:p>
        </p:txBody>
      </p:sp>
      <p:sp>
        <p:nvSpPr>
          <p:cNvPr id="423" name="Google Shape;423;p56"/>
          <p:cNvSpPr txBox="1"/>
          <p:nvPr/>
        </p:nvSpPr>
        <p:spPr>
          <a:xfrm>
            <a:off x="436500" y="1495400"/>
            <a:ext cx="8271000" cy="253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AutoNum type="arabicPeriod"/>
            </a:pPr>
            <a:r>
              <a:rPr lang="el"/>
              <a:t>Structured project repositories</a:t>
            </a:r>
            <a:endParaRPr/>
          </a:p>
          <a:p>
            <a:pPr indent="-317500" lvl="0" marL="457200" rtl="0" algn="l">
              <a:lnSpc>
                <a:spcPct val="115000"/>
              </a:lnSpc>
              <a:spcBef>
                <a:spcPts val="0"/>
              </a:spcBef>
              <a:spcAft>
                <a:spcPts val="0"/>
              </a:spcAft>
              <a:buSzPts val="1400"/>
              <a:buAutoNum type="arabicPeriod"/>
            </a:pPr>
            <a:r>
              <a:rPr lang="el"/>
              <a:t>Scalable and reproducible code</a:t>
            </a:r>
            <a:endParaRPr/>
          </a:p>
          <a:p>
            <a:pPr indent="-317500" lvl="0" marL="457200" rtl="0" algn="l">
              <a:lnSpc>
                <a:spcPct val="115000"/>
              </a:lnSpc>
              <a:spcBef>
                <a:spcPts val="0"/>
              </a:spcBef>
              <a:spcAft>
                <a:spcPts val="0"/>
              </a:spcAft>
              <a:buSzPts val="1400"/>
              <a:buAutoNum type="arabicPeriod"/>
            </a:pPr>
            <a:r>
              <a:rPr lang="el"/>
              <a:t>Clean code principles</a:t>
            </a:r>
            <a:endParaRPr/>
          </a:p>
          <a:p>
            <a:pPr indent="-317500" lvl="0" marL="457200" rtl="0" algn="l">
              <a:lnSpc>
                <a:spcPct val="115000"/>
              </a:lnSpc>
              <a:spcBef>
                <a:spcPts val="0"/>
              </a:spcBef>
              <a:spcAft>
                <a:spcPts val="0"/>
              </a:spcAft>
              <a:buClr>
                <a:schemeClr val="dk1"/>
              </a:buClr>
              <a:buSzPts val="1400"/>
              <a:buAutoNum type="arabicPeriod"/>
            </a:pPr>
            <a:r>
              <a:rPr lang="el">
                <a:solidFill>
                  <a:schemeClr val="dk1"/>
                </a:solidFill>
              </a:rPr>
              <a:t>Logging and Error Handling</a:t>
            </a:r>
            <a:endParaRPr>
              <a:solidFill>
                <a:schemeClr val="dk1"/>
              </a:solidFill>
            </a:endParaRPr>
          </a:p>
          <a:p>
            <a:pPr indent="-317500" lvl="0" marL="457200" rtl="0" algn="l">
              <a:lnSpc>
                <a:spcPct val="115000"/>
              </a:lnSpc>
              <a:spcBef>
                <a:spcPts val="0"/>
              </a:spcBef>
              <a:spcAft>
                <a:spcPts val="0"/>
              </a:spcAft>
              <a:buSzPts val="1400"/>
              <a:buAutoNum type="arabicPeriod"/>
            </a:pPr>
            <a:r>
              <a:rPr lang="el"/>
              <a:t>Documentation and Commenting</a:t>
            </a:r>
            <a:endParaRPr/>
          </a:p>
          <a:p>
            <a:pPr indent="-317500" lvl="0" marL="457200" rtl="0" algn="l">
              <a:lnSpc>
                <a:spcPct val="115000"/>
              </a:lnSpc>
              <a:spcBef>
                <a:spcPts val="0"/>
              </a:spcBef>
              <a:spcAft>
                <a:spcPts val="0"/>
              </a:spcAft>
              <a:buClr>
                <a:schemeClr val="dk1"/>
              </a:buClr>
              <a:buSzPts val="1400"/>
              <a:buAutoNum type="arabicPeriod"/>
            </a:pPr>
            <a:r>
              <a:rPr lang="el">
                <a:solidFill>
                  <a:schemeClr val="dk1"/>
                </a:solidFill>
              </a:rPr>
              <a:t>Code Formatting and Styling</a:t>
            </a:r>
            <a:endParaRPr>
              <a:solidFill>
                <a:schemeClr val="dk1"/>
              </a:solidFill>
            </a:endParaRPr>
          </a:p>
          <a:p>
            <a:pPr indent="-317500" lvl="0" marL="457200" rtl="0" algn="l">
              <a:lnSpc>
                <a:spcPct val="115000"/>
              </a:lnSpc>
              <a:spcBef>
                <a:spcPts val="0"/>
              </a:spcBef>
              <a:spcAft>
                <a:spcPts val="0"/>
              </a:spcAft>
              <a:buClr>
                <a:srgbClr val="FF00FF"/>
              </a:buClr>
              <a:buSzPts val="1400"/>
              <a:buAutoNum type="arabicPeriod"/>
            </a:pPr>
            <a:r>
              <a:rPr lang="el">
                <a:solidFill>
                  <a:srgbClr val="FF00FF"/>
                </a:solidFill>
              </a:rPr>
              <a:t>Writing good tests</a:t>
            </a:r>
            <a:endParaRPr>
              <a:solidFill>
                <a:srgbClr val="FF00FF"/>
              </a:solidFill>
            </a:endParaRPr>
          </a:p>
          <a:p>
            <a:pPr indent="-317500" lvl="0" marL="457200" rtl="0" algn="l">
              <a:lnSpc>
                <a:spcPct val="115000"/>
              </a:lnSpc>
              <a:spcBef>
                <a:spcPts val="0"/>
              </a:spcBef>
              <a:spcAft>
                <a:spcPts val="0"/>
              </a:spcAft>
              <a:buClr>
                <a:srgbClr val="999999"/>
              </a:buClr>
              <a:buSzPts val="1400"/>
              <a:buAutoNum type="arabicPeriod"/>
            </a:pPr>
            <a:r>
              <a:rPr lang="el">
                <a:solidFill>
                  <a:srgbClr val="999999"/>
                </a:solidFill>
              </a:rPr>
              <a:t>Pipelines in ML projects</a:t>
            </a:r>
            <a:endParaRPr>
              <a:solidFill>
                <a:srgbClr val="999999"/>
              </a:solidFill>
            </a:endParaRPr>
          </a:p>
        </p:txBody>
      </p:sp>
      <p:sp>
        <p:nvSpPr>
          <p:cNvPr id="424" name="Google Shape;424;p56"/>
          <p:cNvSpPr txBox="1"/>
          <p:nvPr/>
        </p:nvSpPr>
        <p:spPr>
          <a:xfrm>
            <a:off x="475500" y="4674700"/>
            <a:ext cx="57462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t>https://madewithml.com/</a:t>
            </a:r>
            <a:endParaRPr sz="9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tests are important?</a:t>
            </a:r>
            <a:endParaRPr/>
          </a:p>
        </p:txBody>
      </p:sp>
      <p:sp>
        <p:nvSpPr>
          <p:cNvPr id="430" name="Google Shape;430;p57"/>
          <p:cNvSpPr txBox="1"/>
          <p:nvPr/>
        </p:nvSpPr>
        <p:spPr>
          <a:xfrm>
            <a:off x="435325" y="1158625"/>
            <a:ext cx="8311200" cy="37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Tests are a way to ensure that something works as intended.</a:t>
            </a:r>
            <a:endParaRPr>
              <a:solidFill>
                <a:srgbClr val="FF00FF"/>
              </a:solidFill>
            </a:endParaRPr>
          </a:p>
          <a:p>
            <a:pPr indent="0" lvl="0" marL="0" rtl="0" algn="l">
              <a:spcBef>
                <a:spcPts val="0"/>
              </a:spcBef>
              <a:spcAft>
                <a:spcPts val="0"/>
              </a:spcAft>
              <a:buNone/>
            </a:pPr>
            <a:r>
              <a:rPr lang="el"/>
              <a:t>We verify that the following </a:t>
            </a:r>
            <a:r>
              <a:rPr lang="el">
                <a:solidFill>
                  <a:schemeClr val="dk1"/>
                </a:solidFill>
              </a:rPr>
              <a:t>function as they should!</a:t>
            </a:r>
            <a:endParaRPr>
              <a:solidFill>
                <a:schemeClr val="dk1"/>
              </a:solidFill>
            </a:endParaRPr>
          </a:p>
          <a:p>
            <a:pPr indent="-317500" lvl="0" marL="457200" rtl="0" algn="l">
              <a:spcBef>
                <a:spcPts val="0"/>
              </a:spcBef>
              <a:spcAft>
                <a:spcPts val="0"/>
              </a:spcAft>
              <a:buSzPts val="1400"/>
              <a:buChar char="-"/>
            </a:pPr>
            <a:r>
              <a:rPr lang="el"/>
              <a:t>Code</a:t>
            </a:r>
            <a:endParaRPr/>
          </a:p>
          <a:p>
            <a:pPr indent="-317500" lvl="0" marL="457200" rtl="0" algn="l">
              <a:spcBef>
                <a:spcPts val="0"/>
              </a:spcBef>
              <a:spcAft>
                <a:spcPts val="0"/>
              </a:spcAft>
              <a:buSzPts val="1400"/>
              <a:buChar char="-"/>
            </a:pPr>
            <a:r>
              <a:rPr lang="el"/>
              <a:t>Data</a:t>
            </a:r>
            <a:endParaRPr/>
          </a:p>
          <a:p>
            <a:pPr indent="-317500" lvl="0" marL="457200" rtl="0" algn="l">
              <a:spcBef>
                <a:spcPts val="0"/>
              </a:spcBef>
              <a:spcAft>
                <a:spcPts val="0"/>
              </a:spcAft>
              <a:buSzPts val="1400"/>
              <a:buChar char="-"/>
            </a:pPr>
            <a:r>
              <a:rPr lang="el"/>
              <a:t>Models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They are important because:</a:t>
            </a:r>
            <a:endParaRPr>
              <a:solidFill>
                <a:srgbClr val="FF00FF"/>
              </a:solidFill>
            </a:endParaRPr>
          </a:p>
          <a:p>
            <a:pPr indent="-317500" lvl="0" marL="457200" rtl="0" algn="l">
              <a:spcBef>
                <a:spcPts val="0"/>
              </a:spcBef>
              <a:spcAft>
                <a:spcPts val="0"/>
              </a:spcAft>
              <a:buSzPts val="1400"/>
              <a:buChar char="●"/>
            </a:pPr>
            <a:r>
              <a:rPr lang="el"/>
              <a:t>We discover sources of error early </a:t>
            </a:r>
            <a:endParaRPr/>
          </a:p>
          <a:p>
            <a:pPr indent="-317500" lvl="0" marL="457200" rtl="0" algn="l">
              <a:spcBef>
                <a:spcPts val="0"/>
              </a:spcBef>
              <a:spcAft>
                <a:spcPts val="0"/>
              </a:spcAft>
              <a:buSzPts val="1400"/>
              <a:buChar char="●"/>
            </a:pPr>
            <a:r>
              <a:rPr lang="el"/>
              <a:t>We </a:t>
            </a:r>
            <a:r>
              <a:rPr lang="el"/>
              <a:t>decrease</a:t>
            </a:r>
            <a:r>
              <a:rPr lang="el"/>
              <a:t> </a:t>
            </a:r>
            <a:r>
              <a:rPr lang="el"/>
              <a:t>downstream</a:t>
            </a:r>
            <a:r>
              <a:rPr lang="el"/>
              <a:t> costs and wasted time later</a:t>
            </a:r>
            <a:endParaRPr/>
          </a:p>
          <a:p>
            <a:pPr indent="-317500" lvl="0" marL="457200" rtl="0" algn="l">
              <a:spcBef>
                <a:spcPts val="0"/>
              </a:spcBef>
              <a:spcAft>
                <a:spcPts val="0"/>
              </a:spcAft>
              <a:buSzPts val="1400"/>
              <a:buChar char="●"/>
            </a:pPr>
            <a:r>
              <a:rPr lang="el"/>
              <a:t>Are executed automatically every time there are changes to the system</a:t>
            </a:r>
            <a:endParaRPr/>
          </a:p>
          <a:p>
            <a:pPr indent="0" lvl="0" marL="0" rtl="0" algn="l">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Types of tests</a:t>
            </a:r>
            <a:endParaRPr/>
          </a:p>
        </p:txBody>
      </p:sp>
      <p:sp>
        <p:nvSpPr>
          <p:cNvPr id="436" name="Google Shape;436;p58"/>
          <p:cNvSpPr txBox="1"/>
          <p:nvPr/>
        </p:nvSpPr>
        <p:spPr>
          <a:xfrm>
            <a:off x="0" y="1185400"/>
            <a:ext cx="5203800" cy="372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300"/>
              <a:t>There are 4 major types of tests implemented during the development cycle:</a:t>
            </a:r>
            <a:endParaRPr sz="1300"/>
          </a:p>
          <a:p>
            <a:pPr indent="0" lvl="0" marL="0" rtl="0" algn="l">
              <a:spcBef>
                <a:spcPts val="0"/>
              </a:spcBef>
              <a:spcAft>
                <a:spcPts val="0"/>
              </a:spcAft>
              <a:buNone/>
            </a:pPr>
            <a:r>
              <a:t/>
            </a:r>
            <a:endParaRPr sz="1300"/>
          </a:p>
          <a:p>
            <a:pPr indent="-311150" lvl="0" marL="457200" rtl="0" algn="l">
              <a:spcBef>
                <a:spcPts val="0"/>
              </a:spcBef>
              <a:spcAft>
                <a:spcPts val="0"/>
              </a:spcAft>
              <a:buSzPts val="1300"/>
              <a:buAutoNum type="arabicPeriod"/>
            </a:pPr>
            <a:r>
              <a:rPr lang="el" sz="1300">
                <a:solidFill>
                  <a:srgbClr val="FF00FF"/>
                </a:solidFill>
              </a:rPr>
              <a:t>Unit Tests:</a:t>
            </a:r>
            <a:r>
              <a:rPr lang="el" sz="1300"/>
              <a:t> Evaluations conducted on singular components each possessing a distinct responsibility (e.g., functions designated for filtering a list).</a:t>
            </a:r>
            <a:endParaRPr sz="1300"/>
          </a:p>
          <a:p>
            <a:pPr indent="-311150" lvl="0" marL="457200" rtl="0" algn="l">
              <a:spcBef>
                <a:spcPts val="0"/>
              </a:spcBef>
              <a:spcAft>
                <a:spcPts val="0"/>
              </a:spcAft>
              <a:buSzPts val="1300"/>
              <a:buAutoNum type="arabicPeriod"/>
            </a:pPr>
            <a:r>
              <a:rPr lang="el" sz="1300">
                <a:solidFill>
                  <a:srgbClr val="FF00FF"/>
                </a:solidFill>
              </a:rPr>
              <a:t>Integration Tests:</a:t>
            </a:r>
            <a:r>
              <a:rPr lang="el" sz="1300"/>
              <a:t> Examinations performed on the collective functionality of individual components (e.g., data preprocessing).</a:t>
            </a:r>
            <a:endParaRPr sz="1300"/>
          </a:p>
          <a:p>
            <a:pPr indent="-311150" lvl="0" marL="457200" rtl="0" algn="l">
              <a:spcBef>
                <a:spcPts val="0"/>
              </a:spcBef>
              <a:spcAft>
                <a:spcPts val="0"/>
              </a:spcAft>
              <a:buSzPts val="1300"/>
              <a:buAutoNum type="arabicPeriod"/>
            </a:pPr>
            <a:r>
              <a:rPr lang="el" sz="1300">
                <a:solidFill>
                  <a:srgbClr val="FF00FF"/>
                </a:solidFill>
              </a:rPr>
              <a:t>System Tests:</a:t>
            </a:r>
            <a:r>
              <a:rPr lang="el" sz="1300"/>
              <a:t> Evaluations directed at the system's design to ascertain expected outputs from given inputs (e.g., training, inference).</a:t>
            </a:r>
            <a:endParaRPr sz="1300"/>
          </a:p>
          <a:p>
            <a:pPr indent="-311150" lvl="0" marL="457200" rtl="0" algn="l">
              <a:spcBef>
                <a:spcPts val="0"/>
              </a:spcBef>
              <a:spcAft>
                <a:spcPts val="0"/>
              </a:spcAft>
              <a:buSzPts val="1300"/>
              <a:buAutoNum type="arabicPeriod"/>
            </a:pPr>
            <a:r>
              <a:rPr lang="el" sz="1300">
                <a:solidFill>
                  <a:srgbClr val="FF00FF"/>
                </a:solidFill>
              </a:rPr>
              <a:t>Acceptance Tests:</a:t>
            </a:r>
            <a:r>
              <a:rPr lang="el" sz="1300"/>
              <a:t> Assessments conducted to confirm that specified requirements have been fulfilled.</a:t>
            </a:r>
            <a:endParaRPr sz="1300"/>
          </a:p>
          <a:p>
            <a:pPr indent="0" lvl="0" marL="0" rtl="0" algn="l">
              <a:spcBef>
                <a:spcPts val="0"/>
              </a:spcBef>
              <a:spcAft>
                <a:spcPts val="0"/>
              </a:spcAft>
              <a:buNone/>
            </a:pPr>
            <a:r>
              <a:t/>
            </a:r>
            <a:endParaRPr sz="1300"/>
          </a:p>
        </p:txBody>
      </p:sp>
      <p:pic>
        <p:nvPicPr>
          <p:cNvPr id="437" name="Google Shape;437;p58"/>
          <p:cNvPicPr preferRelativeResize="0"/>
          <p:nvPr/>
        </p:nvPicPr>
        <p:blipFill>
          <a:blip r:embed="rId3">
            <a:alphaModFix/>
          </a:blip>
          <a:stretch>
            <a:fillRect/>
          </a:stretch>
        </p:blipFill>
        <p:spPr>
          <a:xfrm>
            <a:off x="5315900" y="1444725"/>
            <a:ext cx="3682400" cy="1977585"/>
          </a:xfrm>
          <a:prstGeom prst="rect">
            <a:avLst/>
          </a:prstGeom>
          <a:noFill/>
          <a:ln>
            <a:noFill/>
          </a:ln>
        </p:spPr>
      </p:pic>
      <p:pic>
        <p:nvPicPr>
          <p:cNvPr id="438" name="Google Shape;438;p58"/>
          <p:cNvPicPr preferRelativeResize="0"/>
          <p:nvPr/>
        </p:nvPicPr>
        <p:blipFill>
          <a:blip r:embed="rId4">
            <a:alphaModFix/>
          </a:blip>
          <a:stretch>
            <a:fillRect/>
          </a:stretch>
        </p:blipFill>
        <p:spPr>
          <a:xfrm>
            <a:off x="4915200" y="3455775"/>
            <a:ext cx="4228801" cy="6578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How should we test?</a:t>
            </a:r>
            <a:endParaRPr/>
          </a:p>
        </p:txBody>
      </p:sp>
      <p:sp>
        <p:nvSpPr>
          <p:cNvPr id="444" name="Google Shape;444;p59"/>
          <p:cNvSpPr txBox="1"/>
          <p:nvPr/>
        </p:nvSpPr>
        <p:spPr>
          <a:xfrm>
            <a:off x="395150" y="1439925"/>
            <a:ext cx="7286700" cy="285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The framework to use when composing test is the </a:t>
            </a:r>
            <a:r>
              <a:rPr lang="el" u="sng">
                <a:solidFill>
                  <a:schemeClr val="hlink"/>
                </a:solidFill>
                <a:hlinkClick r:id="rId3"/>
              </a:rPr>
              <a:t>Arrange Act Assert</a:t>
            </a:r>
            <a:r>
              <a:rPr lang="el"/>
              <a:t> methodology</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l">
                <a:solidFill>
                  <a:srgbClr val="FF00FF"/>
                </a:solidFill>
              </a:rPr>
              <a:t>Arrange:</a:t>
            </a:r>
            <a:r>
              <a:rPr lang="el"/>
              <a:t> set up the different inputs to test on</a:t>
            </a:r>
            <a:endParaRPr/>
          </a:p>
          <a:p>
            <a:pPr indent="-317500" lvl="0" marL="457200" rtl="0" algn="l">
              <a:spcBef>
                <a:spcPts val="0"/>
              </a:spcBef>
              <a:spcAft>
                <a:spcPts val="0"/>
              </a:spcAft>
              <a:buSzPts val="1400"/>
              <a:buChar char="●"/>
            </a:pPr>
            <a:r>
              <a:rPr lang="el">
                <a:solidFill>
                  <a:srgbClr val="FF00FF"/>
                </a:solidFill>
              </a:rPr>
              <a:t>Act:</a:t>
            </a:r>
            <a:r>
              <a:rPr lang="el"/>
              <a:t> apply the inputs on the component we want to test</a:t>
            </a:r>
            <a:endParaRPr/>
          </a:p>
          <a:p>
            <a:pPr indent="-317500" lvl="0" marL="457200" rtl="0" algn="l">
              <a:spcBef>
                <a:spcPts val="0"/>
              </a:spcBef>
              <a:spcAft>
                <a:spcPts val="0"/>
              </a:spcAft>
              <a:buSzPts val="1400"/>
              <a:buChar char="●"/>
            </a:pPr>
            <a:r>
              <a:rPr lang="el">
                <a:solidFill>
                  <a:srgbClr val="FF00FF"/>
                </a:solidFill>
              </a:rPr>
              <a:t>Assert:</a:t>
            </a:r>
            <a:r>
              <a:rPr lang="el"/>
              <a:t> confirm that we received the expected output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In Python, there are many tools, such as </a:t>
            </a:r>
            <a:r>
              <a:rPr lang="el" u="sng">
                <a:solidFill>
                  <a:schemeClr val="hlink"/>
                </a:solidFill>
                <a:hlinkClick r:id="rId4"/>
              </a:rPr>
              <a:t>unittest</a:t>
            </a:r>
            <a:r>
              <a:rPr lang="el"/>
              <a:t>, </a:t>
            </a:r>
            <a:r>
              <a:rPr lang="el" u="sng">
                <a:solidFill>
                  <a:schemeClr val="hlink"/>
                </a:solidFill>
                <a:hlinkClick r:id="rId5"/>
              </a:rPr>
              <a:t>pytest </a:t>
            </a:r>
            <a:r>
              <a:rPr lang="el"/>
              <a:t>etc that offer easy implementation of the above framework.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Due to their build-in </a:t>
            </a:r>
            <a:r>
              <a:rPr lang="el"/>
              <a:t>functionalities (filters, parametrization) they work very good in scale</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Set up testing</a:t>
            </a:r>
            <a:endParaRPr/>
          </a:p>
        </p:txBody>
      </p:sp>
      <p:sp>
        <p:nvSpPr>
          <p:cNvPr id="450" name="Google Shape;450;p60"/>
          <p:cNvSpPr txBox="1"/>
          <p:nvPr/>
        </p:nvSpPr>
        <p:spPr>
          <a:xfrm>
            <a:off x="154025" y="1567150"/>
            <a:ext cx="4507200" cy="277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Create a new folder “tests” and have a subfolder for each component.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Then give tests names as follow “test_*.py”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pytest by default searches for the test directory and scripts with “test_*.py”</a:t>
            </a:r>
            <a:endParaRPr>
              <a:solidFill>
                <a:srgbClr val="FF00FF"/>
              </a:solidFill>
            </a:endParaRPr>
          </a:p>
        </p:txBody>
      </p:sp>
      <p:pic>
        <p:nvPicPr>
          <p:cNvPr id="451" name="Google Shape;451;p60"/>
          <p:cNvPicPr preferRelativeResize="0"/>
          <p:nvPr/>
        </p:nvPicPr>
        <p:blipFill>
          <a:blip r:embed="rId3">
            <a:alphaModFix/>
          </a:blip>
          <a:stretch>
            <a:fillRect/>
          </a:stretch>
        </p:blipFill>
        <p:spPr>
          <a:xfrm>
            <a:off x="4840425" y="1427900"/>
            <a:ext cx="4151176" cy="296400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Test example</a:t>
            </a:r>
            <a:endParaRPr/>
          </a:p>
        </p:txBody>
      </p:sp>
      <p:sp>
        <p:nvSpPr>
          <p:cNvPr id="457" name="Google Shape;457;p61"/>
          <p:cNvSpPr txBox="1"/>
          <p:nvPr/>
        </p:nvSpPr>
        <p:spPr>
          <a:xfrm>
            <a:off x="187525" y="1178700"/>
            <a:ext cx="4701600" cy="38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Assume we have a function that decodes a list of indices into their class using a dictionary mapping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To test this function we can use assert statements to map inputs with their expected output.</a:t>
            </a:r>
            <a:endParaRPr/>
          </a:p>
          <a:p>
            <a:pPr indent="0" lvl="0" marL="0" rtl="0" algn="l">
              <a:spcBef>
                <a:spcPts val="0"/>
              </a:spcBef>
              <a:spcAft>
                <a:spcPts val="0"/>
              </a:spcAft>
              <a:buNone/>
            </a:pPr>
            <a:r>
              <a:rPr lang="el">
                <a:solidFill>
                  <a:srgbClr val="FF00FF"/>
                </a:solidFill>
              </a:rPr>
              <a:t>Assert should return True!</a:t>
            </a:r>
            <a:endParaRPr>
              <a:solidFill>
                <a:srgbClr val="FF00FF"/>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Once we have developed tests for all functions we use pytest to run them!</a:t>
            </a:r>
            <a:endParaRPr/>
          </a:p>
          <a:p>
            <a:pPr indent="0" lvl="0" marL="0" rtl="0" algn="l">
              <a:spcBef>
                <a:spcPts val="0"/>
              </a:spcBef>
              <a:spcAft>
                <a:spcPts val="0"/>
              </a:spcAft>
              <a:buNone/>
            </a:pPr>
            <a:r>
              <a:rPr lang="el"/>
              <a:t>(Note, we can also run specific tests only)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See the results on the terminal</a:t>
            </a:r>
            <a:endParaRPr>
              <a:solidFill>
                <a:srgbClr val="FF00FF"/>
              </a:solidFill>
            </a:endParaRPr>
          </a:p>
        </p:txBody>
      </p:sp>
      <p:pic>
        <p:nvPicPr>
          <p:cNvPr id="458" name="Google Shape;458;p61"/>
          <p:cNvPicPr preferRelativeResize="0"/>
          <p:nvPr/>
        </p:nvPicPr>
        <p:blipFill>
          <a:blip r:embed="rId3">
            <a:alphaModFix/>
          </a:blip>
          <a:stretch>
            <a:fillRect/>
          </a:stretch>
        </p:blipFill>
        <p:spPr>
          <a:xfrm>
            <a:off x="5204175" y="1302850"/>
            <a:ext cx="3861700" cy="418350"/>
          </a:xfrm>
          <a:prstGeom prst="rect">
            <a:avLst/>
          </a:prstGeom>
          <a:noFill/>
          <a:ln>
            <a:noFill/>
          </a:ln>
        </p:spPr>
      </p:pic>
      <p:cxnSp>
        <p:nvCxnSpPr>
          <p:cNvPr id="459" name="Google Shape;459;p61"/>
          <p:cNvCxnSpPr>
            <a:endCxn id="458" idx="1"/>
          </p:cNvCxnSpPr>
          <p:nvPr/>
        </p:nvCxnSpPr>
        <p:spPr>
          <a:xfrm flipH="1" rot="10800000">
            <a:off x="4634475" y="1512025"/>
            <a:ext cx="569700" cy="8100"/>
          </a:xfrm>
          <a:prstGeom prst="straightConnector1">
            <a:avLst/>
          </a:prstGeom>
          <a:noFill/>
          <a:ln cap="flat" cmpd="sng" w="9525">
            <a:solidFill>
              <a:schemeClr val="dk2"/>
            </a:solidFill>
            <a:prstDash val="solid"/>
            <a:round/>
            <a:headEnd len="med" w="med" type="none"/>
            <a:tailEnd len="med" w="med" type="triangle"/>
          </a:ln>
        </p:spPr>
      </p:cxnSp>
      <p:pic>
        <p:nvPicPr>
          <p:cNvPr id="460" name="Google Shape;460;p61"/>
          <p:cNvPicPr preferRelativeResize="0"/>
          <p:nvPr/>
        </p:nvPicPr>
        <p:blipFill>
          <a:blip r:embed="rId4">
            <a:alphaModFix/>
          </a:blip>
          <a:stretch>
            <a:fillRect/>
          </a:stretch>
        </p:blipFill>
        <p:spPr>
          <a:xfrm>
            <a:off x="5594125" y="2093245"/>
            <a:ext cx="2425500" cy="823050"/>
          </a:xfrm>
          <a:prstGeom prst="rect">
            <a:avLst/>
          </a:prstGeom>
          <a:noFill/>
          <a:ln>
            <a:noFill/>
          </a:ln>
        </p:spPr>
      </p:pic>
      <p:cxnSp>
        <p:nvCxnSpPr>
          <p:cNvPr id="461" name="Google Shape;461;p61"/>
          <p:cNvCxnSpPr/>
          <p:nvPr/>
        </p:nvCxnSpPr>
        <p:spPr>
          <a:xfrm flipH="1" rot="10800000">
            <a:off x="4853875" y="2500725"/>
            <a:ext cx="569700" cy="8100"/>
          </a:xfrm>
          <a:prstGeom prst="straightConnector1">
            <a:avLst/>
          </a:prstGeom>
          <a:noFill/>
          <a:ln cap="flat" cmpd="sng" w="9525">
            <a:solidFill>
              <a:schemeClr val="dk2"/>
            </a:solidFill>
            <a:prstDash val="solid"/>
            <a:round/>
            <a:headEnd len="med" w="med" type="none"/>
            <a:tailEnd len="med" w="med" type="triangle"/>
          </a:ln>
        </p:spPr>
      </p:cxnSp>
      <p:pic>
        <p:nvPicPr>
          <p:cNvPr id="462" name="Google Shape;462;p61"/>
          <p:cNvPicPr preferRelativeResize="0"/>
          <p:nvPr/>
        </p:nvPicPr>
        <p:blipFill>
          <a:blip r:embed="rId5">
            <a:alphaModFix/>
          </a:blip>
          <a:stretch>
            <a:fillRect/>
          </a:stretch>
        </p:blipFill>
        <p:spPr>
          <a:xfrm>
            <a:off x="5498605" y="3622769"/>
            <a:ext cx="3105995" cy="572700"/>
          </a:xfrm>
          <a:prstGeom prst="rect">
            <a:avLst/>
          </a:prstGeom>
          <a:noFill/>
          <a:ln>
            <a:noFill/>
          </a:ln>
        </p:spPr>
      </p:pic>
      <p:cxnSp>
        <p:nvCxnSpPr>
          <p:cNvPr id="463" name="Google Shape;463;p61"/>
          <p:cNvCxnSpPr/>
          <p:nvPr/>
        </p:nvCxnSpPr>
        <p:spPr>
          <a:xfrm flipH="1" rot="10800000">
            <a:off x="3392225" y="4816963"/>
            <a:ext cx="569700" cy="8100"/>
          </a:xfrm>
          <a:prstGeom prst="straightConnector1">
            <a:avLst/>
          </a:prstGeom>
          <a:noFill/>
          <a:ln cap="flat" cmpd="sng" w="9525">
            <a:solidFill>
              <a:schemeClr val="dk2"/>
            </a:solidFill>
            <a:prstDash val="solid"/>
            <a:round/>
            <a:headEnd len="med" w="med" type="none"/>
            <a:tailEnd len="med" w="med" type="triangle"/>
          </a:ln>
        </p:spPr>
      </p:cxnSp>
      <p:pic>
        <p:nvPicPr>
          <p:cNvPr id="464" name="Google Shape;464;p61"/>
          <p:cNvPicPr preferRelativeResize="0"/>
          <p:nvPr/>
        </p:nvPicPr>
        <p:blipFill>
          <a:blip r:embed="rId6">
            <a:alphaModFix/>
          </a:blip>
          <a:stretch>
            <a:fillRect/>
          </a:stretch>
        </p:blipFill>
        <p:spPr>
          <a:xfrm>
            <a:off x="4429448" y="4607725"/>
            <a:ext cx="4480900" cy="2792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Extra important concepts</a:t>
            </a:r>
            <a:endParaRPr/>
          </a:p>
        </p:txBody>
      </p:sp>
      <p:sp>
        <p:nvSpPr>
          <p:cNvPr id="470" name="Google Shape;470;p62"/>
          <p:cNvSpPr txBox="1"/>
          <p:nvPr/>
        </p:nvSpPr>
        <p:spPr>
          <a:xfrm>
            <a:off x="455425" y="1158625"/>
            <a:ext cx="5973900" cy="3589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Parametrization</a:t>
            </a:r>
            <a:endParaRPr/>
          </a:p>
          <a:p>
            <a:pPr indent="-317500" lvl="0" marL="457200" rtl="0" algn="l">
              <a:spcBef>
                <a:spcPts val="0"/>
              </a:spcBef>
              <a:spcAft>
                <a:spcPts val="0"/>
              </a:spcAft>
              <a:buSzPts val="1400"/>
              <a:buChar char="-"/>
            </a:pPr>
            <a:r>
              <a:rPr lang="el"/>
              <a:t>Fixtures</a:t>
            </a:r>
            <a:endParaRPr/>
          </a:p>
          <a:p>
            <a:pPr indent="-317500" lvl="0" marL="457200" rtl="0" algn="l">
              <a:spcBef>
                <a:spcPts val="0"/>
              </a:spcBef>
              <a:spcAft>
                <a:spcPts val="0"/>
              </a:spcAft>
              <a:buSzPts val="1400"/>
              <a:buChar char="-"/>
            </a:pPr>
            <a:r>
              <a:rPr lang="el"/>
              <a:t>Markers</a:t>
            </a:r>
            <a:endParaRPr/>
          </a:p>
          <a:p>
            <a:pPr indent="-317500" lvl="0" marL="457200" rtl="0" algn="l">
              <a:spcBef>
                <a:spcPts val="0"/>
              </a:spcBef>
              <a:spcAft>
                <a:spcPts val="0"/>
              </a:spcAft>
              <a:buSzPts val="1400"/>
              <a:buChar char="-"/>
            </a:pPr>
            <a:r>
              <a:rPr lang="el"/>
              <a:t>Coverage</a:t>
            </a:r>
            <a:endParaRPr/>
          </a:p>
          <a:p>
            <a:pPr indent="-317500" lvl="0" marL="457200" rtl="0" algn="l">
              <a:spcBef>
                <a:spcPts val="0"/>
              </a:spcBef>
              <a:spcAft>
                <a:spcPts val="0"/>
              </a:spcAft>
              <a:buSzPts val="1400"/>
              <a:buChar char="-"/>
            </a:pPr>
            <a:r>
              <a:rPr lang="el"/>
              <a:t>Exclusions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Refer to </a:t>
            </a:r>
            <a:r>
              <a:rPr lang="el" u="sng">
                <a:solidFill>
                  <a:schemeClr val="hlink"/>
                </a:solidFill>
                <a:hlinkClick r:id="rId3"/>
              </a:rPr>
              <a:t>link</a:t>
            </a:r>
            <a:r>
              <a:rPr lang="el"/>
              <a:t> for extra details and examples!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Data Testing</a:t>
            </a:r>
            <a:endParaRPr/>
          </a:p>
        </p:txBody>
      </p:sp>
      <p:sp>
        <p:nvSpPr>
          <p:cNvPr id="476" name="Google Shape;476;p63"/>
          <p:cNvSpPr txBox="1"/>
          <p:nvPr/>
        </p:nvSpPr>
        <p:spPr>
          <a:xfrm>
            <a:off x="247800" y="1232275"/>
            <a:ext cx="8431800" cy="29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Except from the functions that interact with our data we need to test the validity of the data itself!</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Why is it important to test the quality of our data:</a:t>
            </a:r>
            <a:endParaRPr>
              <a:solidFill>
                <a:srgbClr val="FF00FF"/>
              </a:solidFill>
            </a:endParaRPr>
          </a:p>
          <a:p>
            <a:pPr indent="-317500" lvl="0" marL="457200" rtl="0" algn="l">
              <a:spcBef>
                <a:spcPts val="0"/>
              </a:spcBef>
              <a:spcAft>
                <a:spcPts val="0"/>
              </a:spcAft>
              <a:buSzPts val="1400"/>
              <a:buChar char="●"/>
            </a:pPr>
            <a:r>
              <a:rPr lang="el"/>
              <a:t>Garbage in - Garbage out: Poor data quality leads to incorrect model predictions</a:t>
            </a:r>
            <a:endParaRPr/>
          </a:p>
          <a:p>
            <a:pPr indent="-317500" lvl="0" marL="457200" rtl="0" algn="l">
              <a:spcBef>
                <a:spcPts val="0"/>
              </a:spcBef>
              <a:spcAft>
                <a:spcPts val="0"/>
              </a:spcAft>
              <a:buSzPts val="1400"/>
              <a:buChar char="●"/>
            </a:pPr>
            <a:r>
              <a:rPr lang="el"/>
              <a:t>Bugs: Data coming from streaming sensors or other format is prone to mistakes leading to bugs</a:t>
            </a:r>
            <a:endParaRPr/>
          </a:p>
          <a:p>
            <a:pPr indent="-317500" lvl="1" marL="914400" rtl="0" algn="l">
              <a:spcBef>
                <a:spcPts val="0"/>
              </a:spcBef>
              <a:spcAft>
                <a:spcPts val="0"/>
              </a:spcAft>
              <a:buSzPts val="1400"/>
              <a:buChar char="○"/>
            </a:pPr>
            <a:r>
              <a:rPr lang="el"/>
              <a:t>Missing values</a:t>
            </a:r>
            <a:endParaRPr/>
          </a:p>
          <a:p>
            <a:pPr indent="-317500" lvl="1" marL="914400" rtl="0" algn="l">
              <a:spcBef>
                <a:spcPts val="0"/>
              </a:spcBef>
              <a:spcAft>
                <a:spcPts val="0"/>
              </a:spcAft>
              <a:buSzPts val="1400"/>
              <a:buChar char="○"/>
            </a:pPr>
            <a:r>
              <a:rPr lang="el"/>
              <a:t>Incorrect column names</a:t>
            </a:r>
            <a:endParaRPr/>
          </a:p>
          <a:p>
            <a:pPr indent="-317500" lvl="1" marL="914400" rtl="0" algn="l">
              <a:spcBef>
                <a:spcPts val="0"/>
              </a:spcBef>
              <a:spcAft>
                <a:spcPts val="0"/>
              </a:spcAft>
              <a:buSzPts val="1400"/>
              <a:buChar char="○"/>
            </a:pPr>
            <a:r>
              <a:rPr lang="el"/>
              <a:t>Different data types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l">
                <a:solidFill>
                  <a:schemeClr val="dk1"/>
                </a:solidFill>
              </a:rPr>
              <a:t>We are going to use the </a:t>
            </a:r>
            <a:r>
              <a:rPr lang="el">
                <a:solidFill>
                  <a:srgbClr val="FF00FF"/>
                </a:solidFill>
              </a:rPr>
              <a:t>great_expectations </a:t>
            </a:r>
            <a:r>
              <a:rPr lang="el" u="sng">
                <a:solidFill>
                  <a:schemeClr val="accent5"/>
                </a:solidFill>
                <a:hlinkClick r:id="rId3">
                  <a:extLst>
                    <a:ext uri="{A12FA001-AC4F-418D-AE19-62706E023703}">
                      <ahyp:hlinkClr val="tx"/>
                    </a:ext>
                  </a:extLst>
                </a:hlinkClick>
              </a:rPr>
              <a:t>library </a:t>
            </a:r>
            <a:r>
              <a:rPr lang="el">
                <a:solidFill>
                  <a:schemeClr val="dk1"/>
                </a:solidFill>
              </a:rPr>
              <a:t>to ensure our data looks as it should.</a:t>
            </a:r>
            <a:endParaRPr>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Data testing example</a:t>
            </a:r>
            <a:endParaRPr/>
          </a:p>
        </p:txBody>
      </p:sp>
      <p:sp>
        <p:nvSpPr>
          <p:cNvPr id="482" name="Google Shape;482;p64"/>
          <p:cNvSpPr txBox="1"/>
          <p:nvPr/>
        </p:nvSpPr>
        <p:spPr>
          <a:xfrm>
            <a:off x="0" y="1172500"/>
            <a:ext cx="4624500" cy="39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Create expectations for what your data should look like.</a:t>
            </a:r>
            <a:endParaRPr/>
          </a:p>
          <a:p>
            <a:pPr indent="-317500" lvl="0" marL="457200" rtl="0" algn="l">
              <a:spcBef>
                <a:spcPts val="0"/>
              </a:spcBef>
              <a:spcAft>
                <a:spcPts val="0"/>
              </a:spcAft>
              <a:buSzPts val="1400"/>
              <a:buChar char="-"/>
            </a:pPr>
            <a:r>
              <a:rPr lang="el"/>
              <a:t>Think about the entire dataset</a:t>
            </a:r>
            <a:endParaRPr/>
          </a:p>
          <a:p>
            <a:pPr indent="-317500" lvl="0" marL="457200" rtl="0" algn="l">
              <a:spcBef>
                <a:spcPts val="0"/>
              </a:spcBef>
              <a:spcAft>
                <a:spcPts val="0"/>
              </a:spcAft>
              <a:buSzPts val="1400"/>
              <a:buChar char="-"/>
            </a:pPr>
            <a:r>
              <a:rPr lang="el"/>
              <a:t>Think about all the features (columns)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For </a:t>
            </a:r>
            <a:r>
              <a:rPr lang="el"/>
              <a:t>each expectation get_expectations creates an output with details if the test is passed or failed</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For example the </a:t>
            </a:r>
            <a:endParaRPr/>
          </a:p>
        </p:txBody>
      </p:sp>
      <p:pic>
        <p:nvPicPr>
          <p:cNvPr id="483" name="Google Shape;483;p64"/>
          <p:cNvPicPr preferRelativeResize="0"/>
          <p:nvPr/>
        </p:nvPicPr>
        <p:blipFill>
          <a:blip r:embed="rId3">
            <a:alphaModFix/>
          </a:blip>
          <a:stretch>
            <a:fillRect/>
          </a:stretch>
        </p:blipFill>
        <p:spPr>
          <a:xfrm>
            <a:off x="4699850" y="1064875"/>
            <a:ext cx="4403975" cy="1114125"/>
          </a:xfrm>
          <a:prstGeom prst="rect">
            <a:avLst/>
          </a:prstGeom>
          <a:noFill/>
          <a:ln>
            <a:noFill/>
          </a:ln>
        </p:spPr>
      </p:pic>
      <p:pic>
        <p:nvPicPr>
          <p:cNvPr id="484" name="Google Shape;484;p64"/>
          <p:cNvPicPr preferRelativeResize="0"/>
          <p:nvPr/>
        </p:nvPicPr>
        <p:blipFill>
          <a:blip r:embed="rId4">
            <a:alphaModFix/>
          </a:blip>
          <a:stretch>
            <a:fillRect/>
          </a:stretch>
        </p:blipFill>
        <p:spPr>
          <a:xfrm>
            <a:off x="1487050" y="3013763"/>
            <a:ext cx="3084950" cy="140225"/>
          </a:xfrm>
          <a:prstGeom prst="rect">
            <a:avLst/>
          </a:prstGeom>
          <a:noFill/>
          <a:ln>
            <a:noFill/>
          </a:ln>
        </p:spPr>
      </p:pic>
      <p:pic>
        <p:nvPicPr>
          <p:cNvPr id="485" name="Google Shape;485;p64"/>
          <p:cNvPicPr preferRelativeResize="0"/>
          <p:nvPr/>
        </p:nvPicPr>
        <p:blipFill>
          <a:blip r:embed="rId5">
            <a:alphaModFix/>
          </a:blip>
          <a:stretch>
            <a:fillRect/>
          </a:stretch>
        </p:blipFill>
        <p:spPr>
          <a:xfrm>
            <a:off x="5251600" y="2293125"/>
            <a:ext cx="3130479" cy="2659700"/>
          </a:xfrm>
          <a:prstGeom prst="rect">
            <a:avLst/>
          </a:prstGeom>
          <a:noFill/>
          <a:ln>
            <a:noFill/>
          </a:ln>
        </p:spPr>
      </p:pic>
      <p:sp>
        <p:nvSpPr>
          <p:cNvPr id="486" name="Google Shape;486;p64"/>
          <p:cNvSpPr/>
          <p:nvPr/>
        </p:nvSpPr>
        <p:spPr>
          <a:xfrm>
            <a:off x="5833325" y="2873125"/>
            <a:ext cx="328200" cy="1401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87" name="Google Shape;487;p64"/>
          <p:cNvCxnSpPr>
            <a:stCxn id="486" idx="6"/>
          </p:cNvCxnSpPr>
          <p:nvPr/>
        </p:nvCxnSpPr>
        <p:spPr>
          <a:xfrm>
            <a:off x="6161525" y="2943175"/>
            <a:ext cx="696600" cy="177900"/>
          </a:xfrm>
          <a:prstGeom prst="straightConnector1">
            <a:avLst/>
          </a:prstGeom>
          <a:noFill/>
          <a:ln cap="flat" cmpd="sng" w="9525">
            <a:solidFill>
              <a:schemeClr val="dk2"/>
            </a:solidFill>
            <a:prstDash val="solid"/>
            <a:round/>
            <a:headEnd len="med" w="med" type="none"/>
            <a:tailEnd len="med" w="med" type="triangle"/>
          </a:ln>
        </p:spPr>
      </p:cxnSp>
      <p:sp>
        <p:nvSpPr>
          <p:cNvPr id="488" name="Google Shape;488;p64"/>
          <p:cNvSpPr txBox="1"/>
          <p:nvPr/>
        </p:nvSpPr>
        <p:spPr>
          <a:xfrm>
            <a:off x="6770925" y="2943175"/>
            <a:ext cx="1573800" cy="28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900">
                <a:solidFill>
                  <a:srgbClr val="FF00FF"/>
                </a:solidFill>
              </a:rPr>
              <a:t>This would return False</a:t>
            </a:r>
            <a:endParaRPr b="1" sz="900">
              <a:solidFill>
                <a:srgbClr val="FF00FF"/>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Model Testing</a:t>
            </a:r>
            <a:endParaRPr/>
          </a:p>
        </p:txBody>
      </p:sp>
      <p:sp>
        <p:nvSpPr>
          <p:cNvPr id="494" name="Google Shape;494;p65"/>
          <p:cNvSpPr txBox="1"/>
          <p:nvPr/>
        </p:nvSpPr>
        <p:spPr>
          <a:xfrm>
            <a:off x="435325" y="1071575"/>
            <a:ext cx="8364900" cy="31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Test ML models during training, evaluation, inference and deployment.</a:t>
            </a:r>
            <a:endParaRPr>
              <a:solidFill>
                <a:srgbClr val="FF00FF"/>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l"/>
              <a:t>Its important to write test iteratively while developing </a:t>
            </a:r>
            <a:r>
              <a:rPr lang="el"/>
              <a:t>training</a:t>
            </a:r>
            <a:r>
              <a:rPr lang="el"/>
              <a:t> pipelines</a:t>
            </a:r>
            <a:endParaRPr/>
          </a:p>
          <a:p>
            <a:pPr indent="-317500" lvl="0" marL="457200" rtl="0" algn="l">
              <a:spcBef>
                <a:spcPts val="0"/>
              </a:spcBef>
              <a:spcAft>
                <a:spcPts val="0"/>
              </a:spcAft>
              <a:buSzPts val="1400"/>
              <a:buChar char="-"/>
            </a:pPr>
            <a:r>
              <a:rPr lang="el"/>
              <a:t>Catch errors quickly</a:t>
            </a:r>
            <a:endParaRPr/>
          </a:p>
          <a:p>
            <a:pPr indent="-317500" lvl="0" marL="457200" rtl="0" algn="l">
              <a:spcBef>
                <a:spcPts val="0"/>
              </a:spcBef>
              <a:spcAft>
                <a:spcPts val="0"/>
              </a:spcAft>
              <a:buSzPts val="1400"/>
              <a:buChar char="-"/>
            </a:pPr>
            <a:r>
              <a:rPr lang="el"/>
              <a:t>Save time and compute (GPUs are not free ;) )</a:t>
            </a:r>
            <a:endParaRPr/>
          </a:p>
          <a:p>
            <a:pPr indent="-317500" lvl="0" marL="457200" rtl="0" algn="l">
              <a:spcBef>
                <a:spcPts val="0"/>
              </a:spcBef>
              <a:spcAft>
                <a:spcPts val="0"/>
              </a:spcAft>
              <a:buSzPts val="1400"/>
              <a:buChar char="-"/>
            </a:pPr>
            <a:r>
              <a:rPr lang="el"/>
              <a:t>Unlike traditional software, ML models might run </a:t>
            </a:r>
            <a:r>
              <a:rPr lang="el"/>
              <a:t>without</a:t>
            </a:r>
            <a:r>
              <a:rPr lang="el"/>
              <a:t> throwing exceptions/errors</a:t>
            </a:r>
            <a:endParaRPr/>
          </a:p>
          <a:p>
            <a:pPr indent="0" lvl="0" marL="457200" rtl="0" algn="l">
              <a:spcBef>
                <a:spcPts val="0"/>
              </a:spcBef>
              <a:spcAft>
                <a:spcPts val="0"/>
              </a:spcAft>
              <a:buNone/>
            </a:pPr>
            <a:r>
              <a:rPr lang="el"/>
              <a:t>For example training with NaNs will continue and results will be NaNs</a:t>
            </a:r>
            <a:endParaRPr/>
          </a:p>
          <a:p>
            <a:pPr indent="-317500" lvl="0" marL="457200" rtl="0" algn="l">
              <a:spcBef>
                <a:spcPts val="0"/>
              </a:spcBef>
              <a:spcAft>
                <a:spcPts val="0"/>
              </a:spcAft>
              <a:buSzPts val="1400"/>
              <a:buChar char="-"/>
            </a:pPr>
            <a:r>
              <a:rPr lang="el"/>
              <a:t>However they might still produce incorrect systems.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Note: This type of Model testing is different than when we are evaluating the accuracy of the model</a:t>
            </a:r>
            <a:endParaRPr>
              <a:solidFill>
                <a:srgbClr val="FF00FF"/>
              </a:solidFill>
            </a:endParaRPr>
          </a:p>
          <a:p>
            <a:pPr indent="0" lvl="0" marL="45720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Model Testing Examples</a:t>
            </a:r>
            <a:endParaRPr/>
          </a:p>
        </p:txBody>
      </p:sp>
      <p:sp>
        <p:nvSpPr>
          <p:cNvPr id="500" name="Google Shape;500;p66"/>
          <p:cNvSpPr txBox="1"/>
          <p:nvPr/>
        </p:nvSpPr>
        <p:spPr>
          <a:xfrm>
            <a:off x="406300" y="1017725"/>
            <a:ext cx="3321300" cy="368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Ensure correct output size: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01" name="Google Shape;501;p66"/>
          <p:cNvPicPr preferRelativeResize="0"/>
          <p:nvPr/>
        </p:nvPicPr>
        <p:blipFill>
          <a:blip r:embed="rId3">
            <a:alphaModFix/>
          </a:blip>
          <a:stretch>
            <a:fillRect/>
          </a:stretch>
        </p:blipFill>
        <p:spPr>
          <a:xfrm>
            <a:off x="446475" y="1385824"/>
            <a:ext cx="3032525" cy="1113725"/>
          </a:xfrm>
          <a:prstGeom prst="rect">
            <a:avLst/>
          </a:prstGeom>
          <a:noFill/>
          <a:ln>
            <a:noFill/>
          </a:ln>
        </p:spPr>
      </p:pic>
      <p:sp>
        <p:nvSpPr>
          <p:cNvPr id="502" name="Google Shape;502;p66"/>
          <p:cNvSpPr txBox="1"/>
          <p:nvPr/>
        </p:nvSpPr>
        <p:spPr>
          <a:xfrm>
            <a:off x="4918650" y="515675"/>
            <a:ext cx="3321300" cy="368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Check for NaN predictions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03" name="Google Shape;503;p66"/>
          <p:cNvPicPr preferRelativeResize="0"/>
          <p:nvPr/>
        </p:nvPicPr>
        <p:blipFill>
          <a:blip r:embed="rId4">
            <a:alphaModFix/>
          </a:blip>
          <a:stretch>
            <a:fillRect/>
          </a:stretch>
        </p:blipFill>
        <p:spPr>
          <a:xfrm>
            <a:off x="5007070" y="883775"/>
            <a:ext cx="3664300" cy="1200450"/>
          </a:xfrm>
          <a:prstGeom prst="rect">
            <a:avLst/>
          </a:prstGeom>
          <a:noFill/>
          <a:ln>
            <a:noFill/>
          </a:ln>
        </p:spPr>
      </p:pic>
      <p:sp>
        <p:nvSpPr>
          <p:cNvPr id="504" name="Google Shape;504;p66"/>
          <p:cNvSpPr txBox="1"/>
          <p:nvPr/>
        </p:nvSpPr>
        <p:spPr>
          <a:xfrm>
            <a:off x="5428688" y="2203650"/>
            <a:ext cx="3321300" cy="368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Ensure loss decreases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05" name="Google Shape;505;p66"/>
          <p:cNvPicPr preferRelativeResize="0"/>
          <p:nvPr/>
        </p:nvPicPr>
        <p:blipFill>
          <a:blip r:embed="rId5">
            <a:alphaModFix/>
          </a:blip>
          <a:stretch>
            <a:fillRect/>
          </a:stretch>
        </p:blipFill>
        <p:spPr>
          <a:xfrm>
            <a:off x="5693250" y="2551425"/>
            <a:ext cx="2792176" cy="2483300"/>
          </a:xfrm>
          <a:prstGeom prst="rect">
            <a:avLst/>
          </a:prstGeom>
          <a:noFill/>
          <a:ln>
            <a:noFill/>
          </a:ln>
        </p:spPr>
      </p:pic>
      <p:sp>
        <p:nvSpPr>
          <p:cNvPr id="506" name="Google Shape;506;p66"/>
          <p:cNvSpPr txBox="1"/>
          <p:nvPr/>
        </p:nvSpPr>
        <p:spPr>
          <a:xfrm>
            <a:off x="-53600" y="2620100"/>
            <a:ext cx="4821900" cy="368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l"/>
              <a:t>Ensure the model can be retrained with other data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507" name="Google Shape;507;p66"/>
          <p:cNvPicPr preferRelativeResize="0"/>
          <p:nvPr/>
        </p:nvPicPr>
        <p:blipFill>
          <a:blip r:embed="rId6">
            <a:alphaModFix/>
          </a:blip>
          <a:stretch>
            <a:fillRect/>
          </a:stretch>
        </p:blipFill>
        <p:spPr>
          <a:xfrm>
            <a:off x="490975" y="2919575"/>
            <a:ext cx="3236627" cy="19710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Key Concepts of Production-Level Code</a:t>
            </a:r>
            <a:endParaRPr/>
          </a:p>
        </p:txBody>
      </p:sp>
      <p:sp>
        <p:nvSpPr>
          <p:cNvPr id="513" name="Google Shape;513;p67"/>
          <p:cNvSpPr txBox="1"/>
          <p:nvPr/>
        </p:nvSpPr>
        <p:spPr>
          <a:xfrm>
            <a:off x="436500" y="1495400"/>
            <a:ext cx="8271000" cy="253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AutoNum type="arabicPeriod"/>
            </a:pPr>
            <a:r>
              <a:rPr lang="el"/>
              <a:t>Structured project repositories</a:t>
            </a:r>
            <a:endParaRPr/>
          </a:p>
          <a:p>
            <a:pPr indent="-317500" lvl="0" marL="457200" rtl="0" algn="l">
              <a:lnSpc>
                <a:spcPct val="115000"/>
              </a:lnSpc>
              <a:spcBef>
                <a:spcPts val="0"/>
              </a:spcBef>
              <a:spcAft>
                <a:spcPts val="0"/>
              </a:spcAft>
              <a:buSzPts val="1400"/>
              <a:buAutoNum type="arabicPeriod"/>
            </a:pPr>
            <a:r>
              <a:rPr lang="el"/>
              <a:t>Scalable and reproducible code</a:t>
            </a:r>
            <a:endParaRPr/>
          </a:p>
          <a:p>
            <a:pPr indent="-317500" lvl="0" marL="457200" rtl="0" algn="l">
              <a:lnSpc>
                <a:spcPct val="115000"/>
              </a:lnSpc>
              <a:spcBef>
                <a:spcPts val="0"/>
              </a:spcBef>
              <a:spcAft>
                <a:spcPts val="0"/>
              </a:spcAft>
              <a:buSzPts val="1400"/>
              <a:buAutoNum type="arabicPeriod"/>
            </a:pPr>
            <a:r>
              <a:rPr lang="el"/>
              <a:t>Clean code principles</a:t>
            </a:r>
            <a:endParaRPr/>
          </a:p>
          <a:p>
            <a:pPr indent="-317500" lvl="0" marL="457200" rtl="0" algn="l">
              <a:lnSpc>
                <a:spcPct val="115000"/>
              </a:lnSpc>
              <a:spcBef>
                <a:spcPts val="0"/>
              </a:spcBef>
              <a:spcAft>
                <a:spcPts val="0"/>
              </a:spcAft>
              <a:buClr>
                <a:schemeClr val="dk1"/>
              </a:buClr>
              <a:buSzPts val="1400"/>
              <a:buAutoNum type="arabicPeriod"/>
            </a:pPr>
            <a:r>
              <a:rPr lang="el">
                <a:solidFill>
                  <a:schemeClr val="dk1"/>
                </a:solidFill>
              </a:rPr>
              <a:t>Logging and Error Handling</a:t>
            </a:r>
            <a:endParaRPr>
              <a:solidFill>
                <a:schemeClr val="dk1"/>
              </a:solidFill>
            </a:endParaRPr>
          </a:p>
          <a:p>
            <a:pPr indent="-317500" lvl="0" marL="457200" rtl="0" algn="l">
              <a:lnSpc>
                <a:spcPct val="115000"/>
              </a:lnSpc>
              <a:spcBef>
                <a:spcPts val="0"/>
              </a:spcBef>
              <a:spcAft>
                <a:spcPts val="0"/>
              </a:spcAft>
              <a:buSzPts val="1400"/>
              <a:buAutoNum type="arabicPeriod"/>
            </a:pPr>
            <a:r>
              <a:rPr lang="el"/>
              <a:t>Documentation and Commenting</a:t>
            </a:r>
            <a:endParaRPr/>
          </a:p>
          <a:p>
            <a:pPr indent="-317500" lvl="0" marL="457200" rtl="0" algn="l">
              <a:lnSpc>
                <a:spcPct val="115000"/>
              </a:lnSpc>
              <a:spcBef>
                <a:spcPts val="0"/>
              </a:spcBef>
              <a:spcAft>
                <a:spcPts val="0"/>
              </a:spcAft>
              <a:buClr>
                <a:schemeClr val="dk1"/>
              </a:buClr>
              <a:buSzPts val="1400"/>
              <a:buAutoNum type="arabicPeriod"/>
            </a:pPr>
            <a:r>
              <a:rPr lang="el">
                <a:solidFill>
                  <a:schemeClr val="dk1"/>
                </a:solidFill>
              </a:rPr>
              <a:t>Code Formatting and Styling</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l">
                <a:solidFill>
                  <a:schemeClr val="dk1"/>
                </a:solidFill>
              </a:rPr>
              <a:t>Writing good tests</a:t>
            </a:r>
            <a:endParaRPr>
              <a:solidFill>
                <a:schemeClr val="dk1"/>
              </a:solidFill>
            </a:endParaRPr>
          </a:p>
          <a:p>
            <a:pPr indent="-317500" lvl="0" marL="457200" rtl="0" algn="l">
              <a:lnSpc>
                <a:spcPct val="115000"/>
              </a:lnSpc>
              <a:spcBef>
                <a:spcPts val="0"/>
              </a:spcBef>
              <a:spcAft>
                <a:spcPts val="0"/>
              </a:spcAft>
              <a:buClr>
                <a:srgbClr val="FF00FF"/>
              </a:buClr>
              <a:buSzPts val="1400"/>
              <a:buAutoNum type="arabicPeriod"/>
            </a:pPr>
            <a:r>
              <a:rPr lang="el">
                <a:solidFill>
                  <a:srgbClr val="FF00FF"/>
                </a:solidFill>
              </a:rPr>
              <a:t>Pipelines in ML projects</a:t>
            </a:r>
            <a:endParaRPr>
              <a:solidFill>
                <a:srgbClr val="FF00FF"/>
              </a:solidFill>
            </a:endParaRPr>
          </a:p>
        </p:txBody>
      </p:sp>
      <p:sp>
        <p:nvSpPr>
          <p:cNvPr id="514" name="Google Shape;514;p67"/>
          <p:cNvSpPr txBox="1"/>
          <p:nvPr/>
        </p:nvSpPr>
        <p:spPr>
          <a:xfrm>
            <a:off x="475500" y="4674700"/>
            <a:ext cx="57462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t>https://madewithml.com/</a:t>
            </a:r>
            <a:endParaRPr sz="9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Introduction to pipelines</a:t>
            </a:r>
            <a:endParaRPr/>
          </a:p>
        </p:txBody>
      </p:sp>
      <p:sp>
        <p:nvSpPr>
          <p:cNvPr id="520" name="Google Shape;520;p68"/>
          <p:cNvSpPr txBox="1"/>
          <p:nvPr/>
        </p:nvSpPr>
        <p:spPr>
          <a:xfrm>
            <a:off x="415225" y="1038075"/>
            <a:ext cx="8284500" cy="373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FF00FF"/>
              </a:solidFill>
            </a:endParaRPr>
          </a:p>
          <a:p>
            <a:pPr indent="0" lvl="0" marL="0" rtl="0" algn="l">
              <a:spcBef>
                <a:spcPts val="0"/>
              </a:spcBef>
              <a:spcAft>
                <a:spcPts val="0"/>
              </a:spcAft>
              <a:buNone/>
            </a:pPr>
            <a:r>
              <a:rPr lang="el">
                <a:solidFill>
                  <a:srgbClr val="FF00FF"/>
                </a:solidFill>
              </a:rPr>
              <a:t>What are pipelines?</a:t>
            </a:r>
            <a:endParaRPr>
              <a:solidFill>
                <a:srgbClr val="FF00FF"/>
              </a:solidFill>
            </a:endParaRPr>
          </a:p>
          <a:p>
            <a:pPr indent="0" lvl="0" marL="0" rtl="0" algn="l">
              <a:spcBef>
                <a:spcPts val="0"/>
              </a:spcBef>
              <a:spcAft>
                <a:spcPts val="0"/>
              </a:spcAft>
              <a:buNone/>
            </a:pPr>
            <a:r>
              <a:rPr lang="el"/>
              <a:t>Pipelines are concepts that assist in automating the workflow of a ML system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Why are they important</a:t>
            </a:r>
            <a:endParaRPr>
              <a:solidFill>
                <a:srgbClr val="FF00FF"/>
              </a:solidFill>
            </a:endParaRPr>
          </a:p>
          <a:p>
            <a:pPr indent="-317500" lvl="0" marL="457200" rtl="0" algn="l">
              <a:spcBef>
                <a:spcPts val="0"/>
              </a:spcBef>
              <a:spcAft>
                <a:spcPts val="0"/>
              </a:spcAft>
              <a:buSzPts val="1400"/>
              <a:buChar char="-"/>
            </a:pPr>
            <a:r>
              <a:rPr lang="el"/>
              <a:t>Ensure consistency</a:t>
            </a:r>
            <a:endParaRPr/>
          </a:p>
          <a:p>
            <a:pPr indent="-317500" lvl="0" marL="457200" rtl="0" algn="l">
              <a:spcBef>
                <a:spcPts val="0"/>
              </a:spcBef>
              <a:spcAft>
                <a:spcPts val="0"/>
              </a:spcAft>
              <a:buSzPts val="1400"/>
              <a:buChar char="-"/>
            </a:pPr>
            <a:r>
              <a:rPr lang="el"/>
              <a:t>Ensure reproducibility</a:t>
            </a:r>
            <a:endParaRPr/>
          </a:p>
          <a:p>
            <a:pPr indent="-317500" lvl="0" marL="457200" rtl="0" algn="l">
              <a:spcBef>
                <a:spcPts val="0"/>
              </a:spcBef>
              <a:spcAft>
                <a:spcPts val="0"/>
              </a:spcAft>
              <a:buSzPts val="1400"/>
              <a:buChar char="-"/>
            </a:pPr>
            <a:r>
              <a:rPr lang="el"/>
              <a:t>Ensure ease of deployment</a:t>
            </a:r>
            <a:endParaRPr/>
          </a:p>
          <a:p>
            <a:pPr indent="-317500" lvl="0" marL="457200" rtl="0" algn="l">
              <a:spcBef>
                <a:spcPts val="0"/>
              </a:spcBef>
              <a:spcAft>
                <a:spcPts val="0"/>
              </a:spcAft>
              <a:buSzPts val="1400"/>
              <a:buChar char="-"/>
            </a:pPr>
            <a:r>
              <a:rPr lang="el"/>
              <a:t>Ensure automation </a:t>
            </a:r>
            <a:endParaRPr/>
          </a:p>
          <a:p>
            <a:pPr indent="-317500" lvl="0" marL="457200" rtl="0" algn="l">
              <a:spcBef>
                <a:spcPts val="0"/>
              </a:spcBef>
              <a:spcAft>
                <a:spcPts val="0"/>
              </a:spcAft>
              <a:buSzPts val="1400"/>
              <a:buChar char="-"/>
            </a:pPr>
            <a:r>
              <a:rPr lang="el"/>
              <a:t>Easier troubleshooting and monitoring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Types of Pipelines</a:t>
            </a:r>
            <a:endParaRPr/>
          </a:p>
        </p:txBody>
      </p:sp>
      <p:sp>
        <p:nvSpPr>
          <p:cNvPr id="526" name="Google Shape;526;p69"/>
          <p:cNvSpPr txBox="1"/>
          <p:nvPr/>
        </p:nvSpPr>
        <p:spPr>
          <a:xfrm>
            <a:off x="0" y="1151850"/>
            <a:ext cx="4821900" cy="15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300"/>
              <a:t>ML workflows involve several </a:t>
            </a:r>
            <a:r>
              <a:rPr lang="el" sz="1300"/>
              <a:t>iterative</a:t>
            </a:r>
            <a:r>
              <a:rPr lang="el" sz="1300"/>
              <a:t> steps.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l" sz="1300"/>
              <a:t>They can be time consuming (</a:t>
            </a:r>
            <a:r>
              <a:rPr lang="el" sz="1300"/>
              <a:t>especially</a:t>
            </a:r>
            <a:r>
              <a:rPr lang="el" sz="1300"/>
              <a:t> data cleaning and data preprocessing) </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l" sz="1300"/>
              <a:t>Pipelines can be viewed as sequences of steps (each handling a specific component) that automate the procedure!</a:t>
            </a:r>
            <a:endParaRPr sz="1300"/>
          </a:p>
        </p:txBody>
      </p:sp>
      <p:pic>
        <p:nvPicPr>
          <p:cNvPr id="527" name="Google Shape;527;p69"/>
          <p:cNvPicPr preferRelativeResize="0"/>
          <p:nvPr/>
        </p:nvPicPr>
        <p:blipFill rotWithShape="1">
          <a:blip r:embed="rId3">
            <a:alphaModFix/>
          </a:blip>
          <a:srcRect b="0" l="-1564" r="0" t="0"/>
          <a:stretch/>
        </p:blipFill>
        <p:spPr>
          <a:xfrm>
            <a:off x="4679750" y="896481"/>
            <a:ext cx="4464249" cy="1594900"/>
          </a:xfrm>
          <a:prstGeom prst="rect">
            <a:avLst/>
          </a:prstGeom>
          <a:noFill/>
          <a:ln>
            <a:noFill/>
          </a:ln>
        </p:spPr>
      </p:pic>
      <p:sp>
        <p:nvSpPr>
          <p:cNvPr id="528" name="Google Shape;528;p69"/>
          <p:cNvSpPr txBox="1"/>
          <p:nvPr/>
        </p:nvSpPr>
        <p:spPr>
          <a:xfrm>
            <a:off x="113850" y="3007088"/>
            <a:ext cx="4371000" cy="175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300">
                <a:solidFill>
                  <a:srgbClr val="FF00FF"/>
                </a:solidFill>
              </a:rPr>
              <a:t>The simplest pipeline:</a:t>
            </a:r>
            <a:endParaRPr sz="1300">
              <a:solidFill>
                <a:srgbClr val="FF00FF"/>
              </a:solidFill>
            </a:endParaRPr>
          </a:p>
          <a:p>
            <a:pPr indent="0" lvl="0" marL="0" rtl="0" algn="l">
              <a:spcBef>
                <a:spcPts val="0"/>
              </a:spcBef>
              <a:spcAft>
                <a:spcPts val="0"/>
              </a:spcAft>
              <a:buNone/>
            </a:pPr>
            <a:r>
              <a:t/>
            </a:r>
            <a:endParaRPr sz="1300"/>
          </a:p>
          <a:p>
            <a:pPr indent="-311150" lvl="0" marL="457200" rtl="0" algn="l">
              <a:spcBef>
                <a:spcPts val="0"/>
              </a:spcBef>
              <a:spcAft>
                <a:spcPts val="0"/>
              </a:spcAft>
              <a:buSzPts val="1300"/>
              <a:buAutoNum type="arabicPeriod"/>
            </a:pPr>
            <a:r>
              <a:rPr lang="el" sz="1300"/>
              <a:t>Load data</a:t>
            </a:r>
            <a:endParaRPr sz="1300"/>
          </a:p>
          <a:p>
            <a:pPr indent="-311150" lvl="0" marL="457200" rtl="0" algn="l">
              <a:spcBef>
                <a:spcPts val="0"/>
              </a:spcBef>
              <a:spcAft>
                <a:spcPts val="0"/>
              </a:spcAft>
              <a:buSzPts val="1300"/>
              <a:buAutoNum type="arabicPeriod"/>
            </a:pPr>
            <a:r>
              <a:rPr lang="el" sz="1300"/>
              <a:t>Do data preprocessing</a:t>
            </a:r>
            <a:endParaRPr sz="1300"/>
          </a:p>
          <a:p>
            <a:pPr indent="-311150" lvl="0" marL="457200" rtl="0" algn="l">
              <a:spcBef>
                <a:spcPts val="0"/>
              </a:spcBef>
              <a:spcAft>
                <a:spcPts val="0"/>
              </a:spcAft>
              <a:buSzPts val="1300"/>
              <a:buAutoNum type="arabicPeriod"/>
            </a:pPr>
            <a:r>
              <a:rPr lang="el" sz="1300"/>
              <a:t>Split the data</a:t>
            </a:r>
            <a:endParaRPr sz="1300"/>
          </a:p>
          <a:p>
            <a:pPr indent="-311150" lvl="0" marL="457200" rtl="0" algn="l">
              <a:spcBef>
                <a:spcPts val="0"/>
              </a:spcBef>
              <a:spcAft>
                <a:spcPts val="0"/>
              </a:spcAft>
              <a:buSzPts val="1300"/>
              <a:buAutoNum type="arabicPeriod"/>
            </a:pPr>
            <a:r>
              <a:rPr lang="el" sz="1300"/>
              <a:t>Apply transformations </a:t>
            </a:r>
            <a:endParaRPr sz="1300"/>
          </a:p>
          <a:p>
            <a:pPr indent="-311150" lvl="0" marL="457200" rtl="0" algn="l">
              <a:spcBef>
                <a:spcPts val="0"/>
              </a:spcBef>
              <a:spcAft>
                <a:spcPts val="0"/>
              </a:spcAft>
              <a:buSzPts val="1300"/>
              <a:buAutoNum type="arabicPeriod"/>
            </a:pPr>
            <a:r>
              <a:rPr lang="el" sz="1300"/>
              <a:t>Make Predictions</a:t>
            </a:r>
            <a:endParaRPr sz="1300"/>
          </a:p>
          <a:p>
            <a:pPr indent="0" lvl="0" marL="0" rtl="0" algn="l">
              <a:spcBef>
                <a:spcPts val="0"/>
              </a:spcBef>
              <a:spcAft>
                <a:spcPts val="0"/>
              </a:spcAft>
              <a:buNone/>
            </a:pPr>
            <a:r>
              <a:t/>
            </a:r>
            <a:endParaRPr sz="1300"/>
          </a:p>
        </p:txBody>
      </p:sp>
      <p:pic>
        <p:nvPicPr>
          <p:cNvPr id="529" name="Google Shape;529;p69"/>
          <p:cNvPicPr preferRelativeResize="0"/>
          <p:nvPr/>
        </p:nvPicPr>
        <p:blipFill>
          <a:blip r:embed="rId4">
            <a:alphaModFix/>
          </a:blip>
          <a:stretch>
            <a:fillRect/>
          </a:stretch>
        </p:blipFill>
        <p:spPr>
          <a:xfrm>
            <a:off x="3321100" y="3201621"/>
            <a:ext cx="5796099" cy="13656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Example Pipelines</a:t>
            </a:r>
            <a:endParaRPr/>
          </a:p>
        </p:txBody>
      </p:sp>
      <p:sp>
        <p:nvSpPr>
          <p:cNvPr id="535" name="Google Shape;535;p70"/>
          <p:cNvSpPr txBox="1"/>
          <p:nvPr/>
        </p:nvSpPr>
        <p:spPr>
          <a:xfrm>
            <a:off x="43825" y="1017725"/>
            <a:ext cx="4872000" cy="115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300"/>
              <a:t>Three main types of pipelines: </a:t>
            </a:r>
            <a:endParaRPr sz="1300"/>
          </a:p>
          <a:p>
            <a:pPr indent="-311150" lvl="0" marL="457200" rtl="0" algn="l">
              <a:spcBef>
                <a:spcPts val="0"/>
              </a:spcBef>
              <a:spcAft>
                <a:spcPts val="0"/>
              </a:spcAft>
              <a:buSzPts val="1300"/>
              <a:buChar char="-"/>
            </a:pPr>
            <a:r>
              <a:rPr lang="el" sz="1300">
                <a:solidFill>
                  <a:srgbClr val="FF00FF"/>
                </a:solidFill>
              </a:rPr>
              <a:t>Data preprocessing:</a:t>
            </a:r>
            <a:r>
              <a:rPr lang="el" sz="1300"/>
              <a:t> Load, Preprocess, clean and prepare</a:t>
            </a:r>
            <a:endParaRPr sz="1300"/>
          </a:p>
          <a:p>
            <a:pPr indent="-311150" lvl="0" marL="457200" rtl="0" algn="l">
              <a:spcBef>
                <a:spcPts val="0"/>
              </a:spcBef>
              <a:spcAft>
                <a:spcPts val="0"/>
              </a:spcAft>
              <a:buSzPts val="1300"/>
              <a:buChar char="-"/>
            </a:pPr>
            <a:r>
              <a:rPr lang="el" sz="1300">
                <a:solidFill>
                  <a:srgbClr val="FF00FF"/>
                </a:solidFill>
              </a:rPr>
              <a:t>Training pipeline: </a:t>
            </a:r>
            <a:r>
              <a:rPr lang="el" sz="1300"/>
              <a:t>Train and validate models</a:t>
            </a:r>
            <a:endParaRPr sz="1300"/>
          </a:p>
          <a:p>
            <a:pPr indent="-311150" lvl="0" marL="457200" rtl="0" algn="l">
              <a:spcBef>
                <a:spcPts val="0"/>
              </a:spcBef>
              <a:spcAft>
                <a:spcPts val="0"/>
              </a:spcAft>
              <a:buSzPts val="1300"/>
              <a:buChar char="-"/>
            </a:pPr>
            <a:r>
              <a:rPr lang="el" sz="1300">
                <a:solidFill>
                  <a:srgbClr val="FF00FF"/>
                </a:solidFill>
              </a:rPr>
              <a:t>Inference pipeline:</a:t>
            </a:r>
            <a:r>
              <a:rPr lang="el" sz="1300"/>
              <a:t> Deploy and make predictions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t/>
            </a:r>
            <a:endParaRPr sz="1300"/>
          </a:p>
        </p:txBody>
      </p:sp>
      <p:sp>
        <p:nvSpPr>
          <p:cNvPr id="536" name="Google Shape;536;p70"/>
          <p:cNvSpPr txBox="1"/>
          <p:nvPr/>
        </p:nvSpPr>
        <p:spPr>
          <a:xfrm>
            <a:off x="160725" y="2444500"/>
            <a:ext cx="26856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t>Data preprocessing pipeline</a:t>
            </a:r>
            <a:endParaRPr sz="1200"/>
          </a:p>
        </p:txBody>
      </p:sp>
      <p:pic>
        <p:nvPicPr>
          <p:cNvPr id="537" name="Google Shape;537;p70"/>
          <p:cNvPicPr preferRelativeResize="0"/>
          <p:nvPr/>
        </p:nvPicPr>
        <p:blipFill>
          <a:blip r:embed="rId3">
            <a:alphaModFix/>
          </a:blip>
          <a:stretch>
            <a:fillRect/>
          </a:stretch>
        </p:blipFill>
        <p:spPr>
          <a:xfrm>
            <a:off x="191175" y="2879800"/>
            <a:ext cx="3655000" cy="1896975"/>
          </a:xfrm>
          <a:prstGeom prst="rect">
            <a:avLst/>
          </a:prstGeom>
          <a:noFill/>
          <a:ln>
            <a:noFill/>
          </a:ln>
        </p:spPr>
      </p:pic>
      <p:sp>
        <p:nvSpPr>
          <p:cNvPr id="538" name="Google Shape;538;p70"/>
          <p:cNvSpPr txBox="1"/>
          <p:nvPr/>
        </p:nvSpPr>
        <p:spPr>
          <a:xfrm>
            <a:off x="5028025" y="2826225"/>
            <a:ext cx="26856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t>Inference</a:t>
            </a:r>
            <a:r>
              <a:rPr lang="el" sz="1200"/>
              <a:t> pipeline</a:t>
            </a:r>
            <a:endParaRPr sz="1200"/>
          </a:p>
        </p:txBody>
      </p:sp>
      <p:pic>
        <p:nvPicPr>
          <p:cNvPr id="539" name="Google Shape;539;p70"/>
          <p:cNvPicPr preferRelativeResize="0"/>
          <p:nvPr/>
        </p:nvPicPr>
        <p:blipFill>
          <a:blip r:embed="rId4">
            <a:alphaModFix/>
          </a:blip>
          <a:stretch>
            <a:fillRect/>
          </a:stretch>
        </p:blipFill>
        <p:spPr>
          <a:xfrm>
            <a:off x="4985596" y="3256771"/>
            <a:ext cx="4109901" cy="1473125"/>
          </a:xfrm>
          <a:prstGeom prst="rect">
            <a:avLst/>
          </a:prstGeom>
          <a:noFill/>
          <a:ln>
            <a:noFill/>
          </a:ln>
        </p:spPr>
      </p:pic>
      <p:sp>
        <p:nvSpPr>
          <p:cNvPr id="540" name="Google Shape;540;p70"/>
          <p:cNvSpPr txBox="1"/>
          <p:nvPr/>
        </p:nvSpPr>
        <p:spPr>
          <a:xfrm>
            <a:off x="5079975" y="112175"/>
            <a:ext cx="2685600" cy="47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t>Training </a:t>
            </a:r>
            <a:r>
              <a:rPr lang="el" sz="1200"/>
              <a:t>pipeline</a:t>
            </a:r>
            <a:endParaRPr sz="1200"/>
          </a:p>
        </p:txBody>
      </p:sp>
      <p:pic>
        <p:nvPicPr>
          <p:cNvPr id="541" name="Google Shape;541;p70"/>
          <p:cNvPicPr preferRelativeResize="0"/>
          <p:nvPr/>
        </p:nvPicPr>
        <p:blipFill>
          <a:blip r:embed="rId5">
            <a:alphaModFix/>
          </a:blip>
          <a:stretch>
            <a:fillRect/>
          </a:stretch>
        </p:blipFill>
        <p:spPr>
          <a:xfrm>
            <a:off x="4771450" y="445025"/>
            <a:ext cx="3764576" cy="22211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Key Concepts of Production-Level Code</a:t>
            </a:r>
            <a:endParaRPr/>
          </a:p>
        </p:txBody>
      </p:sp>
      <p:sp>
        <p:nvSpPr>
          <p:cNvPr id="547" name="Google Shape;547;p71"/>
          <p:cNvSpPr txBox="1"/>
          <p:nvPr/>
        </p:nvSpPr>
        <p:spPr>
          <a:xfrm>
            <a:off x="436500" y="1495400"/>
            <a:ext cx="8271000" cy="2532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AutoNum type="arabicPeriod"/>
            </a:pPr>
            <a:r>
              <a:rPr lang="el"/>
              <a:t>Structured project repositories</a:t>
            </a:r>
            <a:endParaRPr/>
          </a:p>
          <a:p>
            <a:pPr indent="-317500" lvl="0" marL="457200" rtl="0" algn="l">
              <a:lnSpc>
                <a:spcPct val="115000"/>
              </a:lnSpc>
              <a:spcBef>
                <a:spcPts val="0"/>
              </a:spcBef>
              <a:spcAft>
                <a:spcPts val="0"/>
              </a:spcAft>
              <a:buSzPts val="1400"/>
              <a:buAutoNum type="arabicPeriod"/>
            </a:pPr>
            <a:r>
              <a:rPr lang="el"/>
              <a:t>Scalable and reproducible code</a:t>
            </a:r>
            <a:endParaRPr/>
          </a:p>
          <a:p>
            <a:pPr indent="-317500" lvl="0" marL="457200" rtl="0" algn="l">
              <a:lnSpc>
                <a:spcPct val="115000"/>
              </a:lnSpc>
              <a:spcBef>
                <a:spcPts val="0"/>
              </a:spcBef>
              <a:spcAft>
                <a:spcPts val="0"/>
              </a:spcAft>
              <a:buSzPts val="1400"/>
              <a:buAutoNum type="arabicPeriod"/>
            </a:pPr>
            <a:r>
              <a:rPr lang="el"/>
              <a:t>Clean code principles</a:t>
            </a:r>
            <a:endParaRPr/>
          </a:p>
          <a:p>
            <a:pPr indent="-317500" lvl="0" marL="457200" rtl="0" algn="l">
              <a:lnSpc>
                <a:spcPct val="115000"/>
              </a:lnSpc>
              <a:spcBef>
                <a:spcPts val="0"/>
              </a:spcBef>
              <a:spcAft>
                <a:spcPts val="0"/>
              </a:spcAft>
              <a:buClr>
                <a:schemeClr val="dk1"/>
              </a:buClr>
              <a:buSzPts val="1400"/>
              <a:buAutoNum type="arabicPeriod"/>
            </a:pPr>
            <a:r>
              <a:rPr lang="el">
                <a:solidFill>
                  <a:schemeClr val="dk1"/>
                </a:solidFill>
              </a:rPr>
              <a:t>Logging and Error Handling</a:t>
            </a:r>
            <a:endParaRPr>
              <a:solidFill>
                <a:schemeClr val="dk1"/>
              </a:solidFill>
            </a:endParaRPr>
          </a:p>
          <a:p>
            <a:pPr indent="-317500" lvl="0" marL="457200" rtl="0" algn="l">
              <a:lnSpc>
                <a:spcPct val="115000"/>
              </a:lnSpc>
              <a:spcBef>
                <a:spcPts val="0"/>
              </a:spcBef>
              <a:spcAft>
                <a:spcPts val="0"/>
              </a:spcAft>
              <a:buSzPts val="1400"/>
              <a:buAutoNum type="arabicPeriod"/>
            </a:pPr>
            <a:r>
              <a:rPr lang="el"/>
              <a:t>Documentation and Commenting</a:t>
            </a:r>
            <a:endParaRPr/>
          </a:p>
          <a:p>
            <a:pPr indent="-317500" lvl="0" marL="457200" rtl="0" algn="l">
              <a:lnSpc>
                <a:spcPct val="115000"/>
              </a:lnSpc>
              <a:spcBef>
                <a:spcPts val="0"/>
              </a:spcBef>
              <a:spcAft>
                <a:spcPts val="0"/>
              </a:spcAft>
              <a:buClr>
                <a:schemeClr val="dk1"/>
              </a:buClr>
              <a:buSzPts val="1400"/>
              <a:buAutoNum type="arabicPeriod"/>
            </a:pPr>
            <a:r>
              <a:rPr lang="el">
                <a:solidFill>
                  <a:schemeClr val="dk1"/>
                </a:solidFill>
              </a:rPr>
              <a:t>Code Formatting and Styling</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l">
                <a:solidFill>
                  <a:schemeClr val="dk1"/>
                </a:solidFill>
              </a:rPr>
              <a:t>Writing good tests</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l">
                <a:solidFill>
                  <a:schemeClr val="dk1"/>
                </a:solidFill>
              </a:rPr>
              <a:t>Pipelines in ML projects</a:t>
            </a:r>
            <a:endParaRPr>
              <a:solidFill>
                <a:schemeClr val="dk1"/>
              </a:solidFill>
            </a:endParaRPr>
          </a:p>
        </p:txBody>
      </p:sp>
      <p:sp>
        <p:nvSpPr>
          <p:cNvPr id="548" name="Google Shape;548;p71"/>
          <p:cNvSpPr txBox="1"/>
          <p:nvPr/>
        </p:nvSpPr>
        <p:spPr>
          <a:xfrm>
            <a:off x="475500" y="4674700"/>
            <a:ext cx="5746200" cy="25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900"/>
              <a:t>https://madewithml.com/</a:t>
            </a:r>
            <a:endParaRPr sz="9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Thats all for today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