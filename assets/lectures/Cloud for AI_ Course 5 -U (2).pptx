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Lst>
  <p:sldSz cy="5143500" cx="9144000"/>
  <p:notesSz cx="6858000" cy="9144000"/>
  <p:embeddedFontLst>
    <p:embeddedFont>
      <p:font typeface="Nunito"/>
      <p:regular r:id="rId71"/>
      <p:bold r:id="rId72"/>
      <p:italic r:id="rId73"/>
      <p:boldItalic r:id="rId7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A072A65-EB3D-4C6D-9EF0-085EB4FA5BAB}">
  <a:tblStyle styleId="{FA072A65-EB3D-4C6D-9EF0-085EB4FA5BAB}"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5BCA6783-9D1B-475B-B446-B2AFDC278119}" styleName="Table_1">
    <a:wholeTbl>
      <a:tcTxStyle>
        <a:font>
          <a:latin typeface="Arial"/>
          <a:ea typeface="Arial"/>
          <a:cs typeface="Arial"/>
        </a:font>
        <a:srgbClr val="000000"/>
      </a:tcTxStyle>
      <a:tcStyle>
        <a:tcBdr>
          <a:left>
            <a:ln cap="flat" cmpd="sng" w="12700">
              <a:solidFill>
                <a:srgbClr val="000000"/>
              </a:solidFill>
              <a:prstDash val="solid"/>
              <a:round/>
              <a:headEnd len="sm" w="sm" type="none"/>
              <a:tailEnd len="sm" w="sm" type="none"/>
            </a:ln>
          </a:left>
          <a:right>
            <a:ln cap="flat" cmpd="sng" w="12700">
              <a:solidFill>
                <a:srgbClr val="000000"/>
              </a:solidFill>
              <a:prstDash val="solid"/>
              <a:round/>
              <a:headEnd len="sm" w="sm" type="none"/>
              <a:tailEnd len="sm" w="sm" type="none"/>
            </a:ln>
          </a:right>
          <a:top>
            <a:ln cap="flat" cmpd="sng" w="12700">
              <a:solidFill>
                <a:srgbClr val="000000"/>
              </a:solidFill>
              <a:prstDash val="solid"/>
              <a:round/>
              <a:headEnd len="sm" w="sm" type="none"/>
              <a:tailEnd len="sm" w="sm" type="none"/>
            </a:ln>
          </a:top>
          <a:bottom>
            <a:ln cap="flat" cmpd="sng" w="12700">
              <a:solidFill>
                <a:srgbClr val="000000"/>
              </a:solidFill>
              <a:prstDash val="solid"/>
              <a:round/>
              <a:headEnd len="sm" w="sm" type="none"/>
              <a:tailEnd len="sm" w="sm" type="none"/>
            </a:ln>
          </a:bottom>
          <a:insideH>
            <a:ln cap="flat" cmpd="sng" w="12700">
              <a:solidFill>
                <a:srgbClr val="000000"/>
              </a:solidFill>
              <a:prstDash val="solid"/>
              <a:round/>
              <a:headEnd len="sm" w="sm" type="none"/>
              <a:tailEnd len="sm" w="sm" type="none"/>
            </a:ln>
          </a:insideH>
          <a:insideV>
            <a:ln cap="flat" cmpd="sng" w="12700">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font" Target="fonts/Nunito-italic.fntdata"/><Relationship Id="rId72" Type="http://schemas.openxmlformats.org/officeDocument/2006/relationships/font" Target="fonts/Nunito-bold.fntdata"/><Relationship Id="rId31" Type="http://schemas.openxmlformats.org/officeDocument/2006/relationships/slide" Target="slides/slide25.xml"/><Relationship Id="rId30" Type="http://schemas.openxmlformats.org/officeDocument/2006/relationships/slide" Target="slides/slide24.xml"/><Relationship Id="rId74" Type="http://schemas.openxmlformats.org/officeDocument/2006/relationships/font" Target="fonts/Nunito-boldItalic.fntdata"/><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71" Type="http://schemas.openxmlformats.org/officeDocument/2006/relationships/font" Target="fonts/Nunito-regular.fntdata"/><Relationship Id="rId70" Type="http://schemas.openxmlformats.org/officeDocument/2006/relationships/slide" Target="slides/slide64.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slide" Target="slides/slide58.xml"/><Relationship Id="rId63" Type="http://schemas.openxmlformats.org/officeDocument/2006/relationships/slide" Target="slides/slide57.xml"/><Relationship Id="rId22" Type="http://schemas.openxmlformats.org/officeDocument/2006/relationships/slide" Target="slides/slide16.xml"/><Relationship Id="rId66" Type="http://schemas.openxmlformats.org/officeDocument/2006/relationships/slide" Target="slides/slide60.xml"/><Relationship Id="rId21" Type="http://schemas.openxmlformats.org/officeDocument/2006/relationships/slide" Target="slides/slide15.xml"/><Relationship Id="rId65" Type="http://schemas.openxmlformats.org/officeDocument/2006/relationships/slide" Target="slides/slide59.xml"/><Relationship Id="rId24" Type="http://schemas.openxmlformats.org/officeDocument/2006/relationships/slide" Target="slides/slide18.xml"/><Relationship Id="rId68" Type="http://schemas.openxmlformats.org/officeDocument/2006/relationships/slide" Target="slides/slide62.xml"/><Relationship Id="rId23" Type="http://schemas.openxmlformats.org/officeDocument/2006/relationships/slide" Target="slides/slide17.xml"/><Relationship Id="rId67" Type="http://schemas.openxmlformats.org/officeDocument/2006/relationships/slide" Target="slides/slide61.xml"/><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slide" Target="slides/slide63.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292b1fce5d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292b1fce5d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Today we are going to talk about Modelling &amp; Evaluation. The second part of you </a:t>
            </a:r>
            <a:r>
              <a:rPr lang="el"/>
              <a:t>assignment</a:t>
            </a:r>
            <a:r>
              <a:rPr lang="el"/>
              <a:t> is about building a ML solution for your problem. As we have talked about many times in this course, the ML solution is not the end-product. Its not what we deliver to customers. Thus, we need to rethink of our ML practises so they are aligned with the business goal we are trying to solve. Thats were we are going to focus today! The course is mostly with theoretical but important concepts. Not a lot of it will be used for the exams but are things that might </a:t>
            </a:r>
            <a:r>
              <a:rPr lang="el"/>
              <a:t>help you with the assignment and how you approach machine learning problems</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g292b1fce5dd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 name="Google Shape;61;g292b1fce5dd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The idea is to present you with some important concepts that you might come across and you need to be prepared to handle.</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292b1fce5dd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292b1fce5dd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First of all we have data leakage. Data leakage is something data scientist come across very often. From research projects, to Machine Learning solutions in applications. Even some of the best researchers in the world had issues of data leakage that messed with their work. We realy realy need to pay close attention here.</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292b1fce5dd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292b1fce5dd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What is data leakage?? Data leakage is when our model gets clues about the true label from one or more of our training features when it shouldnt. Its when something that describes the variable we are trying to teach our model to learn is given in the training data. What happenes is that the model might “cheat” and look only at this information. In reality, this information should not </a:t>
            </a:r>
            <a:r>
              <a:rPr lang="el"/>
              <a:t>available</a:t>
            </a:r>
            <a:r>
              <a:rPr lang="el"/>
              <a:t> and will not be in the future!</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2f7bb8ef96f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2f7bb8ef96f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Finally we have data leakage that occurs during data collection. For example when we collect our data we created many hints to the model to focus on rather than focusing on the task. And we have the example of the doctors I used before.</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292b1fce5dd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292b1fce5dd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l">
                <a:solidFill>
                  <a:schemeClr val="dk1"/>
                </a:solidFill>
              </a:rPr>
              <a:t>Lets look at an example! This is a real example from a specific application in US some years ago!</a:t>
            </a:r>
            <a:endParaRPr>
              <a:solidFill>
                <a:schemeClr val="dk1"/>
              </a:solidFill>
            </a:endParaRPr>
          </a:p>
          <a:p>
            <a:pPr indent="0" lvl="0" marL="0" rtl="0" algn="l">
              <a:spcBef>
                <a:spcPts val="0"/>
              </a:spcBef>
              <a:spcAft>
                <a:spcPts val="0"/>
              </a:spcAft>
              <a:buClr>
                <a:schemeClr val="dk1"/>
              </a:buClr>
              <a:buSzPts val="1100"/>
              <a:buFont typeface="Arial"/>
              <a:buNone/>
            </a:pPr>
            <a:r>
              <a:rPr lang="el">
                <a:solidFill>
                  <a:schemeClr val="dk1"/>
                </a:solidFill>
              </a:rPr>
              <a:t>We have an application where we train a model to detected lung cancer from CT scans. These are the features we are working with. </a:t>
            </a:r>
            <a:endParaRPr>
              <a:solidFill>
                <a:schemeClr val="dk1"/>
              </a:solidFill>
            </a:endParaRPr>
          </a:p>
          <a:p>
            <a:pPr indent="0" lvl="0" marL="0" rtl="0" algn="l">
              <a:spcBef>
                <a:spcPts val="0"/>
              </a:spcBef>
              <a:spcAft>
                <a:spcPts val="0"/>
              </a:spcAft>
              <a:buClr>
                <a:schemeClr val="dk1"/>
              </a:buClr>
              <a:buSzPts val="1100"/>
              <a:buFont typeface="Arial"/>
              <a:buNone/>
            </a:pPr>
            <a:r>
              <a:rPr lang="el">
                <a:solidFill>
                  <a:schemeClr val="dk1"/>
                </a:solidFill>
              </a:rPr>
              <a:t>Our models performs very well on data from hospital A but fails completely on data from hospital B.</a:t>
            </a:r>
            <a:endParaRPr>
              <a:solidFill>
                <a:schemeClr val="dk1"/>
              </a:solidFill>
            </a:endParaRPr>
          </a:p>
          <a:p>
            <a:pPr indent="0" lvl="0" marL="0" rtl="0" algn="l">
              <a:spcBef>
                <a:spcPts val="0"/>
              </a:spcBef>
              <a:spcAft>
                <a:spcPts val="0"/>
              </a:spcAft>
              <a:buClr>
                <a:schemeClr val="dk1"/>
              </a:buClr>
              <a:buSzPts val="1100"/>
              <a:buFont typeface="Arial"/>
              <a:buNone/>
            </a:pPr>
            <a:r>
              <a:rPr lang="el">
                <a:solidFill>
                  <a:schemeClr val="dk1"/>
                </a:solidFill>
              </a:rPr>
              <a:t>This gets us trigged. Something is realy wrong here. We are trying to understand what is going on by looking and relooking our data.</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29b8e58e18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29b8e58e18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So after some months, the researchers found what was going. The problem was the Scanner type. Doctors at hospital A send all “high-alert” patients to a specific high quality scanner. So every time the model saw that it had this scanner type as its feature, it flagged it as lung cancer.  The model did not look at CT scans. Instead it only focused on the scanner type.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29b8e58e187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29b8e58e187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However on Hospital B doctors did not follow the same pattern. They send different types of patients to high quality scanners. So the model flagged all on high quality scanner again as lung cancer and failed completely. This is data leakage. The model got a hint from the environment about the true label that it tried to predict and immidiately tried to cheat. Of course when we changed environments these things did not stand out again.</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292b1fce5dd_0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292b1fce5dd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So what causes data leakage?</a:t>
            </a:r>
            <a:endParaRPr/>
          </a:p>
          <a:p>
            <a:pPr indent="0" lvl="0" marL="0" rtl="0" algn="l">
              <a:spcBef>
                <a:spcPts val="0"/>
              </a:spcBef>
              <a:spcAft>
                <a:spcPts val="0"/>
              </a:spcAft>
              <a:buNone/>
            </a:pPr>
            <a:r>
              <a:rPr lang="el"/>
              <a:t>We usualy see cases of data leakage on time-related data. Like time series. So when we do the train-test split we first shuffle our data and then keep a part for testing. But what happens is that what will happen if what we are trying to predict is already provided to us from a future time step?</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2f7bb8ef96f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2f7bb8ef96f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So what causes data leakage?</a:t>
            </a:r>
            <a:endParaRPr/>
          </a:p>
          <a:p>
            <a:pPr indent="0" lvl="0" marL="0" rtl="0" algn="l">
              <a:spcBef>
                <a:spcPts val="0"/>
              </a:spcBef>
              <a:spcAft>
                <a:spcPts val="0"/>
              </a:spcAft>
              <a:buNone/>
            </a:pPr>
            <a:r>
              <a:rPr lang="el"/>
              <a:t>We usualy see cases of data leakage on time-related data. Like time series. So when we do the train-test split we first shuffle our data and then keep a part for testing. But what happens is that what will happen if what we are trying to predict is already provided to us from a future time step?</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292b1fce5dd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292b1fce5dd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Lets look at an example. Lets assume we do weather forecasting. We want to predict the weather for the next day. We have data from 2017-2022. </a:t>
            </a:r>
            <a:endParaRPr/>
          </a:p>
          <a:p>
            <a:pPr indent="0" lvl="0" marL="0" rtl="0" algn="l">
              <a:spcBef>
                <a:spcPts val="0"/>
              </a:spcBef>
              <a:spcAft>
                <a:spcPts val="0"/>
              </a:spcAft>
              <a:buNone/>
            </a:pPr>
            <a:r>
              <a:rPr lang="el"/>
              <a:t>If we do random split as in the second part of the picture we will end having random days for training and test set. For instance we might end up with data from December 2021 in our training set and November 2021 in our test set. </a:t>
            </a:r>
            <a:endParaRPr/>
          </a:p>
          <a:p>
            <a:pPr indent="0" lvl="0" marL="0" rtl="0" algn="l">
              <a:spcBef>
                <a:spcPts val="0"/>
              </a:spcBef>
              <a:spcAft>
                <a:spcPts val="0"/>
              </a:spcAft>
              <a:buNone/>
            </a:pPr>
            <a:r>
              <a:rPr lang="el"/>
              <a:t>What might happen?</a:t>
            </a:r>
            <a:endParaRPr/>
          </a:p>
          <a:p>
            <a:pPr indent="0" lvl="0" marL="0" rtl="0" algn="l">
              <a:spcBef>
                <a:spcPts val="0"/>
              </a:spcBef>
              <a:spcAft>
                <a:spcPts val="0"/>
              </a:spcAft>
              <a:buNone/>
            </a:pPr>
            <a:r>
              <a:rPr lang="el"/>
              <a:t>The model might learn that specific patterns that occur after certain dates (For example after November) and stick to these to make predictions. For example if it knows what happens in December 2021 it might find out that Before November there is no rain but after November there is rain. So when it predicts what will happen in November it will know that there is rain. Because it has access to information from 2021 which it shouldnt.</a:t>
            </a:r>
            <a:endParaRPr/>
          </a:p>
          <a:p>
            <a:pPr indent="0" lvl="0" marL="0" rtl="0" algn="l">
              <a:spcBef>
                <a:spcPts val="0"/>
              </a:spcBef>
              <a:spcAft>
                <a:spcPts val="0"/>
              </a:spcAft>
              <a:buNone/>
            </a:pPr>
            <a:r>
              <a:rPr lang="el"/>
              <a:t>What we do instead?</a:t>
            </a:r>
            <a:endParaRPr/>
          </a:p>
          <a:p>
            <a:pPr indent="0" lvl="0" marL="0" rtl="0" algn="l">
              <a:spcBef>
                <a:spcPts val="0"/>
              </a:spcBef>
              <a:spcAft>
                <a:spcPts val="0"/>
              </a:spcAft>
              <a:buNone/>
            </a:pPr>
            <a:r>
              <a:rPr lang="el"/>
              <a:t>We always, always split our data based on temporal dimension for this kind of data.</a:t>
            </a:r>
            <a:endParaRPr/>
          </a:p>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2f7bb8ef96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2f7bb8ef96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Another very common cause of data leakage is the following. When we process our data before splitting! This is the most common issue and I have seen it soooo many times. Say want to normalize our data before using our favourite ML model.. Normalization is very important for a number of reasons.- But we should it right.</a:t>
            </a:r>
            <a:endParaRPr/>
          </a:p>
          <a:p>
            <a:pPr indent="0" lvl="0" marL="0" rtl="0" algn="l">
              <a:spcBef>
                <a:spcPts val="0"/>
              </a:spcBef>
              <a:spcAft>
                <a:spcPts val="0"/>
              </a:spcAft>
              <a:buNone/>
            </a:pPr>
            <a:r>
              <a:rPr lang="el"/>
              <a:t>When we normalize our data before splitting we use information from the test set. And the model learns that!!</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292b1fce5dd_0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292b1fce5dd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An example. Lets say we take the mean and the variance to do StandardScalling. Lets look at the mean of the train set only, the mean of the test set and the mean of both the train and test set. You can see that when we take the mean of the test set into account (we normalized  before splitting) the overall mean is lower than when we take the mean of only the train set. So what happens is that the model was seeing values around the training mean (95) and when there is a small reduction to the line (signal drops to 92 just before the prediction moment) the model knows that the it should be more reduction because the overal mean is 93 and for so long we only saw values around 95. So it predicts to have a drop. However this information will not be present in the real time!!</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292b1fce5dd_0_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292b1fce5dd_0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Remember! Always always split your data before doing anything. The model should not see information from the test set. Well </a:t>
            </a:r>
            <a:r>
              <a:rPr lang="el"/>
              <a:t>ideally</a:t>
            </a:r>
            <a:r>
              <a:rPr lang="el"/>
              <a:t> neither should you!! When you deploy your model in the world you wont know what the future looks like!</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292b1fce5dd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292b1fce5dd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Finally we have data leakage that occurs during data collection. For example when we collect our data we created many hints to the model to focus on rather than focusing on the task. And we have the example of the doctors I used before.</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292b1fce5dd_0_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292b1fce5dd_0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These are the main reasons for data leakage. You should be very </a:t>
            </a:r>
            <a:r>
              <a:rPr lang="el"/>
              <a:t>careful</a:t>
            </a:r>
            <a:r>
              <a:rPr lang="el"/>
              <a:t> with these as the </a:t>
            </a:r>
            <a:r>
              <a:rPr lang="el"/>
              <a:t>performance</a:t>
            </a:r>
            <a:r>
              <a:rPr lang="el"/>
              <a:t> on your test set might be good but the performance on the real world might be extremely bad! And we said, we care about creating value on the real world, not focusing on a specific metric and try to minmize a specific score.</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292b1fce5dd_0_1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292b1fce5dd_0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How to detect data leakauge? Unfortunately there is no metric or any test that will detect that there is data leakage. We have to find it out on ourselves through trial and error. In some sense that why we investigate our data before </a:t>
            </a:r>
            <a:r>
              <a:rPr lang="el"/>
              <a:t>building our model. We are trying to understand the connections in our dataframe.</a:t>
            </a:r>
            <a:endParaRPr/>
          </a:p>
          <a:p>
            <a:pPr indent="0" lvl="0" marL="0" rtl="0" algn="l">
              <a:spcBef>
                <a:spcPts val="0"/>
              </a:spcBef>
              <a:spcAft>
                <a:spcPts val="0"/>
              </a:spcAft>
              <a:buNone/>
            </a:pPr>
            <a:r>
              <a:rPr lang="el"/>
              <a:t>For example in the example with CT scanner, if we have simply plotted the correlation between the CT Scanner and the labels we would have seen the huge correlation and we would be able to correct it!</a:t>
            </a:r>
            <a:endParaRPr/>
          </a:p>
          <a:p>
            <a:pPr indent="0" lvl="0" marL="0" rtl="0" algn="l">
              <a:spcBef>
                <a:spcPts val="0"/>
              </a:spcBef>
              <a:spcAft>
                <a:spcPts val="0"/>
              </a:spcAft>
              <a:buNone/>
            </a:pPr>
            <a:r>
              <a:t/>
            </a:r>
            <a:endParaRPr/>
          </a:p>
          <a:p>
            <a:pPr indent="0" lvl="0" marL="0" rtl="0" algn="l">
              <a:spcBef>
                <a:spcPts val="0"/>
              </a:spcBef>
              <a:spcAft>
                <a:spcPts val="0"/>
              </a:spcAft>
              <a:buNone/>
            </a:pPr>
            <a:r>
              <a:rPr lang="el"/>
              <a:t>Most of the times we will detect data leakage after testing our model or when we do model selection. For example if you remove or add a feature and you see huge performance differences (some performance difference is ok but not too much) then unfortunately for you you might have data leakage on your example. Be very, very careful and continuously monitor these situations.</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2954b7b12c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2954b7b12c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Oke now lets move to the next important concept. Model selection. What model to select to design our solution. This is a very important case in the era we are living. Why?</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2954b7b12ca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2954b7b12ca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I ll give you some tips for picking your models! </a:t>
            </a:r>
            <a:endParaRPr/>
          </a:p>
          <a:p>
            <a:pPr indent="0" lvl="0" marL="0" rtl="0" algn="l">
              <a:spcBef>
                <a:spcPts val="0"/>
              </a:spcBef>
              <a:spcAft>
                <a:spcPts val="0"/>
              </a:spcAft>
              <a:buNone/>
            </a:pPr>
            <a:r>
              <a:rPr lang="el"/>
              <a:t>First of all, try to avoid the social media hype traps. People on Linkedin, twitter, (sometimes) reddit etc only post what they believe will give them more likes. Technical </a:t>
            </a:r>
            <a:r>
              <a:rPr lang="el"/>
              <a:t>influencers</a:t>
            </a:r>
            <a:r>
              <a:rPr lang="el"/>
              <a:t> make way more posts than experienced data scientists and engineers. These people focus on making products. So do not trust everything you see. </a:t>
            </a:r>
            <a:endParaRPr/>
          </a:p>
          <a:p>
            <a:pPr indent="0" lvl="0" marL="0" rtl="0" algn="l">
              <a:spcBef>
                <a:spcPts val="0"/>
              </a:spcBef>
              <a:spcAft>
                <a:spcPts val="0"/>
              </a:spcAft>
              <a:buNone/>
            </a:pPr>
            <a:r>
              <a:rPr lang="el"/>
              <a:t>2) Always start simple!!! Thats what we discussed in the previous lectures. Always have benchmarks. ALWAYS. And simple benchmarks. Start very simply and steadily increase your </a:t>
            </a:r>
            <a:r>
              <a:rPr lang="el"/>
              <a:t>complexity</a:t>
            </a:r>
            <a:r>
              <a:rPr lang="el"/>
              <a:t> until you reach a point that you no longer improve. Thats your model!! Whats the point in using ResNet with 66M parameters that takes away inference and money when I can do the job with a model with 1.000 parameters!</a:t>
            </a:r>
            <a:endParaRPr/>
          </a:p>
          <a:p>
            <a:pPr indent="0" lvl="0" marL="0" rtl="0" algn="l">
              <a:spcBef>
                <a:spcPts val="0"/>
              </a:spcBef>
              <a:spcAft>
                <a:spcPts val="0"/>
              </a:spcAft>
              <a:buNone/>
            </a:pPr>
            <a:r>
              <a:rPr lang="el"/>
              <a:t>3) Evaluate tradeoffs! as we said a complex model requires more </a:t>
            </a:r>
            <a:r>
              <a:rPr lang="el"/>
              <a:t>money</a:t>
            </a:r>
            <a:r>
              <a:rPr lang="el"/>
              <a:t> for training and monitoring and might have slower inference! There is always a tradeoff!</a:t>
            </a:r>
            <a:endParaRPr/>
          </a:p>
          <a:p>
            <a:pPr indent="0" lvl="0" marL="0" rtl="0" algn="l">
              <a:spcBef>
                <a:spcPts val="0"/>
              </a:spcBef>
              <a:spcAft>
                <a:spcPts val="0"/>
              </a:spcAft>
              <a:buNone/>
            </a:pPr>
            <a:r>
              <a:rPr lang="el"/>
              <a:t>4) Combine models!! Combine models with different strengths to get the boost of both worlds! We will talk about this in a while. Ensembling is an extremely </a:t>
            </a:r>
            <a:r>
              <a:rPr lang="el"/>
              <a:t>helpful</a:t>
            </a:r>
            <a:r>
              <a:rPr lang="el"/>
              <a:t> method for always </a:t>
            </a:r>
            <a:r>
              <a:rPr lang="el"/>
              <a:t>squeezing</a:t>
            </a:r>
            <a:r>
              <a:rPr lang="el"/>
              <a:t> a 5% to 10% improvement.</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2f7bb8ef96f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2f7bb8ef96f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I ll give you some tips for picking your models! </a:t>
            </a:r>
            <a:endParaRPr/>
          </a:p>
          <a:p>
            <a:pPr indent="0" lvl="0" marL="0" rtl="0" algn="l">
              <a:spcBef>
                <a:spcPts val="0"/>
              </a:spcBef>
              <a:spcAft>
                <a:spcPts val="0"/>
              </a:spcAft>
              <a:buNone/>
            </a:pPr>
            <a:r>
              <a:rPr lang="el"/>
              <a:t>First of all, try to avoid the social media hype traps. People on Linkedin, twitter, (sometimes) reddit etc only post what they believe will give them more likes. Technical influencers make way more posts than experienced data scientists and engineers. These people focus on making products. So do not trust everything you see. </a:t>
            </a:r>
            <a:endParaRPr/>
          </a:p>
          <a:p>
            <a:pPr indent="0" lvl="0" marL="0" rtl="0" algn="l">
              <a:spcBef>
                <a:spcPts val="0"/>
              </a:spcBef>
              <a:spcAft>
                <a:spcPts val="0"/>
              </a:spcAft>
              <a:buNone/>
            </a:pPr>
            <a:r>
              <a:rPr lang="el"/>
              <a:t>2) Always start simple!!! Thats what we discussed in the previous lectures. Always have benchmarks. ALWAYS. And simple benchmarks. Start very simply and steadily increase your complexity until you reach a point that you no longer improve. Thats your model!! Whats the point in using ResNet with 66M parameters that takes away inference and money when I can do the job with a model with 1.000 parameters!</a:t>
            </a:r>
            <a:endParaRPr/>
          </a:p>
          <a:p>
            <a:pPr indent="0" lvl="0" marL="0" rtl="0" algn="l">
              <a:spcBef>
                <a:spcPts val="0"/>
              </a:spcBef>
              <a:spcAft>
                <a:spcPts val="0"/>
              </a:spcAft>
              <a:buNone/>
            </a:pPr>
            <a:r>
              <a:rPr lang="el"/>
              <a:t>3) Evaluate tradeoffs! as we said a complex model requires more money for training and monitoring and might have slower inference! There is always a tradeoff!</a:t>
            </a:r>
            <a:endParaRPr/>
          </a:p>
          <a:p>
            <a:pPr indent="0" lvl="0" marL="0" rtl="0" algn="l">
              <a:spcBef>
                <a:spcPts val="0"/>
              </a:spcBef>
              <a:spcAft>
                <a:spcPts val="0"/>
              </a:spcAft>
              <a:buNone/>
            </a:pPr>
            <a:r>
              <a:rPr lang="el"/>
              <a:t>4) Combine models!! Combine models with different strengths to get the boost of both worlds! We will talk about this in a while. Ensembling is an extremely helpful method for always squeezing a 5% to 10% improvement.</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2f7bb8ef96f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2f7bb8ef96f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We have talked two lectures ago about the importance of building good baselines for evaluating the performance of the model. And I told you before, increase complexity steadily!</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2f7bb8ef96f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2f7bb8ef96f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Lets consider an example. A company comes to us and tells us, lets build an application that predicts the demand of ice-creams</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2f7bb8ef96f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2f7bb8ef96f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So this company comes, they give me their data and they ask me what they want to find out is how many ice creams they will sell tomorrow. So what I do, is I spend one week, read papers, articles, try- different things and finally build the best Deep Learning Model I can imagine. Its the latest technology etc. So I give this to the company and they compare it with their very simple linear regression. What they find out is that the performance is equal!</a:t>
            </a:r>
            <a:endParaRPr/>
          </a:p>
          <a:p>
            <a:pPr indent="0" lvl="0" marL="0" rtl="0" algn="l">
              <a:spcBef>
                <a:spcPts val="0"/>
              </a:spcBef>
              <a:spcAft>
                <a:spcPts val="0"/>
              </a:spcAft>
              <a:buNone/>
            </a:pPr>
            <a:r>
              <a:rPr lang="el"/>
              <a:t>So they spend money and 1 full week just to get equal performance. They are mad!!</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2f7bb8ef96f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2f7bb8ef96f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Then there comes another guy. Again, they give him the same data and ask him to do the same task. So what he does is he takes the simplest model, a linear regression, it tests it, it finds what he can do to improve it. It improves the model a bit by adding some extra features and within 1 day he has a good enough solution for the companies.They are very happy!!</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2f7bb8ef96f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2f7bb8ef96f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And a quick tip here. Do not confuse simple models with models that are easy to run. I have shown you have easy it is to build use a LLM from hugging face with just 20 lines of code. Sometimes we need models to run fast, sometimes we need models to have a low number of parameters. Try to understand the situation before spending resources!</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2954b7b12ca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2954b7b12ca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Oke, lets take everything step by step.</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2954b7b12ca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2954b7b12ca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The problem with SOTAs is that its a big trap. State of the art on a specific dataset is a much, much different story than your own data. Also, SOTA models most of the times are a lot more complex than normal models. That means they cost more and they have higher latency. </a:t>
            </a:r>
            <a:endParaRPr/>
          </a:p>
          <a:p>
            <a:pPr indent="0" lvl="0" marL="0" rtl="0" algn="l">
              <a:spcBef>
                <a:spcPts val="0"/>
              </a:spcBef>
              <a:spcAft>
                <a:spcPts val="0"/>
              </a:spcAft>
              <a:buNone/>
            </a:pPr>
            <a:r>
              <a:rPr lang="el"/>
              <a:t>simple and established models on the other hand, models that exist for years have proven their succses and have strong community back up. For a reason! Because they work! When we get information that the new SOTA is battle-tested and it works, of course we are going to use it in our pipeline! We are not stupid.</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2954b7b12ca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8" name="Google Shape;248;g2954b7b12ca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People publish papers and write articles using their favourite word: State of the Art. What is State-of-the-Art? A model that achieved the highest accuracy on a specific metric on a specific dataset!! </a:t>
            </a:r>
            <a:endParaRPr/>
          </a:p>
          <a:p>
            <a:pPr indent="0" lvl="0" marL="0" rtl="0" algn="l">
              <a:spcBef>
                <a:spcPts val="0"/>
              </a:spcBef>
              <a:spcAft>
                <a:spcPts val="0"/>
              </a:spcAft>
              <a:buNone/>
            </a:pPr>
            <a:r>
              <a:rPr lang="el"/>
              <a:t>And I know deep learning is fun, we want to build new models with the newest things out there, we want to use all the nice stuff etc</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2954b7b12ca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2954b7b12ca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Simple models! </a:t>
            </a:r>
            <a:endParaRPr/>
          </a:p>
          <a:p>
            <a:pPr indent="0" lvl="0" marL="0" rtl="0" algn="l">
              <a:spcBef>
                <a:spcPts val="0"/>
              </a:spcBef>
              <a:spcAft>
                <a:spcPts val="0"/>
              </a:spcAft>
              <a:buNone/>
            </a:pPr>
            <a:r>
              <a:rPr lang="el"/>
              <a:t>Lets see</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2954b7b12ca_0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2954b7b12ca_0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Always alwasy consider the tradeoofs when you do model selection. Accuracy is not the most important thing. Its important but not the only important thing. Never forget that. Focus on tradeoffs. These are some of the tradeoffs we have talked about. All of these are very important and we need to consider them.</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2f7bb8ef96f_0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8" name="Google Shape;268;g2f7bb8ef96f_0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Always alwasy consider the tradeoofs when you do model selection. Accuracy is not the most important thing. Its important but not the only important thing. Never forget that. Focus on tradeoffs. These are some of the tradeoffs we have talked about. All of these are very important and we need to consider them.</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2f7bb8ef96f_0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4" name="Google Shape;274;g2f7bb8ef96f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Always alwasy consider the tradeoofs when you do model selection. Accuracy is not the most important thing. Its important but not the only important thing. Never forget that. Focus on tradeoffs. These are some of the tradeoffs we have talked about. All of these are very important and we need to consider them.</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2f7bb8ef96f_0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2f7bb8ef96f_0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Simple models! </a:t>
            </a:r>
            <a:endParaRPr/>
          </a:p>
          <a:p>
            <a:pPr indent="0" lvl="0" marL="0" rtl="0" algn="l">
              <a:spcBef>
                <a:spcPts val="0"/>
              </a:spcBef>
              <a:spcAft>
                <a:spcPts val="0"/>
              </a:spcAft>
              <a:buNone/>
            </a:pPr>
            <a:r>
              <a:rPr lang="el"/>
              <a:t>Lets see</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2f7bb8ef96f_0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g2f7bb8ef96f_0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Lets look at some evidence know. It is true that LLMs are great. They solve all NLP tasks way more easy and accurately than any other model!</a:t>
            </a:r>
            <a:endParaRPr/>
          </a:p>
          <a:p>
            <a:pPr indent="0" lvl="0" marL="0" rtl="0" algn="l">
              <a:spcBef>
                <a:spcPts val="0"/>
              </a:spcBef>
              <a:spcAft>
                <a:spcPts val="0"/>
              </a:spcAft>
              <a:buNone/>
            </a:pPr>
            <a:r>
              <a:rPr lang="el"/>
              <a:t>However this is for NLP only!</a:t>
            </a:r>
            <a:endParaRPr/>
          </a:p>
          <a:p>
            <a:pPr indent="0" lvl="0" marL="0" rtl="0" algn="l">
              <a:spcBef>
                <a:spcPts val="0"/>
              </a:spcBef>
              <a:spcAft>
                <a:spcPts val="0"/>
              </a:spcAft>
              <a:buNone/>
            </a:pPr>
            <a:r>
              <a:rPr lang="el"/>
              <a:t>According to Kaggle reports, the most widely applied models out there are Random Forest, GBDTs and simple models. Why? Ill</a:t>
            </a:r>
            <a:endParaRPr/>
          </a:p>
          <a:p>
            <a:pPr indent="0" lvl="0" marL="0" rtl="0" algn="l">
              <a:spcBef>
                <a:spcPts val="0"/>
              </a:spcBef>
              <a:spcAft>
                <a:spcPts val="0"/>
              </a:spcAft>
              <a:buNone/>
            </a:pPr>
            <a:r>
              <a:rPr lang="el"/>
              <a:t>Because in industry we have structured tabular data! And thats where these models excel! We have evidence for that. </a:t>
            </a:r>
            <a:endParaRPr/>
          </a:p>
          <a:p>
            <a:pPr indent="0" lvl="0" marL="0" rtl="0" algn="l">
              <a:spcBef>
                <a:spcPts val="0"/>
              </a:spcBef>
              <a:spcAft>
                <a:spcPts val="0"/>
              </a:spcAft>
              <a:buNone/>
            </a:pPr>
            <a:r>
              <a:rPr lang="el"/>
              <a:t>Kaggle CEO framed it like that to make the description.</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2f7bb8ef96f_0_1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g2f7bb8ef96f_0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Lets look at some evidence know. It is true that LLMs are great. They solve all NLP tasks way more easy and accurately than any other model!</a:t>
            </a:r>
            <a:endParaRPr/>
          </a:p>
          <a:p>
            <a:pPr indent="0" lvl="0" marL="0" rtl="0" algn="l">
              <a:spcBef>
                <a:spcPts val="0"/>
              </a:spcBef>
              <a:spcAft>
                <a:spcPts val="0"/>
              </a:spcAft>
              <a:buNone/>
            </a:pPr>
            <a:r>
              <a:rPr lang="el"/>
              <a:t>However this is for NLP only!</a:t>
            </a:r>
            <a:endParaRPr/>
          </a:p>
          <a:p>
            <a:pPr indent="0" lvl="0" marL="0" rtl="0" algn="l">
              <a:spcBef>
                <a:spcPts val="0"/>
              </a:spcBef>
              <a:spcAft>
                <a:spcPts val="0"/>
              </a:spcAft>
              <a:buNone/>
            </a:pPr>
            <a:r>
              <a:rPr lang="el"/>
              <a:t>According to Kaggle reports, the most widely applied models out there are Random Forest, GBDTs and simple models. Why? Ill</a:t>
            </a:r>
            <a:endParaRPr/>
          </a:p>
          <a:p>
            <a:pPr indent="0" lvl="0" marL="0" rtl="0" algn="l">
              <a:spcBef>
                <a:spcPts val="0"/>
              </a:spcBef>
              <a:spcAft>
                <a:spcPts val="0"/>
              </a:spcAft>
              <a:buNone/>
            </a:pPr>
            <a:r>
              <a:rPr lang="el"/>
              <a:t>Because in industry we have structured tabular data! And thats where these models excel! We have evidence for that. </a:t>
            </a:r>
            <a:endParaRPr/>
          </a:p>
          <a:p>
            <a:pPr indent="0" lvl="0" marL="0" rtl="0" algn="l">
              <a:spcBef>
                <a:spcPts val="0"/>
              </a:spcBef>
              <a:spcAft>
                <a:spcPts val="0"/>
              </a:spcAft>
              <a:buNone/>
            </a:pPr>
            <a:r>
              <a:rPr lang="el"/>
              <a:t>Kaggle CEO framed it like that to make the description.</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2f7bb8ef96f_0_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0" name="Google Shape;300;g2f7bb8ef96f_0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Lets look at some evidence know. It is true that LLMs are great. They solve all NLP tasks way more easy and accurately than any other model!</a:t>
            </a:r>
            <a:endParaRPr/>
          </a:p>
          <a:p>
            <a:pPr indent="0" lvl="0" marL="0" rtl="0" algn="l">
              <a:spcBef>
                <a:spcPts val="0"/>
              </a:spcBef>
              <a:spcAft>
                <a:spcPts val="0"/>
              </a:spcAft>
              <a:buNone/>
            </a:pPr>
            <a:r>
              <a:rPr lang="el"/>
              <a:t>However this is for NLP only!</a:t>
            </a:r>
            <a:endParaRPr/>
          </a:p>
          <a:p>
            <a:pPr indent="0" lvl="0" marL="0" rtl="0" algn="l">
              <a:spcBef>
                <a:spcPts val="0"/>
              </a:spcBef>
              <a:spcAft>
                <a:spcPts val="0"/>
              </a:spcAft>
              <a:buNone/>
            </a:pPr>
            <a:r>
              <a:rPr lang="el"/>
              <a:t>According to Kaggle reports, the most widely applied models out there are Random Forest, GBDTs and simple models. Why? Ill</a:t>
            </a:r>
            <a:endParaRPr/>
          </a:p>
          <a:p>
            <a:pPr indent="0" lvl="0" marL="0" rtl="0" algn="l">
              <a:spcBef>
                <a:spcPts val="0"/>
              </a:spcBef>
              <a:spcAft>
                <a:spcPts val="0"/>
              </a:spcAft>
              <a:buNone/>
            </a:pPr>
            <a:r>
              <a:rPr lang="el"/>
              <a:t>Because in industry we have structured tabular data! And thats where these models excel! We have evidence for that. </a:t>
            </a:r>
            <a:endParaRPr/>
          </a:p>
          <a:p>
            <a:pPr indent="0" lvl="0" marL="0" rtl="0" algn="l">
              <a:spcBef>
                <a:spcPts val="0"/>
              </a:spcBef>
              <a:spcAft>
                <a:spcPts val="0"/>
              </a:spcAft>
              <a:buNone/>
            </a:pPr>
            <a:r>
              <a:rPr lang="el"/>
              <a:t>Kaggle CEO framed it like that to make the description.</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2f7bb8ef96f_0_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7" name="Google Shape;307;g2f7bb8ef96f_0_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Describe the slide. </a:t>
            </a:r>
            <a:endParaRPr/>
          </a:p>
          <a:p>
            <a:pPr indent="-298450" lvl="0" marL="457200" rtl="0" algn="l">
              <a:spcBef>
                <a:spcPts val="0"/>
              </a:spcBef>
              <a:spcAft>
                <a:spcPts val="0"/>
              </a:spcAft>
              <a:buSzPts val="1100"/>
              <a:buChar char="-"/>
            </a:pPr>
            <a:r>
              <a:rPr lang="el"/>
              <a:t>Name the three models!</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2f7bb8ef96f_0_1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6" name="Google Shape;316;g2f7bb8ef96f_0_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Oke. Now lets discuss how we can make these model work for us.</a:t>
            </a:r>
            <a:endParaRPr/>
          </a:p>
          <a:p>
            <a:pPr indent="-298450" lvl="0" marL="457200" rtl="0" algn="l">
              <a:spcBef>
                <a:spcPts val="0"/>
              </a:spcBef>
              <a:spcAft>
                <a:spcPts val="0"/>
              </a:spcAft>
              <a:buSzPts val="1100"/>
              <a:buChar char="-"/>
            </a:pPr>
            <a:r>
              <a:rPr lang="el"/>
              <a:t>Say good data &gt; lots of data</a:t>
            </a:r>
            <a:endParaRPr/>
          </a:p>
          <a:p>
            <a:pPr indent="-298450" lvl="0" marL="457200" rtl="0" algn="l">
              <a:spcBef>
                <a:spcPts val="0"/>
              </a:spcBef>
              <a:spcAft>
                <a:spcPts val="0"/>
              </a:spcAft>
              <a:buSzPts val="1100"/>
              <a:buChar char="-"/>
            </a:pPr>
            <a:r>
              <a:rPr lang="el"/>
              <a:t>Say whats good data</a:t>
            </a:r>
            <a:endParaRPr/>
          </a:p>
          <a:p>
            <a:pPr indent="0" lvl="0" marL="0" rtl="0" algn="l">
              <a:spcBef>
                <a:spcPts val="0"/>
              </a:spcBef>
              <a:spcAft>
                <a:spcPts val="0"/>
              </a:spcAft>
              <a:buNone/>
            </a:pPr>
            <a:r>
              <a:rPr lang="el"/>
              <a:t>Take this example now. We have some peaks here and we have zero idea why they are happenning</a:t>
            </a:r>
            <a:endParaRPr/>
          </a:p>
          <a:p>
            <a:pPr indent="-298450" lvl="0" marL="457200" rtl="0" algn="l">
              <a:spcBef>
                <a:spcPts val="0"/>
              </a:spcBef>
              <a:spcAft>
                <a:spcPts val="0"/>
              </a:spcAft>
              <a:buSzPts val="1100"/>
              <a:buChar char="-"/>
            </a:pPr>
            <a:r>
              <a:rPr lang="el"/>
              <a:t>Describe the examples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2f7bb8ef96f_0_1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6" name="Google Shape;326;g2f7bb8ef96f_0_1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The same will be true for the model. How can the model understand what is happening here? How can we expect for our model to understand these peaks and predict them?</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2f7bb8ef96f_0_1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7" name="Google Shape;337;g2f7bb8ef96f_0_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Thats what I mean with good data. So the peaks are on promotions. Every time there is a promotion, there is a peak! If the model sees that, it will predict it!</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2f7bb8ef96f_0_1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6" name="Google Shape;346;g2f7bb8ef96f_0_1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Another example</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2f7bb8ef96f_0_1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5" name="Google Shape;355;g2f7bb8ef96f_0_1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describe it</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g2f7bb8ef96f_0_2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4" name="Google Shape;364;g2f7bb8ef96f_0_2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Ok so what we have so far. Its very important for Machine learning tasks to build good features. This is a small template on how to do that. </a:t>
            </a:r>
            <a:endParaRPr/>
          </a:p>
          <a:p>
            <a:pPr indent="0" lvl="0" marL="0" rtl="0" algn="l">
              <a:spcBef>
                <a:spcPts val="0"/>
              </a:spcBef>
              <a:spcAft>
                <a:spcPts val="0"/>
              </a:spcAft>
              <a:buNone/>
            </a:pPr>
            <a:r>
              <a:rPr lang="el"/>
              <a:t>We start at the data stage. We sit down with the business team and we brainstorm everything that might influence our task. Then we collect as much of this data as possible. We analyze it, we find connections and we make new features!! However we always should be careful for data leakage. Its of extreme importance!!</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g2f7bb8ef96f_0_2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1" name="Google Shape;371;g2f7bb8ef96f_0_2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describe it</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g2f7bb8ef96f_0_2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8" name="Google Shape;378;g2f7bb8ef96f_0_2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describe it</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g2f7bb8ef96f_0_2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4" name="Google Shape;384;g2f7bb8ef96f_0_2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describe it</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g2f7bb8ef96f_0_2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0" name="Google Shape;390;g2f7bb8ef96f_0_2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describe it</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g2f7bb8ef96f_0_2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8" name="Google Shape;398;g2f7bb8ef96f_0_2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g2f7bb8ef96f_0_2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6" name="Google Shape;406;g2f7bb8ef96f_0_2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Simple models! </a:t>
            </a:r>
            <a:endParaRPr/>
          </a:p>
          <a:p>
            <a:pPr indent="0" lvl="0" marL="0" rtl="0" algn="l">
              <a:spcBef>
                <a:spcPts val="0"/>
              </a:spcBef>
              <a:spcAft>
                <a:spcPts val="0"/>
              </a:spcAft>
              <a:buNone/>
            </a:pPr>
            <a:r>
              <a:rPr lang="el"/>
              <a:t>Lets see</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g2954b7b12ca_0_1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2" name="Google Shape;412;g2954b7b12ca_0_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So what is an ensemble? Ensemble is a combination of multiple models. Pretty simple, pretty straighforward</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g29b8e58e187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8" name="Google Shape;418;g29b8e58e187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So whats the idea? The idea is that when we do model </a:t>
            </a:r>
            <a:r>
              <a:rPr lang="el"/>
              <a:t>selection we usually look for the best “good-enough” model for our task. This is what I have been describing all day. Lets be honest, this is a highly non-trivial, difficult and usualy boring task. And we do not have enough time for that.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g29b8e58e187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4" name="Google Shape;424;g29b8e58e187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And thats the idea of ensembling! Instead of looking of the best good-enough model we combine multiple predictions. An ensemble is a strong model that is the combination of multiple weaker models refered to as base learners. Pretty straighforward right?</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g2954b7b12ca_0_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0" name="Google Shape;430;g2954b7b12ca_0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Ok yeah you might not believe me here. You might still want to try to tune all parameters and go and find the best model out there. Let me give you some evidence.</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g29b8e58e187_0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5" name="Google Shape;435;g29b8e58e187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So in Kaggle, 20 of the 22 winning solutions on kaggle </a:t>
            </a:r>
            <a:r>
              <a:rPr lang="el"/>
              <a:t>competitions</a:t>
            </a:r>
            <a:r>
              <a:rPr lang="el"/>
              <a:t> uses ensembles. SUprisingly one solution even has 33 models. And this is a trend that </a:t>
            </a:r>
            <a:r>
              <a:rPr lang="el"/>
              <a:t>perceives</a:t>
            </a:r>
            <a:r>
              <a:rPr lang="el"/>
              <a:t>. In my experience and what I found out after talking with other data scientists is that ensembling always returns a 5%-10% performance boost! And on top of that, it almost never returns reduced performance. Thats cool righ?</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g2954b7b12ca_0_1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3" name="Google Shape;443;g2954b7b12ca_0_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Ok lets take an example to understand what we have here. Just read the example here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g29b8e58e187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9" name="Google Shape;449;g29b8e58e187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Say we have a new email coming. Lets investigate the probabilities for each scenario given what each model predicts.</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g2954b7b12ca_0_1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6" name="Google Shape;456;g2954b7b12ca_0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Lets consider the probabilities. So 78.4% of the times the ensemble will return a correct result! Thats an 8% improvement from using any of the base models!! Nice right?</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g2954b7b12ca_0_1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3" name="Google Shape;463;g2954b7b12ca_0_1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Some quick tips here for when designing ensebmles. The less correlation there exist between your base model, the better! Why? Because different models will investigate different aspects ofthe same problem and when you combine you get a nice overview of what works and what does not! So its very common for base learners to have different architecture between each other! For example we might have a Neural Network, a simple ML model and a more complex Neural Network</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g2f7bb8ef96f_0_1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0" name="Google Shape;470;g2f7bb8ef96f_0_1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So what is an ensemble? Ensemble is a combination of multiple models. Pretty simple, pretty straighforward</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g2954b7b12ca_0_3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6" name="Google Shape;476;g2954b7b12ca_0_3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Oke now lets discuss a bit.</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g2954b7b12ca_0_3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1" name="Google Shape;481;g2954b7b12ca_0_3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Do you know duolingo?? Is a platform where people go and learn a new language. You learn the grammar the </a:t>
            </a:r>
            <a:r>
              <a:rPr lang="el"/>
              <a:t>vocabulary</a:t>
            </a:r>
            <a:r>
              <a:rPr lang="el"/>
              <a:t> and the structure of new languages. So in duoloingo when you cross levels you get suggestions to read new stories so you improve your understanding. The question is, how does duolingo know what a good story is??</a:t>
            </a:r>
            <a:endParaRPr/>
          </a:p>
          <a:p>
            <a:pPr indent="-298450" lvl="0" marL="457200" rtl="0" algn="l">
              <a:spcBef>
                <a:spcPts val="0"/>
              </a:spcBef>
              <a:spcAft>
                <a:spcPts val="0"/>
              </a:spcAft>
              <a:buSzPts val="1100"/>
              <a:buChar char="-"/>
            </a:pPr>
            <a:r>
              <a:rPr lang="el"/>
              <a:t>Vocabulary -&gt; more complex words</a:t>
            </a:r>
            <a:endParaRPr/>
          </a:p>
          <a:p>
            <a:pPr indent="-298450" lvl="0" marL="457200" rtl="0" algn="l">
              <a:spcBef>
                <a:spcPts val="0"/>
              </a:spcBef>
              <a:spcAft>
                <a:spcPts val="0"/>
              </a:spcAft>
              <a:buSzPts val="1100"/>
              <a:buChar char="-"/>
            </a:pPr>
            <a:r>
              <a:rPr lang="el"/>
              <a:t>Grammar -&gt; more </a:t>
            </a:r>
            <a:r>
              <a:rPr lang="el"/>
              <a:t>difficult</a:t>
            </a:r>
            <a:r>
              <a:rPr lang="el"/>
              <a:t> grammar</a:t>
            </a:r>
            <a:endParaRPr/>
          </a:p>
          <a:p>
            <a:pPr indent="0" lvl="0" marL="0" rtl="0" algn="l">
              <a:spcBef>
                <a:spcPts val="0"/>
              </a:spcBef>
              <a:spcAft>
                <a:spcPts val="0"/>
              </a:spcAft>
              <a:buNone/>
            </a:pPr>
            <a:r>
              <a:t/>
            </a:r>
            <a:endParaRPr/>
          </a:p>
          <a:p>
            <a:pPr indent="0" lvl="0" marL="0" rtl="0" algn="l">
              <a:spcBef>
                <a:spcPts val="0"/>
              </a:spcBef>
              <a:spcAft>
                <a:spcPts val="0"/>
              </a:spcAft>
              <a:buNone/>
            </a:pPr>
            <a:r>
              <a:rPr lang="el"/>
              <a:t>Increase or decrease the vocabulary </a:t>
            </a:r>
            <a:r>
              <a:rPr lang="el"/>
              <a:t>complexity</a:t>
            </a:r>
            <a:r>
              <a:rPr lang="el"/>
              <a:t>! Try to make them thing of it. If they can tell them grammar is one idea. How would you measure more difficult vocabulary?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g2954b7b12ca_0_3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7" name="Google Shape;487;g2954b7b12ca_0_3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l" sz="1200">
                <a:solidFill>
                  <a:schemeClr val="dk1"/>
                </a:solidFill>
                <a:latin typeface="Calibri"/>
                <a:ea typeface="Calibri"/>
                <a:cs typeface="Calibri"/>
                <a:sym typeface="Calibri"/>
              </a:rPr>
              <a:t>Lets consider another  example. Zillow is a real estate website that hired a very good Data Science team to handle their forecasting!</a:t>
            </a:r>
            <a:endParaRPr sz="12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l" sz="1200">
                <a:solidFill>
                  <a:schemeClr val="dk1"/>
                </a:solidFill>
                <a:latin typeface="Calibri"/>
                <a:ea typeface="Calibri"/>
                <a:cs typeface="Calibri"/>
                <a:sym typeface="Calibri"/>
              </a:rPr>
              <a:t>What happened? They lost 420 million dollars in three months and fired 80% of their staff!</a:t>
            </a:r>
            <a:endParaRPr sz="12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g2954b7b12ca_0_3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5" name="Google Shape;495;g2954b7b12ca_0_3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l" sz="1200">
                <a:solidFill>
                  <a:schemeClr val="dk1"/>
                </a:solidFill>
                <a:latin typeface="Calibri"/>
                <a:ea typeface="Calibri"/>
                <a:cs typeface="Calibri"/>
                <a:sym typeface="Calibri"/>
              </a:rPr>
              <a:t>How they worked:</a:t>
            </a:r>
            <a:endParaRPr sz="12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l" sz="1200">
                <a:solidFill>
                  <a:schemeClr val="dk1"/>
                </a:solidFill>
              </a:rPr>
              <a:t>-</a:t>
            </a:r>
            <a:r>
              <a:rPr lang="el" sz="1200">
                <a:solidFill>
                  <a:schemeClr val="dk1"/>
                </a:solidFill>
                <a:latin typeface="Calibri"/>
                <a:ea typeface="Calibri"/>
                <a:cs typeface="Calibri"/>
                <a:sym typeface="Calibri"/>
              </a:rPr>
              <a:t>They forecast the future price of a house</a:t>
            </a:r>
            <a:endParaRPr sz="12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l" sz="1200">
                <a:solidFill>
                  <a:schemeClr val="dk1"/>
                </a:solidFill>
              </a:rPr>
              <a:t>-</a:t>
            </a:r>
            <a:r>
              <a:rPr lang="el" sz="1200">
                <a:solidFill>
                  <a:schemeClr val="dk1"/>
                </a:solidFill>
                <a:latin typeface="Calibri"/>
                <a:ea typeface="Calibri"/>
                <a:cs typeface="Calibri"/>
                <a:sym typeface="Calibri"/>
              </a:rPr>
              <a:t>Then they pick the point to buy it by considering the forecast.</a:t>
            </a:r>
            <a:endParaRPr sz="12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l" sz="1200">
                <a:solidFill>
                  <a:schemeClr val="dk1"/>
                </a:solidFill>
              </a:rPr>
              <a:t>-</a:t>
            </a:r>
            <a:r>
              <a:rPr lang="el" sz="1200">
                <a:solidFill>
                  <a:schemeClr val="dk1"/>
                </a:solidFill>
                <a:latin typeface="Calibri"/>
                <a:ea typeface="Calibri"/>
                <a:cs typeface="Calibri"/>
                <a:sym typeface="Calibri"/>
              </a:rPr>
              <a:t>They wanted to buy cheap and then sell big!</a:t>
            </a:r>
            <a:endParaRPr sz="12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g29bf3dc5f5f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1" name="Google Shape;501;g29bf3dc5f5f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l"/>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2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2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14.png"/><Relationship Id="rId4" Type="http://schemas.openxmlformats.org/officeDocument/2006/relationships/image" Target="../media/image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1.png"/><Relationship Id="rId4" Type="http://schemas.openxmlformats.org/officeDocument/2006/relationships/image" Target="../media/image16.png"/><Relationship Id="rId5" Type="http://schemas.openxmlformats.org/officeDocument/2006/relationships/image" Target="../media/image3.png"/><Relationship Id="rId6" Type="http://schemas.openxmlformats.org/officeDocument/2006/relationships/image" Target="../media/image1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4.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4.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13.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13.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12.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7.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18.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image" Target="../media/image19.png"/><Relationship Id="rId4" Type="http://schemas.openxmlformats.org/officeDocument/2006/relationships/image" Target="../media/image22.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 Id="rId3" Type="http://schemas.openxmlformats.org/officeDocument/2006/relationships/hyperlink" Target="https://www.kaggle.com/c/otto-group-product-classification-challenge/discussion/14335" TargetMode="External"/><Relationship Id="rId4" Type="http://schemas.openxmlformats.org/officeDocument/2006/relationships/hyperlink" Target="https://farid.one/kaggle-solutions" TargetMode="External"/><Relationship Id="rId5" Type="http://schemas.openxmlformats.org/officeDocument/2006/relationships/image" Target="../media/image20.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 Id="rId3" Type="http://schemas.openxmlformats.org/officeDocument/2006/relationships/image" Target="../media/image25.png"/><Relationship Id="rId4" Type="http://schemas.openxmlformats.org/officeDocument/2006/relationships/image" Target="../media/image21.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 Id="rId3" Type="http://schemas.openxmlformats.org/officeDocument/2006/relationships/image" Target="../media/image2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l"/>
              <a:t>Cloud for AI</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l"/>
              <a:t>Course 5: </a:t>
            </a:r>
            <a:r>
              <a:rPr lang="el">
                <a:solidFill>
                  <a:srgbClr val="FF00FF"/>
                </a:solidFill>
              </a:rPr>
              <a:t>Modelling (Part 2)</a:t>
            </a:r>
            <a:endParaRPr>
              <a:solidFill>
                <a:srgbClr val="FF00FF"/>
              </a:solidFill>
            </a:endParaRPr>
          </a:p>
        </p:txBody>
      </p:sp>
      <p:pic>
        <p:nvPicPr>
          <p:cNvPr id="56" name="Google Shape;56;p13"/>
          <p:cNvPicPr preferRelativeResize="0"/>
          <p:nvPr/>
        </p:nvPicPr>
        <p:blipFill>
          <a:blip r:embed="rId3">
            <a:alphaModFix/>
          </a:blip>
          <a:stretch>
            <a:fillRect/>
          </a:stretch>
        </p:blipFill>
        <p:spPr>
          <a:xfrm>
            <a:off x="596375" y="4041963"/>
            <a:ext cx="8547614" cy="1211975"/>
          </a:xfrm>
          <a:prstGeom prst="rect">
            <a:avLst/>
          </a:prstGeom>
          <a:noFill/>
          <a:ln cap="flat" cmpd="sng" w="9525">
            <a:solidFill>
              <a:schemeClr val="lt1"/>
            </a:solidFill>
            <a:prstDash val="solid"/>
            <a:round/>
            <a:headEnd len="sm" w="sm" type="none"/>
            <a:tailEnd len="sm" w="sm" type="none"/>
          </a:ln>
        </p:spPr>
      </p:pic>
      <p:sp>
        <p:nvSpPr>
          <p:cNvPr id="57" name="Google Shape;57;p13"/>
          <p:cNvSpPr txBox="1"/>
          <p:nvPr>
            <p:ph idx="1" type="subTitle"/>
          </p:nvPr>
        </p:nvSpPr>
        <p:spPr>
          <a:xfrm>
            <a:off x="0" y="4435375"/>
            <a:ext cx="2750100" cy="618000"/>
          </a:xfrm>
          <a:prstGeom prst="rect">
            <a:avLst/>
          </a:prstGeom>
          <a:ln>
            <a:noFill/>
          </a:ln>
        </p:spPr>
        <p:txBody>
          <a:bodyPr anchorCtr="0" anchor="t" bIns="91425" lIns="91425" spcFirstLastPara="1" rIns="91425" wrap="square" tIns="91425">
            <a:normAutofit/>
          </a:bodyPr>
          <a:lstStyle/>
          <a:p>
            <a:pPr indent="0" lvl="0" marL="0" rtl="0" algn="l">
              <a:spcBef>
                <a:spcPts val="0"/>
              </a:spcBef>
              <a:spcAft>
                <a:spcPts val="0"/>
              </a:spcAft>
              <a:buNone/>
            </a:pPr>
            <a:r>
              <a:rPr lang="el" sz="1800">
                <a:solidFill>
                  <a:schemeClr val="dk1"/>
                </a:solidFill>
              </a:rPr>
              <a:t>Filotas Theodosiou</a:t>
            </a:r>
            <a:endParaRPr sz="1800">
              <a:solidFill>
                <a:schemeClr val="dk1"/>
              </a:solidFill>
            </a:endParaRPr>
          </a:p>
        </p:txBody>
      </p:sp>
      <p:pic>
        <p:nvPicPr>
          <p:cNvPr id="58" name="Google Shape;58;p13"/>
          <p:cNvPicPr preferRelativeResize="0"/>
          <p:nvPr/>
        </p:nvPicPr>
        <p:blipFill>
          <a:blip r:embed="rId4">
            <a:alphaModFix/>
          </a:blip>
          <a:stretch>
            <a:fillRect/>
          </a:stretch>
        </p:blipFill>
        <p:spPr>
          <a:xfrm>
            <a:off x="6447225" y="4152422"/>
            <a:ext cx="1101225" cy="9910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14"/>
          <p:cNvSpPr txBox="1"/>
          <p:nvPr>
            <p:ph type="title"/>
          </p:nvPr>
        </p:nvSpPr>
        <p:spPr>
          <a:xfrm>
            <a:off x="311700" y="2150850"/>
            <a:ext cx="8520600" cy="15984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l"/>
              <a:t>Important Concepts!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ph type="title"/>
          </p:nvPr>
        </p:nvSpPr>
        <p:spPr>
          <a:xfrm>
            <a:off x="311700" y="834350"/>
            <a:ext cx="8520600" cy="15984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l"/>
              <a:t>Important Concepts!</a:t>
            </a:r>
            <a:endParaRPr/>
          </a:p>
          <a:p>
            <a:pPr indent="0" lvl="0" marL="0" rtl="0" algn="ctr">
              <a:spcBef>
                <a:spcPts val="0"/>
              </a:spcBef>
              <a:spcAft>
                <a:spcPts val="0"/>
              </a:spcAft>
              <a:buNone/>
            </a:pPr>
            <a:r>
              <a:rPr lang="el" sz="2500">
                <a:solidFill>
                  <a:srgbClr val="FF00FF"/>
                </a:solidFill>
              </a:rPr>
              <a:t>Data Leakage</a:t>
            </a:r>
            <a:endParaRPr sz="2500">
              <a:solidFill>
                <a:srgbClr val="FF00FF"/>
              </a:solidFill>
            </a:endParaRPr>
          </a:p>
        </p:txBody>
      </p:sp>
      <p:pic>
        <p:nvPicPr>
          <p:cNvPr id="69" name="Google Shape;69;p15"/>
          <p:cNvPicPr preferRelativeResize="0"/>
          <p:nvPr/>
        </p:nvPicPr>
        <p:blipFill>
          <a:blip r:embed="rId3">
            <a:alphaModFix/>
          </a:blip>
          <a:stretch>
            <a:fillRect/>
          </a:stretch>
        </p:blipFill>
        <p:spPr>
          <a:xfrm>
            <a:off x="3333250" y="2356200"/>
            <a:ext cx="2405949" cy="240594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Data Leakage</a:t>
            </a:r>
            <a:endParaRPr/>
          </a:p>
        </p:txBody>
      </p:sp>
      <p:sp>
        <p:nvSpPr>
          <p:cNvPr id="75" name="Google Shape;75;p16"/>
          <p:cNvSpPr txBox="1"/>
          <p:nvPr/>
        </p:nvSpPr>
        <p:spPr>
          <a:xfrm>
            <a:off x="518550" y="1921050"/>
            <a:ext cx="8228100" cy="22110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l" sz="1600"/>
              <a:t>Some form of the label we are trying to predict “leaks” into the features</a:t>
            </a:r>
            <a:endParaRPr sz="1600"/>
          </a:p>
          <a:p>
            <a:pPr indent="0" lvl="0" marL="0" rtl="0" algn="l">
              <a:lnSpc>
                <a:spcPct val="150000"/>
              </a:lnSpc>
              <a:spcBef>
                <a:spcPts val="0"/>
              </a:spcBef>
              <a:spcAft>
                <a:spcPts val="0"/>
              </a:spcAft>
              <a:buNone/>
            </a:pPr>
            <a:r>
              <a:t/>
            </a:r>
            <a:endParaRPr sz="1600"/>
          </a:p>
          <a:p>
            <a:pPr indent="-330200" lvl="0" marL="457200" rtl="0" algn="l">
              <a:lnSpc>
                <a:spcPct val="150000"/>
              </a:lnSpc>
              <a:spcBef>
                <a:spcPts val="0"/>
              </a:spcBef>
              <a:spcAft>
                <a:spcPts val="0"/>
              </a:spcAft>
              <a:buSzPts val="1600"/>
              <a:buChar char="●"/>
            </a:pPr>
            <a:r>
              <a:rPr lang="el" sz="1600"/>
              <a:t>Information that describes the target variable is “leaked” in our training data</a:t>
            </a:r>
            <a:endParaRPr sz="1600"/>
          </a:p>
          <a:p>
            <a:pPr indent="-330200" lvl="0" marL="457200" rtl="0" algn="l">
              <a:lnSpc>
                <a:spcPct val="150000"/>
              </a:lnSpc>
              <a:spcBef>
                <a:spcPts val="0"/>
              </a:spcBef>
              <a:spcAft>
                <a:spcPts val="0"/>
              </a:spcAft>
              <a:buSzPts val="1600"/>
              <a:buChar char="●"/>
            </a:pPr>
            <a:r>
              <a:rPr lang="el" sz="1600"/>
              <a:t>The performance of the model will be higher than its should because it “cheats”</a:t>
            </a:r>
            <a:endParaRPr sz="1600"/>
          </a:p>
          <a:p>
            <a:pPr indent="-330200" lvl="0" marL="457200" rtl="0" algn="l">
              <a:lnSpc>
                <a:spcPct val="150000"/>
              </a:lnSpc>
              <a:spcBef>
                <a:spcPts val="0"/>
              </a:spcBef>
              <a:spcAft>
                <a:spcPts val="0"/>
              </a:spcAft>
              <a:buClr>
                <a:srgbClr val="FF00FF"/>
              </a:buClr>
              <a:buSzPts val="1600"/>
              <a:buChar char="●"/>
            </a:pPr>
            <a:r>
              <a:rPr lang="el" sz="1600">
                <a:solidFill>
                  <a:srgbClr val="FF00FF"/>
                </a:solidFill>
              </a:rPr>
              <a:t>In reality, this information should not be available during inference!</a:t>
            </a:r>
            <a:endParaRPr sz="1600">
              <a:solidFill>
                <a:srgbClr val="FF00FF"/>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Causes of Data Leakage</a:t>
            </a:r>
            <a:endParaRPr/>
          </a:p>
        </p:txBody>
      </p:sp>
      <p:sp>
        <p:nvSpPr>
          <p:cNvPr id="81" name="Google Shape;81;p17"/>
          <p:cNvSpPr txBox="1"/>
          <p:nvPr/>
        </p:nvSpPr>
        <p:spPr>
          <a:xfrm>
            <a:off x="443600" y="1123325"/>
            <a:ext cx="8278200" cy="3713400"/>
          </a:xfrm>
          <a:prstGeom prst="rect">
            <a:avLst/>
          </a:prstGeom>
          <a:noFill/>
          <a:ln>
            <a:noFill/>
          </a:ln>
        </p:spPr>
        <p:txBody>
          <a:bodyPr anchorCtr="0" anchor="t" bIns="91425" lIns="91425" spcFirstLastPara="1" rIns="91425" wrap="square" tIns="91425">
            <a:noAutofit/>
          </a:bodyPr>
          <a:lstStyle/>
          <a:p>
            <a:pPr indent="-330200" lvl="0" marL="457200" rtl="0" algn="l">
              <a:spcBef>
                <a:spcPts val="0"/>
              </a:spcBef>
              <a:spcAft>
                <a:spcPts val="0"/>
              </a:spcAft>
              <a:buSzPts val="1600"/>
              <a:buAutoNum type="arabicPeriod"/>
            </a:pPr>
            <a:r>
              <a:rPr lang="el" sz="1600"/>
              <a:t>Leakage on data collection</a:t>
            </a:r>
            <a:endParaRPr sz="1600"/>
          </a:p>
          <a:p>
            <a:pPr indent="-330200" lvl="1" marL="914400" rtl="0" algn="l">
              <a:spcBef>
                <a:spcPts val="0"/>
              </a:spcBef>
              <a:spcAft>
                <a:spcPts val="0"/>
              </a:spcAft>
              <a:buSzPts val="1600"/>
              <a:buAutoNum type="alphaLcPeriod"/>
            </a:pPr>
            <a:r>
              <a:rPr lang="el" sz="1600"/>
              <a:t>Features contain information on the true label because of the way data is collected</a:t>
            </a:r>
            <a:endParaRPr sz="16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Data Leakage: Example 1</a:t>
            </a:r>
            <a:endParaRPr/>
          </a:p>
        </p:txBody>
      </p:sp>
      <p:sp>
        <p:nvSpPr>
          <p:cNvPr id="87" name="Google Shape;87;p18"/>
          <p:cNvSpPr txBox="1"/>
          <p:nvPr/>
        </p:nvSpPr>
        <p:spPr>
          <a:xfrm>
            <a:off x="465075" y="1023150"/>
            <a:ext cx="7620000" cy="1087500"/>
          </a:xfrm>
          <a:prstGeom prst="rect">
            <a:avLst/>
          </a:prstGeom>
          <a:noFill/>
          <a:ln>
            <a:noFill/>
          </a:ln>
        </p:spPr>
        <p:txBody>
          <a:bodyPr anchorCtr="0" anchor="t" bIns="91425" lIns="91425" spcFirstLastPara="1" rIns="91425" wrap="square" tIns="91425">
            <a:noAutofit/>
          </a:bodyPr>
          <a:lstStyle/>
          <a:p>
            <a:pPr indent="-323850" lvl="0" marL="457200" rtl="0" algn="l">
              <a:spcBef>
                <a:spcPts val="0"/>
              </a:spcBef>
              <a:spcAft>
                <a:spcPts val="0"/>
              </a:spcAft>
              <a:buSzPts val="1500"/>
              <a:buChar char="●"/>
            </a:pPr>
            <a:r>
              <a:rPr lang="el" sz="1500"/>
              <a:t>Problem: detect lung cancer from CT scans</a:t>
            </a:r>
            <a:endParaRPr sz="1500"/>
          </a:p>
          <a:p>
            <a:pPr indent="-323850" lvl="0" marL="457200" rtl="0" algn="l">
              <a:spcBef>
                <a:spcPts val="0"/>
              </a:spcBef>
              <a:spcAft>
                <a:spcPts val="0"/>
              </a:spcAft>
              <a:buSzPts val="1500"/>
              <a:buChar char="●"/>
            </a:pPr>
            <a:r>
              <a:rPr lang="el" sz="1500"/>
              <a:t>Data: collected from hospital A</a:t>
            </a:r>
            <a:endParaRPr sz="1500"/>
          </a:p>
          <a:p>
            <a:pPr indent="0" lvl="0" marL="457200" rtl="0" algn="l">
              <a:spcBef>
                <a:spcPts val="0"/>
              </a:spcBef>
              <a:spcAft>
                <a:spcPts val="0"/>
              </a:spcAft>
              <a:buNone/>
            </a:pPr>
            <a:r>
              <a:t/>
            </a:r>
            <a:endParaRPr sz="1500"/>
          </a:p>
          <a:p>
            <a:pPr indent="-323850" lvl="0" marL="457200" rtl="0" algn="l">
              <a:spcBef>
                <a:spcPts val="0"/>
              </a:spcBef>
              <a:spcAft>
                <a:spcPts val="0"/>
              </a:spcAft>
              <a:buSzPts val="1500"/>
              <a:buChar char="●"/>
            </a:pPr>
            <a:r>
              <a:rPr lang="el" sz="1500"/>
              <a:t>Performs well on test data from hospital A</a:t>
            </a:r>
            <a:endParaRPr sz="1500"/>
          </a:p>
          <a:p>
            <a:pPr indent="-323850" lvl="0" marL="457200" rtl="0" algn="l">
              <a:spcBef>
                <a:spcPts val="0"/>
              </a:spcBef>
              <a:spcAft>
                <a:spcPts val="0"/>
              </a:spcAft>
              <a:buSzPts val="1500"/>
              <a:buChar char="●"/>
            </a:pPr>
            <a:r>
              <a:rPr lang="el" sz="1500"/>
              <a:t>Performs poorly on test data from hospital B</a:t>
            </a:r>
            <a:endParaRPr sz="1500"/>
          </a:p>
          <a:p>
            <a:pPr indent="0" lvl="0" marL="0" rtl="0" algn="l">
              <a:spcBef>
                <a:spcPts val="0"/>
              </a:spcBef>
              <a:spcAft>
                <a:spcPts val="0"/>
              </a:spcAft>
              <a:buNone/>
            </a:pPr>
            <a:r>
              <a:t/>
            </a:r>
            <a:endParaRPr sz="1500"/>
          </a:p>
          <a:p>
            <a:pPr indent="0" lvl="0" marL="0" rtl="0" algn="l">
              <a:spcBef>
                <a:spcPts val="0"/>
              </a:spcBef>
              <a:spcAft>
                <a:spcPts val="0"/>
              </a:spcAft>
              <a:buNone/>
            </a:pPr>
            <a:r>
              <a:t/>
            </a:r>
            <a:endParaRPr sz="1500"/>
          </a:p>
        </p:txBody>
      </p:sp>
      <p:graphicFrame>
        <p:nvGraphicFramePr>
          <p:cNvPr id="88" name="Google Shape;88;p18"/>
          <p:cNvGraphicFramePr/>
          <p:nvPr/>
        </p:nvGraphicFramePr>
        <p:xfrm>
          <a:off x="789300" y="2415975"/>
          <a:ext cx="3000000" cy="3000000"/>
        </p:xfrm>
        <a:graphic>
          <a:graphicData uri="http://schemas.openxmlformats.org/drawingml/2006/table">
            <a:tbl>
              <a:tblPr>
                <a:noFill/>
                <a:tableStyleId>{FA072A65-EB3D-4C6D-9EF0-085EB4FA5BAB}</a:tableStyleId>
              </a:tblPr>
              <a:tblGrid>
                <a:gridCol w="1034150"/>
                <a:gridCol w="769125"/>
                <a:gridCol w="1142125"/>
                <a:gridCol w="1475850"/>
                <a:gridCol w="1332100"/>
                <a:gridCol w="1102850"/>
              </a:tblGrid>
              <a:tr h="381000">
                <a:tc>
                  <a:txBody>
                    <a:bodyPr/>
                    <a:lstStyle/>
                    <a:p>
                      <a:pPr indent="0" lvl="0" marL="0" rtl="0" algn="l">
                        <a:spcBef>
                          <a:spcPts val="0"/>
                        </a:spcBef>
                        <a:spcAft>
                          <a:spcPts val="0"/>
                        </a:spcAft>
                        <a:buNone/>
                      </a:pPr>
                      <a:r>
                        <a:rPr lang="el">
                          <a:latin typeface="Nunito"/>
                          <a:ea typeface="Nunito"/>
                          <a:cs typeface="Nunito"/>
                          <a:sym typeface="Nunito"/>
                        </a:rPr>
                        <a:t>Patient ID</a:t>
                      </a:r>
                      <a:endParaRPr>
                        <a:latin typeface="Nunito"/>
                        <a:ea typeface="Nunito"/>
                        <a:cs typeface="Nunito"/>
                        <a:sym typeface="Nunito"/>
                      </a:endParaRPr>
                    </a:p>
                  </a:txBody>
                  <a:tcPr marT="91425" marB="91425" marR="91425" marL="91425"/>
                </a:tc>
                <a:tc>
                  <a:txBody>
                    <a:bodyPr/>
                    <a:lstStyle/>
                    <a:p>
                      <a:pPr indent="0" lvl="0" marL="0" rtl="0" algn="l">
                        <a:spcBef>
                          <a:spcPts val="0"/>
                        </a:spcBef>
                        <a:spcAft>
                          <a:spcPts val="0"/>
                        </a:spcAft>
                        <a:buNone/>
                      </a:pPr>
                      <a:r>
                        <a:rPr lang="el">
                          <a:latin typeface="Nunito"/>
                          <a:ea typeface="Nunito"/>
                          <a:cs typeface="Nunito"/>
                          <a:sym typeface="Nunito"/>
                        </a:rPr>
                        <a:t>Date</a:t>
                      </a:r>
                      <a:endParaRPr>
                        <a:latin typeface="Nunito"/>
                        <a:ea typeface="Nunito"/>
                        <a:cs typeface="Nunito"/>
                        <a:sym typeface="Nunito"/>
                      </a:endParaRPr>
                    </a:p>
                  </a:txBody>
                  <a:tcPr marT="91425" marB="91425" marR="91425" marL="91425"/>
                </a:tc>
                <a:tc>
                  <a:txBody>
                    <a:bodyPr/>
                    <a:lstStyle/>
                    <a:p>
                      <a:pPr indent="0" lvl="0" marL="0" rtl="0" algn="l">
                        <a:spcBef>
                          <a:spcPts val="0"/>
                        </a:spcBef>
                        <a:spcAft>
                          <a:spcPts val="0"/>
                        </a:spcAft>
                        <a:buNone/>
                      </a:pPr>
                      <a:r>
                        <a:rPr lang="el">
                          <a:latin typeface="Nunito"/>
                          <a:ea typeface="Nunito"/>
                          <a:cs typeface="Nunito"/>
                          <a:sym typeface="Nunito"/>
                        </a:rPr>
                        <a:t>Doctor note</a:t>
                      </a:r>
                      <a:endParaRPr>
                        <a:latin typeface="Nunito"/>
                        <a:ea typeface="Nunito"/>
                        <a:cs typeface="Nunito"/>
                        <a:sym typeface="Nunito"/>
                      </a:endParaRPr>
                    </a:p>
                  </a:txBody>
                  <a:tcPr marT="91425" marB="91425" marR="91425" marL="91425"/>
                </a:tc>
                <a:tc>
                  <a:txBody>
                    <a:bodyPr/>
                    <a:lstStyle/>
                    <a:p>
                      <a:pPr indent="0" lvl="0" marL="0" rtl="0" algn="l">
                        <a:spcBef>
                          <a:spcPts val="0"/>
                        </a:spcBef>
                        <a:spcAft>
                          <a:spcPts val="0"/>
                        </a:spcAft>
                        <a:buNone/>
                      </a:pPr>
                      <a:r>
                        <a:rPr lang="el">
                          <a:latin typeface="Nunito"/>
                          <a:ea typeface="Nunito"/>
                          <a:cs typeface="Nunito"/>
                          <a:sym typeface="Nunito"/>
                        </a:rPr>
                        <a:t>Medical record</a:t>
                      </a:r>
                      <a:endParaRPr>
                        <a:latin typeface="Nunito"/>
                        <a:ea typeface="Nunito"/>
                        <a:cs typeface="Nunito"/>
                        <a:sym typeface="Nunito"/>
                      </a:endParaRPr>
                    </a:p>
                  </a:txBody>
                  <a:tcPr marT="91425" marB="91425" marR="91425" marL="91425"/>
                </a:tc>
                <a:tc>
                  <a:txBody>
                    <a:bodyPr/>
                    <a:lstStyle/>
                    <a:p>
                      <a:pPr indent="0" lvl="0" marL="0" rtl="0" algn="l">
                        <a:spcBef>
                          <a:spcPts val="0"/>
                        </a:spcBef>
                        <a:spcAft>
                          <a:spcPts val="0"/>
                        </a:spcAft>
                        <a:buNone/>
                      </a:pPr>
                      <a:r>
                        <a:rPr lang="el">
                          <a:latin typeface="Nunito"/>
                          <a:ea typeface="Nunito"/>
                          <a:cs typeface="Nunito"/>
                          <a:sym typeface="Nunito"/>
                        </a:rPr>
                        <a:t>Scanner type</a:t>
                      </a:r>
                      <a:endParaRPr>
                        <a:latin typeface="Nunito"/>
                        <a:ea typeface="Nunito"/>
                        <a:cs typeface="Nunito"/>
                        <a:sym typeface="Nunito"/>
                      </a:endParaRPr>
                    </a:p>
                  </a:txBody>
                  <a:tcPr marT="91425" marB="91425" marR="91425" marL="91425"/>
                </a:tc>
                <a:tc>
                  <a:txBody>
                    <a:bodyPr/>
                    <a:lstStyle/>
                    <a:p>
                      <a:pPr indent="0" lvl="0" marL="0" rtl="0" algn="l">
                        <a:spcBef>
                          <a:spcPts val="0"/>
                        </a:spcBef>
                        <a:spcAft>
                          <a:spcPts val="0"/>
                        </a:spcAft>
                        <a:buNone/>
                      </a:pPr>
                      <a:r>
                        <a:rPr lang="el">
                          <a:latin typeface="Nunito"/>
                          <a:ea typeface="Nunito"/>
                          <a:cs typeface="Nunito"/>
                          <a:sym typeface="Nunito"/>
                        </a:rPr>
                        <a:t>CT scan</a:t>
                      </a:r>
                      <a:endParaRPr>
                        <a:latin typeface="Nunito"/>
                        <a:ea typeface="Nunito"/>
                        <a:cs typeface="Nunito"/>
                        <a:sym typeface="Nunito"/>
                      </a:endParaRPr>
                    </a:p>
                  </a:txBody>
                  <a:tcPr marT="91425" marB="91425" marR="91425" marL="91425"/>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Data Leakage: Example 1</a:t>
            </a:r>
            <a:endParaRPr/>
          </a:p>
        </p:txBody>
      </p:sp>
      <p:sp>
        <p:nvSpPr>
          <p:cNvPr id="94" name="Google Shape;94;p19"/>
          <p:cNvSpPr txBox="1"/>
          <p:nvPr/>
        </p:nvSpPr>
        <p:spPr>
          <a:xfrm>
            <a:off x="465075" y="1023150"/>
            <a:ext cx="7620000" cy="1087500"/>
          </a:xfrm>
          <a:prstGeom prst="rect">
            <a:avLst/>
          </a:prstGeom>
          <a:noFill/>
          <a:ln>
            <a:noFill/>
          </a:ln>
        </p:spPr>
        <p:txBody>
          <a:bodyPr anchorCtr="0" anchor="t" bIns="91425" lIns="91425" spcFirstLastPara="1" rIns="91425" wrap="square" tIns="91425">
            <a:noAutofit/>
          </a:bodyPr>
          <a:lstStyle/>
          <a:p>
            <a:pPr indent="-323850" lvl="0" marL="457200" rtl="0" algn="l">
              <a:spcBef>
                <a:spcPts val="0"/>
              </a:spcBef>
              <a:spcAft>
                <a:spcPts val="0"/>
              </a:spcAft>
              <a:buSzPts val="1500"/>
              <a:buChar char="●"/>
            </a:pPr>
            <a:r>
              <a:rPr lang="el" sz="1500"/>
              <a:t>Problem: detect lung cancer from CT scans</a:t>
            </a:r>
            <a:endParaRPr sz="1500"/>
          </a:p>
          <a:p>
            <a:pPr indent="-323850" lvl="0" marL="457200" rtl="0" algn="l">
              <a:spcBef>
                <a:spcPts val="0"/>
              </a:spcBef>
              <a:spcAft>
                <a:spcPts val="0"/>
              </a:spcAft>
              <a:buSzPts val="1500"/>
              <a:buChar char="●"/>
            </a:pPr>
            <a:r>
              <a:rPr lang="el" sz="1500"/>
              <a:t>Data: collected from hospital A</a:t>
            </a:r>
            <a:endParaRPr sz="1500"/>
          </a:p>
          <a:p>
            <a:pPr indent="0" lvl="0" marL="457200" rtl="0" algn="l">
              <a:spcBef>
                <a:spcPts val="0"/>
              </a:spcBef>
              <a:spcAft>
                <a:spcPts val="0"/>
              </a:spcAft>
              <a:buNone/>
            </a:pPr>
            <a:r>
              <a:t/>
            </a:r>
            <a:endParaRPr sz="1500"/>
          </a:p>
          <a:p>
            <a:pPr indent="-323850" lvl="0" marL="457200" rtl="0" algn="l">
              <a:spcBef>
                <a:spcPts val="0"/>
              </a:spcBef>
              <a:spcAft>
                <a:spcPts val="0"/>
              </a:spcAft>
              <a:buSzPts val="1500"/>
              <a:buChar char="●"/>
            </a:pPr>
            <a:r>
              <a:rPr lang="el" sz="1500"/>
              <a:t>Performs well on test data from hospital A</a:t>
            </a:r>
            <a:endParaRPr sz="1500"/>
          </a:p>
          <a:p>
            <a:pPr indent="-323850" lvl="0" marL="457200" rtl="0" algn="l">
              <a:spcBef>
                <a:spcPts val="0"/>
              </a:spcBef>
              <a:spcAft>
                <a:spcPts val="0"/>
              </a:spcAft>
              <a:buSzPts val="1500"/>
              <a:buChar char="●"/>
            </a:pPr>
            <a:r>
              <a:rPr lang="el" sz="1500"/>
              <a:t>Performs poorly on test data from hospital B</a:t>
            </a:r>
            <a:endParaRPr sz="1500"/>
          </a:p>
          <a:p>
            <a:pPr indent="0" lvl="0" marL="0" rtl="0" algn="l">
              <a:spcBef>
                <a:spcPts val="0"/>
              </a:spcBef>
              <a:spcAft>
                <a:spcPts val="0"/>
              </a:spcAft>
              <a:buNone/>
            </a:pPr>
            <a:r>
              <a:t/>
            </a:r>
            <a:endParaRPr sz="1500"/>
          </a:p>
          <a:p>
            <a:pPr indent="0" lvl="0" marL="0" rtl="0" algn="l">
              <a:spcBef>
                <a:spcPts val="0"/>
              </a:spcBef>
              <a:spcAft>
                <a:spcPts val="0"/>
              </a:spcAft>
              <a:buNone/>
            </a:pPr>
            <a:r>
              <a:t/>
            </a:r>
            <a:endParaRPr sz="1500"/>
          </a:p>
        </p:txBody>
      </p:sp>
      <p:graphicFrame>
        <p:nvGraphicFramePr>
          <p:cNvPr id="95" name="Google Shape;95;p19"/>
          <p:cNvGraphicFramePr/>
          <p:nvPr/>
        </p:nvGraphicFramePr>
        <p:xfrm>
          <a:off x="789300" y="2415975"/>
          <a:ext cx="3000000" cy="3000000"/>
        </p:xfrm>
        <a:graphic>
          <a:graphicData uri="http://schemas.openxmlformats.org/drawingml/2006/table">
            <a:tbl>
              <a:tblPr>
                <a:noFill/>
                <a:tableStyleId>{FA072A65-EB3D-4C6D-9EF0-085EB4FA5BAB}</a:tableStyleId>
              </a:tblPr>
              <a:tblGrid>
                <a:gridCol w="1034150"/>
                <a:gridCol w="769125"/>
                <a:gridCol w="1142125"/>
                <a:gridCol w="1475850"/>
                <a:gridCol w="1332100"/>
                <a:gridCol w="1102850"/>
              </a:tblGrid>
              <a:tr h="381000">
                <a:tc>
                  <a:txBody>
                    <a:bodyPr/>
                    <a:lstStyle/>
                    <a:p>
                      <a:pPr indent="0" lvl="0" marL="0" rtl="0" algn="l">
                        <a:spcBef>
                          <a:spcPts val="0"/>
                        </a:spcBef>
                        <a:spcAft>
                          <a:spcPts val="0"/>
                        </a:spcAft>
                        <a:buNone/>
                      </a:pPr>
                      <a:r>
                        <a:rPr lang="el">
                          <a:latin typeface="Nunito"/>
                          <a:ea typeface="Nunito"/>
                          <a:cs typeface="Nunito"/>
                          <a:sym typeface="Nunito"/>
                        </a:rPr>
                        <a:t>Patient ID</a:t>
                      </a:r>
                      <a:endParaRPr>
                        <a:latin typeface="Nunito"/>
                        <a:ea typeface="Nunito"/>
                        <a:cs typeface="Nunito"/>
                        <a:sym typeface="Nunito"/>
                      </a:endParaRPr>
                    </a:p>
                  </a:txBody>
                  <a:tcPr marT="91425" marB="91425" marR="91425" marL="91425"/>
                </a:tc>
                <a:tc>
                  <a:txBody>
                    <a:bodyPr/>
                    <a:lstStyle/>
                    <a:p>
                      <a:pPr indent="0" lvl="0" marL="0" rtl="0" algn="l">
                        <a:spcBef>
                          <a:spcPts val="0"/>
                        </a:spcBef>
                        <a:spcAft>
                          <a:spcPts val="0"/>
                        </a:spcAft>
                        <a:buNone/>
                      </a:pPr>
                      <a:r>
                        <a:rPr lang="el">
                          <a:latin typeface="Nunito"/>
                          <a:ea typeface="Nunito"/>
                          <a:cs typeface="Nunito"/>
                          <a:sym typeface="Nunito"/>
                        </a:rPr>
                        <a:t>Date</a:t>
                      </a:r>
                      <a:endParaRPr>
                        <a:latin typeface="Nunito"/>
                        <a:ea typeface="Nunito"/>
                        <a:cs typeface="Nunito"/>
                        <a:sym typeface="Nunito"/>
                      </a:endParaRPr>
                    </a:p>
                  </a:txBody>
                  <a:tcPr marT="91425" marB="91425" marR="91425" marL="91425"/>
                </a:tc>
                <a:tc>
                  <a:txBody>
                    <a:bodyPr/>
                    <a:lstStyle/>
                    <a:p>
                      <a:pPr indent="0" lvl="0" marL="0" rtl="0" algn="l">
                        <a:spcBef>
                          <a:spcPts val="0"/>
                        </a:spcBef>
                        <a:spcAft>
                          <a:spcPts val="0"/>
                        </a:spcAft>
                        <a:buNone/>
                      </a:pPr>
                      <a:r>
                        <a:rPr lang="el">
                          <a:latin typeface="Nunito"/>
                          <a:ea typeface="Nunito"/>
                          <a:cs typeface="Nunito"/>
                          <a:sym typeface="Nunito"/>
                        </a:rPr>
                        <a:t>Doctor note</a:t>
                      </a:r>
                      <a:endParaRPr>
                        <a:latin typeface="Nunito"/>
                        <a:ea typeface="Nunito"/>
                        <a:cs typeface="Nunito"/>
                        <a:sym typeface="Nunito"/>
                      </a:endParaRPr>
                    </a:p>
                  </a:txBody>
                  <a:tcPr marT="91425" marB="91425" marR="91425" marL="91425"/>
                </a:tc>
                <a:tc>
                  <a:txBody>
                    <a:bodyPr/>
                    <a:lstStyle/>
                    <a:p>
                      <a:pPr indent="0" lvl="0" marL="0" rtl="0" algn="l">
                        <a:spcBef>
                          <a:spcPts val="0"/>
                        </a:spcBef>
                        <a:spcAft>
                          <a:spcPts val="0"/>
                        </a:spcAft>
                        <a:buNone/>
                      </a:pPr>
                      <a:r>
                        <a:rPr lang="el">
                          <a:latin typeface="Nunito"/>
                          <a:ea typeface="Nunito"/>
                          <a:cs typeface="Nunito"/>
                          <a:sym typeface="Nunito"/>
                        </a:rPr>
                        <a:t>Medical record</a:t>
                      </a:r>
                      <a:endParaRPr>
                        <a:latin typeface="Nunito"/>
                        <a:ea typeface="Nunito"/>
                        <a:cs typeface="Nunito"/>
                        <a:sym typeface="Nunito"/>
                      </a:endParaRPr>
                    </a:p>
                  </a:txBody>
                  <a:tcPr marT="91425" marB="91425" marR="91425" marL="91425"/>
                </a:tc>
                <a:tc>
                  <a:txBody>
                    <a:bodyPr/>
                    <a:lstStyle/>
                    <a:p>
                      <a:pPr indent="0" lvl="0" marL="0" rtl="0" algn="l">
                        <a:spcBef>
                          <a:spcPts val="0"/>
                        </a:spcBef>
                        <a:spcAft>
                          <a:spcPts val="0"/>
                        </a:spcAft>
                        <a:buNone/>
                      </a:pPr>
                      <a:r>
                        <a:rPr lang="el">
                          <a:solidFill>
                            <a:srgbClr val="FF00FF"/>
                          </a:solidFill>
                          <a:latin typeface="Nunito"/>
                          <a:ea typeface="Nunito"/>
                          <a:cs typeface="Nunito"/>
                          <a:sym typeface="Nunito"/>
                        </a:rPr>
                        <a:t>Scanner type</a:t>
                      </a:r>
                      <a:endParaRPr>
                        <a:solidFill>
                          <a:srgbClr val="FF00FF"/>
                        </a:solidFill>
                        <a:latin typeface="Nunito"/>
                        <a:ea typeface="Nunito"/>
                        <a:cs typeface="Nunito"/>
                        <a:sym typeface="Nunito"/>
                      </a:endParaRPr>
                    </a:p>
                  </a:txBody>
                  <a:tcPr marT="91425" marB="91425" marR="91425" marL="91425"/>
                </a:tc>
                <a:tc>
                  <a:txBody>
                    <a:bodyPr/>
                    <a:lstStyle/>
                    <a:p>
                      <a:pPr indent="0" lvl="0" marL="0" rtl="0" algn="l">
                        <a:spcBef>
                          <a:spcPts val="0"/>
                        </a:spcBef>
                        <a:spcAft>
                          <a:spcPts val="0"/>
                        </a:spcAft>
                        <a:buNone/>
                      </a:pPr>
                      <a:r>
                        <a:rPr lang="el">
                          <a:latin typeface="Nunito"/>
                          <a:ea typeface="Nunito"/>
                          <a:cs typeface="Nunito"/>
                          <a:sym typeface="Nunito"/>
                        </a:rPr>
                        <a:t>CT scan</a:t>
                      </a:r>
                      <a:endParaRPr>
                        <a:latin typeface="Nunito"/>
                        <a:ea typeface="Nunito"/>
                        <a:cs typeface="Nunito"/>
                        <a:sym typeface="Nunito"/>
                      </a:endParaRPr>
                    </a:p>
                  </a:txBody>
                  <a:tcPr marT="91425" marB="91425" marR="91425" marL="91425"/>
                </a:tc>
              </a:tr>
            </a:tbl>
          </a:graphicData>
        </a:graphic>
      </p:graphicFrame>
      <p:sp>
        <p:nvSpPr>
          <p:cNvPr id="96" name="Google Shape;96;p19"/>
          <p:cNvSpPr txBox="1"/>
          <p:nvPr/>
        </p:nvSpPr>
        <p:spPr>
          <a:xfrm>
            <a:off x="5645900" y="3392275"/>
            <a:ext cx="3393600" cy="785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l" sz="1300">
                <a:solidFill>
                  <a:srgbClr val="FF00FF"/>
                </a:solidFill>
                <a:latin typeface="Nunito"/>
                <a:ea typeface="Nunito"/>
                <a:cs typeface="Nunito"/>
                <a:sym typeface="Nunito"/>
              </a:rPr>
              <a:t>At hospital A, when doctors suspect that a patient has lung cancer, they send that patient to a higher-quality scanner</a:t>
            </a:r>
            <a:endParaRPr sz="1300">
              <a:solidFill>
                <a:srgbClr val="FF00FF"/>
              </a:solidFill>
              <a:latin typeface="Nunito"/>
              <a:ea typeface="Nunito"/>
              <a:cs typeface="Nunito"/>
              <a:sym typeface="Nunito"/>
            </a:endParaRPr>
          </a:p>
        </p:txBody>
      </p:sp>
      <p:cxnSp>
        <p:nvCxnSpPr>
          <p:cNvPr id="97" name="Google Shape;97;p19"/>
          <p:cNvCxnSpPr/>
          <p:nvPr/>
        </p:nvCxnSpPr>
        <p:spPr>
          <a:xfrm rot="10800000">
            <a:off x="6174775" y="2854800"/>
            <a:ext cx="751200" cy="5724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Data Leakage: Example 1</a:t>
            </a:r>
            <a:endParaRPr/>
          </a:p>
        </p:txBody>
      </p:sp>
      <p:sp>
        <p:nvSpPr>
          <p:cNvPr id="103" name="Google Shape;103;p20"/>
          <p:cNvSpPr txBox="1"/>
          <p:nvPr/>
        </p:nvSpPr>
        <p:spPr>
          <a:xfrm>
            <a:off x="465075" y="1023150"/>
            <a:ext cx="7620000" cy="1087500"/>
          </a:xfrm>
          <a:prstGeom prst="rect">
            <a:avLst/>
          </a:prstGeom>
          <a:noFill/>
          <a:ln>
            <a:noFill/>
          </a:ln>
        </p:spPr>
        <p:txBody>
          <a:bodyPr anchorCtr="0" anchor="t" bIns="91425" lIns="91425" spcFirstLastPara="1" rIns="91425" wrap="square" tIns="91425">
            <a:noAutofit/>
          </a:bodyPr>
          <a:lstStyle/>
          <a:p>
            <a:pPr indent="-323850" lvl="0" marL="457200" rtl="0" algn="l">
              <a:spcBef>
                <a:spcPts val="0"/>
              </a:spcBef>
              <a:spcAft>
                <a:spcPts val="0"/>
              </a:spcAft>
              <a:buSzPts val="1500"/>
              <a:buChar char="●"/>
            </a:pPr>
            <a:r>
              <a:rPr lang="el" sz="1500"/>
              <a:t>Problem: detect lung cancer from CT scans</a:t>
            </a:r>
            <a:endParaRPr sz="1500"/>
          </a:p>
          <a:p>
            <a:pPr indent="-323850" lvl="0" marL="457200" rtl="0" algn="l">
              <a:spcBef>
                <a:spcPts val="0"/>
              </a:spcBef>
              <a:spcAft>
                <a:spcPts val="0"/>
              </a:spcAft>
              <a:buSzPts val="1500"/>
              <a:buChar char="●"/>
            </a:pPr>
            <a:r>
              <a:rPr lang="el" sz="1500"/>
              <a:t>Data: collected from hospital A</a:t>
            </a:r>
            <a:endParaRPr sz="1500"/>
          </a:p>
          <a:p>
            <a:pPr indent="0" lvl="0" marL="457200" rtl="0" algn="l">
              <a:spcBef>
                <a:spcPts val="0"/>
              </a:spcBef>
              <a:spcAft>
                <a:spcPts val="0"/>
              </a:spcAft>
              <a:buNone/>
            </a:pPr>
            <a:r>
              <a:t/>
            </a:r>
            <a:endParaRPr sz="1500"/>
          </a:p>
          <a:p>
            <a:pPr indent="-323850" lvl="0" marL="457200" rtl="0" algn="l">
              <a:spcBef>
                <a:spcPts val="0"/>
              </a:spcBef>
              <a:spcAft>
                <a:spcPts val="0"/>
              </a:spcAft>
              <a:buSzPts val="1500"/>
              <a:buChar char="●"/>
            </a:pPr>
            <a:r>
              <a:rPr lang="el" sz="1500"/>
              <a:t>Performs well on test data from hospital A</a:t>
            </a:r>
            <a:endParaRPr sz="1500"/>
          </a:p>
          <a:p>
            <a:pPr indent="-323850" lvl="0" marL="457200" rtl="0" algn="l">
              <a:spcBef>
                <a:spcPts val="0"/>
              </a:spcBef>
              <a:spcAft>
                <a:spcPts val="0"/>
              </a:spcAft>
              <a:buSzPts val="1500"/>
              <a:buChar char="●"/>
            </a:pPr>
            <a:r>
              <a:rPr lang="el" sz="1500"/>
              <a:t>Performs poorly on test data from hospital B</a:t>
            </a:r>
            <a:endParaRPr sz="1500"/>
          </a:p>
          <a:p>
            <a:pPr indent="0" lvl="0" marL="0" rtl="0" algn="l">
              <a:spcBef>
                <a:spcPts val="0"/>
              </a:spcBef>
              <a:spcAft>
                <a:spcPts val="0"/>
              </a:spcAft>
              <a:buNone/>
            </a:pPr>
            <a:r>
              <a:t/>
            </a:r>
            <a:endParaRPr sz="1500"/>
          </a:p>
          <a:p>
            <a:pPr indent="0" lvl="0" marL="0" rtl="0" algn="l">
              <a:spcBef>
                <a:spcPts val="0"/>
              </a:spcBef>
              <a:spcAft>
                <a:spcPts val="0"/>
              </a:spcAft>
              <a:buNone/>
            </a:pPr>
            <a:r>
              <a:t/>
            </a:r>
            <a:endParaRPr sz="1500"/>
          </a:p>
        </p:txBody>
      </p:sp>
      <p:graphicFrame>
        <p:nvGraphicFramePr>
          <p:cNvPr id="104" name="Google Shape;104;p20"/>
          <p:cNvGraphicFramePr/>
          <p:nvPr/>
        </p:nvGraphicFramePr>
        <p:xfrm>
          <a:off x="789300" y="2415975"/>
          <a:ext cx="3000000" cy="3000000"/>
        </p:xfrm>
        <a:graphic>
          <a:graphicData uri="http://schemas.openxmlformats.org/drawingml/2006/table">
            <a:tbl>
              <a:tblPr>
                <a:noFill/>
                <a:tableStyleId>{FA072A65-EB3D-4C6D-9EF0-085EB4FA5BAB}</a:tableStyleId>
              </a:tblPr>
              <a:tblGrid>
                <a:gridCol w="1034150"/>
                <a:gridCol w="769125"/>
                <a:gridCol w="1142125"/>
                <a:gridCol w="1475850"/>
                <a:gridCol w="1332100"/>
                <a:gridCol w="1102850"/>
              </a:tblGrid>
              <a:tr h="381000">
                <a:tc>
                  <a:txBody>
                    <a:bodyPr/>
                    <a:lstStyle/>
                    <a:p>
                      <a:pPr indent="0" lvl="0" marL="0" rtl="0" algn="l">
                        <a:spcBef>
                          <a:spcPts val="0"/>
                        </a:spcBef>
                        <a:spcAft>
                          <a:spcPts val="0"/>
                        </a:spcAft>
                        <a:buNone/>
                      </a:pPr>
                      <a:r>
                        <a:rPr lang="el">
                          <a:latin typeface="Nunito"/>
                          <a:ea typeface="Nunito"/>
                          <a:cs typeface="Nunito"/>
                          <a:sym typeface="Nunito"/>
                        </a:rPr>
                        <a:t>Patient ID</a:t>
                      </a:r>
                      <a:endParaRPr>
                        <a:latin typeface="Nunito"/>
                        <a:ea typeface="Nunito"/>
                        <a:cs typeface="Nunito"/>
                        <a:sym typeface="Nunito"/>
                      </a:endParaRPr>
                    </a:p>
                  </a:txBody>
                  <a:tcPr marT="91425" marB="91425" marR="91425" marL="91425"/>
                </a:tc>
                <a:tc>
                  <a:txBody>
                    <a:bodyPr/>
                    <a:lstStyle/>
                    <a:p>
                      <a:pPr indent="0" lvl="0" marL="0" rtl="0" algn="l">
                        <a:spcBef>
                          <a:spcPts val="0"/>
                        </a:spcBef>
                        <a:spcAft>
                          <a:spcPts val="0"/>
                        </a:spcAft>
                        <a:buNone/>
                      </a:pPr>
                      <a:r>
                        <a:rPr lang="el">
                          <a:latin typeface="Nunito"/>
                          <a:ea typeface="Nunito"/>
                          <a:cs typeface="Nunito"/>
                          <a:sym typeface="Nunito"/>
                        </a:rPr>
                        <a:t>Date</a:t>
                      </a:r>
                      <a:endParaRPr>
                        <a:latin typeface="Nunito"/>
                        <a:ea typeface="Nunito"/>
                        <a:cs typeface="Nunito"/>
                        <a:sym typeface="Nunito"/>
                      </a:endParaRPr>
                    </a:p>
                  </a:txBody>
                  <a:tcPr marT="91425" marB="91425" marR="91425" marL="91425"/>
                </a:tc>
                <a:tc>
                  <a:txBody>
                    <a:bodyPr/>
                    <a:lstStyle/>
                    <a:p>
                      <a:pPr indent="0" lvl="0" marL="0" rtl="0" algn="l">
                        <a:spcBef>
                          <a:spcPts val="0"/>
                        </a:spcBef>
                        <a:spcAft>
                          <a:spcPts val="0"/>
                        </a:spcAft>
                        <a:buNone/>
                      </a:pPr>
                      <a:r>
                        <a:rPr lang="el">
                          <a:latin typeface="Nunito"/>
                          <a:ea typeface="Nunito"/>
                          <a:cs typeface="Nunito"/>
                          <a:sym typeface="Nunito"/>
                        </a:rPr>
                        <a:t>Doctor note</a:t>
                      </a:r>
                      <a:endParaRPr>
                        <a:latin typeface="Nunito"/>
                        <a:ea typeface="Nunito"/>
                        <a:cs typeface="Nunito"/>
                        <a:sym typeface="Nunito"/>
                      </a:endParaRPr>
                    </a:p>
                  </a:txBody>
                  <a:tcPr marT="91425" marB="91425" marR="91425" marL="91425"/>
                </a:tc>
                <a:tc>
                  <a:txBody>
                    <a:bodyPr/>
                    <a:lstStyle/>
                    <a:p>
                      <a:pPr indent="0" lvl="0" marL="0" rtl="0" algn="l">
                        <a:spcBef>
                          <a:spcPts val="0"/>
                        </a:spcBef>
                        <a:spcAft>
                          <a:spcPts val="0"/>
                        </a:spcAft>
                        <a:buNone/>
                      </a:pPr>
                      <a:r>
                        <a:rPr lang="el">
                          <a:latin typeface="Nunito"/>
                          <a:ea typeface="Nunito"/>
                          <a:cs typeface="Nunito"/>
                          <a:sym typeface="Nunito"/>
                        </a:rPr>
                        <a:t>Medical record</a:t>
                      </a:r>
                      <a:endParaRPr>
                        <a:latin typeface="Nunito"/>
                        <a:ea typeface="Nunito"/>
                        <a:cs typeface="Nunito"/>
                        <a:sym typeface="Nunito"/>
                      </a:endParaRPr>
                    </a:p>
                  </a:txBody>
                  <a:tcPr marT="91425" marB="91425" marR="91425" marL="91425"/>
                </a:tc>
                <a:tc>
                  <a:txBody>
                    <a:bodyPr/>
                    <a:lstStyle/>
                    <a:p>
                      <a:pPr indent="0" lvl="0" marL="0" rtl="0" algn="l">
                        <a:spcBef>
                          <a:spcPts val="0"/>
                        </a:spcBef>
                        <a:spcAft>
                          <a:spcPts val="0"/>
                        </a:spcAft>
                        <a:buNone/>
                      </a:pPr>
                      <a:r>
                        <a:rPr lang="el">
                          <a:solidFill>
                            <a:srgbClr val="FF00FF"/>
                          </a:solidFill>
                          <a:latin typeface="Nunito"/>
                          <a:ea typeface="Nunito"/>
                          <a:cs typeface="Nunito"/>
                          <a:sym typeface="Nunito"/>
                        </a:rPr>
                        <a:t>Scanner type</a:t>
                      </a:r>
                      <a:endParaRPr>
                        <a:solidFill>
                          <a:srgbClr val="FF00FF"/>
                        </a:solidFill>
                        <a:latin typeface="Nunito"/>
                        <a:ea typeface="Nunito"/>
                        <a:cs typeface="Nunito"/>
                        <a:sym typeface="Nunito"/>
                      </a:endParaRPr>
                    </a:p>
                  </a:txBody>
                  <a:tcPr marT="91425" marB="91425" marR="91425" marL="91425"/>
                </a:tc>
                <a:tc>
                  <a:txBody>
                    <a:bodyPr/>
                    <a:lstStyle/>
                    <a:p>
                      <a:pPr indent="0" lvl="0" marL="0" rtl="0" algn="l">
                        <a:spcBef>
                          <a:spcPts val="0"/>
                        </a:spcBef>
                        <a:spcAft>
                          <a:spcPts val="0"/>
                        </a:spcAft>
                        <a:buNone/>
                      </a:pPr>
                      <a:r>
                        <a:rPr lang="el">
                          <a:latin typeface="Nunito"/>
                          <a:ea typeface="Nunito"/>
                          <a:cs typeface="Nunito"/>
                          <a:sym typeface="Nunito"/>
                        </a:rPr>
                        <a:t>CT scan</a:t>
                      </a:r>
                      <a:endParaRPr>
                        <a:latin typeface="Nunito"/>
                        <a:ea typeface="Nunito"/>
                        <a:cs typeface="Nunito"/>
                        <a:sym typeface="Nunito"/>
                      </a:endParaRPr>
                    </a:p>
                  </a:txBody>
                  <a:tcPr marT="91425" marB="91425" marR="91425" marL="91425"/>
                </a:tc>
              </a:tr>
            </a:tbl>
          </a:graphicData>
        </a:graphic>
      </p:graphicFrame>
      <p:sp>
        <p:nvSpPr>
          <p:cNvPr id="105" name="Google Shape;105;p20"/>
          <p:cNvSpPr txBox="1"/>
          <p:nvPr/>
        </p:nvSpPr>
        <p:spPr>
          <a:xfrm>
            <a:off x="5645900" y="3392275"/>
            <a:ext cx="3393600" cy="785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l" sz="1300">
                <a:solidFill>
                  <a:srgbClr val="FF00FF"/>
                </a:solidFill>
                <a:latin typeface="Nunito"/>
                <a:ea typeface="Nunito"/>
                <a:cs typeface="Nunito"/>
                <a:sym typeface="Nunito"/>
              </a:rPr>
              <a:t>At hospital A, when doctors suspect that a patient has lung cancer, they send that patient to a higher-quality scanner</a:t>
            </a:r>
            <a:endParaRPr sz="1300">
              <a:solidFill>
                <a:srgbClr val="FF00FF"/>
              </a:solidFill>
              <a:latin typeface="Nunito"/>
              <a:ea typeface="Nunito"/>
              <a:cs typeface="Nunito"/>
              <a:sym typeface="Nunito"/>
            </a:endParaRPr>
          </a:p>
        </p:txBody>
      </p:sp>
      <p:cxnSp>
        <p:nvCxnSpPr>
          <p:cNvPr id="106" name="Google Shape;106;p20"/>
          <p:cNvCxnSpPr/>
          <p:nvPr/>
        </p:nvCxnSpPr>
        <p:spPr>
          <a:xfrm rot="10800000">
            <a:off x="6174775" y="2854800"/>
            <a:ext cx="751200" cy="572400"/>
          </a:xfrm>
          <a:prstGeom prst="straightConnector1">
            <a:avLst/>
          </a:prstGeom>
          <a:noFill/>
          <a:ln cap="flat" cmpd="sng" w="9525">
            <a:solidFill>
              <a:schemeClr val="dk2"/>
            </a:solidFill>
            <a:prstDash val="solid"/>
            <a:round/>
            <a:headEnd len="med" w="med" type="none"/>
            <a:tailEnd len="med" w="med" type="triangle"/>
          </a:ln>
        </p:spPr>
      </p:cxnSp>
      <p:sp>
        <p:nvSpPr>
          <p:cNvPr id="107" name="Google Shape;107;p20"/>
          <p:cNvSpPr txBox="1"/>
          <p:nvPr/>
        </p:nvSpPr>
        <p:spPr>
          <a:xfrm>
            <a:off x="865750" y="3276975"/>
            <a:ext cx="4529100" cy="158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500"/>
              <a:t>The model puts all its attention to the Scanner Type and not the image.</a:t>
            </a:r>
            <a:endParaRPr sz="1500"/>
          </a:p>
          <a:p>
            <a:pPr indent="0" lvl="0" marL="0" rtl="0" algn="l">
              <a:spcBef>
                <a:spcPts val="0"/>
              </a:spcBef>
              <a:spcAft>
                <a:spcPts val="0"/>
              </a:spcAft>
              <a:buNone/>
            </a:pPr>
            <a:r>
              <a:t/>
            </a:r>
            <a:endParaRPr sz="1500"/>
          </a:p>
          <a:p>
            <a:pPr indent="0" lvl="0" marL="0" rtl="0" algn="l">
              <a:spcBef>
                <a:spcPts val="0"/>
              </a:spcBef>
              <a:spcAft>
                <a:spcPts val="0"/>
              </a:spcAft>
              <a:buNone/>
            </a:pPr>
            <a:r>
              <a:rPr lang="el" sz="1500"/>
              <a:t>This is not the case for hospital B. </a:t>
            </a:r>
            <a:endParaRPr sz="1500"/>
          </a:p>
          <a:p>
            <a:pPr indent="0" lvl="0" marL="0" rtl="0" algn="l">
              <a:spcBef>
                <a:spcPts val="0"/>
              </a:spcBef>
              <a:spcAft>
                <a:spcPts val="0"/>
              </a:spcAft>
              <a:buNone/>
            </a:pPr>
            <a:r>
              <a:rPr lang="el" sz="1500"/>
              <a:t>Patients on higher quality scanner are both likely and unlikely to have cancer</a:t>
            </a:r>
            <a:endParaRPr sz="15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Causes of Data Leakage</a:t>
            </a:r>
            <a:endParaRPr/>
          </a:p>
        </p:txBody>
      </p:sp>
      <p:sp>
        <p:nvSpPr>
          <p:cNvPr id="113" name="Google Shape;113;p21"/>
          <p:cNvSpPr txBox="1"/>
          <p:nvPr/>
        </p:nvSpPr>
        <p:spPr>
          <a:xfrm>
            <a:off x="443600" y="1123325"/>
            <a:ext cx="8278200" cy="3713400"/>
          </a:xfrm>
          <a:prstGeom prst="rect">
            <a:avLst/>
          </a:prstGeom>
          <a:noFill/>
          <a:ln>
            <a:noFill/>
          </a:ln>
        </p:spPr>
        <p:txBody>
          <a:bodyPr anchorCtr="0" anchor="t" bIns="91425" lIns="91425" spcFirstLastPara="1" rIns="91425" wrap="square" tIns="91425">
            <a:noAutofit/>
          </a:bodyPr>
          <a:lstStyle/>
          <a:p>
            <a:pPr indent="-330200" lvl="0" marL="457200" rtl="0" algn="l">
              <a:spcBef>
                <a:spcPts val="0"/>
              </a:spcBef>
              <a:spcAft>
                <a:spcPts val="0"/>
              </a:spcAft>
              <a:buClr>
                <a:schemeClr val="dk1"/>
              </a:buClr>
              <a:buSzPts val="1600"/>
              <a:buAutoNum type="arabicPeriod"/>
            </a:pPr>
            <a:r>
              <a:rPr lang="el" sz="1600">
                <a:solidFill>
                  <a:schemeClr val="dk1"/>
                </a:solidFill>
              </a:rPr>
              <a:t>Leakage on data collection</a:t>
            </a:r>
            <a:endParaRPr sz="1600">
              <a:solidFill>
                <a:schemeClr val="dk1"/>
              </a:solidFill>
            </a:endParaRPr>
          </a:p>
          <a:p>
            <a:pPr indent="-330200" lvl="1" marL="914400" rtl="0" algn="l">
              <a:spcBef>
                <a:spcPts val="0"/>
              </a:spcBef>
              <a:spcAft>
                <a:spcPts val="0"/>
              </a:spcAft>
              <a:buClr>
                <a:schemeClr val="dk1"/>
              </a:buClr>
              <a:buSzPts val="1600"/>
              <a:buAutoNum type="alphaLcPeriod"/>
            </a:pPr>
            <a:r>
              <a:rPr lang="el" sz="1600">
                <a:solidFill>
                  <a:schemeClr val="dk1"/>
                </a:solidFill>
              </a:rPr>
              <a:t>Features contain information on the true label because of the way data is collected</a:t>
            </a:r>
            <a:endParaRPr sz="1600">
              <a:solidFill>
                <a:schemeClr val="dk1"/>
              </a:solidFill>
            </a:endParaRPr>
          </a:p>
          <a:p>
            <a:pPr indent="-317500" lvl="0" marL="457200" rtl="0" algn="l">
              <a:spcBef>
                <a:spcPts val="0"/>
              </a:spcBef>
              <a:spcAft>
                <a:spcPts val="0"/>
              </a:spcAft>
              <a:buClr>
                <a:schemeClr val="dk1"/>
              </a:buClr>
              <a:buSzPts val="1400"/>
              <a:buAutoNum type="arabicPeriod"/>
            </a:pPr>
            <a:r>
              <a:rPr lang="el" sz="1600">
                <a:solidFill>
                  <a:schemeClr val="dk1"/>
                </a:solidFill>
              </a:rPr>
              <a:t>Splitting time-correlated data randomly instead of time </a:t>
            </a:r>
            <a:endParaRPr sz="1600">
              <a:solidFill>
                <a:schemeClr val="dk1"/>
              </a:solidFill>
            </a:endParaRPr>
          </a:p>
          <a:p>
            <a:pPr indent="-330200" lvl="1" marL="914400" rtl="0" algn="l">
              <a:spcBef>
                <a:spcPts val="0"/>
              </a:spcBef>
              <a:spcAft>
                <a:spcPts val="0"/>
              </a:spcAft>
              <a:buClr>
                <a:schemeClr val="dk1"/>
              </a:buClr>
              <a:buSzPts val="1600"/>
              <a:buAutoNum type="alphaLcPeriod"/>
            </a:pPr>
            <a:r>
              <a:rPr lang="el" sz="1600">
                <a:solidFill>
                  <a:schemeClr val="dk1"/>
                </a:solidFill>
              </a:rPr>
              <a:t>We usually shuffle our data before splitting! </a:t>
            </a:r>
            <a:endParaRPr sz="1600">
              <a:solidFill>
                <a:schemeClr val="dk1"/>
              </a:solidFill>
            </a:endParaRPr>
          </a:p>
          <a:p>
            <a:pPr indent="-330200" lvl="1" marL="914400" rtl="0" algn="l">
              <a:spcBef>
                <a:spcPts val="0"/>
              </a:spcBef>
              <a:spcAft>
                <a:spcPts val="0"/>
              </a:spcAft>
              <a:buClr>
                <a:schemeClr val="dk1"/>
              </a:buClr>
              <a:buSzPts val="1600"/>
              <a:buAutoNum type="alphaLcPeriod"/>
            </a:pPr>
            <a:r>
              <a:rPr lang="el" sz="1600">
                <a:solidFill>
                  <a:schemeClr val="dk1"/>
                </a:solidFill>
              </a:rPr>
              <a:t>But with time-related features shuffling is not a good option!</a:t>
            </a:r>
            <a:endParaRPr>
              <a:solidFill>
                <a:schemeClr val="dk1"/>
              </a:solidFill>
            </a:endParaRPr>
          </a:p>
          <a:p>
            <a:pPr indent="0" lvl="0" marL="914400" rtl="0" algn="l">
              <a:spcBef>
                <a:spcPts val="0"/>
              </a:spcBef>
              <a:spcAft>
                <a:spcPts val="0"/>
              </a:spcAft>
              <a:buNone/>
            </a:pPr>
            <a:r>
              <a:t/>
            </a:r>
            <a:endParaRPr sz="1600">
              <a:solidFill>
                <a:schemeClr val="dk1"/>
              </a:solidFill>
            </a:endParaRPr>
          </a:p>
          <a:p>
            <a:pPr indent="0" lvl="0" marL="0" rtl="0" algn="l">
              <a:spcBef>
                <a:spcPts val="0"/>
              </a:spcBef>
              <a:spcAft>
                <a:spcPts val="0"/>
              </a:spcAft>
              <a:buNone/>
            </a:pPr>
            <a:r>
              <a:t/>
            </a:r>
            <a:endParaRPr sz="18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Causes of Data Leakage</a:t>
            </a:r>
            <a:endParaRPr/>
          </a:p>
        </p:txBody>
      </p:sp>
      <p:sp>
        <p:nvSpPr>
          <p:cNvPr id="119" name="Google Shape;119;p22"/>
          <p:cNvSpPr txBox="1"/>
          <p:nvPr/>
        </p:nvSpPr>
        <p:spPr>
          <a:xfrm>
            <a:off x="443600" y="1123325"/>
            <a:ext cx="8278200" cy="3713400"/>
          </a:xfrm>
          <a:prstGeom prst="rect">
            <a:avLst/>
          </a:prstGeom>
          <a:noFill/>
          <a:ln>
            <a:noFill/>
          </a:ln>
        </p:spPr>
        <p:txBody>
          <a:bodyPr anchorCtr="0" anchor="t" bIns="91425" lIns="91425" spcFirstLastPara="1" rIns="91425" wrap="square" tIns="91425">
            <a:noAutofit/>
          </a:bodyPr>
          <a:lstStyle/>
          <a:p>
            <a:pPr indent="-330200" lvl="0" marL="457200" rtl="0" algn="l">
              <a:spcBef>
                <a:spcPts val="0"/>
              </a:spcBef>
              <a:spcAft>
                <a:spcPts val="0"/>
              </a:spcAft>
              <a:buClr>
                <a:srgbClr val="9E9E9E"/>
              </a:buClr>
              <a:buSzPts val="1600"/>
              <a:buAutoNum type="arabicPeriod"/>
            </a:pPr>
            <a:r>
              <a:rPr lang="el" sz="1600">
                <a:solidFill>
                  <a:srgbClr val="9E9E9E"/>
                </a:solidFill>
              </a:rPr>
              <a:t>Leakage on data collection</a:t>
            </a:r>
            <a:endParaRPr sz="1600">
              <a:solidFill>
                <a:srgbClr val="9E9E9E"/>
              </a:solidFill>
            </a:endParaRPr>
          </a:p>
          <a:p>
            <a:pPr indent="-330200" lvl="1" marL="914400" rtl="0" algn="l">
              <a:spcBef>
                <a:spcPts val="0"/>
              </a:spcBef>
              <a:spcAft>
                <a:spcPts val="0"/>
              </a:spcAft>
              <a:buClr>
                <a:srgbClr val="9E9E9E"/>
              </a:buClr>
              <a:buSzPts val="1600"/>
              <a:buAutoNum type="alphaLcPeriod"/>
            </a:pPr>
            <a:r>
              <a:rPr lang="el" sz="1600">
                <a:solidFill>
                  <a:srgbClr val="9E9E9E"/>
                </a:solidFill>
              </a:rPr>
              <a:t>Features contain information on the true label because of the way data is collected</a:t>
            </a:r>
            <a:endParaRPr sz="1600">
              <a:solidFill>
                <a:srgbClr val="9E9E9E"/>
              </a:solidFill>
            </a:endParaRPr>
          </a:p>
          <a:p>
            <a:pPr indent="-317500" lvl="0" marL="457200" rtl="0" algn="l">
              <a:spcBef>
                <a:spcPts val="0"/>
              </a:spcBef>
              <a:spcAft>
                <a:spcPts val="0"/>
              </a:spcAft>
              <a:buClr>
                <a:schemeClr val="dk1"/>
              </a:buClr>
              <a:buSzPts val="1400"/>
              <a:buAutoNum type="arabicPeriod"/>
            </a:pPr>
            <a:r>
              <a:rPr lang="el" sz="1600">
                <a:solidFill>
                  <a:schemeClr val="dk1"/>
                </a:solidFill>
              </a:rPr>
              <a:t>Splitting time-correlated data randomly instead of time </a:t>
            </a:r>
            <a:endParaRPr sz="1600">
              <a:solidFill>
                <a:schemeClr val="dk1"/>
              </a:solidFill>
            </a:endParaRPr>
          </a:p>
          <a:p>
            <a:pPr indent="-330200" lvl="1" marL="914400" rtl="0" algn="l">
              <a:spcBef>
                <a:spcPts val="0"/>
              </a:spcBef>
              <a:spcAft>
                <a:spcPts val="0"/>
              </a:spcAft>
              <a:buClr>
                <a:schemeClr val="dk1"/>
              </a:buClr>
              <a:buSzPts val="1600"/>
              <a:buAutoNum type="alphaLcPeriod"/>
            </a:pPr>
            <a:r>
              <a:rPr lang="el" sz="1600">
                <a:solidFill>
                  <a:schemeClr val="dk1"/>
                </a:solidFill>
              </a:rPr>
              <a:t>We usually shuffle our data before splitting! </a:t>
            </a:r>
            <a:endParaRPr sz="1600">
              <a:solidFill>
                <a:schemeClr val="dk1"/>
              </a:solidFill>
            </a:endParaRPr>
          </a:p>
          <a:p>
            <a:pPr indent="-330200" lvl="1" marL="914400" rtl="0" algn="l">
              <a:spcBef>
                <a:spcPts val="0"/>
              </a:spcBef>
              <a:spcAft>
                <a:spcPts val="0"/>
              </a:spcAft>
              <a:buClr>
                <a:schemeClr val="dk1"/>
              </a:buClr>
              <a:buSzPts val="1600"/>
              <a:buAutoNum type="alphaLcPeriod"/>
            </a:pPr>
            <a:r>
              <a:rPr lang="el" sz="1600">
                <a:solidFill>
                  <a:schemeClr val="dk1"/>
                </a:solidFill>
              </a:rPr>
              <a:t>But with time-related features shuffling is not a good option!</a:t>
            </a:r>
            <a:endParaRPr>
              <a:solidFill>
                <a:schemeClr val="dk1"/>
              </a:solidFill>
            </a:endParaRPr>
          </a:p>
          <a:p>
            <a:pPr indent="0" lvl="0" marL="914400" rtl="0" algn="l">
              <a:spcBef>
                <a:spcPts val="0"/>
              </a:spcBef>
              <a:spcAft>
                <a:spcPts val="0"/>
              </a:spcAft>
              <a:buNone/>
            </a:pPr>
            <a:r>
              <a:t/>
            </a:r>
            <a:endParaRPr sz="1600">
              <a:solidFill>
                <a:schemeClr val="dk1"/>
              </a:solidFill>
            </a:endParaRPr>
          </a:p>
          <a:p>
            <a:pPr indent="0" lvl="0" marL="0" rtl="0" algn="l">
              <a:spcBef>
                <a:spcPts val="0"/>
              </a:spcBef>
              <a:spcAft>
                <a:spcPts val="0"/>
              </a:spcAft>
              <a:buNone/>
            </a:pPr>
            <a:r>
              <a:t/>
            </a:r>
            <a:endParaRPr sz="1800"/>
          </a:p>
        </p:txBody>
      </p:sp>
      <p:pic>
        <p:nvPicPr>
          <p:cNvPr id="120" name="Google Shape;120;p22"/>
          <p:cNvPicPr preferRelativeResize="0"/>
          <p:nvPr/>
        </p:nvPicPr>
        <p:blipFill>
          <a:blip r:embed="rId3">
            <a:alphaModFix/>
          </a:blip>
          <a:stretch>
            <a:fillRect/>
          </a:stretch>
        </p:blipFill>
        <p:spPr>
          <a:xfrm>
            <a:off x="970150" y="2855176"/>
            <a:ext cx="7021351" cy="2094075"/>
          </a:xfrm>
          <a:prstGeom prst="rect">
            <a:avLst/>
          </a:prstGeom>
          <a:noFill/>
          <a:ln>
            <a:noFill/>
          </a:ln>
        </p:spPr>
      </p:pic>
      <p:sp>
        <p:nvSpPr>
          <p:cNvPr id="121" name="Google Shape;121;p22"/>
          <p:cNvSpPr/>
          <p:nvPr/>
        </p:nvSpPr>
        <p:spPr>
          <a:xfrm>
            <a:off x="3101500" y="4151200"/>
            <a:ext cx="2076900" cy="369600"/>
          </a:xfrm>
          <a:prstGeom prst="ellipse">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Example of Data Leakage</a:t>
            </a:r>
            <a:endParaRPr/>
          </a:p>
        </p:txBody>
      </p:sp>
      <p:sp>
        <p:nvSpPr>
          <p:cNvPr id="127" name="Google Shape;127;p23"/>
          <p:cNvSpPr txBox="1"/>
          <p:nvPr/>
        </p:nvSpPr>
        <p:spPr>
          <a:xfrm>
            <a:off x="121800" y="1471375"/>
            <a:ext cx="8600100" cy="223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600">
                <a:solidFill>
                  <a:srgbClr val="FF00FF"/>
                </a:solidFill>
              </a:rPr>
              <a:t>Application:</a:t>
            </a:r>
            <a:r>
              <a:rPr lang="el" sz="1600"/>
              <a:t> Weather Forecasting</a:t>
            </a:r>
            <a:endParaRPr sz="1600"/>
          </a:p>
          <a:p>
            <a:pPr indent="0" lvl="0" marL="0" rtl="0" algn="l">
              <a:spcBef>
                <a:spcPts val="0"/>
              </a:spcBef>
              <a:spcAft>
                <a:spcPts val="0"/>
              </a:spcAft>
              <a:buNone/>
            </a:pPr>
            <a:r>
              <a:rPr lang="el" sz="1600">
                <a:solidFill>
                  <a:srgbClr val="FF00FF"/>
                </a:solidFill>
              </a:rPr>
              <a:t>Data:</a:t>
            </a:r>
            <a:r>
              <a:rPr lang="el" sz="1600"/>
              <a:t> </a:t>
            </a:r>
            <a:r>
              <a:rPr lang="el" sz="1600"/>
              <a:t>Weather data from 2017-2022</a:t>
            </a:r>
            <a:endParaRPr sz="1600"/>
          </a:p>
          <a:p>
            <a:pPr indent="0" lvl="0" marL="0" rtl="0" algn="l">
              <a:spcBef>
                <a:spcPts val="0"/>
              </a:spcBef>
              <a:spcAft>
                <a:spcPts val="0"/>
              </a:spcAft>
              <a:buNone/>
            </a:pPr>
            <a:r>
              <a:t/>
            </a:r>
            <a:endParaRPr sz="1600"/>
          </a:p>
          <a:p>
            <a:pPr indent="0" lvl="0" marL="0" rtl="0" algn="l">
              <a:spcBef>
                <a:spcPts val="0"/>
              </a:spcBef>
              <a:spcAft>
                <a:spcPts val="0"/>
              </a:spcAft>
              <a:buNone/>
            </a:pPr>
            <a:r>
              <a:rPr lang="el" sz="1600">
                <a:solidFill>
                  <a:srgbClr val="FF00FF"/>
                </a:solidFill>
              </a:rPr>
              <a:t>Randomly shuffle data: </a:t>
            </a:r>
            <a:endParaRPr sz="1600">
              <a:solidFill>
                <a:srgbClr val="FF00FF"/>
              </a:solidFill>
            </a:endParaRPr>
          </a:p>
          <a:p>
            <a:pPr indent="0" lvl="0" marL="0" rtl="0" algn="l">
              <a:spcBef>
                <a:spcPts val="0"/>
              </a:spcBef>
              <a:spcAft>
                <a:spcPts val="0"/>
              </a:spcAft>
              <a:buNone/>
            </a:pPr>
            <a:r>
              <a:rPr lang="el" sz="1600"/>
              <a:t>Training set might have data from </a:t>
            </a:r>
            <a:r>
              <a:rPr lang="el" sz="1600"/>
              <a:t>2022</a:t>
            </a:r>
            <a:endParaRPr sz="1600"/>
          </a:p>
          <a:p>
            <a:pPr indent="0" lvl="0" marL="0" rtl="0" algn="l">
              <a:spcBef>
                <a:spcPts val="0"/>
              </a:spcBef>
              <a:spcAft>
                <a:spcPts val="0"/>
              </a:spcAft>
              <a:buNone/>
            </a:pPr>
            <a:r>
              <a:rPr lang="el" sz="1600"/>
              <a:t>Test set might have data from 2017</a:t>
            </a:r>
            <a:endParaRPr sz="1600"/>
          </a:p>
          <a:p>
            <a:pPr indent="0" lvl="0" marL="457200" rtl="0" algn="l">
              <a:spcBef>
                <a:spcPts val="0"/>
              </a:spcBef>
              <a:spcAft>
                <a:spcPts val="0"/>
              </a:spcAft>
              <a:buNone/>
            </a:pPr>
            <a:r>
              <a:t/>
            </a:r>
            <a:endParaRPr sz="1600"/>
          </a:p>
          <a:p>
            <a:pPr indent="0" lvl="0" marL="0" rtl="0" algn="l">
              <a:spcBef>
                <a:spcPts val="0"/>
              </a:spcBef>
              <a:spcAft>
                <a:spcPts val="0"/>
              </a:spcAft>
              <a:buNone/>
            </a:pPr>
            <a:r>
              <a:rPr lang="el" sz="1600">
                <a:solidFill>
                  <a:srgbClr val="FF00FF"/>
                </a:solidFill>
              </a:rPr>
              <a:t>Problem?</a:t>
            </a:r>
            <a:r>
              <a:rPr lang="el" sz="1600"/>
              <a:t>Weather is time correlated. </a:t>
            </a:r>
            <a:endParaRPr sz="1600"/>
          </a:p>
          <a:p>
            <a:pPr indent="0" lvl="0" marL="0" rtl="0" algn="l">
              <a:spcBef>
                <a:spcPts val="0"/>
              </a:spcBef>
              <a:spcAft>
                <a:spcPts val="0"/>
              </a:spcAft>
              <a:buNone/>
            </a:pPr>
            <a:r>
              <a:rPr lang="el" sz="1600"/>
              <a:t>Introducing future information in the past gives the model an advantage</a:t>
            </a:r>
            <a:endParaRPr sz="1600"/>
          </a:p>
          <a:p>
            <a:pPr indent="0" lvl="0" marL="0" rtl="0" algn="l">
              <a:spcBef>
                <a:spcPts val="0"/>
              </a:spcBef>
              <a:spcAft>
                <a:spcPts val="0"/>
              </a:spcAft>
              <a:buNone/>
            </a:pPr>
            <a:r>
              <a:t/>
            </a:r>
            <a:endParaRPr sz="1600"/>
          </a:p>
        </p:txBody>
      </p:sp>
      <p:pic>
        <p:nvPicPr>
          <p:cNvPr id="128" name="Google Shape;128;p23"/>
          <p:cNvPicPr preferRelativeResize="0"/>
          <p:nvPr/>
        </p:nvPicPr>
        <p:blipFill>
          <a:blip r:embed="rId3">
            <a:alphaModFix/>
          </a:blip>
          <a:stretch>
            <a:fillRect/>
          </a:stretch>
        </p:blipFill>
        <p:spPr>
          <a:xfrm>
            <a:off x="4974601" y="1060502"/>
            <a:ext cx="4117750" cy="1951800"/>
          </a:xfrm>
          <a:prstGeom prst="rect">
            <a:avLst/>
          </a:prstGeom>
          <a:noFill/>
          <a:ln>
            <a:noFill/>
          </a:ln>
        </p:spPr>
      </p:pic>
      <p:sp>
        <p:nvSpPr>
          <p:cNvPr id="129" name="Google Shape;129;p23"/>
          <p:cNvSpPr txBox="1"/>
          <p:nvPr/>
        </p:nvSpPr>
        <p:spPr>
          <a:xfrm>
            <a:off x="2581300" y="4112450"/>
            <a:ext cx="4852800" cy="944400"/>
          </a:xfrm>
          <a:prstGeom prst="rect">
            <a:avLst/>
          </a:prstGeom>
          <a:no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l" sz="1600">
                <a:solidFill>
                  <a:srgbClr val="FF00FF"/>
                </a:solidFill>
              </a:rPr>
              <a:t>Important:</a:t>
            </a:r>
            <a:endParaRPr sz="1600">
              <a:solidFill>
                <a:srgbClr val="FF00FF"/>
              </a:solidFill>
            </a:endParaRPr>
          </a:p>
          <a:p>
            <a:pPr indent="0" lvl="0" marL="0" rtl="0" algn="ctr">
              <a:spcBef>
                <a:spcPts val="0"/>
              </a:spcBef>
              <a:spcAft>
                <a:spcPts val="0"/>
              </a:spcAft>
              <a:buNone/>
            </a:pPr>
            <a:r>
              <a:rPr lang="el" sz="1600"/>
              <a:t>Always consider the temporal nature of data. Ensure no “future” information leaks into the “past”</a:t>
            </a:r>
            <a:endParaRPr sz="16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Causes of Data Leakage</a:t>
            </a:r>
            <a:endParaRPr/>
          </a:p>
        </p:txBody>
      </p:sp>
      <p:sp>
        <p:nvSpPr>
          <p:cNvPr id="135" name="Google Shape;135;p24"/>
          <p:cNvSpPr txBox="1"/>
          <p:nvPr/>
        </p:nvSpPr>
        <p:spPr>
          <a:xfrm>
            <a:off x="443600" y="1123325"/>
            <a:ext cx="8278200" cy="3713400"/>
          </a:xfrm>
          <a:prstGeom prst="rect">
            <a:avLst/>
          </a:prstGeom>
          <a:noFill/>
          <a:ln>
            <a:noFill/>
          </a:ln>
        </p:spPr>
        <p:txBody>
          <a:bodyPr anchorCtr="0" anchor="t" bIns="91425" lIns="91425" spcFirstLastPara="1" rIns="91425" wrap="square" tIns="91425">
            <a:noAutofit/>
          </a:bodyPr>
          <a:lstStyle/>
          <a:p>
            <a:pPr indent="-330200" lvl="0" marL="457200" rtl="0" algn="l">
              <a:spcBef>
                <a:spcPts val="0"/>
              </a:spcBef>
              <a:spcAft>
                <a:spcPts val="0"/>
              </a:spcAft>
              <a:buClr>
                <a:srgbClr val="9E9E9E"/>
              </a:buClr>
              <a:buSzPts val="1600"/>
              <a:buAutoNum type="arabicPeriod"/>
            </a:pPr>
            <a:r>
              <a:rPr lang="el" sz="1600">
                <a:solidFill>
                  <a:srgbClr val="9E9E9E"/>
                </a:solidFill>
              </a:rPr>
              <a:t>Leakage on data collection</a:t>
            </a:r>
            <a:endParaRPr sz="1600">
              <a:solidFill>
                <a:srgbClr val="9E9E9E"/>
              </a:solidFill>
            </a:endParaRPr>
          </a:p>
          <a:p>
            <a:pPr indent="-330200" lvl="1" marL="914400" rtl="0" algn="l">
              <a:spcBef>
                <a:spcPts val="0"/>
              </a:spcBef>
              <a:spcAft>
                <a:spcPts val="0"/>
              </a:spcAft>
              <a:buClr>
                <a:srgbClr val="9E9E9E"/>
              </a:buClr>
              <a:buSzPts val="1600"/>
              <a:buAutoNum type="alphaLcPeriod"/>
            </a:pPr>
            <a:r>
              <a:rPr lang="el" sz="1600">
                <a:solidFill>
                  <a:srgbClr val="9E9E9E"/>
                </a:solidFill>
              </a:rPr>
              <a:t>Features contain information on the true label because of the way data is collected</a:t>
            </a:r>
            <a:endParaRPr sz="1600">
              <a:solidFill>
                <a:srgbClr val="999999"/>
              </a:solidFill>
            </a:endParaRPr>
          </a:p>
          <a:p>
            <a:pPr indent="-330200" lvl="0" marL="457200" rtl="0" algn="l">
              <a:spcBef>
                <a:spcPts val="0"/>
              </a:spcBef>
              <a:spcAft>
                <a:spcPts val="0"/>
              </a:spcAft>
              <a:buClr>
                <a:srgbClr val="999999"/>
              </a:buClr>
              <a:buSzPts val="1600"/>
              <a:buAutoNum type="arabicPeriod"/>
            </a:pPr>
            <a:r>
              <a:rPr lang="el" sz="1600">
                <a:solidFill>
                  <a:srgbClr val="999999"/>
                </a:solidFill>
              </a:rPr>
              <a:t>Splitting time-correlated data randomly instead of time </a:t>
            </a:r>
            <a:endParaRPr sz="1600">
              <a:solidFill>
                <a:srgbClr val="999999"/>
              </a:solidFill>
            </a:endParaRPr>
          </a:p>
          <a:p>
            <a:pPr indent="-330200" lvl="1" marL="914400" rtl="0" algn="l">
              <a:spcBef>
                <a:spcPts val="0"/>
              </a:spcBef>
              <a:spcAft>
                <a:spcPts val="0"/>
              </a:spcAft>
              <a:buClr>
                <a:srgbClr val="999999"/>
              </a:buClr>
              <a:buSzPts val="1600"/>
              <a:buAutoNum type="alphaLcPeriod"/>
            </a:pPr>
            <a:r>
              <a:rPr lang="el" sz="1600">
                <a:solidFill>
                  <a:srgbClr val="999999"/>
                </a:solidFill>
              </a:rPr>
              <a:t>We usually shuffle our data before splitting! </a:t>
            </a:r>
            <a:endParaRPr sz="1600">
              <a:solidFill>
                <a:srgbClr val="999999"/>
              </a:solidFill>
            </a:endParaRPr>
          </a:p>
          <a:p>
            <a:pPr indent="-330200" lvl="1" marL="914400" rtl="0" algn="l">
              <a:spcBef>
                <a:spcPts val="0"/>
              </a:spcBef>
              <a:spcAft>
                <a:spcPts val="0"/>
              </a:spcAft>
              <a:buClr>
                <a:srgbClr val="999999"/>
              </a:buClr>
              <a:buSzPts val="1600"/>
              <a:buAutoNum type="alphaLcPeriod"/>
            </a:pPr>
            <a:r>
              <a:rPr lang="el" sz="1600">
                <a:solidFill>
                  <a:srgbClr val="999999"/>
                </a:solidFill>
              </a:rPr>
              <a:t>But with time-related features shuffling is not a good option!</a:t>
            </a:r>
            <a:endParaRPr sz="1600">
              <a:solidFill>
                <a:srgbClr val="999999"/>
              </a:solidFill>
            </a:endParaRPr>
          </a:p>
          <a:p>
            <a:pPr indent="-330200" lvl="0" marL="457200" rtl="0" algn="l">
              <a:spcBef>
                <a:spcPts val="0"/>
              </a:spcBef>
              <a:spcAft>
                <a:spcPts val="0"/>
              </a:spcAft>
              <a:buSzPts val="1600"/>
              <a:buAutoNum type="arabicPeriod"/>
            </a:pPr>
            <a:r>
              <a:rPr lang="el" sz="1600"/>
              <a:t>Data processing before splitting</a:t>
            </a:r>
            <a:endParaRPr sz="1600"/>
          </a:p>
          <a:p>
            <a:pPr indent="-330200" lvl="1" marL="914400" rtl="0" algn="l">
              <a:spcBef>
                <a:spcPts val="0"/>
              </a:spcBef>
              <a:spcAft>
                <a:spcPts val="0"/>
              </a:spcAft>
              <a:buSzPts val="1600"/>
              <a:buAutoNum type="alphaLcPeriod"/>
            </a:pPr>
            <a:r>
              <a:rPr lang="el" sz="1600"/>
              <a:t>Use the whole dataset (including test set) to generate global statistics (for normalization)</a:t>
            </a:r>
            <a:endParaRPr sz="1600"/>
          </a:p>
        </p:txBody>
      </p:sp>
      <p:sp>
        <p:nvSpPr>
          <p:cNvPr id="136" name="Google Shape;136;p24"/>
          <p:cNvSpPr txBox="1"/>
          <p:nvPr/>
        </p:nvSpPr>
        <p:spPr>
          <a:xfrm>
            <a:off x="1372700" y="3708300"/>
            <a:ext cx="6557100" cy="435000"/>
          </a:xfrm>
          <a:prstGeom prst="rect">
            <a:avLst/>
          </a:prstGeom>
          <a:no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l" sz="1800">
                <a:solidFill>
                  <a:srgbClr val="FF00FF"/>
                </a:solidFill>
              </a:rPr>
              <a:t>ALWAYS FIRST TRAIN-TEST SPLIT AND THEN NORMALIZE</a:t>
            </a:r>
            <a:endParaRPr sz="1800">
              <a:solidFill>
                <a:srgbClr val="FF00FF"/>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5"/>
          <p:cNvSpPr txBox="1"/>
          <p:nvPr/>
        </p:nvSpPr>
        <p:spPr>
          <a:xfrm>
            <a:off x="311700" y="1152475"/>
            <a:ext cx="8520600" cy="1236600"/>
          </a:xfrm>
          <a:prstGeom prst="rect">
            <a:avLst/>
          </a:prstGeom>
          <a:noFill/>
          <a:ln>
            <a:noFill/>
          </a:ln>
        </p:spPr>
        <p:txBody>
          <a:bodyPr anchorCtr="0" anchor="t" bIns="91425" lIns="91425" spcFirstLastPara="1" rIns="91425" wrap="square" tIns="91425">
            <a:noAutofit/>
          </a:bodyPr>
          <a:lstStyle/>
          <a:p>
            <a:pPr indent="-330200" lvl="0" marL="457200" rtl="0" algn="l">
              <a:lnSpc>
                <a:spcPct val="115000"/>
              </a:lnSpc>
              <a:spcBef>
                <a:spcPts val="0"/>
              </a:spcBef>
              <a:spcAft>
                <a:spcPts val="0"/>
              </a:spcAft>
              <a:buSzPts val="1600"/>
              <a:buFont typeface="Arial"/>
              <a:buChar char="●"/>
            </a:pPr>
            <a:r>
              <a:rPr lang="el" sz="1600"/>
              <a:t>Use the whole dataset (including valid/test) to generate global statistics/info</a:t>
            </a:r>
            <a:endParaRPr sz="1600"/>
          </a:p>
          <a:p>
            <a:pPr indent="-330200" lvl="1" marL="914400" rtl="0" algn="l">
              <a:lnSpc>
                <a:spcPct val="115000"/>
              </a:lnSpc>
              <a:spcBef>
                <a:spcPts val="0"/>
              </a:spcBef>
              <a:spcAft>
                <a:spcPts val="0"/>
              </a:spcAft>
              <a:buSzPts val="1600"/>
              <a:buFont typeface="Arial"/>
              <a:buChar char="○"/>
            </a:pPr>
            <a:r>
              <a:rPr lang="el" sz="1600"/>
              <a:t>mean, variance, min, max, n-gram count, vocabulary, etc.</a:t>
            </a:r>
            <a:endParaRPr sz="1600"/>
          </a:p>
          <a:p>
            <a:pPr indent="-330200" lvl="0" marL="457200" rtl="0" algn="l">
              <a:lnSpc>
                <a:spcPct val="115000"/>
              </a:lnSpc>
              <a:spcBef>
                <a:spcPts val="0"/>
              </a:spcBef>
              <a:spcAft>
                <a:spcPts val="0"/>
              </a:spcAft>
              <a:buSzPts val="1600"/>
              <a:buFont typeface="Arial"/>
              <a:buChar char="●"/>
            </a:pPr>
            <a:r>
              <a:rPr lang="el" sz="1600"/>
              <a:t>Statistics are then used to process test data</a:t>
            </a:r>
            <a:endParaRPr sz="1600"/>
          </a:p>
          <a:p>
            <a:pPr indent="-330200" lvl="1" marL="914400" rtl="0" algn="l">
              <a:lnSpc>
                <a:spcPct val="115000"/>
              </a:lnSpc>
              <a:spcBef>
                <a:spcPts val="0"/>
              </a:spcBef>
              <a:spcAft>
                <a:spcPts val="0"/>
              </a:spcAft>
              <a:buSzPts val="1600"/>
              <a:buFont typeface="Arial"/>
              <a:buChar char="○"/>
            </a:pPr>
            <a:r>
              <a:rPr lang="el" sz="1600"/>
              <a:t>scale, fill in missing values, etc.</a:t>
            </a:r>
            <a:endParaRPr sz="1600"/>
          </a:p>
        </p:txBody>
      </p:sp>
      <p:pic>
        <p:nvPicPr>
          <p:cNvPr id="142" name="Google Shape;142;p25"/>
          <p:cNvPicPr preferRelativeResize="0"/>
          <p:nvPr/>
        </p:nvPicPr>
        <p:blipFill>
          <a:blip r:embed="rId3">
            <a:alphaModFix/>
          </a:blip>
          <a:stretch>
            <a:fillRect/>
          </a:stretch>
        </p:blipFill>
        <p:spPr>
          <a:xfrm>
            <a:off x="2759500" y="2571750"/>
            <a:ext cx="6014751" cy="2447550"/>
          </a:xfrm>
          <a:prstGeom prst="rect">
            <a:avLst/>
          </a:prstGeom>
          <a:noFill/>
          <a:ln>
            <a:noFill/>
          </a:ln>
        </p:spPr>
      </p:pic>
      <p:sp>
        <p:nvSpPr>
          <p:cNvPr id="143" name="Google Shape;143;p25"/>
          <p:cNvSpPr txBox="1"/>
          <p:nvPr/>
        </p:nvSpPr>
        <p:spPr>
          <a:xfrm>
            <a:off x="5796361" y="4490722"/>
            <a:ext cx="17220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l" sz="900">
                <a:solidFill>
                  <a:srgbClr val="FF00FF"/>
                </a:solidFill>
                <a:latin typeface="Nunito"/>
                <a:ea typeface="Nunito"/>
                <a:cs typeface="Nunito"/>
                <a:sym typeface="Nunito"/>
              </a:rPr>
              <a:t>mean(train + test) = 93.538</a:t>
            </a:r>
            <a:endParaRPr sz="900">
              <a:solidFill>
                <a:srgbClr val="FF00FF"/>
              </a:solidFill>
              <a:latin typeface="Nunito"/>
              <a:ea typeface="Nunito"/>
              <a:cs typeface="Nunito"/>
              <a:sym typeface="Nunito"/>
            </a:endParaRPr>
          </a:p>
        </p:txBody>
      </p:sp>
      <p:sp>
        <p:nvSpPr>
          <p:cNvPr id="144" name="Google Shape;144;p25"/>
          <p:cNvSpPr txBox="1"/>
          <p:nvPr/>
        </p:nvSpPr>
        <p:spPr>
          <a:xfrm>
            <a:off x="6956675" y="3997621"/>
            <a:ext cx="17220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l" sz="900">
                <a:solidFill>
                  <a:srgbClr val="FF00FF"/>
                </a:solidFill>
                <a:latin typeface="Nunito"/>
                <a:ea typeface="Nunito"/>
                <a:cs typeface="Nunito"/>
                <a:sym typeface="Nunito"/>
              </a:rPr>
              <a:t>mean(test) = 90.326 </a:t>
            </a:r>
            <a:endParaRPr sz="900">
              <a:solidFill>
                <a:srgbClr val="FF00FF"/>
              </a:solidFill>
              <a:latin typeface="Nunito"/>
              <a:ea typeface="Nunito"/>
              <a:cs typeface="Nunito"/>
              <a:sym typeface="Nunito"/>
            </a:endParaRPr>
          </a:p>
        </p:txBody>
      </p:sp>
      <p:sp>
        <p:nvSpPr>
          <p:cNvPr id="145" name="Google Shape;145;p25"/>
          <p:cNvSpPr txBox="1"/>
          <p:nvPr/>
        </p:nvSpPr>
        <p:spPr>
          <a:xfrm>
            <a:off x="5718758" y="2687729"/>
            <a:ext cx="1077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l">
                <a:latin typeface="Nunito"/>
                <a:ea typeface="Nunito"/>
                <a:cs typeface="Nunito"/>
                <a:sym typeface="Nunito"/>
              </a:rPr>
              <a:t>Train split</a:t>
            </a:r>
            <a:endParaRPr b="1">
              <a:latin typeface="Nunito"/>
              <a:ea typeface="Nunito"/>
              <a:cs typeface="Nunito"/>
              <a:sym typeface="Nunito"/>
            </a:endParaRPr>
          </a:p>
        </p:txBody>
      </p:sp>
      <p:sp>
        <p:nvSpPr>
          <p:cNvPr id="146" name="Google Shape;146;p25"/>
          <p:cNvSpPr txBox="1"/>
          <p:nvPr/>
        </p:nvSpPr>
        <p:spPr>
          <a:xfrm>
            <a:off x="6919828" y="2687729"/>
            <a:ext cx="1077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l">
                <a:latin typeface="Nunito"/>
                <a:ea typeface="Nunito"/>
                <a:cs typeface="Nunito"/>
                <a:sym typeface="Nunito"/>
              </a:rPr>
              <a:t>Test split</a:t>
            </a:r>
            <a:endParaRPr b="1">
              <a:latin typeface="Nunito"/>
              <a:ea typeface="Nunito"/>
              <a:cs typeface="Nunito"/>
              <a:sym typeface="Nunito"/>
            </a:endParaRPr>
          </a:p>
        </p:txBody>
      </p:sp>
      <p:sp>
        <p:nvSpPr>
          <p:cNvPr id="147" name="Google Shape;147;p25"/>
          <p:cNvSpPr txBox="1"/>
          <p:nvPr/>
        </p:nvSpPr>
        <p:spPr>
          <a:xfrm>
            <a:off x="4657081" y="3997621"/>
            <a:ext cx="17220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l" sz="900">
                <a:solidFill>
                  <a:srgbClr val="FF00FF"/>
                </a:solidFill>
                <a:latin typeface="Nunito"/>
                <a:ea typeface="Nunito"/>
                <a:cs typeface="Nunito"/>
                <a:sym typeface="Nunito"/>
              </a:rPr>
              <a:t>mean(train) = 95.141 </a:t>
            </a:r>
            <a:endParaRPr sz="900">
              <a:solidFill>
                <a:srgbClr val="FF00FF"/>
              </a:solidFill>
              <a:latin typeface="Nunito"/>
              <a:ea typeface="Nunito"/>
              <a:cs typeface="Nunito"/>
              <a:sym typeface="Nunito"/>
            </a:endParaRPr>
          </a:p>
        </p:txBody>
      </p:sp>
      <p:sp>
        <p:nvSpPr>
          <p:cNvPr id="148" name="Google Shape;148;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Example of Data Leakage:</a:t>
            </a:r>
            <a:endParaRPr/>
          </a:p>
        </p:txBody>
      </p:sp>
      <p:sp>
        <p:nvSpPr>
          <p:cNvPr id="149" name="Google Shape;149;p25"/>
          <p:cNvSpPr txBox="1"/>
          <p:nvPr/>
        </p:nvSpPr>
        <p:spPr>
          <a:xfrm>
            <a:off x="85725" y="3166400"/>
            <a:ext cx="2631000" cy="1473900"/>
          </a:xfrm>
          <a:prstGeom prst="rect">
            <a:avLst/>
          </a:prstGeom>
          <a:no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l"/>
              <a:t>Using the test set for taking the mean, reduces the mean of the training set!</a:t>
            </a:r>
            <a:endParaRPr/>
          </a:p>
          <a:p>
            <a:pPr indent="0" lvl="0" marL="0" rtl="0" algn="l">
              <a:spcBef>
                <a:spcPts val="0"/>
              </a:spcBef>
              <a:spcAft>
                <a:spcPts val="0"/>
              </a:spcAft>
              <a:buNone/>
            </a:pPr>
            <a:r>
              <a:t/>
            </a:r>
            <a:endParaRPr/>
          </a:p>
          <a:p>
            <a:pPr indent="0" lvl="0" marL="0" rtl="0" algn="l">
              <a:spcBef>
                <a:spcPts val="0"/>
              </a:spcBef>
              <a:spcAft>
                <a:spcPts val="0"/>
              </a:spcAft>
              <a:buNone/>
            </a:pPr>
            <a:r>
              <a:rPr lang="el"/>
              <a:t>So the model gets a hint that the signal will decrease</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Example of Data Leakage:</a:t>
            </a:r>
            <a:endParaRPr/>
          </a:p>
        </p:txBody>
      </p:sp>
      <p:pic>
        <p:nvPicPr>
          <p:cNvPr id="155" name="Google Shape;155;p26"/>
          <p:cNvPicPr preferRelativeResize="0"/>
          <p:nvPr/>
        </p:nvPicPr>
        <p:blipFill>
          <a:blip r:embed="rId3">
            <a:alphaModFix/>
          </a:blip>
          <a:stretch>
            <a:fillRect/>
          </a:stretch>
        </p:blipFill>
        <p:spPr>
          <a:xfrm>
            <a:off x="2759500" y="2571750"/>
            <a:ext cx="6014751" cy="2447550"/>
          </a:xfrm>
          <a:prstGeom prst="rect">
            <a:avLst/>
          </a:prstGeom>
          <a:noFill/>
          <a:ln>
            <a:noFill/>
          </a:ln>
        </p:spPr>
      </p:pic>
      <p:sp>
        <p:nvSpPr>
          <p:cNvPr id="156" name="Google Shape;156;p26"/>
          <p:cNvSpPr txBox="1"/>
          <p:nvPr/>
        </p:nvSpPr>
        <p:spPr>
          <a:xfrm>
            <a:off x="5796361" y="4490722"/>
            <a:ext cx="17220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l" sz="900">
                <a:solidFill>
                  <a:srgbClr val="FF00FF"/>
                </a:solidFill>
                <a:latin typeface="Nunito"/>
                <a:ea typeface="Nunito"/>
                <a:cs typeface="Nunito"/>
                <a:sym typeface="Nunito"/>
              </a:rPr>
              <a:t>mean(train + test) = 93.538</a:t>
            </a:r>
            <a:endParaRPr sz="900">
              <a:solidFill>
                <a:srgbClr val="FF00FF"/>
              </a:solidFill>
              <a:latin typeface="Nunito"/>
              <a:ea typeface="Nunito"/>
              <a:cs typeface="Nunito"/>
              <a:sym typeface="Nunito"/>
            </a:endParaRPr>
          </a:p>
        </p:txBody>
      </p:sp>
      <p:sp>
        <p:nvSpPr>
          <p:cNvPr id="157" name="Google Shape;157;p26"/>
          <p:cNvSpPr txBox="1"/>
          <p:nvPr/>
        </p:nvSpPr>
        <p:spPr>
          <a:xfrm>
            <a:off x="6956675" y="3997621"/>
            <a:ext cx="17220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l" sz="900">
                <a:solidFill>
                  <a:srgbClr val="FF00FF"/>
                </a:solidFill>
                <a:latin typeface="Nunito"/>
                <a:ea typeface="Nunito"/>
                <a:cs typeface="Nunito"/>
                <a:sym typeface="Nunito"/>
              </a:rPr>
              <a:t>mean(test) = 90.326 </a:t>
            </a:r>
            <a:endParaRPr sz="900">
              <a:solidFill>
                <a:srgbClr val="FF00FF"/>
              </a:solidFill>
              <a:latin typeface="Nunito"/>
              <a:ea typeface="Nunito"/>
              <a:cs typeface="Nunito"/>
              <a:sym typeface="Nunito"/>
            </a:endParaRPr>
          </a:p>
        </p:txBody>
      </p:sp>
      <p:sp>
        <p:nvSpPr>
          <p:cNvPr id="158" name="Google Shape;158;p26"/>
          <p:cNvSpPr txBox="1"/>
          <p:nvPr/>
        </p:nvSpPr>
        <p:spPr>
          <a:xfrm>
            <a:off x="5718758" y="2687729"/>
            <a:ext cx="1077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l">
                <a:latin typeface="Nunito"/>
                <a:ea typeface="Nunito"/>
                <a:cs typeface="Nunito"/>
                <a:sym typeface="Nunito"/>
              </a:rPr>
              <a:t>Train split</a:t>
            </a:r>
            <a:endParaRPr b="1">
              <a:latin typeface="Nunito"/>
              <a:ea typeface="Nunito"/>
              <a:cs typeface="Nunito"/>
              <a:sym typeface="Nunito"/>
            </a:endParaRPr>
          </a:p>
        </p:txBody>
      </p:sp>
      <p:sp>
        <p:nvSpPr>
          <p:cNvPr id="159" name="Google Shape;159;p26"/>
          <p:cNvSpPr txBox="1"/>
          <p:nvPr/>
        </p:nvSpPr>
        <p:spPr>
          <a:xfrm>
            <a:off x="6919828" y="2687729"/>
            <a:ext cx="1077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l">
                <a:latin typeface="Nunito"/>
                <a:ea typeface="Nunito"/>
                <a:cs typeface="Nunito"/>
                <a:sym typeface="Nunito"/>
              </a:rPr>
              <a:t>Test split</a:t>
            </a:r>
            <a:endParaRPr b="1">
              <a:latin typeface="Nunito"/>
              <a:ea typeface="Nunito"/>
              <a:cs typeface="Nunito"/>
              <a:sym typeface="Nunito"/>
            </a:endParaRPr>
          </a:p>
        </p:txBody>
      </p:sp>
      <p:sp>
        <p:nvSpPr>
          <p:cNvPr id="160" name="Google Shape;160;p26"/>
          <p:cNvSpPr txBox="1"/>
          <p:nvPr/>
        </p:nvSpPr>
        <p:spPr>
          <a:xfrm>
            <a:off x="4657081" y="3997621"/>
            <a:ext cx="17220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l" sz="900">
                <a:solidFill>
                  <a:srgbClr val="FF00FF"/>
                </a:solidFill>
                <a:latin typeface="Nunito"/>
                <a:ea typeface="Nunito"/>
                <a:cs typeface="Nunito"/>
                <a:sym typeface="Nunito"/>
              </a:rPr>
              <a:t>mean(train) = 95.141 </a:t>
            </a:r>
            <a:endParaRPr sz="900">
              <a:solidFill>
                <a:srgbClr val="FF00FF"/>
              </a:solidFill>
              <a:latin typeface="Nunito"/>
              <a:ea typeface="Nunito"/>
              <a:cs typeface="Nunito"/>
              <a:sym typeface="Nunito"/>
            </a:endParaRPr>
          </a:p>
        </p:txBody>
      </p:sp>
      <p:sp>
        <p:nvSpPr>
          <p:cNvPr id="161" name="Google Shape;161;p26"/>
          <p:cNvSpPr txBox="1"/>
          <p:nvPr/>
        </p:nvSpPr>
        <p:spPr>
          <a:xfrm>
            <a:off x="85725" y="3166400"/>
            <a:ext cx="2631000" cy="1473900"/>
          </a:xfrm>
          <a:prstGeom prst="rect">
            <a:avLst/>
          </a:prstGeom>
          <a:no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l"/>
              <a:t>Using the test set for taking the mean, reduces the mean of the training set!</a:t>
            </a:r>
            <a:endParaRPr/>
          </a:p>
          <a:p>
            <a:pPr indent="0" lvl="0" marL="0" rtl="0" algn="l">
              <a:spcBef>
                <a:spcPts val="0"/>
              </a:spcBef>
              <a:spcAft>
                <a:spcPts val="0"/>
              </a:spcAft>
              <a:buNone/>
            </a:pPr>
            <a:r>
              <a:t/>
            </a:r>
            <a:endParaRPr/>
          </a:p>
          <a:p>
            <a:pPr indent="0" lvl="0" marL="0" rtl="0" algn="l">
              <a:spcBef>
                <a:spcPts val="0"/>
              </a:spcBef>
              <a:spcAft>
                <a:spcPts val="0"/>
              </a:spcAft>
              <a:buNone/>
            </a:pPr>
            <a:r>
              <a:rPr lang="el"/>
              <a:t>So the model gets a hint that the signal will decrease</a:t>
            </a:r>
            <a:endParaRPr/>
          </a:p>
        </p:txBody>
      </p:sp>
      <p:sp>
        <p:nvSpPr>
          <p:cNvPr id="162" name="Google Shape;162;p26"/>
          <p:cNvSpPr txBox="1"/>
          <p:nvPr/>
        </p:nvSpPr>
        <p:spPr>
          <a:xfrm>
            <a:off x="311700" y="1152475"/>
            <a:ext cx="8520600" cy="1038300"/>
          </a:xfrm>
          <a:prstGeom prst="rect">
            <a:avLst/>
          </a:prstGeom>
          <a:noFill/>
          <a:ln>
            <a:noFill/>
          </a:ln>
        </p:spPr>
        <p:txBody>
          <a:bodyPr anchorCtr="0" anchor="t" bIns="91425" lIns="91425" spcFirstLastPara="1" rIns="91425" wrap="square" tIns="91425">
            <a:noAutofit/>
          </a:bodyPr>
          <a:lstStyle/>
          <a:p>
            <a:pPr indent="-330200" lvl="0" marL="457200" rtl="0" algn="l">
              <a:lnSpc>
                <a:spcPct val="115000"/>
              </a:lnSpc>
              <a:spcBef>
                <a:spcPts val="0"/>
              </a:spcBef>
              <a:spcAft>
                <a:spcPts val="0"/>
              </a:spcAft>
              <a:buSzPts val="1600"/>
              <a:buFont typeface="Arial"/>
              <a:buChar char="●"/>
            </a:pPr>
            <a:r>
              <a:rPr lang="el" sz="1600"/>
              <a:t>Use the whole dataset (including valid/test) to generate global statistics/info</a:t>
            </a:r>
            <a:endParaRPr sz="1600"/>
          </a:p>
          <a:p>
            <a:pPr indent="-330200" lvl="0" marL="457200" rtl="0" algn="l">
              <a:lnSpc>
                <a:spcPct val="115000"/>
              </a:lnSpc>
              <a:spcBef>
                <a:spcPts val="0"/>
              </a:spcBef>
              <a:spcAft>
                <a:spcPts val="0"/>
              </a:spcAft>
              <a:buClr>
                <a:schemeClr val="dk1"/>
              </a:buClr>
              <a:buSzPts val="1600"/>
              <a:buFont typeface="Arial"/>
              <a:buChar char="●"/>
            </a:pPr>
            <a:r>
              <a:rPr lang="el" sz="1600">
                <a:solidFill>
                  <a:schemeClr val="dk1"/>
                </a:solidFill>
              </a:rPr>
              <a:t>Instead</a:t>
            </a:r>
            <a:r>
              <a:rPr lang="el" sz="1600">
                <a:solidFill>
                  <a:schemeClr val="dk1"/>
                </a:solidFill>
              </a:rPr>
              <a:t>:</a:t>
            </a:r>
            <a:endParaRPr sz="1600">
              <a:solidFill>
                <a:schemeClr val="dk1"/>
              </a:solidFill>
            </a:endParaRPr>
          </a:p>
          <a:p>
            <a:pPr indent="-330200" lvl="1" marL="914400" rtl="0" algn="l">
              <a:lnSpc>
                <a:spcPct val="115000"/>
              </a:lnSpc>
              <a:spcBef>
                <a:spcPts val="0"/>
              </a:spcBef>
              <a:spcAft>
                <a:spcPts val="0"/>
              </a:spcAft>
              <a:buClr>
                <a:srgbClr val="FF00FF"/>
              </a:buClr>
              <a:buSzPts val="1600"/>
              <a:buFont typeface="Arial"/>
              <a:buChar char="○"/>
            </a:pPr>
            <a:r>
              <a:rPr lang="el" sz="1600">
                <a:solidFill>
                  <a:srgbClr val="FF00FF"/>
                </a:solidFill>
              </a:rPr>
              <a:t>Split your data before scaling/filling in missing values </a:t>
            </a:r>
            <a:endParaRPr sz="1600">
              <a:solidFill>
                <a:srgbClr val="FF00FF"/>
              </a:solidFill>
            </a:endParaRPr>
          </a:p>
          <a:p>
            <a:pPr indent="-330200" lvl="1" marL="914400" rtl="0" algn="l">
              <a:lnSpc>
                <a:spcPct val="115000"/>
              </a:lnSpc>
              <a:spcBef>
                <a:spcPts val="0"/>
              </a:spcBef>
              <a:spcAft>
                <a:spcPts val="0"/>
              </a:spcAft>
              <a:buClr>
                <a:srgbClr val="FF00FF"/>
              </a:buClr>
              <a:buSzPts val="1600"/>
              <a:buFont typeface="Arial"/>
              <a:buChar char="○"/>
            </a:pPr>
            <a:r>
              <a:rPr lang="el" sz="1600">
                <a:solidFill>
                  <a:srgbClr val="FF00FF"/>
                </a:solidFill>
              </a:rPr>
              <a:t>Split even before any EDA to ensure you’re blind to the test set</a:t>
            </a:r>
            <a:endParaRPr sz="1600">
              <a:solidFill>
                <a:srgbClr val="FF00FF"/>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Causes of Data Leakage</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Causes of Data Leakage</a:t>
            </a:r>
            <a:endParaRPr/>
          </a:p>
        </p:txBody>
      </p:sp>
      <p:sp>
        <p:nvSpPr>
          <p:cNvPr id="173" name="Google Shape;173;p28"/>
          <p:cNvSpPr txBox="1"/>
          <p:nvPr/>
        </p:nvSpPr>
        <p:spPr>
          <a:xfrm>
            <a:off x="432900" y="1422750"/>
            <a:ext cx="8278200" cy="2741400"/>
          </a:xfrm>
          <a:prstGeom prst="rect">
            <a:avLst/>
          </a:prstGeom>
          <a:noFill/>
          <a:ln>
            <a:noFill/>
          </a:ln>
        </p:spPr>
        <p:txBody>
          <a:bodyPr anchorCtr="0" anchor="t" bIns="91425" lIns="91425" spcFirstLastPara="1" rIns="91425" wrap="square" tIns="91425">
            <a:noAutofit/>
          </a:bodyPr>
          <a:lstStyle/>
          <a:p>
            <a:pPr indent="-330200" lvl="0" marL="457200" rtl="0" algn="l">
              <a:lnSpc>
                <a:spcPct val="115000"/>
              </a:lnSpc>
              <a:spcBef>
                <a:spcPts val="0"/>
              </a:spcBef>
              <a:spcAft>
                <a:spcPts val="0"/>
              </a:spcAft>
              <a:buClr>
                <a:schemeClr val="dk1"/>
              </a:buClr>
              <a:buSzPts val="1600"/>
              <a:buAutoNum type="arabicPeriod"/>
            </a:pPr>
            <a:r>
              <a:rPr lang="el" sz="1600">
                <a:solidFill>
                  <a:schemeClr val="dk1"/>
                </a:solidFill>
              </a:rPr>
              <a:t>Leakage on data collection</a:t>
            </a:r>
            <a:endParaRPr sz="1600">
              <a:solidFill>
                <a:schemeClr val="dk1"/>
              </a:solidFill>
            </a:endParaRPr>
          </a:p>
          <a:p>
            <a:pPr indent="-330200" lvl="1" marL="914400" rtl="0" algn="l">
              <a:lnSpc>
                <a:spcPct val="115000"/>
              </a:lnSpc>
              <a:spcBef>
                <a:spcPts val="0"/>
              </a:spcBef>
              <a:spcAft>
                <a:spcPts val="0"/>
              </a:spcAft>
              <a:buClr>
                <a:schemeClr val="dk1"/>
              </a:buClr>
              <a:buSzPts val="1600"/>
              <a:buAutoNum type="alphaLcPeriod"/>
            </a:pPr>
            <a:r>
              <a:rPr lang="el" sz="1600">
                <a:solidFill>
                  <a:schemeClr val="dk1"/>
                </a:solidFill>
              </a:rPr>
              <a:t>Features contain information on the true label because of the way data is collected</a:t>
            </a:r>
            <a:endParaRPr sz="1600">
              <a:solidFill>
                <a:schemeClr val="dk1"/>
              </a:solidFill>
            </a:endParaRPr>
          </a:p>
          <a:p>
            <a:pPr indent="-330200" lvl="0" marL="457200" rtl="0" algn="l">
              <a:lnSpc>
                <a:spcPct val="115000"/>
              </a:lnSpc>
              <a:spcBef>
                <a:spcPts val="0"/>
              </a:spcBef>
              <a:spcAft>
                <a:spcPts val="0"/>
              </a:spcAft>
              <a:buClr>
                <a:schemeClr val="dk1"/>
              </a:buClr>
              <a:buSzPts val="1600"/>
              <a:buAutoNum type="arabicPeriod"/>
            </a:pPr>
            <a:r>
              <a:rPr lang="el" sz="1600">
                <a:solidFill>
                  <a:schemeClr val="dk1"/>
                </a:solidFill>
              </a:rPr>
              <a:t>Splitting time-correlated data randomly instead of time </a:t>
            </a:r>
            <a:endParaRPr sz="1600">
              <a:solidFill>
                <a:schemeClr val="dk1"/>
              </a:solidFill>
            </a:endParaRPr>
          </a:p>
          <a:p>
            <a:pPr indent="-330200" lvl="1" marL="914400" rtl="0" algn="l">
              <a:lnSpc>
                <a:spcPct val="115000"/>
              </a:lnSpc>
              <a:spcBef>
                <a:spcPts val="0"/>
              </a:spcBef>
              <a:spcAft>
                <a:spcPts val="0"/>
              </a:spcAft>
              <a:buClr>
                <a:schemeClr val="dk1"/>
              </a:buClr>
              <a:buSzPts val="1600"/>
              <a:buAutoNum type="alphaLcPeriod"/>
            </a:pPr>
            <a:r>
              <a:rPr lang="el" sz="1600">
                <a:solidFill>
                  <a:schemeClr val="dk1"/>
                </a:solidFill>
              </a:rPr>
              <a:t>We usually shuffle our data before splitting! </a:t>
            </a:r>
            <a:endParaRPr sz="1600">
              <a:solidFill>
                <a:schemeClr val="dk1"/>
              </a:solidFill>
            </a:endParaRPr>
          </a:p>
          <a:p>
            <a:pPr indent="-330200" lvl="1" marL="914400" rtl="0" algn="l">
              <a:lnSpc>
                <a:spcPct val="115000"/>
              </a:lnSpc>
              <a:spcBef>
                <a:spcPts val="0"/>
              </a:spcBef>
              <a:spcAft>
                <a:spcPts val="0"/>
              </a:spcAft>
              <a:buClr>
                <a:schemeClr val="dk1"/>
              </a:buClr>
              <a:buSzPts val="1600"/>
              <a:buAutoNum type="alphaLcPeriod"/>
            </a:pPr>
            <a:r>
              <a:rPr lang="el" sz="1600">
                <a:solidFill>
                  <a:schemeClr val="dk1"/>
                </a:solidFill>
              </a:rPr>
              <a:t>But with time-related features shuffling is not a good option!</a:t>
            </a:r>
            <a:endParaRPr sz="1600">
              <a:solidFill>
                <a:schemeClr val="dk1"/>
              </a:solidFill>
            </a:endParaRPr>
          </a:p>
          <a:p>
            <a:pPr indent="-330200" lvl="0" marL="457200" rtl="0" algn="l">
              <a:lnSpc>
                <a:spcPct val="115000"/>
              </a:lnSpc>
              <a:spcBef>
                <a:spcPts val="0"/>
              </a:spcBef>
              <a:spcAft>
                <a:spcPts val="0"/>
              </a:spcAft>
              <a:buClr>
                <a:schemeClr val="dk1"/>
              </a:buClr>
              <a:buSzPts val="1600"/>
              <a:buAutoNum type="arabicPeriod"/>
            </a:pPr>
            <a:r>
              <a:rPr lang="el" sz="1600">
                <a:solidFill>
                  <a:schemeClr val="dk1"/>
                </a:solidFill>
              </a:rPr>
              <a:t>Data processing before splitting</a:t>
            </a:r>
            <a:endParaRPr sz="1600">
              <a:solidFill>
                <a:schemeClr val="dk1"/>
              </a:solidFill>
            </a:endParaRPr>
          </a:p>
          <a:p>
            <a:pPr indent="-330200" lvl="1" marL="914400" rtl="0" algn="l">
              <a:lnSpc>
                <a:spcPct val="115000"/>
              </a:lnSpc>
              <a:spcBef>
                <a:spcPts val="0"/>
              </a:spcBef>
              <a:spcAft>
                <a:spcPts val="0"/>
              </a:spcAft>
              <a:buClr>
                <a:schemeClr val="dk1"/>
              </a:buClr>
              <a:buSzPts val="1600"/>
              <a:buAutoNum type="alphaLcPeriod"/>
            </a:pPr>
            <a:r>
              <a:rPr lang="el" sz="1600">
                <a:solidFill>
                  <a:schemeClr val="dk1"/>
                </a:solidFill>
              </a:rPr>
              <a:t>Use the whole dataset (including test set) to generate global statistics (for normalization)</a:t>
            </a:r>
            <a:endParaRPr>
              <a:solidFill>
                <a:schemeClr val="dk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How to detect leakage?</a:t>
            </a:r>
            <a:endParaRPr/>
          </a:p>
        </p:txBody>
      </p:sp>
      <p:sp>
        <p:nvSpPr>
          <p:cNvPr id="179" name="Google Shape;179;p29"/>
          <p:cNvSpPr txBox="1"/>
          <p:nvPr/>
        </p:nvSpPr>
        <p:spPr>
          <a:xfrm>
            <a:off x="472125" y="1554900"/>
            <a:ext cx="8485800" cy="2363100"/>
          </a:xfrm>
          <a:prstGeom prst="rect">
            <a:avLst/>
          </a:prstGeom>
          <a:noFill/>
          <a:ln>
            <a:noFill/>
          </a:ln>
        </p:spPr>
        <p:txBody>
          <a:bodyPr anchorCtr="0" anchor="t" bIns="91425" lIns="91425" spcFirstLastPara="1" rIns="91425" wrap="square" tIns="91425">
            <a:noAutofit/>
          </a:bodyPr>
          <a:lstStyle/>
          <a:p>
            <a:pPr indent="-330200" lvl="0" marL="457200" rtl="0" algn="l">
              <a:lnSpc>
                <a:spcPct val="115000"/>
              </a:lnSpc>
              <a:spcBef>
                <a:spcPts val="0"/>
              </a:spcBef>
              <a:spcAft>
                <a:spcPts val="0"/>
              </a:spcAft>
              <a:buSzPts val="1600"/>
              <a:buAutoNum type="arabicPeriod"/>
            </a:pPr>
            <a:r>
              <a:rPr lang="el" sz="1600"/>
              <a:t>Measure correlation of a feature with labels</a:t>
            </a:r>
            <a:endParaRPr sz="1600"/>
          </a:p>
          <a:p>
            <a:pPr indent="-330200" lvl="1" marL="914400" rtl="0" algn="l">
              <a:lnSpc>
                <a:spcPct val="115000"/>
              </a:lnSpc>
              <a:spcBef>
                <a:spcPts val="0"/>
              </a:spcBef>
              <a:spcAft>
                <a:spcPts val="0"/>
              </a:spcAft>
              <a:buSzPts val="1600"/>
              <a:buAutoNum type="alphaLcPeriod"/>
            </a:pPr>
            <a:r>
              <a:rPr lang="el" sz="1600"/>
              <a:t>Example with the CT scanner</a:t>
            </a:r>
            <a:endParaRPr sz="1600"/>
          </a:p>
          <a:p>
            <a:pPr indent="-330200" lvl="0" marL="457200" rtl="0" algn="l">
              <a:lnSpc>
                <a:spcPct val="115000"/>
              </a:lnSpc>
              <a:spcBef>
                <a:spcPts val="0"/>
              </a:spcBef>
              <a:spcAft>
                <a:spcPts val="0"/>
              </a:spcAft>
              <a:buSzPts val="1600"/>
              <a:buAutoNum type="arabicPeriod"/>
            </a:pPr>
            <a:r>
              <a:rPr lang="el" sz="1600"/>
              <a:t>Trial - Error</a:t>
            </a:r>
            <a:endParaRPr sz="1600"/>
          </a:p>
          <a:p>
            <a:pPr indent="-330200" lvl="1" marL="914400" rtl="0" algn="l">
              <a:lnSpc>
                <a:spcPct val="115000"/>
              </a:lnSpc>
              <a:spcBef>
                <a:spcPts val="0"/>
              </a:spcBef>
              <a:spcAft>
                <a:spcPts val="0"/>
              </a:spcAft>
              <a:buSzPts val="1600"/>
              <a:buAutoNum type="alphaLcPeriod"/>
            </a:pPr>
            <a:r>
              <a:rPr lang="el" sz="1600"/>
              <a:t>If removing a feature causes the model performance to decrease significantly, figure out why</a:t>
            </a:r>
            <a:endParaRPr sz="1600"/>
          </a:p>
          <a:p>
            <a:pPr indent="-330200" lvl="0" marL="457200" rtl="0" algn="l">
              <a:lnSpc>
                <a:spcPct val="115000"/>
              </a:lnSpc>
              <a:spcBef>
                <a:spcPts val="0"/>
              </a:spcBef>
              <a:spcAft>
                <a:spcPts val="0"/>
              </a:spcAft>
              <a:buSzPts val="1600"/>
              <a:buAutoNum type="arabicPeriod"/>
            </a:pPr>
            <a:r>
              <a:rPr lang="el" sz="1600"/>
              <a:t>Monitor model performance as more features are added</a:t>
            </a:r>
            <a:endParaRPr sz="1600"/>
          </a:p>
          <a:p>
            <a:pPr indent="-330200" lvl="1" marL="914400" rtl="0" algn="l">
              <a:lnSpc>
                <a:spcPct val="115000"/>
              </a:lnSpc>
              <a:spcBef>
                <a:spcPts val="0"/>
              </a:spcBef>
              <a:spcAft>
                <a:spcPts val="0"/>
              </a:spcAft>
              <a:buSzPts val="1600"/>
              <a:buAutoNum type="alphaLcPeriod"/>
            </a:pPr>
            <a:r>
              <a:rPr lang="el" sz="1600"/>
              <a:t>Sudden increase: either a very good feature or leakage: </a:t>
            </a:r>
            <a:r>
              <a:rPr lang="el" sz="1600">
                <a:solidFill>
                  <a:srgbClr val="FF00FF"/>
                </a:solidFill>
              </a:rPr>
              <a:t>usually its leakage :’) </a:t>
            </a:r>
            <a:endParaRPr sz="16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30"/>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l"/>
              <a:t>Model Selection &amp; Feature Engineering</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The Gold Rules for Model selection</a:t>
            </a:r>
            <a:endParaRPr/>
          </a:p>
        </p:txBody>
      </p:sp>
      <p:sp>
        <p:nvSpPr>
          <p:cNvPr id="190" name="Google Shape;190;p31"/>
          <p:cNvSpPr txBox="1"/>
          <p:nvPr/>
        </p:nvSpPr>
        <p:spPr>
          <a:xfrm>
            <a:off x="488900" y="1922200"/>
            <a:ext cx="7641600" cy="1653600"/>
          </a:xfrm>
          <a:prstGeom prst="rect">
            <a:avLst/>
          </a:prstGeom>
          <a:noFill/>
          <a:ln>
            <a:noFill/>
          </a:ln>
        </p:spPr>
        <p:txBody>
          <a:bodyPr anchorCtr="0" anchor="t" bIns="91425" lIns="91425" spcFirstLastPara="1" rIns="91425" wrap="square" tIns="91425">
            <a:noAutofit/>
          </a:bodyPr>
          <a:lstStyle/>
          <a:p>
            <a:pPr indent="-342900" lvl="0" marL="457200" rtl="0" algn="l">
              <a:lnSpc>
                <a:spcPct val="150000"/>
              </a:lnSpc>
              <a:spcBef>
                <a:spcPts val="0"/>
              </a:spcBef>
              <a:spcAft>
                <a:spcPts val="0"/>
              </a:spcAft>
              <a:buClr>
                <a:schemeClr val="dk1"/>
              </a:buClr>
              <a:buSzPts val="1800"/>
              <a:buAutoNum type="arabicPeriod"/>
            </a:pPr>
            <a:r>
              <a:rPr lang="el" sz="1800">
                <a:solidFill>
                  <a:schemeClr val="dk1"/>
                </a:solidFill>
              </a:rPr>
              <a:t>Start with the simplest models.</a:t>
            </a:r>
            <a:endParaRPr sz="1800">
              <a:solidFill>
                <a:schemeClr val="dk1"/>
              </a:solidFill>
            </a:endParaRPr>
          </a:p>
          <a:p>
            <a:pPr indent="-342900" lvl="0" marL="457200" rtl="0" algn="l">
              <a:lnSpc>
                <a:spcPct val="150000"/>
              </a:lnSpc>
              <a:spcBef>
                <a:spcPts val="0"/>
              </a:spcBef>
              <a:spcAft>
                <a:spcPts val="0"/>
              </a:spcAft>
              <a:buClr>
                <a:schemeClr val="dk1"/>
              </a:buClr>
              <a:buSzPts val="1800"/>
              <a:buAutoNum type="arabicPeriod"/>
            </a:pPr>
            <a:r>
              <a:rPr lang="el" sz="1800">
                <a:solidFill>
                  <a:schemeClr val="dk1"/>
                </a:solidFill>
              </a:rPr>
              <a:t>Avoid the social media “hype” traps</a:t>
            </a:r>
            <a:endParaRPr sz="1800">
              <a:solidFill>
                <a:schemeClr val="dk1"/>
              </a:solidFill>
            </a:endParaRPr>
          </a:p>
          <a:p>
            <a:pPr indent="-342900" lvl="0" marL="457200" rtl="0" algn="l">
              <a:lnSpc>
                <a:spcPct val="150000"/>
              </a:lnSpc>
              <a:spcBef>
                <a:spcPts val="0"/>
              </a:spcBef>
              <a:spcAft>
                <a:spcPts val="0"/>
              </a:spcAft>
              <a:buClr>
                <a:schemeClr val="dk1"/>
              </a:buClr>
              <a:buSzPts val="1800"/>
              <a:buAutoNum type="arabicPeriod"/>
            </a:pPr>
            <a:r>
              <a:rPr lang="el" sz="1800">
                <a:solidFill>
                  <a:schemeClr val="dk1"/>
                </a:solidFill>
              </a:rPr>
              <a:t>Evaluate deployment tradeoffs</a:t>
            </a:r>
            <a:endParaRPr sz="1800">
              <a:solidFill>
                <a:schemeClr val="dk1"/>
              </a:solidFill>
            </a:endParaRPr>
          </a:p>
          <a:p>
            <a:pPr indent="-342900" lvl="0" marL="457200" rtl="0" algn="l">
              <a:lnSpc>
                <a:spcPct val="150000"/>
              </a:lnSpc>
              <a:spcBef>
                <a:spcPts val="0"/>
              </a:spcBef>
              <a:spcAft>
                <a:spcPts val="0"/>
              </a:spcAft>
              <a:buClr>
                <a:schemeClr val="dk1"/>
              </a:buClr>
              <a:buSzPts val="1800"/>
              <a:buAutoNum type="arabicPeriod"/>
            </a:pPr>
            <a:r>
              <a:rPr lang="el" sz="1800">
                <a:solidFill>
                  <a:schemeClr val="dk1"/>
                </a:solidFill>
              </a:rPr>
              <a:t>Trust Battle - Tested Models</a:t>
            </a:r>
            <a:endParaRPr sz="1800">
              <a:solidFill>
                <a:schemeClr val="dk1"/>
              </a:solidFill>
            </a:endParaRPr>
          </a:p>
          <a:p>
            <a:pPr indent="-342900" lvl="0" marL="457200" rtl="0" algn="l">
              <a:lnSpc>
                <a:spcPct val="150000"/>
              </a:lnSpc>
              <a:spcBef>
                <a:spcPts val="0"/>
              </a:spcBef>
              <a:spcAft>
                <a:spcPts val="0"/>
              </a:spcAft>
              <a:buClr>
                <a:schemeClr val="dk1"/>
              </a:buClr>
              <a:buSzPts val="1800"/>
              <a:buAutoNum type="arabicPeriod"/>
            </a:pPr>
            <a:r>
              <a:rPr lang="el" sz="1800">
                <a:solidFill>
                  <a:schemeClr val="dk1"/>
                </a:solidFill>
              </a:rPr>
              <a:t>Combine models =&gt; Ensembling!</a:t>
            </a:r>
            <a:endParaRPr sz="1800">
              <a:solidFill>
                <a:schemeClr val="dk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The Gold Rules for Model selection</a:t>
            </a:r>
            <a:endParaRPr/>
          </a:p>
        </p:txBody>
      </p:sp>
      <p:sp>
        <p:nvSpPr>
          <p:cNvPr id="196" name="Google Shape;196;p32"/>
          <p:cNvSpPr txBox="1"/>
          <p:nvPr/>
        </p:nvSpPr>
        <p:spPr>
          <a:xfrm>
            <a:off x="488900" y="1922200"/>
            <a:ext cx="7641600" cy="1653600"/>
          </a:xfrm>
          <a:prstGeom prst="rect">
            <a:avLst/>
          </a:prstGeom>
          <a:noFill/>
          <a:ln>
            <a:noFill/>
          </a:ln>
        </p:spPr>
        <p:txBody>
          <a:bodyPr anchorCtr="0" anchor="t" bIns="91425" lIns="91425" spcFirstLastPara="1" rIns="91425" wrap="square" tIns="91425">
            <a:noAutofit/>
          </a:bodyPr>
          <a:lstStyle/>
          <a:p>
            <a:pPr indent="-342900" lvl="0" marL="457200" rtl="0" algn="l">
              <a:lnSpc>
                <a:spcPct val="150000"/>
              </a:lnSpc>
              <a:spcBef>
                <a:spcPts val="0"/>
              </a:spcBef>
              <a:spcAft>
                <a:spcPts val="0"/>
              </a:spcAft>
              <a:buClr>
                <a:schemeClr val="dk1"/>
              </a:buClr>
              <a:buSzPts val="1800"/>
              <a:buAutoNum type="arabicPeriod"/>
            </a:pPr>
            <a:r>
              <a:rPr lang="el" sz="1800">
                <a:solidFill>
                  <a:schemeClr val="dk1"/>
                </a:solidFill>
              </a:rPr>
              <a:t>Start with the simplest models.</a:t>
            </a:r>
            <a:endParaRPr sz="1800">
              <a:solidFill>
                <a:schemeClr val="dk1"/>
              </a:solidFill>
            </a:endParaRPr>
          </a:p>
          <a:p>
            <a:pPr indent="-342900" lvl="0" marL="457200" rtl="0" algn="l">
              <a:lnSpc>
                <a:spcPct val="150000"/>
              </a:lnSpc>
              <a:spcBef>
                <a:spcPts val="0"/>
              </a:spcBef>
              <a:spcAft>
                <a:spcPts val="0"/>
              </a:spcAft>
              <a:buClr>
                <a:srgbClr val="9E9E9E"/>
              </a:buClr>
              <a:buSzPts val="1800"/>
              <a:buAutoNum type="arabicPeriod"/>
            </a:pPr>
            <a:r>
              <a:rPr lang="el" sz="1800">
                <a:solidFill>
                  <a:srgbClr val="9E9E9E"/>
                </a:solidFill>
              </a:rPr>
              <a:t>Avoid the social media “hype” traps</a:t>
            </a:r>
            <a:endParaRPr sz="1800">
              <a:solidFill>
                <a:srgbClr val="9E9E9E"/>
              </a:solidFill>
            </a:endParaRPr>
          </a:p>
          <a:p>
            <a:pPr indent="-342900" lvl="0" marL="457200" rtl="0" algn="l">
              <a:lnSpc>
                <a:spcPct val="150000"/>
              </a:lnSpc>
              <a:spcBef>
                <a:spcPts val="0"/>
              </a:spcBef>
              <a:spcAft>
                <a:spcPts val="0"/>
              </a:spcAft>
              <a:buClr>
                <a:srgbClr val="9E9E9E"/>
              </a:buClr>
              <a:buSzPts val="1800"/>
              <a:buAutoNum type="arabicPeriod"/>
            </a:pPr>
            <a:r>
              <a:rPr lang="el" sz="1800">
                <a:solidFill>
                  <a:srgbClr val="9E9E9E"/>
                </a:solidFill>
              </a:rPr>
              <a:t>Evaluate deployment tradeoffs</a:t>
            </a:r>
            <a:endParaRPr sz="1800">
              <a:solidFill>
                <a:srgbClr val="9E9E9E"/>
              </a:solidFill>
            </a:endParaRPr>
          </a:p>
          <a:p>
            <a:pPr indent="-342900" lvl="0" marL="457200" rtl="0" algn="l">
              <a:lnSpc>
                <a:spcPct val="150000"/>
              </a:lnSpc>
              <a:spcBef>
                <a:spcPts val="0"/>
              </a:spcBef>
              <a:spcAft>
                <a:spcPts val="0"/>
              </a:spcAft>
              <a:buClr>
                <a:srgbClr val="9E9E9E"/>
              </a:buClr>
              <a:buSzPts val="1800"/>
              <a:buAutoNum type="arabicPeriod"/>
            </a:pPr>
            <a:r>
              <a:rPr lang="el" sz="1800">
                <a:solidFill>
                  <a:srgbClr val="9E9E9E"/>
                </a:solidFill>
              </a:rPr>
              <a:t>Trust Battle - Tested Models</a:t>
            </a:r>
            <a:endParaRPr sz="1800">
              <a:solidFill>
                <a:srgbClr val="9E9E9E"/>
              </a:solidFill>
            </a:endParaRPr>
          </a:p>
          <a:p>
            <a:pPr indent="-342900" lvl="0" marL="457200" rtl="0" algn="l">
              <a:lnSpc>
                <a:spcPct val="150000"/>
              </a:lnSpc>
              <a:spcBef>
                <a:spcPts val="0"/>
              </a:spcBef>
              <a:spcAft>
                <a:spcPts val="0"/>
              </a:spcAft>
              <a:buClr>
                <a:srgbClr val="9E9E9E"/>
              </a:buClr>
              <a:buSzPts val="1800"/>
              <a:buAutoNum type="arabicPeriod"/>
            </a:pPr>
            <a:r>
              <a:rPr lang="el" sz="1800">
                <a:solidFill>
                  <a:srgbClr val="9E9E9E"/>
                </a:solidFill>
              </a:rPr>
              <a:t>Combine models =&gt; Ensembling!</a:t>
            </a:r>
            <a:endParaRPr sz="1800">
              <a:solidFill>
                <a:srgbClr val="9E9E9E"/>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The importance of Baselines</a:t>
            </a:r>
            <a:endParaRPr/>
          </a:p>
        </p:txBody>
      </p:sp>
      <p:sp>
        <p:nvSpPr>
          <p:cNvPr id="202" name="Google Shape;202;p33"/>
          <p:cNvSpPr txBox="1"/>
          <p:nvPr/>
        </p:nvSpPr>
        <p:spPr>
          <a:xfrm>
            <a:off x="311700" y="1081900"/>
            <a:ext cx="7553100" cy="106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l" sz="1600">
                <a:solidFill>
                  <a:schemeClr val="dk1"/>
                </a:solidFill>
              </a:rPr>
              <a:t>As mentioned in the previous courses:</a:t>
            </a:r>
            <a:endParaRPr sz="1600">
              <a:solidFill>
                <a:schemeClr val="dk1"/>
              </a:solidFill>
            </a:endParaRPr>
          </a:p>
          <a:p>
            <a:pPr indent="0" lvl="0" marL="0" rtl="0" algn="l">
              <a:spcBef>
                <a:spcPts val="0"/>
              </a:spcBef>
              <a:spcAft>
                <a:spcPts val="0"/>
              </a:spcAft>
              <a:buClr>
                <a:schemeClr val="dk1"/>
              </a:buClr>
              <a:buSzPts val="1100"/>
              <a:buFont typeface="Arial"/>
              <a:buNone/>
            </a:pPr>
            <a:r>
              <a:rPr lang="el" sz="1600">
                <a:solidFill>
                  <a:schemeClr val="dk1"/>
                </a:solidFill>
              </a:rPr>
              <a:t>The most important step before modeling is to </a:t>
            </a:r>
            <a:r>
              <a:rPr lang="el" sz="1600">
                <a:solidFill>
                  <a:srgbClr val="FF00FF"/>
                </a:solidFill>
              </a:rPr>
              <a:t>build a Baseline</a:t>
            </a:r>
            <a:r>
              <a:rPr lang="el" sz="1600">
                <a:solidFill>
                  <a:schemeClr val="dk1"/>
                </a:solidFill>
              </a:rPr>
              <a:t>!!</a:t>
            </a:r>
            <a:endParaRPr sz="1600">
              <a:solidFill>
                <a:schemeClr val="dk1"/>
              </a:solidFill>
            </a:endParaRPr>
          </a:p>
          <a:p>
            <a:pPr indent="0" lvl="0" marL="0" rtl="0" algn="l">
              <a:spcBef>
                <a:spcPts val="0"/>
              </a:spcBef>
              <a:spcAft>
                <a:spcPts val="0"/>
              </a:spcAft>
              <a:buClr>
                <a:schemeClr val="dk1"/>
              </a:buClr>
              <a:buSzPts val="1100"/>
              <a:buFont typeface="Arial"/>
              <a:buNone/>
            </a:pPr>
            <a:r>
              <a:t/>
            </a:r>
            <a:endParaRPr sz="1600">
              <a:solidFill>
                <a:schemeClr val="dk1"/>
              </a:solidFill>
            </a:endParaRPr>
          </a:p>
          <a:p>
            <a:pPr indent="0" lvl="0" marL="0" rtl="0" algn="l">
              <a:spcBef>
                <a:spcPts val="0"/>
              </a:spcBef>
              <a:spcAft>
                <a:spcPts val="0"/>
              </a:spcAft>
              <a:buClr>
                <a:schemeClr val="dk1"/>
              </a:buClr>
              <a:buSzPts val="1100"/>
              <a:buFont typeface="Arial"/>
              <a:buNone/>
            </a:pPr>
            <a:r>
              <a:t/>
            </a:r>
            <a:endParaRPr sz="1600">
              <a:solidFill>
                <a:schemeClr val="dk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The importance of Baselines</a:t>
            </a:r>
            <a:endParaRPr/>
          </a:p>
        </p:txBody>
      </p:sp>
      <p:sp>
        <p:nvSpPr>
          <p:cNvPr id="208" name="Google Shape;208;p34"/>
          <p:cNvSpPr txBox="1"/>
          <p:nvPr/>
        </p:nvSpPr>
        <p:spPr>
          <a:xfrm>
            <a:off x="311700" y="1017725"/>
            <a:ext cx="8651400" cy="106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l" sz="1600">
                <a:solidFill>
                  <a:schemeClr val="dk1"/>
                </a:solidFill>
              </a:rPr>
              <a:t>As mentioned in the previous courses:</a:t>
            </a:r>
            <a:endParaRPr sz="1600">
              <a:solidFill>
                <a:schemeClr val="dk1"/>
              </a:solidFill>
            </a:endParaRPr>
          </a:p>
          <a:p>
            <a:pPr indent="0" lvl="0" marL="0" rtl="0" algn="l">
              <a:spcBef>
                <a:spcPts val="0"/>
              </a:spcBef>
              <a:spcAft>
                <a:spcPts val="0"/>
              </a:spcAft>
              <a:buClr>
                <a:schemeClr val="dk1"/>
              </a:buClr>
              <a:buSzPts val="1100"/>
              <a:buFont typeface="Arial"/>
              <a:buNone/>
            </a:pPr>
            <a:r>
              <a:rPr lang="el" sz="1600">
                <a:solidFill>
                  <a:schemeClr val="dk1"/>
                </a:solidFill>
              </a:rPr>
              <a:t>The most important step before modeling is to </a:t>
            </a:r>
            <a:r>
              <a:rPr lang="el" sz="1600">
                <a:solidFill>
                  <a:srgbClr val="FF00FF"/>
                </a:solidFill>
              </a:rPr>
              <a:t>build a Baseline</a:t>
            </a:r>
            <a:r>
              <a:rPr lang="el" sz="1600">
                <a:solidFill>
                  <a:schemeClr val="dk1"/>
                </a:solidFill>
              </a:rPr>
              <a:t>!!</a:t>
            </a:r>
            <a:endParaRPr sz="1600">
              <a:solidFill>
                <a:schemeClr val="dk1"/>
              </a:solidFill>
            </a:endParaRPr>
          </a:p>
          <a:p>
            <a:pPr indent="0" lvl="0" marL="0" rtl="0" algn="l">
              <a:spcBef>
                <a:spcPts val="0"/>
              </a:spcBef>
              <a:spcAft>
                <a:spcPts val="0"/>
              </a:spcAft>
              <a:buClr>
                <a:schemeClr val="dk1"/>
              </a:buClr>
              <a:buSzPts val="1100"/>
              <a:buFont typeface="Arial"/>
              <a:buNone/>
            </a:pPr>
            <a:r>
              <a:t/>
            </a:r>
            <a:endParaRPr sz="1600">
              <a:solidFill>
                <a:schemeClr val="dk1"/>
              </a:solidFill>
            </a:endParaRPr>
          </a:p>
          <a:p>
            <a:pPr indent="0" lvl="0" marL="0" rtl="0" algn="l">
              <a:spcBef>
                <a:spcPts val="0"/>
              </a:spcBef>
              <a:spcAft>
                <a:spcPts val="0"/>
              </a:spcAft>
              <a:buClr>
                <a:schemeClr val="dk1"/>
              </a:buClr>
              <a:buSzPts val="1100"/>
              <a:buFont typeface="Arial"/>
              <a:buNone/>
            </a:pPr>
            <a:r>
              <a:rPr lang="el" sz="1600">
                <a:solidFill>
                  <a:schemeClr val="dk1"/>
                </a:solidFill>
              </a:rPr>
              <a:t>Consider the application: Predict the demand for ice-creams given past sales.</a:t>
            </a:r>
            <a:endParaRPr sz="1600">
              <a:solidFill>
                <a:schemeClr val="dk1"/>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The importance of Baselines</a:t>
            </a:r>
            <a:endParaRPr/>
          </a:p>
        </p:txBody>
      </p:sp>
      <p:sp>
        <p:nvSpPr>
          <p:cNvPr id="214" name="Google Shape;214;p35"/>
          <p:cNvSpPr txBox="1"/>
          <p:nvPr/>
        </p:nvSpPr>
        <p:spPr>
          <a:xfrm>
            <a:off x="311700" y="1017725"/>
            <a:ext cx="8651400" cy="106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l" sz="1600">
                <a:solidFill>
                  <a:schemeClr val="dk1"/>
                </a:solidFill>
              </a:rPr>
              <a:t>As mentioned in the previous courses:</a:t>
            </a:r>
            <a:endParaRPr sz="1600">
              <a:solidFill>
                <a:schemeClr val="dk1"/>
              </a:solidFill>
            </a:endParaRPr>
          </a:p>
          <a:p>
            <a:pPr indent="0" lvl="0" marL="0" rtl="0" algn="l">
              <a:spcBef>
                <a:spcPts val="0"/>
              </a:spcBef>
              <a:spcAft>
                <a:spcPts val="0"/>
              </a:spcAft>
              <a:buClr>
                <a:schemeClr val="dk1"/>
              </a:buClr>
              <a:buSzPts val="1100"/>
              <a:buFont typeface="Arial"/>
              <a:buNone/>
            </a:pPr>
            <a:r>
              <a:rPr lang="el" sz="1600">
                <a:solidFill>
                  <a:schemeClr val="dk1"/>
                </a:solidFill>
              </a:rPr>
              <a:t>The most important step before modeling is to </a:t>
            </a:r>
            <a:r>
              <a:rPr lang="el" sz="1600">
                <a:solidFill>
                  <a:srgbClr val="FF00FF"/>
                </a:solidFill>
              </a:rPr>
              <a:t>build a Baseline</a:t>
            </a:r>
            <a:r>
              <a:rPr lang="el" sz="1600">
                <a:solidFill>
                  <a:schemeClr val="dk1"/>
                </a:solidFill>
              </a:rPr>
              <a:t>!!</a:t>
            </a:r>
            <a:endParaRPr sz="1600">
              <a:solidFill>
                <a:schemeClr val="dk1"/>
              </a:solidFill>
            </a:endParaRPr>
          </a:p>
          <a:p>
            <a:pPr indent="0" lvl="0" marL="0" rtl="0" algn="l">
              <a:spcBef>
                <a:spcPts val="0"/>
              </a:spcBef>
              <a:spcAft>
                <a:spcPts val="0"/>
              </a:spcAft>
              <a:buClr>
                <a:schemeClr val="dk1"/>
              </a:buClr>
              <a:buSzPts val="1100"/>
              <a:buFont typeface="Arial"/>
              <a:buNone/>
            </a:pPr>
            <a:r>
              <a:t/>
            </a:r>
            <a:endParaRPr sz="1600">
              <a:solidFill>
                <a:schemeClr val="dk1"/>
              </a:solidFill>
            </a:endParaRPr>
          </a:p>
          <a:p>
            <a:pPr indent="0" lvl="0" marL="0" rtl="0" algn="l">
              <a:spcBef>
                <a:spcPts val="0"/>
              </a:spcBef>
              <a:spcAft>
                <a:spcPts val="0"/>
              </a:spcAft>
              <a:buClr>
                <a:schemeClr val="dk1"/>
              </a:buClr>
              <a:buSzPts val="1100"/>
              <a:buFont typeface="Arial"/>
              <a:buNone/>
            </a:pPr>
            <a:r>
              <a:rPr lang="el" sz="1600">
                <a:solidFill>
                  <a:schemeClr val="dk1"/>
                </a:solidFill>
              </a:rPr>
              <a:t>Consider the application: Predict the demand for ice-creams given past sales.</a:t>
            </a:r>
            <a:endParaRPr sz="1600">
              <a:solidFill>
                <a:schemeClr val="dk1"/>
              </a:solidFill>
            </a:endParaRPr>
          </a:p>
        </p:txBody>
      </p:sp>
      <p:sp>
        <p:nvSpPr>
          <p:cNvPr id="215" name="Google Shape;215;p35"/>
          <p:cNvSpPr txBox="1"/>
          <p:nvPr/>
        </p:nvSpPr>
        <p:spPr>
          <a:xfrm>
            <a:off x="174675" y="3354925"/>
            <a:ext cx="4308000" cy="1723200"/>
          </a:xfrm>
          <a:prstGeom prst="rect">
            <a:avLst/>
          </a:prstGeom>
          <a:noFill/>
          <a:ln>
            <a:noFill/>
          </a:ln>
        </p:spPr>
        <p:txBody>
          <a:bodyPr anchorCtr="0" anchor="t" bIns="91425" lIns="91425" spcFirstLastPara="1" rIns="91425" wrap="square" tIns="91425">
            <a:noAutofit/>
          </a:bodyPr>
          <a:lstStyle/>
          <a:p>
            <a:pPr indent="-180975" lvl="0" marL="179999" rtl="0" algn="l">
              <a:lnSpc>
                <a:spcPct val="115000"/>
              </a:lnSpc>
              <a:spcBef>
                <a:spcPts val="0"/>
              </a:spcBef>
              <a:spcAft>
                <a:spcPts val="0"/>
              </a:spcAft>
              <a:buSzPts val="1500"/>
              <a:buChar char="●"/>
            </a:pPr>
            <a:r>
              <a:rPr lang="el" sz="1500"/>
              <a:t>I spend one week building the most advanced Deep Learning Neural Network</a:t>
            </a:r>
            <a:endParaRPr sz="1500"/>
          </a:p>
          <a:p>
            <a:pPr indent="-180975" lvl="0" marL="179999" rtl="0" algn="l">
              <a:lnSpc>
                <a:spcPct val="115000"/>
              </a:lnSpc>
              <a:spcBef>
                <a:spcPts val="0"/>
              </a:spcBef>
              <a:spcAft>
                <a:spcPts val="0"/>
              </a:spcAft>
              <a:buSzPts val="1500"/>
              <a:buChar char="●"/>
            </a:pPr>
            <a:r>
              <a:rPr lang="el" sz="1500"/>
              <a:t>I compare it with the simplest model (a linear regression)</a:t>
            </a:r>
            <a:endParaRPr sz="1500"/>
          </a:p>
          <a:p>
            <a:pPr indent="-180975" lvl="0" marL="179999" rtl="0" algn="l">
              <a:lnSpc>
                <a:spcPct val="115000"/>
              </a:lnSpc>
              <a:spcBef>
                <a:spcPts val="0"/>
              </a:spcBef>
              <a:spcAft>
                <a:spcPts val="0"/>
              </a:spcAft>
              <a:buSzPts val="1500"/>
              <a:buChar char="●"/>
            </a:pPr>
            <a:r>
              <a:rPr lang="el" sz="1500"/>
              <a:t>The performance is equal!!!</a:t>
            </a:r>
            <a:endParaRPr sz="1500"/>
          </a:p>
          <a:p>
            <a:pPr indent="-180975" lvl="0" marL="179999" rtl="0" algn="l">
              <a:lnSpc>
                <a:spcPct val="115000"/>
              </a:lnSpc>
              <a:spcBef>
                <a:spcPts val="0"/>
              </a:spcBef>
              <a:spcAft>
                <a:spcPts val="0"/>
              </a:spcAft>
              <a:buSzPts val="1500"/>
              <a:buChar char="●"/>
            </a:pPr>
            <a:r>
              <a:rPr lang="el" sz="1500"/>
              <a:t>They are mad!</a:t>
            </a:r>
            <a:endParaRPr sz="1500"/>
          </a:p>
        </p:txBody>
      </p:sp>
      <p:pic>
        <p:nvPicPr>
          <p:cNvPr id="216" name="Google Shape;216;p35"/>
          <p:cNvPicPr preferRelativeResize="0"/>
          <p:nvPr/>
        </p:nvPicPr>
        <p:blipFill>
          <a:blip r:embed="rId3">
            <a:alphaModFix/>
          </a:blip>
          <a:stretch>
            <a:fillRect/>
          </a:stretch>
        </p:blipFill>
        <p:spPr>
          <a:xfrm>
            <a:off x="1588550" y="2452925"/>
            <a:ext cx="864500" cy="8645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3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The importance of Baselines</a:t>
            </a:r>
            <a:endParaRPr/>
          </a:p>
        </p:txBody>
      </p:sp>
      <p:sp>
        <p:nvSpPr>
          <p:cNvPr id="222" name="Google Shape;222;p36"/>
          <p:cNvSpPr txBox="1"/>
          <p:nvPr/>
        </p:nvSpPr>
        <p:spPr>
          <a:xfrm>
            <a:off x="174675" y="3354925"/>
            <a:ext cx="4308000" cy="1723200"/>
          </a:xfrm>
          <a:prstGeom prst="rect">
            <a:avLst/>
          </a:prstGeom>
          <a:noFill/>
          <a:ln>
            <a:noFill/>
          </a:ln>
        </p:spPr>
        <p:txBody>
          <a:bodyPr anchorCtr="0" anchor="t" bIns="91425" lIns="91425" spcFirstLastPara="1" rIns="91425" wrap="square" tIns="91425">
            <a:noAutofit/>
          </a:bodyPr>
          <a:lstStyle/>
          <a:p>
            <a:pPr indent="-180975" lvl="0" marL="179999" rtl="0" algn="l">
              <a:lnSpc>
                <a:spcPct val="115000"/>
              </a:lnSpc>
              <a:spcBef>
                <a:spcPts val="0"/>
              </a:spcBef>
              <a:spcAft>
                <a:spcPts val="0"/>
              </a:spcAft>
              <a:buSzPts val="1500"/>
              <a:buChar char="●"/>
            </a:pPr>
            <a:r>
              <a:rPr lang="el" sz="1500"/>
              <a:t>I spend one week building the most advanced Deep Learning Neural Network</a:t>
            </a:r>
            <a:endParaRPr sz="1500"/>
          </a:p>
          <a:p>
            <a:pPr indent="-180975" lvl="0" marL="179999" rtl="0" algn="l">
              <a:lnSpc>
                <a:spcPct val="115000"/>
              </a:lnSpc>
              <a:spcBef>
                <a:spcPts val="0"/>
              </a:spcBef>
              <a:spcAft>
                <a:spcPts val="0"/>
              </a:spcAft>
              <a:buSzPts val="1500"/>
              <a:buChar char="●"/>
            </a:pPr>
            <a:r>
              <a:rPr lang="el" sz="1500"/>
              <a:t>I compare it with the simplest model (a linear regression)</a:t>
            </a:r>
            <a:endParaRPr sz="1500"/>
          </a:p>
          <a:p>
            <a:pPr indent="-180975" lvl="0" marL="179999" rtl="0" algn="l">
              <a:lnSpc>
                <a:spcPct val="115000"/>
              </a:lnSpc>
              <a:spcBef>
                <a:spcPts val="0"/>
              </a:spcBef>
              <a:spcAft>
                <a:spcPts val="0"/>
              </a:spcAft>
              <a:buSzPts val="1500"/>
              <a:buChar char="●"/>
            </a:pPr>
            <a:r>
              <a:rPr lang="el" sz="1500"/>
              <a:t>The performance is equal!!!</a:t>
            </a:r>
            <a:endParaRPr sz="1500"/>
          </a:p>
          <a:p>
            <a:pPr indent="-180975" lvl="0" marL="179999" rtl="0" algn="l">
              <a:lnSpc>
                <a:spcPct val="115000"/>
              </a:lnSpc>
              <a:spcBef>
                <a:spcPts val="0"/>
              </a:spcBef>
              <a:spcAft>
                <a:spcPts val="0"/>
              </a:spcAft>
              <a:buSzPts val="1500"/>
              <a:buChar char="●"/>
            </a:pPr>
            <a:r>
              <a:rPr lang="el" sz="1500"/>
              <a:t>They are mad!</a:t>
            </a:r>
            <a:endParaRPr sz="1500"/>
          </a:p>
        </p:txBody>
      </p:sp>
      <p:sp>
        <p:nvSpPr>
          <p:cNvPr id="223" name="Google Shape;223;p36"/>
          <p:cNvSpPr txBox="1"/>
          <p:nvPr/>
        </p:nvSpPr>
        <p:spPr>
          <a:xfrm>
            <a:off x="4653725" y="3317425"/>
            <a:ext cx="4576800" cy="1798200"/>
          </a:xfrm>
          <a:prstGeom prst="rect">
            <a:avLst/>
          </a:prstGeom>
          <a:noFill/>
          <a:ln>
            <a:noFill/>
          </a:ln>
        </p:spPr>
        <p:txBody>
          <a:bodyPr anchorCtr="0" anchor="t" bIns="91425" lIns="91425" spcFirstLastPara="1" rIns="91425" wrap="square" tIns="91425">
            <a:noAutofit/>
          </a:bodyPr>
          <a:lstStyle/>
          <a:p>
            <a:pPr indent="-190500" lvl="0" marL="269999" rtl="0" algn="l">
              <a:lnSpc>
                <a:spcPct val="115000"/>
              </a:lnSpc>
              <a:spcBef>
                <a:spcPts val="0"/>
              </a:spcBef>
              <a:spcAft>
                <a:spcPts val="0"/>
              </a:spcAft>
              <a:buClr>
                <a:schemeClr val="dk1"/>
              </a:buClr>
              <a:buSzPts val="1500"/>
              <a:buChar char="●"/>
            </a:pPr>
            <a:r>
              <a:rPr lang="el" sz="1500">
                <a:solidFill>
                  <a:schemeClr val="dk1"/>
                </a:solidFill>
              </a:rPr>
              <a:t>I spend one hour building the simplest baseline</a:t>
            </a:r>
            <a:endParaRPr sz="1500">
              <a:solidFill>
                <a:schemeClr val="dk1"/>
              </a:solidFill>
            </a:endParaRPr>
          </a:p>
          <a:p>
            <a:pPr indent="-190500" lvl="0" marL="269999" rtl="0" algn="l">
              <a:lnSpc>
                <a:spcPct val="115000"/>
              </a:lnSpc>
              <a:spcBef>
                <a:spcPts val="0"/>
              </a:spcBef>
              <a:spcAft>
                <a:spcPts val="0"/>
              </a:spcAft>
              <a:buClr>
                <a:schemeClr val="dk1"/>
              </a:buClr>
              <a:buSzPts val="1500"/>
              <a:buChar char="●"/>
            </a:pPr>
            <a:r>
              <a:rPr lang="el" sz="1500">
                <a:solidFill>
                  <a:schemeClr val="dk1"/>
                </a:solidFill>
              </a:rPr>
              <a:t>It achieves good enough performance for them</a:t>
            </a:r>
            <a:endParaRPr sz="1500">
              <a:solidFill>
                <a:schemeClr val="dk1"/>
              </a:solidFill>
            </a:endParaRPr>
          </a:p>
          <a:p>
            <a:pPr indent="-190500" lvl="0" marL="269999" rtl="0" algn="l">
              <a:lnSpc>
                <a:spcPct val="115000"/>
              </a:lnSpc>
              <a:spcBef>
                <a:spcPts val="0"/>
              </a:spcBef>
              <a:spcAft>
                <a:spcPts val="0"/>
              </a:spcAft>
              <a:buClr>
                <a:schemeClr val="dk1"/>
              </a:buClr>
              <a:buSzPts val="1500"/>
              <a:buChar char="●"/>
            </a:pPr>
            <a:r>
              <a:rPr lang="el" sz="1500">
                <a:solidFill>
                  <a:schemeClr val="dk1"/>
                </a:solidFill>
              </a:rPr>
              <a:t>I spend 1 more day and improve the performance a bit based on the mistakes of the first model</a:t>
            </a:r>
            <a:endParaRPr sz="1500">
              <a:solidFill>
                <a:schemeClr val="dk1"/>
              </a:solidFill>
            </a:endParaRPr>
          </a:p>
          <a:p>
            <a:pPr indent="-190500" lvl="0" marL="269999" rtl="0" algn="l">
              <a:lnSpc>
                <a:spcPct val="115000"/>
              </a:lnSpc>
              <a:spcBef>
                <a:spcPts val="0"/>
              </a:spcBef>
              <a:spcAft>
                <a:spcPts val="0"/>
              </a:spcAft>
              <a:buClr>
                <a:schemeClr val="dk1"/>
              </a:buClr>
              <a:buSzPts val="1500"/>
              <a:buChar char="●"/>
            </a:pPr>
            <a:r>
              <a:rPr lang="el" sz="1500">
                <a:solidFill>
                  <a:schemeClr val="dk1"/>
                </a:solidFill>
              </a:rPr>
              <a:t>They are very happy!</a:t>
            </a:r>
            <a:endParaRPr sz="1500"/>
          </a:p>
          <a:p>
            <a:pPr indent="0" lvl="0" marL="457200" rtl="0" algn="l">
              <a:lnSpc>
                <a:spcPct val="115000"/>
              </a:lnSpc>
              <a:spcBef>
                <a:spcPts val="0"/>
              </a:spcBef>
              <a:spcAft>
                <a:spcPts val="0"/>
              </a:spcAft>
              <a:buNone/>
            </a:pPr>
            <a:r>
              <a:t/>
            </a:r>
            <a:endParaRPr sz="1500"/>
          </a:p>
        </p:txBody>
      </p:sp>
      <p:pic>
        <p:nvPicPr>
          <p:cNvPr id="224" name="Google Shape;224;p36"/>
          <p:cNvPicPr preferRelativeResize="0"/>
          <p:nvPr/>
        </p:nvPicPr>
        <p:blipFill>
          <a:blip r:embed="rId3">
            <a:alphaModFix/>
          </a:blip>
          <a:stretch>
            <a:fillRect/>
          </a:stretch>
        </p:blipFill>
        <p:spPr>
          <a:xfrm>
            <a:off x="1588550" y="2452925"/>
            <a:ext cx="864500" cy="864500"/>
          </a:xfrm>
          <a:prstGeom prst="rect">
            <a:avLst/>
          </a:prstGeom>
          <a:noFill/>
          <a:ln>
            <a:noFill/>
          </a:ln>
        </p:spPr>
      </p:pic>
      <p:pic>
        <p:nvPicPr>
          <p:cNvPr id="225" name="Google Shape;225;p36"/>
          <p:cNvPicPr preferRelativeResize="0"/>
          <p:nvPr/>
        </p:nvPicPr>
        <p:blipFill>
          <a:blip r:embed="rId3">
            <a:alphaModFix/>
          </a:blip>
          <a:stretch>
            <a:fillRect/>
          </a:stretch>
        </p:blipFill>
        <p:spPr>
          <a:xfrm>
            <a:off x="6509875" y="2452925"/>
            <a:ext cx="864500" cy="864500"/>
          </a:xfrm>
          <a:prstGeom prst="rect">
            <a:avLst/>
          </a:prstGeom>
          <a:noFill/>
          <a:ln>
            <a:noFill/>
          </a:ln>
        </p:spPr>
      </p:pic>
      <p:sp>
        <p:nvSpPr>
          <p:cNvPr id="226" name="Google Shape;226;p36"/>
          <p:cNvSpPr txBox="1"/>
          <p:nvPr/>
        </p:nvSpPr>
        <p:spPr>
          <a:xfrm>
            <a:off x="311700" y="1017725"/>
            <a:ext cx="8651400" cy="106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l" sz="1600">
                <a:solidFill>
                  <a:schemeClr val="dk1"/>
                </a:solidFill>
              </a:rPr>
              <a:t>As mentioned in the previous courses:</a:t>
            </a:r>
            <a:endParaRPr sz="1600">
              <a:solidFill>
                <a:schemeClr val="dk1"/>
              </a:solidFill>
            </a:endParaRPr>
          </a:p>
          <a:p>
            <a:pPr indent="0" lvl="0" marL="0" rtl="0" algn="l">
              <a:spcBef>
                <a:spcPts val="0"/>
              </a:spcBef>
              <a:spcAft>
                <a:spcPts val="0"/>
              </a:spcAft>
              <a:buClr>
                <a:schemeClr val="dk1"/>
              </a:buClr>
              <a:buSzPts val="1100"/>
              <a:buFont typeface="Arial"/>
              <a:buNone/>
            </a:pPr>
            <a:r>
              <a:rPr lang="el" sz="1600">
                <a:solidFill>
                  <a:schemeClr val="dk1"/>
                </a:solidFill>
              </a:rPr>
              <a:t>The most important step before modeling is to </a:t>
            </a:r>
            <a:r>
              <a:rPr lang="el" sz="1600">
                <a:solidFill>
                  <a:srgbClr val="FF00FF"/>
                </a:solidFill>
              </a:rPr>
              <a:t>build a Baseline</a:t>
            </a:r>
            <a:r>
              <a:rPr lang="el" sz="1600">
                <a:solidFill>
                  <a:schemeClr val="dk1"/>
                </a:solidFill>
              </a:rPr>
              <a:t>!!</a:t>
            </a:r>
            <a:endParaRPr sz="1600">
              <a:solidFill>
                <a:schemeClr val="dk1"/>
              </a:solidFill>
            </a:endParaRPr>
          </a:p>
          <a:p>
            <a:pPr indent="0" lvl="0" marL="0" rtl="0" algn="l">
              <a:spcBef>
                <a:spcPts val="0"/>
              </a:spcBef>
              <a:spcAft>
                <a:spcPts val="0"/>
              </a:spcAft>
              <a:buClr>
                <a:schemeClr val="dk1"/>
              </a:buClr>
              <a:buSzPts val="1100"/>
              <a:buFont typeface="Arial"/>
              <a:buNone/>
            </a:pPr>
            <a:r>
              <a:t/>
            </a:r>
            <a:endParaRPr sz="1600">
              <a:solidFill>
                <a:schemeClr val="dk1"/>
              </a:solidFill>
            </a:endParaRPr>
          </a:p>
          <a:p>
            <a:pPr indent="0" lvl="0" marL="0" rtl="0" algn="l">
              <a:spcBef>
                <a:spcPts val="0"/>
              </a:spcBef>
              <a:spcAft>
                <a:spcPts val="0"/>
              </a:spcAft>
              <a:buClr>
                <a:schemeClr val="dk1"/>
              </a:buClr>
              <a:buSzPts val="1100"/>
              <a:buFont typeface="Arial"/>
              <a:buNone/>
            </a:pPr>
            <a:r>
              <a:rPr lang="el" sz="1600">
                <a:solidFill>
                  <a:schemeClr val="dk1"/>
                </a:solidFill>
              </a:rPr>
              <a:t>Consider the application: Predict the demand for ice-creams given past sales.</a:t>
            </a:r>
            <a:endParaRPr sz="1600">
              <a:solidFill>
                <a:schemeClr val="dk1"/>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3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Start with the simplest models</a:t>
            </a:r>
            <a:endParaRPr/>
          </a:p>
        </p:txBody>
      </p:sp>
      <p:sp>
        <p:nvSpPr>
          <p:cNvPr id="232" name="Google Shape;232;p37"/>
          <p:cNvSpPr txBox="1"/>
          <p:nvPr/>
        </p:nvSpPr>
        <p:spPr>
          <a:xfrm>
            <a:off x="311700" y="1658650"/>
            <a:ext cx="8766000" cy="26856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Char char="●"/>
            </a:pPr>
            <a:r>
              <a:rPr lang="el" sz="1800"/>
              <a:t>Easier to deploy</a:t>
            </a:r>
            <a:endParaRPr sz="1800"/>
          </a:p>
          <a:p>
            <a:pPr indent="-342900" lvl="1" marL="914400" rtl="0" algn="l">
              <a:lnSpc>
                <a:spcPct val="115000"/>
              </a:lnSpc>
              <a:spcBef>
                <a:spcPts val="0"/>
              </a:spcBef>
              <a:spcAft>
                <a:spcPts val="0"/>
              </a:spcAft>
              <a:buSzPts val="1800"/>
              <a:buChar char="○"/>
            </a:pPr>
            <a:r>
              <a:rPr lang="el" sz="1800"/>
              <a:t>Deploying early allows for other team members to improve other pipelines</a:t>
            </a:r>
            <a:endParaRPr sz="1800"/>
          </a:p>
          <a:p>
            <a:pPr indent="-342900" lvl="0" marL="457200" rtl="0" algn="l">
              <a:lnSpc>
                <a:spcPct val="115000"/>
              </a:lnSpc>
              <a:spcBef>
                <a:spcPts val="0"/>
              </a:spcBef>
              <a:spcAft>
                <a:spcPts val="0"/>
              </a:spcAft>
              <a:buSzPts val="1800"/>
              <a:buChar char="●"/>
            </a:pPr>
            <a:r>
              <a:rPr lang="el" sz="1800"/>
              <a:t>Easier to debug</a:t>
            </a:r>
            <a:endParaRPr sz="1800"/>
          </a:p>
          <a:p>
            <a:pPr indent="-342900" lvl="0" marL="457200" rtl="0" algn="l">
              <a:lnSpc>
                <a:spcPct val="115000"/>
              </a:lnSpc>
              <a:spcBef>
                <a:spcPts val="0"/>
              </a:spcBef>
              <a:spcAft>
                <a:spcPts val="0"/>
              </a:spcAft>
              <a:buSzPts val="1800"/>
              <a:buChar char="●"/>
            </a:pPr>
            <a:r>
              <a:rPr lang="el" sz="1800"/>
              <a:t>Easier to improve once understood errors</a:t>
            </a:r>
            <a:endParaRPr sz="1800"/>
          </a:p>
          <a:p>
            <a:pPr indent="-342900" lvl="0" marL="457200" rtl="0" algn="l">
              <a:lnSpc>
                <a:spcPct val="115000"/>
              </a:lnSpc>
              <a:spcBef>
                <a:spcPts val="0"/>
              </a:spcBef>
              <a:spcAft>
                <a:spcPts val="0"/>
              </a:spcAft>
              <a:buClr>
                <a:srgbClr val="FF00FF"/>
              </a:buClr>
              <a:buSzPts val="1800"/>
              <a:buChar char="●"/>
            </a:pPr>
            <a:r>
              <a:rPr lang="el" sz="1800">
                <a:solidFill>
                  <a:srgbClr val="FF00FF"/>
                </a:solidFill>
              </a:rPr>
              <a:t>Careful!! Simplest models != easiest to run</a:t>
            </a:r>
            <a:endParaRPr sz="1800">
              <a:solidFill>
                <a:srgbClr val="FF00FF"/>
              </a:solidFill>
            </a:endParaRPr>
          </a:p>
          <a:p>
            <a:pPr indent="-342900" lvl="1" marL="914400" rtl="0" algn="l">
              <a:lnSpc>
                <a:spcPct val="115000"/>
              </a:lnSpc>
              <a:spcBef>
                <a:spcPts val="0"/>
              </a:spcBef>
              <a:spcAft>
                <a:spcPts val="0"/>
              </a:spcAft>
              <a:buClr>
                <a:srgbClr val="FF00FF"/>
              </a:buClr>
              <a:buSzPts val="1800"/>
              <a:buChar char="○"/>
            </a:pPr>
            <a:r>
              <a:rPr lang="el" sz="1800">
                <a:solidFill>
                  <a:srgbClr val="FF00FF"/>
                </a:solidFill>
              </a:rPr>
              <a:t>You can run an LLM with 2 clicks.</a:t>
            </a:r>
            <a:endParaRPr sz="1800">
              <a:solidFill>
                <a:srgbClr val="FF00FF"/>
              </a:solidFill>
            </a:endParaRPr>
          </a:p>
          <a:p>
            <a:pPr indent="-342900" lvl="1" marL="914400" rtl="0" algn="l">
              <a:lnSpc>
                <a:spcPct val="115000"/>
              </a:lnSpc>
              <a:spcBef>
                <a:spcPts val="0"/>
              </a:spcBef>
              <a:spcAft>
                <a:spcPts val="0"/>
              </a:spcAft>
              <a:buClr>
                <a:srgbClr val="FF00FF"/>
              </a:buClr>
              <a:buSzPts val="1800"/>
              <a:buChar char="○"/>
            </a:pPr>
            <a:r>
              <a:rPr lang="el" sz="1800">
                <a:solidFill>
                  <a:srgbClr val="FF00FF"/>
                </a:solidFill>
              </a:rPr>
              <a:t>More on that later</a:t>
            </a:r>
            <a:endParaRPr sz="1800">
              <a:solidFill>
                <a:srgbClr val="FF00FF"/>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Tips for Model selection</a:t>
            </a:r>
            <a:endParaRPr/>
          </a:p>
        </p:txBody>
      </p:sp>
      <p:sp>
        <p:nvSpPr>
          <p:cNvPr id="238" name="Google Shape;238;p38"/>
          <p:cNvSpPr txBox="1"/>
          <p:nvPr/>
        </p:nvSpPr>
        <p:spPr>
          <a:xfrm>
            <a:off x="488900" y="1922200"/>
            <a:ext cx="7641600" cy="1653600"/>
          </a:xfrm>
          <a:prstGeom prst="rect">
            <a:avLst/>
          </a:prstGeom>
          <a:noFill/>
          <a:ln>
            <a:noFill/>
          </a:ln>
        </p:spPr>
        <p:txBody>
          <a:bodyPr anchorCtr="0" anchor="t" bIns="91425" lIns="91425" spcFirstLastPara="1" rIns="91425" wrap="square" tIns="91425">
            <a:noAutofit/>
          </a:bodyPr>
          <a:lstStyle/>
          <a:p>
            <a:pPr indent="-342900" lvl="0" marL="457200" rtl="0" algn="l">
              <a:lnSpc>
                <a:spcPct val="150000"/>
              </a:lnSpc>
              <a:spcBef>
                <a:spcPts val="0"/>
              </a:spcBef>
              <a:spcAft>
                <a:spcPts val="0"/>
              </a:spcAft>
              <a:buClr>
                <a:srgbClr val="9E9E9E"/>
              </a:buClr>
              <a:buSzPts val="1800"/>
              <a:buAutoNum type="arabicPeriod"/>
            </a:pPr>
            <a:r>
              <a:rPr lang="el" sz="1800">
                <a:solidFill>
                  <a:srgbClr val="9E9E9E"/>
                </a:solidFill>
              </a:rPr>
              <a:t>Start with the simplest models.</a:t>
            </a:r>
            <a:endParaRPr sz="1800">
              <a:solidFill>
                <a:srgbClr val="9E9E9E"/>
              </a:solidFill>
            </a:endParaRPr>
          </a:p>
          <a:p>
            <a:pPr indent="-342900" lvl="0" marL="457200" rtl="0" algn="l">
              <a:lnSpc>
                <a:spcPct val="150000"/>
              </a:lnSpc>
              <a:spcBef>
                <a:spcPts val="0"/>
              </a:spcBef>
              <a:spcAft>
                <a:spcPts val="0"/>
              </a:spcAft>
              <a:buClr>
                <a:schemeClr val="dk1"/>
              </a:buClr>
              <a:buSzPts val="1800"/>
              <a:buAutoNum type="arabicPeriod"/>
            </a:pPr>
            <a:r>
              <a:rPr lang="el" sz="1800">
                <a:solidFill>
                  <a:schemeClr val="dk1"/>
                </a:solidFill>
              </a:rPr>
              <a:t>Avoid the social media “hype” traps</a:t>
            </a:r>
            <a:endParaRPr sz="1800">
              <a:solidFill>
                <a:schemeClr val="dk1"/>
              </a:solidFill>
            </a:endParaRPr>
          </a:p>
          <a:p>
            <a:pPr indent="-342900" lvl="0" marL="457200" rtl="0" algn="l">
              <a:lnSpc>
                <a:spcPct val="150000"/>
              </a:lnSpc>
              <a:spcBef>
                <a:spcPts val="0"/>
              </a:spcBef>
              <a:spcAft>
                <a:spcPts val="0"/>
              </a:spcAft>
              <a:buClr>
                <a:srgbClr val="9E9E9E"/>
              </a:buClr>
              <a:buSzPts val="1800"/>
              <a:buAutoNum type="arabicPeriod"/>
            </a:pPr>
            <a:r>
              <a:rPr lang="el" sz="1800">
                <a:solidFill>
                  <a:srgbClr val="9E9E9E"/>
                </a:solidFill>
              </a:rPr>
              <a:t>Evaluate deployment tradeoffs</a:t>
            </a:r>
            <a:endParaRPr sz="1800">
              <a:solidFill>
                <a:srgbClr val="9E9E9E"/>
              </a:solidFill>
            </a:endParaRPr>
          </a:p>
          <a:p>
            <a:pPr indent="-342900" lvl="0" marL="457200" rtl="0" algn="l">
              <a:lnSpc>
                <a:spcPct val="150000"/>
              </a:lnSpc>
              <a:spcBef>
                <a:spcPts val="0"/>
              </a:spcBef>
              <a:spcAft>
                <a:spcPts val="0"/>
              </a:spcAft>
              <a:buClr>
                <a:srgbClr val="9E9E9E"/>
              </a:buClr>
              <a:buSzPts val="1800"/>
              <a:buAutoNum type="arabicPeriod"/>
            </a:pPr>
            <a:r>
              <a:rPr lang="el" sz="1800">
                <a:solidFill>
                  <a:srgbClr val="9E9E9E"/>
                </a:solidFill>
              </a:rPr>
              <a:t>Trust Battle - Tested Models</a:t>
            </a:r>
            <a:endParaRPr sz="1800">
              <a:solidFill>
                <a:srgbClr val="9E9E9E"/>
              </a:solidFill>
            </a:endParaRPr>
          </a:p>
          <a:p>
            <a:pPr indent="-342900" lvl="0" marL="457200" rtl="0" algn="l">
              <a:lnSpc>
                <a:spcPct val="150000"/>
              </a:lnSpc>
              <a:spcBef>
                <a:spcPts val="0"/>
              </a:spcBef>
              <a:spcAft>
                <a:spcPts val="0"/>
              </a:spcAft>
              <a:buClr>
                <a:srgbClr val="9E9E9E"/>
              </a:buClr>
              <a:buSzPts val="1800"/>
              <a:buAutoNum type="arabicPeriod"/>
            </a:pPr>
            <a:r>
              <a:rPr lang="el" sz="1800">
                <a:solidFill>
                  <a:srgbClr val="9E9E9E"/>
                </a:solidFill>
              </a:rPr>
              <a:t>Combine models =&gt; Ensembling!</a:t>
            </a:r>
            <a:endParaRPr sz="1800">
              <a:solidFill>
                <a:srgbClr val="9E9E9E"/>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The “State of the Art” traps</a:t>
            </a:r>
            <a:endParaRPr/>
          </a:p>
        </p:txBody>
      </p:sp>
      <p:pic>
        <p:nvPicPr>
          <p:cNvPr id="244" name="Google Shape;244;p39"/>
          <p:cNvPicPr preferRelativeResize="0"/>
          <p:nvPr/>
        </p:nvPicPr>
        <p:blipFill rotWithShape="1">
          <a:blip r:embed="rId3">
            <a:alphaModFix/>
          </a:blip>
          <a:srcRect b="45388" l="0" r="0" t="0"/>
          <a:stretch/>
        </p:blipFill>
        <p:spPr>
          <a:xfrm>
            <a:off x="4955225" y="1308675"/>
            <a:ext cx="4065926" cy="1732525"/>
          </a:xfrm>
          <a:prstGeom prst="rect">
            <a:avLst/>
          </a:prstGeom>
          <a:noFill/>
          <a:ln>
            <a:noFill/>
          </a:ln>
        </p:spPr>
      </p:pic>
      <p:sp>
        <p:nvSpPr>
          <p:cNvPr id="245" name="Google Shape;245;p39"/>
          <p:cNvSpPr txBox="1"/>
          <p:nvPr/>
        </p:nvSpPr>
        <p:spPr>
          <a:xfrm>
            <a:off x="87125" y="1186738"/>
            <a:ext cx="8520600" cy="34164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Font typeface="Nunito"/>
              <a:buChar char="●"/>
            </a:pPr>
            <a:r>
              <a:rPr lang="el" sz="1800">
                <a:latin typeface="Nunito"/>
                <a:ea typeface="Nunito"/>
                <a:cs typeface="Nunito"/>
                <a:sym typeface="Nunito"/>
              </a:rPr>
              <a:t>SOTA’s promise</a:t>
            </a:r>
            <a:endParaRPr sz="1800">
              <a:latin typeface="Nunito"/>
              <a:ea typeface="Nunito"/>
              <a:cs typeface="Nunito"/>
              <a:sym typeface="Nunito"/>
            </a:endParaRPr>
          </a:p>
          <a:p>
            <a:pPr indent="-317500" lvl="1" marL="914400" rtl="0" algn="l">
              <a:lnSpc>
                <a:spcPct val="115000"/>
              </a:lnSpc>
              <a:spcBef>
                <a:spcPts val="0"/>
              </a:spcBef>
              <a:spcAft>
                <a:spcPts val="0"/>
              </a:spcAft>
              <a:buSzPts val="1400"/>
              <a:buFont typeface="Nunito"/>
              <a:buChar char="○"/>
            </a:pPr>
            <a:r>
              <a:rPr lang="el">
                <a:latin typeface="Nunito"/>
                <a:ea typeface="Nunito"/>
                <a:cs typeface="Nunito"/>
                <a:sym typeface="Nunito"/>
              </a:rPr>
              <a:t>Why use an old solution when a</a:t>
            </a:r>
            <a:br>
              <a:rPr lang="el">
                <a:latin typeface="Nunito"/>
                <a:ea typeface="Nunito"/>
                <a:cs typeface="Nunito"/>
                <a:sym typeface="Nunito"/>
              </a:rPr>
            </a:br>
            <a:r>
              <a:rPr lang="el">
                <a:latin typeface="Nunito"/>
                <a:ea typeface="Nunito"/>
                <a:cs typeface="Nunito"/>
                <a:sym typeface="Nunito"/>
              </a:rPr>
              <a:t>newer one exists?</a:t>
            </a:r>
            <a:endParaRPr>
              <a:latin typeface="Nunito"/>
              <a:ea typeface="Nunito"/>
              <a:cs typeface="Nunito"/>
              <a:sym typeface="Nunito"/>
            </a:endParaRPr>
          </a:p>
          <a:p>
            <a:pPr indent="-317500" lvl="1" marL="914400" rtl="0" algn="l">
              <a:lnSpc>
                <a:spcPct val="115000"/>
              </a:lnSpc>
              <a:spcBef>
                <a:spcPts val="0"/>
              </a:spcBef>
              <a:spcAft>
                <a:spcPts val="0"/>
              </a:spcAft>
              <a:buClr>
                <a:srgbClr val="000000"/>
              </a:buClr>
              <a:buSzPts val="1400"/>
              <a:buFont typeface="Nunito"/>
              <a:buChar char="○"/>
            </a:pPr>
            <a:r>
              <a:rPr lang="el">
                <a:solidFill>
                  <a:srgbClr val="000000"/>
                </a:solidFill>
                <a:latin typeface="Nunito"/>
                <a:ea typeface="Nunito"/>
                <a:cs typeface="Nunito"/>
                <a:sym typeface="Nunito"/>
              </a:rPr>
              <a:t>It’s exciting to work on shiny things</a:t>
            </a:r>
            <a:endParaRPr>
              <a:latin typeface="Nunito"/>
              <a:ea typeface="Nunito"/>
              <a:cs typeface="Nunito"/>
              <a:sym typeface="Nunito"/>
            </a:endParaRPr>
          </a:p>
          <a:p>
            <a:pPr indent="-317500" lvl="1" marL="914400" rtl="0" algn="l">
              <a:lnSpc>
                <a:spcPct val="115000"/>
              </a:lnSpc>
              <a:spcBef>
                <a:spcPts val="0"/>
              </a:spcBef>
              <a:spcAft>
                <a:spcPts val="0"/>
              </a:spcAft>
              <a:buSzPts val="1400"/>
              <a:buFont typeface="Nunito"/>
              <a:buChar char="○"/>
            </a:pPr>
            <a:r>
              <a:rPr lang="el">
                <a:latin typeface="Nunito"/>
                <a:ea typeface="Nunito"/>
                <a:cs typeface="Nunito"/>
                <a:sym typeface="Nunito"/>
              </a:rPr>
              <a:t>Marketing</a:t>
            </a:r>
            <a:endParaRPr>
              <a:latin typeface="Nunito"/>
              <a:ea typeface="Nunito"/>
              <a:cs typeface="Nunito"/>
              <a:sym typeface="Nunito"/>
            </a:endParaRPr>
          </a:p>
          <a:p>
            <a:pPr indent="-317500" lvl="1" marL="914400" rtl="0" algn="l">
              <a:lnSpc>
                <a:spcPct val="115000"/>
              </a:lnSpc>
              <a:spcBef>
                <a:spcPts val="0"/>
              </a:spcBef>
              <a:spcAft>
                <a:spcPts val="0"/>
              </a:spcAft>
              <a:buSzPts val="1400"/>
              <a:buFont typeface="Nunito"/>
              <a:buChar char="○"/>
            </a:pPr>
            <a:r>
              <a:rPr lang="el">
                <a:latin typeface="Nunito"/>
                <a:ea typeface="Nunito"/>
                <a:cs typeface="Nunito"/>
                <a:sym typeface="Nunito"/>
              </a:rPr>
              <a:t>Deep Learning is fun</a:t>
            </a:r>
            <a:endParaRPr>
              <a:latin typeface="Nunito"/>
              <a:ea typeface="Nunito"/>
              <a:cs typeface="Nunito"/>
              <a:sym typeface="Nunito"/>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4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The “State of the Art” traps</a:t>
            </a:r>
            <a:endParaRPr/>
          </a:p>
        </p:txBody>
      </p:sp>
      <p:sp>
        <p:nvSpPr>
          <p:cNvPr id="251" name="Google Shape;251;p40"/>
          <p:cNvSpPr txBox="1"/>
          <p:nvPr/>
        </p:nvSpPr>
        <p:spPr>
          <a:xfrm>
            <a:off x="87125" y="1186738"/>
            <a:ext cx="8520600" cy="34164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Font typeface="Nunito"/>
              <a:buChar char="●"/>
            </a:pPr>
            <a:r>
              <a:rPr lang="el" sz="1800">
                <a:latin typeface="Nunito"/>
                <a:ea typeface="Nunito"/>
                <a:cs typeface="Nunito"/>
                <a:sym typeface="Nunito"/>
              </a:rPr>
              <a:t>SOTA’s promise</a:t>
            </a:r>
            <a:endParaRPr sz="1800">
              <a:latin typeface="Nunito"/>
              <a:ea typeface="Nunito"/>
              <a:cs typeface="Nunito"/>
              <a:sym typeface="Nunito"/>
            </a:endParaRPr>
          </a:p>
          <a:p>
            <a:pPr indent="-317500" lvl="1" marL="914400" rtl="0" algn="l">
              <a:lnSpc>
                <a:spcPct val="115000"/>
              </a:lnSpc>
              <a:spcBef>
                <a:spcPts val="0"/>
              </a:spcBef>
              <a:spcAft>
                <a:spcPts val="0"/>
              </a:spcAft>
              <a:buSzPts val="1400"/>
              <a:buFont typeface="Nunito"/>
              <a:buChar char="○"/>
            </a:pPr>
            <a:r>
              <a:rPr lang="el">
                <a:latin typeface="Nunito"/>
                <a:ea typeface="Nunito"/>
                <a:cs typeface="Nunito"/>
                <a:sym typeface="Nunito"/>
              </a:rPr>
              <a:t>Why use an old solution when a</a:t>
            </a:r>
            <a:br>
              <a:rPr lang="el">
                <a:latin typeface="Nunito"/>
                <a:ea typeface="Nunito"/>
                <a:cs typeface="Nunito"/>
                <a:sym typeface="Nunito"/>
              </a:rPr>
            </a:br>
            <a:r>
              <a:rPr lang="el">
                <a:latin typeface="Nunito"/>
                <a:ea typeface="Nunito"/>
                <a:cs typeface="Nunito"/>
                <a:sym typeface="Nunito"/>
              </a:rPr>
              <a:t>newer one exists?</a:t>
            </a:r>
            <a:endParaRPr>
              <a:latin typeface="Nunito"/>
              <a:ea typeface="Nunito"/>
              <a:cs typeface="Nunito"/>
              <a:sym typeface="Nunito"/>
            </a:endParaRPr>
          </a:p>
          <a:p>
            <a:pPr indent="-317500" lvl="1" marL="914400" rtl="0" algn="l">
              <a:lnSpc>
                <a:spcPct val="115000"/>
              </a:lnSpc>
              <a:spcBef>
                <a:spcPts val="0"/>
              </a:spcBef>
              <a:spcAft>
                <a:spcPts val="0"/>
              </a:spcAft>
              <a:buClr>
                <a:srgbClr val="000000"/>
              </a:buClr>
              <a:buSzPts val="1400"/>
              <a:buFont typeface="Nunito"/>
              <a:buChar char="○"/>
            </a:pPr>
            <a:r>
              <a:rPr lang="el">
                <a:solidFill>
                  <a:srgbClr val="000000"/>
                </a:solidFill>
                <a:latin typeface="Nunito"/>
                <a:ea typeface="Nunito"/>
                <a:cs typeface="Nunito"/>
                <a:sym typeface="Nunito"/>
              </a:rPr>
              <a:t>It’s exciting to work on shiny things</a:t>
            </a:r>
            <a:endParaRPr>
              <a:latin typeface="Nunito"/>
              <a:ea typeface="Nunito"/>
              <a:cs typeface="Nunito"/>
              <a:sym typeface="Nunito"/>
            </a:endParaRPr>
          </a:p>
          <a:p>
            <a:pPr indent="-317500" lvl="1" marL="914400" rtl="0" algn="l">
              <a:lnSpc>
                <a:spcPct val="115000"/>
              </a:lnSpc>
              <a:spcBef>
                <a:spcPts val="0"/>
              </a:spcBef>
              <a:spcAft>
                <a:spcPts val="0"/>
              </a:spcAft>
              <a:buSzPts val="1400"/>
              <a:buFont typeface="Nunito"/>
              <a:buChar char="○"/>
            </a:pPr>
            <a:r>
              <a:rPr lang="el">
                <a:latin typeface="Nunito"/>
                <a:ea typeface="Nunito"/>
                <a:cs typeface="Nunito"/>
                <a:sym typeface="Nunito"/>
              </a:rPr>
              <a:t>Marketing</a:t>
            </a:r>
            <a:endParaRPr>
              <a:latin typeface="Nunito"/>
              <a:ea typeface="Nunito"/>
              <a:cs typeface="Nunito"/>
              <a:sym typeface="Nunito"/>
            </a:endParaRPr>
          </a:p>
          <a:p>
            <a:pPr indent="-317500" lvl="1" marL="914400" rtl="0" algn="l">
              <a:lnSpc>
                <a:spcPct val="115000"/>
              </a:lnSpc>
              <a:spcBef>
                <a:spcPts val="0"/>
              </a:spcBef>
              <a:spcAft>
                <a:spcPts val="0"/>
              </a:spcAft>
              <a:buSzPts val="1400"/>
              <a:buFont typeface="Nunito"/>
              <a:buChar char="○"/>
            </a:pPr>
            <a:r>
              <a:rPr lang="el">
                <a:latin typeface="Nunito"/>
                <a:ea typeface="Nunito"/>
                <a:cs typeface="Nunito"/>
                <a:sym typeface="Nunito"/>
              </a:rPr>
              <a:t>Deep Learning is fun</a:t>
            </a:r>
            <a:endParaRPr>
              <a:latin typeface="Nunito"/>
              <a:ea typeface="Nunito"/>
              <a:cs typeface="Nunito"/>
              <a:sym typeface="Nunito"/>
            </a:endParaRPr>
          </a:p>
        </p:txBody>
      </p:sp>
      <p:pic>
        <p:nvPicPr>
          <p:cNvPr id="252" name="Google Shape;252;p40"/>
          <p:cNvPicPr preferRelativeResize="0"/>
          <p:nvPr/>
        </p:nvPicPr>
        <p:blipFill>
          <a:blip r:embed="rId3">
            <a:alphaModFix/>
          </a:blip>
          <a:stretch>
            <a:fillRect/>
          </a:stretch>
        </p:blipFill>
        <p:spPr>
          <a:xfrm>
            <a:off x="4955232" y="1308675"/>
            <a:ext cx="4065919" cy="3172512"/>
          </a:xfrm>
          <a:prstGeom prst="rect">
            <a:avLst/>
          </a:prstGeom>
          <a:noFill/>
          <a:ln>
            <a:noFill/>
          </a:ln>
        </p:spPr>
      </p:pic>
      <p:sp>
        <p:nvSpPr>
          <p:cNvPr id="253" name="Google Shape;253;p40"/>
          <p:cNvSpPr txBox="1"/>
          <p:nvPr/>
        </p:nvSpPr>
        <p:spPr>
          <a:xfrm>
            <a:off x="87125" y="3098675"/>
            <a:ext cx="4919400" cy="18459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Font typeface="Nunito"/>
              <a:buChar char="●"/>
            </a:pPr>
            <a:r>
              <a:rPr lang="el" sz="1800">
                <a:latin typeface="Nunito"/>
                <a:ea typeface="Nunito"/>
                <a:cs typeface="Nunito"/>
                <a:sym typeface="Nunito"/>
              </a:rPr>
              <a:t>SOTA’s reality</a:t>
            </a:r>
            <a:endParaRPr sz="1800">
              <a:latin typeface="Nunito"/>
              <a:ea typeface="Nunito"/>
              <a:cs typeface="Nunito"/>
              <a:sym typeface="Nunito"/>
            </a:endParaRPr>
          </a:p>
          <a:p>
            <a:pPr indent="-317500" lvl="1" marL="914400" rtl="0" algn="l">
              <a:lnSpc>
                <a:spcPct val="115000"/>
              </a:lnSpc>
              <a:spcBef>
                <a:spcPts val="0"/>
              </a:spcBef>
              <a:spcAft>
                <a:spcPts val="0"/>
              </a:spcAft>
              <a:buSzPts val="1400"/>
              <a:buFont typeface="Nunito"/>
              <a:buChar char="○"/>
            </a:pPr>
            <a:r>
              <a:rPr lang="el">
                <a:latin typeface="Nunito"/>
                <a:ea typeface="Nunito"/>
                <a:cs typeface="Nunito"/>
                <a:sym typeface="Nunito"/>
              </a:rPr>
              <a:t>SOTA on research data != SOTA on your data</a:t>
            </a:r>
            <a:endParaRPr>
              <a:latin typeface="Nunito"/>
              <a:ea typeface="Nunito"/>
              <a:cs typeface="Nunito"/>
              <a:sym typeface="Nunito"/>
            </a:endParaRPr>
          </a:p>
          <a:p>
            <a:pPr indent="-317500" lvl="1" marL="914400" rtl="0" algn="l">
              <a:lnSpc>
                <a:spcPct val="115000"/>
              </a:lnSpc>
              <a:spcBef>
                <a:spcPts val="0"/>
              </a:spcBef>
              <a:spcAft>
                <a:spcPts val="0"/>
              </a:spcAft>
              <a:buSzPts val="1400"/>
              <a:buFont typeface="Nunito"/>
              <a:buChar char="○"/>
            </a:pPr>
            <a:r>
              <a:rPr lang="el">
                <a:latin typeface="Nunito"/>
                <a:ea typeface="Nunito"/>
                <a:cs typeface="Nunito"/>
                <a:sym typeface="Nunito"/>
              </a:rPr>
              <a:t>Cost</a:t>
            </a:r>
            <a:endParaRPr>
              <a:latin typeface="Nunito"/>
              <a:ea typeface="Nunito"/>
              <a:cs typeface="Nunito"/>
              <a:sym typeface="Nunito"/>
            </a:endParaRPr>
          </a:p>
          <a:p>
            <a:pPr indent="-317500" lvl="1" marL="914400" rtl="0" algn="l">
              <a:lnSpc>
                <a:spcPct val="115000"/>
              </a:lnSpc>
              <a:spcBef>
                <a:spcPts val="0"/>
              </a:spcBef>
              <a:spcAft>
                <a:spcPts val="0"/>
              </a:spcAft>
              <a:buSzPts val="1400"/>
              <a:buFont typeface="Nunito"/>
              <a:buChar char="○"/>
            </a:pPr>
            <a:r>
              <a:rPr lang="el">
                <a:latin typeface="Nunito"/>
                <a:ea typeface="Nunito"/>
                <a:cs typeface="Nunito"/>
                <a:sym typeface="Nunito"/>
              </a:rPr>
              <a:t>Latency</a:t>
            </a:r>
            <a:endParaRPr>
              <a:latin typeface="Nunito"/>
              <a:ea typeface="Nunito"/>
              <a:cs typeface="Nunito"/>
              <a:sym typeface="Nunito"/>
            </a:endParaRPr>
          </a:p>
          <a:p>
            <a:pPr indent="-317500" lvl="1" marL="914400" rtl="0" algn="l">
              <a:lnSpc>
                <a:spcPct val="115000"/>
              </a:lnSpc>
              <a:spcBef>
                <a:spcPts val="0"/>
              </a:spcBef>
              <a:spcAft>
                <a:spcPts val="0"/>
              </a:spcAft>
              <a:buSzPts val="1400"/>
              <a:buFont typeface="Nunito"/>
              <a:buChar char="○"/>
            </a:pPr>
            <a:r>
              <a:rPr lang="el">
                <a:latin typeface="Nunito"/>
                <a:ea typeface="Nunito"/>
                <a:cs typeface="Nunito"/>
                <a:sym typeface="Nunito"/>
              </a:rPr>
              <a:t>Proven industry success</a:t>
            </a:r>
            <a:endParaRPr>
              <a:latin typeface="Nunito"/>
              <a:ea typeface="Nunito"/>
              <a:cs typeface="Nunito"/>
              <a:sym typeface="Nunito"/>
            </a:endParaRPr>
          </a:p>
          <a:p>
            <a:pPr indent="-317500" lvl="1" marL="914400" rtl="0" algn="l">
              <a:lnSpc>
                <a:spcPct val="115000"/>
              </a:lnSpc>
              <a:spcBef>
                <a:spcPts val="0"/>
              </a:spcBef>
              <a:spcAft>
                <a:spcPts val="0"/>
              </a:spcAft>
              <a:buSzPts val="1400"/>
              <a:buFont typeface="Nunito"/>
              <a:buChar char="○"/>
            </a:pPr>
            <a:r>
              <a:rPr lang="el">
                <a:latin typeface="Nunito"/>
                <a:ea typeface="Nunito"/>
                <a:cs typeface="Nunito"/>
                <a:sym typeface="Nunito"/>
              </a:rPr>
              <a:t>Community support</a:t>
            </a:r>
            <a:endParaRPr>
              <a:latin typeface="Nunito"/>
              <a:ea typeface="Nunito"/>
              <a:cs typeface="Nunito"/>
              <a:sym typeface="Nunito"/>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4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Tips for Model selection</a:t>
            </a:r>
            <a:endParaRPr/>
          </a:p>
        </p:txBody>
      </p:sp>
      <p:sp>
        <p:nvSpPr>
          <p:cNvPr id="259" name="Google Shape;259;p41"/>
          <p:cNvSpPr txBox="1"/>
          <p:nvPr/>
        </p:nvSpPr>
        <p:spPr>
          <a:xfrm>
            <a:off x="488900" y="1922200"/>
            <a:ext cx="7641600" cy="1653600"/>
          </a:xfrm>
          <a:prstGeom prst="rect">
            <a:avLst/>
          </a:prstGeom>
          <a:noFill/>
          <a:ln>
            <a:noFill/>
          </a:ln>
        </p:spPr>
        <p:txBody>
          <a:bodyPr anchorCtr="0" anchor="t" bIns="91425" lIns="91425" spcFirstLastPara="1" rIns="91425" wrap="square" tIns="91425">
            <a:noAutofit/>
          </a:bodyPr>
          <a:lstStyle/>
          <a:p>
            <a:pPr indent="-342900" lvl="0" marL="457200" rtl="0" algn="l">
              <a:lnSpc>
                <a:spcPct val="150000"/>
              </a:lnSpc>
              <a:spcBef>
                <a:spcPts val="0"/>
              </a:spcBef>
              <a:spcAft>
                <a:spcPts val="0"/>
              </a:spcAft>
              <a:buClr>
                <a:srgbClr val="9E9E9E"/>
              </a:buClr>
              <a:buSzPts val="1800"/>
              <a:buAutoNum type="arabicPeriod"/>
            </a:pPr>
            <a:r>
              <a:rPr lang="el" sz="1800">
                <a:solidFill>
                  <a:srgbClr val="9E9E9E"/>
                </a:solidFill>
              </a:rPr>
              <a:t>Start with the simplest models.</a:t>
            </a:r>
            <a:endParaRPr sz="1800">
              <a:solidFill>
                <a:srgbClr val="9E9E9E"/>
              </a:solidFill>
            </a:endParaRPr>
          </a:p>
          <a:p>
            <a:pPr indent="-342900" lvl="0" marL="457200" rtl="0" algn="l">
              <a:lnSpc>
                <a:spcPct val="150000"/>
              </a:lnSpc>
              <a:spcBef>
                <a:spcPts val="0"/>
              </a:spcBef>
              <a:spcAft>
                <a:spcPts val="0"/>
              </a:spcAft>
              <a:buClr>
                <a:srgbClr val="9E9E9E"/>
              </a:buClr>
              <a:buSzPts val="1800"/>
              <a:buAutoNum type="arabicPeriod"/>
            </a:pPr>
            <a:r>
              <a:rPr lang="el" sz="1800">
                <a:solidFill>
                  <a:srgbClr val="9E9E9E"/>
                </a:solidFill>
              </a:rPr>
              <a:t>Avoid the social media “hype” traps</a:t>
            </a:r>
            <a:endParaRPr sz="1800">
              <a:solidFill>
                <a:srgbClr val="9E9E9E"/>
              </a:solidFill>
            </a:endParaRPr>
          </a:p>
          <a:p>
            <a:pPr indent="-342900" lvl="0" marL="457200" rtl="0" algn="l">
              <a:lnSpc>
                <a:spcPct val="150000"/>
              </a:lnSpc>
              <a:spcBef>
                <a:spcPts val="0"/>
              </a:spcBef>
              <a:spcAft>
                <a:spcPts val="0"/>
              </a:spcAft>
              <a:buSzPts val="1800"/>
              <a:buAutoNum type="arabicPeriod"/>
            </a:pPr>
            <a:r>
              <a:rPr lang="el" sz="1800"/>
              <a:t>Evaluate deployment tradeoffs</a:t>
            </a:r>
            <a:endParaRPr sz="1800"/>
          </a:p>
          <a:p>
            <a:pPr indent="-342900" lvl="0" marL="457200" rtl="0" algn="l">
              <a:lnSpc>
                <a:spcPct val="150000"/>
              </a:lnSpc>
              <a:spcBef>
                <a:spcPts val="0"/>
              </a:spcBef>
              <a:spcAft>
                <a:spcPts val="0"/>
              </a:spcAft>
              <a:buClr>
                <a:srgbClr val="9E9E9E"/>
              </a:buClr>
              <a:buSzPts val="1800"/>
              <a:buAutoNum type="arabicPeriod"/>
            </a:pPr>
            <a:r>
              <a:rPr lang="el" sz="1800">
                <a:solidFill>
                  <a:srgbClr val="9E9E9E"/>
                </a:solidFill>
              </a:rPr>
              <a:t>Trust Battle - Tested Models</a:t>
            </a:r>
            <a:endParaRPr sz="1800">
              <a:solidFill>
                <a:srgbClr val="9E9E9E"/>
              </a:solidFill>
            </a:endParaRPr>
          </a:p>
          <a:p>
            <a:pPr indent="-342900" lvl="0" marL="457200" rtl="0" algn="l">
              <a:lnSpc>
                <a:spcPct val="150000"/>
              </a:lnSpc>
              <a:spcBef>
                <a:spcPts val="0"/>
              </a:spcBef>
              <a:spcAft>
                <a:spcPts val="0"/>
              </a:spcAft>
              <a:buClr>
                <a:srgbClr val="9E9E9E"/>
              </a:buClr>
              <a:buSzPts val="1800"/>
              <a:buAutoNum type="arabicPeriod"/>
            </a:pPr>
            <a:r>
              <a:rPr lang="el" sz="1800">
                <a:solidFill>
                  <a:srgbClr val="9E9E9E"/>
                </a:solidFill>
              </a:rPr>
              <a:t>Combine models =&gt; Ensembling!</a:t>
            </a:r>
            <a:endParaRPr sz="1800">
              <a:solidFill>
                <a:srgbClr val="9E9E9E"/>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4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Evaluate tradeoffs</a:t>
            </a:r>
            <a:endParaRPr/>
          </a:p>
        </p:txBody>
      </p:sp>
      <p:graphicFrame>
        <p:nvGraphicFramePr>
          <p:cNvPr id="265" name="Google Shape;265;p42"/>
          <p:cNvGraphicFramePr/>
          <p:nvPr/>
        </p:nvGraphicFramePr>
        <p:xfrm>
          <a:off x="1000688" y="1476838"/>
          <a:ext cx="3000000" cy="3000000"/>
        </p:xfrm>
        <a:graphic>
          <a:graphicData uri="http://schemas.openxmlformats.org/drawingml/2006/table">
            <a:tbl>
              <a:tblPr>
                <a:noFill/>
                <a:tableStyleId>{FA072A65-EB3D-4C6D-9EF0-085EB4FA5BAB}</a:tableStyleId>
              </a:tblPr>
              <a:tblGrid>
                <a:gridCol w="2014150"/>
                <a:gridCol w="2523600"/>
                <a:gridCol w="2906900"/>
              </a:tblGrid>
              <a:tr h="479825">
                <a:tc>
                  <a:txBody>
                    <a:bodyPr/>
                    <a:lstStyle/>
                    <a:p>
                      <a:pPr indent="0" lvl="0" marL="0" rtl="0" algn="l">
                        <a:spcBef>
                          <a:spcPts val="0"/>
                        </a:spcBef>
                        <a:spcAft>
                          <a:spcPts val="0"/>
                        </a:spcAft>
                        <a:buNone/>
                      </a:pPr>
                      <a:r>
                        <a:t/>
                      </a:r>
                      <a:endParaRPr b="1" sz="1500">
                        <a:latin typeface="Nunito"/>
                        <a:ea typeface="Nunito"/>
                        <a:cs typeface="Nunito"/>
                        <a:sym typeface="Nunito"/>
                      </a:endParaRPr>
                    </a:p>
                  </a:txBody>
                  <a:tcPr marT="91425" marB="91425" marR="91425" marL="91425"/>
                </a:tc>
                <a:tc>
                  <a:txBody>
                    <a:bodyPr/>
                    <a:lstStyle/>
                    <a:p>
                      <a:pPr indent="0" lvl="0" marL="0" rtl="0" algn="l">
                        <a:spcBef>
                          <a:spcPts val="0"/>
                        </a:spcBef>
                        <a:spcAft>
                          <a:spcPts val="0"/>
                        </a:spcAft>
                        <a:buNone/>
                      </a:pPr>
                      <a:r>
                        <a:rPr b="1" lang="el" sz="1500">
                          <a:latin typeface="Nunito"/>
                          <a:ea typeface="Nunito"/>
                          <a:cs typeface="Nunito"/>
                          <a:sym typeface="Nunito"/>
                        </a:rPr>
                        <a:t>Research</a:t>
                      </a:r>
                      <a:endParaRPr b="1" sz="1500">
                        <a:latin typeface="Nunito"/>
                        <a:ea typeface="Nunito"/>
                        <a:cs typeface="Nunito"/>
                        <a:sym typeface="Nunito"/>
                      </a:endParaRPr>
                    </a:p>
                  </a:txBody>
                  <a:tcPr marT="91425" marB="91425" marR="91425" marL="91425"/>
                </a:tc>
                <a:tc>
                  <a:txBody>
                    <a:bodyPr/>
                    <a:lstStyle/>
                    <a:p>
                      <a:pPr indent="0" lvl="0" marL="0" rtl="0" algn="l">
                        <a:spcBef>
                          <a:spcPts val="0"/>
                        </a:spcBef>
                        <a:spcAft>
                          <a:spcPts val="0"/>
                        </a:spcAft>
                        <a:buNone/>
                      </a:pPr>
                      <a:r>
                        <a:rPr b="1" lang="el" sz="1500">
                          <a:latin typeface="Nunito"/>
                          <a:ea typeface="Nunito"/>
                          <a:cs typeface="Nunito"/>
                          <a:sym typeface="Nunito"/>
                        </a:rPr>
                        <a:t>Production</a:t>
                      </a:r>
                      <a:endParaRPr b="1" sz="1500">
                        <a:latin typeface="Nunito"/>
                        <a:ea typeface="Nunito"/>
                        <a:cs typeface="Nunito"/>
                        <a:sym typeface="Nunito"/>
                      </a:endParaRPr>
                    </a:p>
                  </a:txBody>
                  <a:tcPr marT="91425" marB="91425" marR="91425" marL="91425"/>
                </a:tc>
              </a:tr>
              <a:tr h="437375">
                <a:tc>
                  <a:txBody>
                    <a:bodyPr/>
                    <a:lstStyle/>
                    <a:p>
                      <a:pPr indent="0" lvl="0" marL="0" rtl="0" algn="l">
                        <a:spcBef>
                          <a:spcPts val="0"/>
                        </a:spcBef>
                        <a:spcAft>
                          <a:spcPts val="0"/>
                        </a:spcAft>
                        <a:buNone/>
                      </a:pPr>
                      <a:r>
                        <a:rPr lang="el" sz="1300">
                          <a:solidFill>
                            <a:srgbClr val="000000"/>
                          </a:solidFill>
                          <a:latin typeface="Nunito"/>
                          <a:ea typeface="Nunito"/>
                          <a:cs typeface="Nunito"/>
                          <a:sym typeface="Nunito"/>
                        </a:rPr>
                        <a:t>Objectives</a:t>
                      </a:r>
                      <a:endParaRPr sz="1300">
                        <a:solidFill>
                          <a:srgbClr val="000000"/>
                        </a:solidFill>
                        <a:latin typeface="Nunito"/>
                        <a:ea typeface="Nunito"/>
                        <a:cs typeface="Nunito"/>
                        <a:sym typeface="Nunito"/>
                      </a:endParaRPr>
                    </a:p>
                  </a:txBody>
                  <a:tcPr marT="91425" marB="91425" marR="91425" marL="91425"/>
                </a:tc>
                <a:tc>
                  <a:txBody>
                    <a:bodyPr/>
                    <a:lstStyle/>
                    <a:p>
                      <a:pPr indent="0" lvl="0" marL="0" rtl="0" algn="l">
                        <a:spcBef>
                          <a:spcPts val="0"/>
                        </a:spcBef>
                        <a:spcAft>
                          <a:spcPts val="0"/>
                        </a:spcAft>
                        <a:buNone/>
                      </a:pPr>
                      <a:r>
                        <a:rPr lang="el" sz="1300">
                          <a:solidFill>
                            <a:srgbClr val="000000"/>
                          </a:solidFill>
                          <a:latin typeface="Nunito"/>
                          <a:ea typeface="Nunito"/>
                          <a:cs typeface="Nunito"/>
                          <a:sym typeface="Nunito"/>
                        </a:rPr>
                        <a:t>Good Model Performance</a:t>
                      </a:r>
                      <a:endParaRPr sz="1300">
                        <a:solidFill>
                          <a:srgbClr val="000000"/>
                        </a:solidFill>
                        <a:latin typeface="Nunito"/>
                        <a:ea typeface="Nunito"/>
                        <a:cs typeface="Nunito"/>
                        <a:sym typeface="Nunito"/>
                      </a:endParaRPr>
                    </a:p>
                  </a:txBody>
                  <a:tcPr marT="91425" marB="91425" marR="91425" marL="91425"/>
                </a:tc>
                <a:tc>
                  <a:txBody>
                    <a:bodyPr/>
                    <a:lstStyle/>
                    <a:p>
                      <a:pPr indent="0" lvl="0" marL="0" rtl="0" algn="l">
                        <a:spcBef>
                          <a:spcPts val="0"/>
                        </a:spcBef>
                        <a:spcAft>
                          <a:spcPts val="0"/>
                        </a:spcAft>
                        <a:buNone/>
                      </a:pPr>
                      <a:r>
                        <a:rPr lang="el" sz="1300">
                          <a:solidFill>
                            <a:srgbClr val="000000"/>
                          </a:solidFill>
                          <a:latin typeface="Nunito"/>
                          <a:ea typeface="Nunito"/>
                          <a:cs typeface="Nunito"/>
                          <a:sym typeface="Nunito"/>
                        </a:rPr>
                        <a:t>Different Managers -&gt; Different Objectives</a:t>
                      </a:r>
                      <a:endParaRPr sz="1300">
                        <a:solidFill>
                          <a:srgbClr val="000000"/>
                        </a:solidFill>
                        <a:latin typeface="Nunito"/>
                        <a:ea typeface="Nunito"/>
                        <a:cs typeface="Nunito"/>
                        <a:sym typeface="Nunito"/>
                      </a:endParaRPr>
                    </a:p>
                  </a:txBody>
                  <a:tcPr marT="91425" marB="91425" marR="91425" marL="91425"/>
                </a:tc>
              </a:tr>
              <a:tr h="437375">
                <a:tc>
                  <a:txBody>
                    <a:bodyPr/>
                    <a:lstStyle/>
                    <a:p>
                      <a:pPr indent="0" lvl="0" marL="0" rtl="0" algn="l">
                        <a:spcBef>
                          <a:spcPts val="0"/>
                        </a:spcBef>
                        <a:spcAft>
                          <a:spcPts val="0"/>
                        </a:spcAft>
                        <a:buNone/>
                      </a:pPr>
                      <a:r>
                        <a:rPr lang="el" sz="1300">
                          <a:solidFill>
                            <a:srgbClr val="000000"/>
                          </a:solidFill>
                          <a:latin typeface="Nunito"/>
                          <a:ea typeface="Nunito"/>
                          <a:cs typeface="Nunito"/>
                          <a:sym typeface="Nunito"/>
                        </a:rPr>
                        <a:t>Computational priority</a:t>
                      </a:r>
                      <a:endParaRPr sz="1300">
                        <a:solidFill>
                          <a:srgbClr val="000000"/>
                        </a:solidFill>
                        <a:latin typeface="Nunito"/>
                        <a:ea typeface="Nunito"/>
                        <a:cs typeface="Nunito"/>
                        <a:sym typeface="Nunito"/>
                      </a:endParaRPr>
                    </a:p>
                  </a:txBody>
                  <a:tcPr marT="91425" marB="91425" marR="91425" marL="91425"/>
                </a:tc>
                <a:tc>
                  <a:txBody>
                    <a:bodyPr/>
                    <a:lstStyle/>
                    <a:p>
                      <a:pPr indent="0" lvl="0" marL="0" rtl="0" algn="l">
                        <a:spcBef>
                          <a:spcPts val="0"/>
                        </a:spcBef>
                        <a:spcAft>
                          <a:spcPts val="0"/>
                        </a:spcAft>
                        <a:buNone/>
                      </a:pPr>
                      <a:r>
                        <a:rPr lang="el" sz="1300">
                          <a:solidFill>
                            <a:srgbClr val="000000"/>
                          </a:solidFill>
                          <a:latin typeface="Nunito"/>
                          <a:ea typeface="Nunito"/>
                          <a:cs typeface="Nunito"/>
                          <a:sym typeface="Nunito"/>
                        </a:rPr>
                        <a:t>Not this important.</a:t>
                      </a:r>
                      <a:endParaRPr sz="1300">
                        <a:solidFill>
                          <a:srgbClr val="000000"/>
                        </a:solidFill>
                        <a:latin typeface="Nunito"/>
                        <a:ea typeface="Nunito"/>
                        <a:cs typeface="Nunito"/>
                        <a:sym typeface="Nunito"/>
                      </a:endParaRPr>
                    </a:p>
                  </a:txBody>
                  <a:tcPr marT="91425" marB="91425" marR="91425" marL="91425"/>
                </a:tc>
                <a:tc>
                  <a:txBody>
                    <a:bodyPr/>
                    <a:lstStyle/>
                    <a:p>
                      <a:pPr indent="0" lvl="0" marL="0" rtl="0" algn="l">
                        <a:spcBef>
                          <a:spcPts val="0"/>
                        </a:spcBef>
                        <a:spcAft>
                          <a:spcPts val="0"/>
                        </a:spcAft>
                        <a:buNone/>
                      </a:pPr>
                      <a:r>
                        <a:rPr lang="el" sz="1300">
                          <a:solidFill>
                            <a:srgbClr val="000000"/>
                          </a:solidFill>
                          <a:latin typeface="Nunito"/>
                          <a:ea typeface="Nunito"/>
                          <a:cs typeface="Nunito"/>
                          <a:sym typeface="Nunito"/>
                        </a:rPr>
                        <a:t>Fast. Users should be happy.</a:t>
                      </a:r>
                      <a:endParaRPr sz="1300">
                        <a:solidFill>
                          <a:srgbClr val="000000"/>
                        </a:solidFill>
                        <a:latin typeface="Nunito"/>
                        <a:ea typeface="Nunito"/>
                        <a:cs typeface="Nunito"/>
                        <a:sym typeface="Nunito"/>
                      </a:endParaRPr>
                    </a:p>
                  </a:txBody>
                  <a:tcPr marT="91425" marB="91425" marR="91425" marL="91425"/>
                </a:tc>
              </a:tr>
              <a:tr h="437375">
                <a:tc>
                  <a:txBody>
                    <a:bodyPr/>
                    <a:lstStyle/>
                    <a:p>
                      <a:pPr indent="0" lvl="0" marL="0" rtl="0" algn="l">
                        <a:spcBef>
                          <a:spcPts val="0"/>
                        </a:spcBef>
                        <a:spcAft>
                          <a:spcPts val="0"/>
                        </a:spcAft>
                        <a:buNone/>
                      </a:pPr>
                      <a:r>
                        <a:rPr lang="el" sz="1300">
                          <a:solidFill>
                            <a:srgbClr val="000000"/>
                          </a:solidFill>
                          <a:latin typeface="Nunito"/>
                          <a:ea typeface="Nunito"/>
                          <a:cs typeface="Nunito"/>
                          <a:sym typeface="Nunito"/>
                        </a:rPr>
                        <a:t>Data</a:t>
                      </a:r>
                      <a:endParaRPr sz="1300">
                        <a:solidFill>
                          <a:srgbClr val="000000"/>
                        </a:solidFill>
                        <a:latin typeface="Nunito"/>
                        <a:ea typeface="Nunito"/>
                        <a:cs typeface="Nunito"/>
                        <a:sym typeface="Nunito"/>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l" sz="1300">
                          <a:solidFill>
                            <a:srgbClr val="000000"/>
                          </a:solidFill>
                          <a:latin typeface="Nunito"/>
                          <a:ea typeface="Nunito"/>
                          <a:cs typeface="Nunito"/>
                          <a:sym typeface="Nunito"/>
                        </a:rPr>
                        <a:t>Static -&gt; Fixed Dataset</a:t>
                      </a:r>
                      <a:endParaRPr sz="1300">
                        <a:solidFill>
                          <a:srgbClr val="000000"/>
                        </a:solidFill>
                        <a:latin typeface="Nunito"/>
                        <a:ea typeface="Nunito"/>
                        <a:cs typeface="Nunito"/>
                        <a:sym typeface="Nunito"/>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l" sz="1300">
                          <a:solidFill>
                            <a:srgbClr val="000000"/>
                          </a:solidFill>
                          <a:latin typeface="Nunito"/>
                          <a:ea typeface="Nunito"/>
                          <a:cs typeface="Nunito"/>
                          <a:sym typeface="Nunito"/>
                        </a:rPr>
                        <a:t>Constantly changing (possibly daily)</a:t>
                      </a:r>
                      <a:endParaRPr sz="1300">
                        <a:solidFill>
                          <a:srgbClr val="000000"/>
                        </a:solidFill>
                        <a:latin typeface="Nunito"/>
                        <a:ea typeface="Nunito"/>
                        <a:cs typeface="Nunito"/>
                        <a:sym typeface="Nunito"/>
                      </a:endParaRPr>
                    </a:p>
                  </a:txBody>
                  <a:tcPr marT="91425" marB="91425" marR="91425" marL="91425"/>
                </a:tc>
              </a:tr>
              <a:tr h="437375">
                <a:tc>
                  <a:txBody>
                    <a:bodyPr/>
                    <a:lstStyle/>
                    <a:p>
                      <a:pPr indent="0" lvl="0" marL="0" rtl="0" algn="l">
                        <a:spcBef>
                          <a:spcPts val="0"/>
                        </a:spcBef>
                        <a:spcAft>
                          <a:spcPts val="0"/>
                        </a:spcAft>
                        <a:buNone/>
                      </a:pPr>
                      <a:r>
                        <a:rPr lang="el" sz="1300">
                          <a:solidFill>
                            <a:srgbClr val="000000"/>
                          </a:solidFill>
                          <a:latin typeface="Nunito"/>
                          <a:ea typeface="Nunito"/>
                          <a:cs typeface="Nunito"/>
                          <a:sym typeface="Nunito"/>
                        </a:rPr>
                        <a:t>Fairness</a:t>
                      </a:r>
                      <a:endParaRPr sz="1300">
                        <a:solidFill>
                          <a:srgbClr val="000000"/>
                        </a:solidFill>
                        <a:latin typeface="Nunito"/>
                        <a:ea typeface="Nunito"/>
                        <a:cs typeface="Nunito"/>
                        <a:sym typeface="Nunito"/>
                      </a:endParaRPr>
                    </a:p>
                  </a:txBody>
                  <a:tcPr marT="91425" marB="91425"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l" sz="1300">
                          <a:solidFill>
                            <a:srgbClr val="000000"/>
                          </a:solidFill>
                          <a:latin typeface="Nunito"/>
                          <a:ea typeface="Nunito"/>
                          <a:cs typeface="Nunito"/>
                          <a:sym typeface="Nunito"/>
                        </a:rPr>
                        <a:t>Good to have (sadly)</a:t>
                      </a:r>
                      <a:endParaRPr sz="1300">
                        <a:solidFill>
                          <a:srgbClr val="000000"/>
                        </a:solidFill>
                        <a:latin typeface="Nunito"/>
                        <a:ea typeface="Nunito"/>
                        <a:cs typeface="Nunito"/>
                        <a:sym typeface="Nunito"/>
                      </a:endParaRPr>
                    </a:p>
                  </a:txBody>
                  <a:tcPr marT="91425" marB="91425"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l" sz="1300">
                          <a:solidFill>
                            <a:srgbClr val="000000"/>
                          </a:solidFill>
                          <a:latin typeface="Nunito"/>
                          <a:ea typeface="Nunito"/>
                          <a:cs typeface="Nunito"/>
                          <a:sym typeface="Nunito"/>
                        </a:rPr>
                        <a:t>Important</a:t>
                      </a:r>
                      <a:endParaRPr sz="1300">
                        <a:solidFill>
                          <a:srgbClr val="000000"/>
                        </a:solidFill>
                        <a:latin typeface="Nunito"/>
                        <a:ea typeface="Nunito"/>
                        <a:cs typeface="Nunito"/>
                        <a:sym typeface="Nunito"/>
                      </a:endParaRPr>
                    </a:p>
                  </a:txBody>
                  <a:tcPr marT="91425" marB="91425" marR="91425" marL="91425"/>
                </a:tc>
              </a:tr>
              <a:tr h="437375">
                <a:tc>
                  <a:txBody>
                    <a:bodyPr/>
                    <a:lstStyle/>
                    <a:p>
                      <a:pPr indent="0" lvl="0" marL="0" rtl="0" algn="l">
                        <a:spcBef>
                          <a:spcPts val="0"/>
                        </a:spcBef>
                        <a:spcAft>
                          <a:spcPts val="0"/>
                        </a:spcAft>
                        <a:buNone/>
                      </a:pPr>
                      <a:r>
                        <a:rPr lang="el" sz="1300">
                          <a:solidFill>
                            <a:srgbClr val="000000"/>
                          </a:solidFill>
                          <a:latin typeface="Nunito"/>
                          <a:ea typeface="Nunito"/>
                          <a:cs typeface="Nunito"/>
                          <a:sym typeface="Nunito"/>
                        </a:rPr>
                        <a:t>Interpretability*</a:t>
                      </a:r>
                      <a:endParaRPr sz="1300">
                        <a:solidFill>
                          <a:srgbClr val="000000"/>
                        </a:solidFill>
                        <a:latin typeface="Nunito"/>
                        <a:ea typeface="Nunito"/>
                        <a:cs typeface="Nunito"/>
                        <a:sym typeface="Nunito"/>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l" sz="1300">
                          <a:solidFill>
                            <a:srgbClr val="000000"/>
                          </a:solidFill>
                          <a:latin typeface="Nunito"/>
                          <a:ea typeface="Nunito"/>
                          <a:cs typeface="Nunito"/>
                          <a:sym typeface="Nunito"/>
                        </a:rPr>
                        <a:t>Good to have</a:t>
                      </a:r>
                      <a:endParaRPr sz="1300">
                        <a:solidFill>
                          <a:srgbClr val="000000"/>
                        </a:solidFill>
                        <a:latin typeface="Nunito"/>
                        <a:ea typeface="Nunito"/>
                        <a:cs typeface="Nunito"/>
                        <a:sym typeface="Nunito"/>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l" sz="1300">
                          <a:solidFill>
                            <a:srgbClr val="000000"/>
                          </a:solidFill>
                          <a:latin typeface="Nunito"/>
                          <a:ea typeface="Nunito"/>
                          <a:cs typeface="Nunito"/>
                          <a:sym typeface="Nunito"/>
                        </a:rPr>
                        <a:t>Important</a:t>
                      </a:r>
                      <a:endParaRPr sz="1300">
                        <a:solidFill>
                          <a:srgbClr val="000000"/>
                        </a:solidFill>
                        <a:latin typeface="Nunito"/>
                        <a:ea typeface="Nunito"/>
                        <a:cs typeface="Nunito"/>
                        <a:sym typeface="Nunito"/>
                      </a:endParaRPr>
                    </a:p>
                  </a:txBody>
                  <a:tcPr marT="91425" marB="91425" marR="91425" marL="91425">
                    <a:lnL cap="flat" cmpd="sng" w="9525">
                      <a:solidFill>
                        <a:srgbClr val="9E9E9E"/>
                      </a:solidFill>
                      <a:prstDash val="solid"/>
                      <a:round/>
                      <a:headEnd len="sm" w="sm" type="none"/>
                      <a:tailEnd len="sm" w="sm" type="none"/>
                    </a:lnL>
                  </a:tcPr>
                </a:tc>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4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Evaluate tradeoffs</a:t>
            </a:r>
            <a:endParaRPr/>
          </a:p>
        </p:txBody>
      </p:sp>
      <p:graphicFrame>
        <p:nvGraphicFramePr>
          <p:cNvPr id="271" name="Google Shape;271;p43"/>
          <p:cNvGraphicFramePr/>
          <p:nvPr/>
        </p:nvGraphicFramePr>
        <p:xfrm>
          <a:off x="1000688" y="1476838"/>
          <a:ext cx="3000000" cy="3000000"/>
        </p:xfrm>
        <a:graphic>
          <a:graphicData uri="http://schemas.openxmlformats.org/drawingml/2006/table">
            <a:tbl>
              <a:tblPr>
                <a:noFill/>
                <a:tableStyleId>{FA072A65-EB3D-4C6D-9EF0-085EB4FA5BAB}</a:tableStyleId>
              </a:tblPr>
              <a:tblGrid>
                <a:gridCol w="2014150"/>
                <a:gridCol w="2523600"/>
                <a:gridCol w="2906900"/>
              </a:tblGrid>
              <a:tr h="479825">
                <a:tc>
                  <a:txBody>
                    <a:bodyPr/>
                    <a:lstStyle/>
                    <a:p>
                      <a:pPr indent="0" lvl="0" marL="0" rtl="0" algn="l">
                        <a:spcBef>
                          <a:spcPts val="0"/>
                        </a:spcBef>
                        <a:spcAft>
                          <a:spcPts val="0"/>
                        </a:spcAft>
                        <a:buNone/>
                      </a:pPr>
                      <a:r>
                        <a:t/>
                      </a:r>
                      <a:endParaRPr b="1" sz="1500">
                        <a:latin typeface="Nunito"/>
                        <a:ea typeface="Nunito"/>
                        <a:cs typeface="Nunito"/>
                        <a:sym typeface="Nunito"/>
                      </a:endParaRPr>
                    </a:p>
                  </a:txBody>
                  <a:tcPr marT="91425" marB="91425" marR="91425" marL="91425"/>
                </a:tc>
                <a:tc>
                  <a:txBody>
                    <a:bodyPr/>
                    <a:lstStyle/>
                    <a:p>
                      <a:pPr indent="0" lvl="0" marL="0" rtl="0" algn="l">
                        <a:spcBef>
                          <a:spcPts val="0"/>
                        </a:spcBef>
                        <a:spcAft>
                          <a:spcPts val="0"/>
                        </a:spcAft>
                        <a:buNone/>
                      </a:pPr>
                      <a:r>
                        <a:rPr b="1" lang="el" sz="1500">
                          <a:latin typeface="Nunito"/>
                          <a:ea typeface="Nunito"/>
                          <a:cs typeface="Nunito"/>
                          <a:sym typeface="Nunito"/>
                        </a:rPr>
                        <a:t>Research</a:t>
                      </a:r>
                      <a:endParaRPr b="1" sz="1500">
                        <a:latin typeface="Nunito"/>
                        <a:ea typeface="Nunito"/>
                        <a:cs typeface="Nunito"/>
                        <a:sym typeface="Nunito"/>
                      </a:endParaRPr>
                    </a:p>
                  </a:txBody>
                  <a:tcPr marT="91425" marB="91425" marR="91425" marL="91425"/>
                </a:tc>
                <a:tc>
                  <a:txBody>
                    <a:bodyPr/>
                    <a:lstStyle/>
                    <a:p>
                      <a:pPr indent="0" lvl="0" marL="0" rtl="0" algn="l">
                        <a:spcBef>
                          <a:spcPts val="0"/>
                        </a:spcBef>
                        <a:spcAft>
                          <a:spcPts val="0"/>
                        </a:spcAft>
                        <a:buNone/>
                      </a:pPr>
                      <a:r>
                        <a:rPr b="1" lang="el" sz="1500">
                          <a:latin typeface="Nunito"/>
                          <a:ea typeface="Nunito"/>
                          <a:cs typeface="Nunito"/>
                          <a:sym typeface="Nunito"/>
                        </a:rPr>
                        <a:t>Production</a:t>
                      </a:r>
                      <a:endParaRPr b="1" sz="1500">
                        <a:latin typeface="Nunito"/>
                        <a:ea typeface="Nunito"/>
                        <a:cs typeface="Nunito"/>
                        <a:sym typeface="Nunito"/>
                      </a:endParaRPr>
                    </a:p>
                  </a:txBody>
                  <a:tcPr marT="91425" marB="91425" marR="91425" marL="91425"/>
                </a:tc>
              </a:tr>
              <a:tr h="437375">
                <a:tc>
                  <a:txBody>
                    <a:bodyPr/>
                    <a:lstStyle/>
                    <a:p>
                      <a:pPr indent="0" lvl="0" marL="0" rtl="0" algn="l">
                        <a:spcBef>
                          <a:spcPts val="0"/>
                        </a:spcBef>
                        <a:spcAft>
                          <a:spcPts val="0"/>
                        </a:spcAft>
                        <a:buNone/>
                      </a:pPr>
                      <a:r>
                        <a:rPr lang="el" sz="1300">
                          <a:solidFill>
                            <a:srgbClr val="000000"/>
                          </a:solidFill>
                          <a:latin typeface="Nunito"/>
                          <a:ea typeface="Nunito"/>
                          <a:cs typeface="Nunito"/>
                          <a:sym typeface="Nunito"/>
                        </a:rPr>
                        <a:t>Objectives</a:t>
                      </a:r>
                      <a:endParaRPr sz="1300">
                        <a:solidFill>
                          <a:srgbClr val="000000"/>
                        </a:solidFill>
                        <a:latin typeface="Nunito"/>
                        <a:ea typeface="Nunito"/>
                        <a:cs typeface="Nunito"/>
                        <a:sym typeface="Nunito"/>
                      </a:endParaRPr>
                    </a:p>
                  </a:txBody>
                  <a:tcPr marT="91425" marB="91425" marR="91425" marL="91425"/>
                </a:tc>
                <a:tc>
                  <a:txBody>
                    <a:bodyPr/>
                    <a:lstStyle/>
                    <a:p>
                      <a:pPr indent="0" lvl="0" marL="0" rtl="0" algn="l">
                        <a:spcBef>
                          <a:spcPts val="0"/>
                        </a:spcBef>
                        <a:spcAft>
                          <a:spcPts val="0"/>
                        </a:spcAft>
                        <a:buNone/>
                      </a:pPr>
                      <a:r>
                        <a:rPr lang="el" sz="1300">
                          <a:solidFill>
                            <a:srgbClr val="000000"/>
                          </a:solidFill>
                          <a:latin typeface="Nunito"/>
                          <a:ea typeface="Nunito"/>
                          <a:cs typeface="Nunito"/>
                          <a:sym typeface="Nunito"/>
                        </a:rPr>
                        <a:t>Good Model Performance</a:t>
                      </a:r>
                      <a:endParaRPr sz="1300">
                        <a:solidFill>
                          <a:srgbClr val="000000"/>
                        </a:solidFill>
                        <a:latin typeface="Nunito"/>
                        <a:ea typeface="Nunito"/>
                        <a:cs typeface="Nunito"/>
                        <a:sym typeface="Nunito"/>
                      </a:endParaRPr>
                    </a:p>
                  </a:txBody>
                  <a:tcPr marT="91425" marB="91425" marR="91425" marL="91425"/>
                </a:tc>
                <a:tc>
                  <a:txBody>
                    <a:bodyPr/>
                    <a:lstStyle/>
                    <a:p>
                      <a:pPr indent="0" lvl="0" marL="0" rtl="0" algn="l">
                        <a:spcBef>
                          <a:spcPts val="0"/>
                        </a:spcBef>
                        <a:spcAft>
                          <a:spcPts val="0"/>
                        </a:spcAft>
                        <a:buNone/>
                      </a:pPr>
                      <a:r>
                        <a:rPr lang="el" sz="1300">
                          <a:solidFill>
                            <a:srgbClr val="000000"/>
                          </a:solidFill>
                          <a:latin typeface="Nunito"/>
                          <a:ea typeface="Nunito"/>
                          <a:cs typeface="Nunito"/>
                          <a:sym typeface="Nunito"/>
                        </a:rPr>
                        <a:t>Different Managers -&gt; Different Objectives</a:t>
                      </a:r>
                      <a:endParaRPr sz="1300">
                        <a:solidFill>
                          <a:srgbClr val="000000"/>
                        </a:solidFill>
                        <a:latin typeface="Nunito"/>
                        <a:ea typeface="Nunito"/>
                        <a:cs typeface="Nunito"/>
                        <a:sym typeface="Nunito"/>
                      </a:endParaRPr>
                    </a:p>
                  </a:txBody>
                  <a:tcPr marT="91425" marB="91425" marR="91425" marL="91425"/>
                </a:tc>
              </a:tr>
              <a:tr h="437375">
                <a:tc>
                  <a:txBody>
                    <a:bodyPr/>
                    <a:lstStyle/>
                    <a:p>
                      <a:pPr indent="0" lvl="0" marL="0" rtl="0" algn="l">
                        <a:spcBef>
                          <a:spcPts val="0"/>
                        </a:spcBef>
                        <a:spcAft>
                          <a:spcPts val="0"/>
                        </a:spcAft>
                        <a:buNone/>
                      </a:pPr>
                      <a:r>
                        <a:rPr b="1" lang="el" sz="1300">
                          <a:solidFill>
                            <a:srgbClr val="000000"/>
                          </a:solidFill>
                          <a:latin typeface="Nunito"/>
                          <a:ea typeface="Nunito"/>
                          <a:cs typeface="Nunito"/>
                          <a:sym typeface="Nunito"/>
                        </a:rPr>
                        <a:t>Computational priority</a:t>
                      </a:r>
                      <a:endParaRPr b="1" sz="1300">
                        <a:solidFill>
                          <a:srgbClr val="000000"/>
                        </a:solidFill>
                        <a:latin typeface="Nunito"/>
                        <a:ea typeface="Nunito"/>
                        <a:cs typeface="Nunito"/>
                        <a:sym typeface="Nunito"/>
                      </a:endParaRPr>
                    </a:p>
                  </a:txBody>
                  <a:tcPr marT="91425" marB="91425" marR="91425" marL="91425">
                    <a:solidFill>
                      <a:srgbClr val="00FFFF"/>
                    </a:solidFill>
                  </a:tcPr>
                </a:tc>
                <a:tc>
                  <a:txBody>
                    <a:bodyPr/>
                    <a:lstStyle/>
                    <a:p>
                      <a:pPr indent="0" lvl="0" marL="0" rtl="0" algn="l">
                        <a:spcBef>
                          <a:spcPts val="0"/>
                        </a:spcBef>
                        <a:spcAft>
                          <a:spcPts val="0"/>
                        </a:spcAft>
                        <a:buNone/>
                      </a:pPr>
                      <a:r>
                        <a:rPr b="1" lang="el" sz="1300">
                          <a:solidFill>
                            <a:srgbClr val="000000"/>
                          </a:solidFill>
                          <a:latin typeface="Nunito"/>
                          <a:ea typeface="Nunito"/>
                          <a:cs typeface="Nunito"/>
                          <a:sym typeface="Nunito"/>
                        </a:rPr>
                        <a:t>Not this important.</a:t>
                      </a:r>
                      <a:endParaRPr b="1" sz="1300">
                        <a:solidFill>
                          <a:srgbClr val="000000"/>
                        </a:solidFill>
                        <a:latin typeface="Nunito"/>
                        <a:ea typeface="Nunito"/>
                        <a:cs typeface="Nunito"/>
                        <a:sym typeface="Nunito"/>
                      </a:endParaRPr>
                    </a:p>
                  </a:txBody>
                  <a:tcPr marT="91425" marB="91425" marR="91425" marL="91425">
                    <a:solidFill>
                      <a:srgbClr val="00FFFF"/>
                    </a:solidFill>
                  </a:tcPr>
                </a:tc>
                <a:tc>
                  <a:txBody>
                    <a:bodyPr/>
                    <a:lstStyle/>
                    <a:p>
                      <a:pPr indent="0" lvl="0" marL="0" rtl="0" algn="l">
                        <a:spcBef>
                          <a:spcPts val="0"/>
                        </a:spcBef>
                        <a:spcAft>
                          <a:spcPts val="0"/>
                        </a:spcAft>
                        <a:buNone/>
                      </a:pPr>
                      <a:r>
                        <a:rPr b="1" lang="el" sz="1300">
                          <a:solidFill>
                            <a:srgbClr val="000000"/>
                          </a:solidFill>
                          <a:latin typeface="Nunito"/>
                          <a:ea typeface="Nunito"/>
                          <a:cs typeface="Nunito"/>
                          <a:sym typeface="Nunito"/>
                        </a:rPr>
                        <a:t>Fast. Users should be happy.</a:t>
                      </a:r>
                      <a:endParaRPr b="1" sz="1300">
                        <a:solidFill>
                          <a:srgbClr val="000000"/>
                        </a:solidFill>
                        <a:latin typeface="Nunito"/>
                        <a:ea typeface="Nunito"/>
                        <a:cs typeface="Nunito"/>
                        <a:sym typeface="Nunito"/>
                      </a:endParaRPr>
                    </a:p>
                  </a:txBody>
                  <a:tcPr marT="91425" marB="91425" marR="91425" marL="91425">
                    <a:solidFill>
                      <a:srgbClr val="00FFFF"/>
                    </a:solidFill>
                  </a:tcPr>
                </a:tc>
              </a:tr>
              <a:tr h="437375">
                <a:tc>
                  <a:txBody>
                    <a:bodyPr/>
                    <a:lstStyle/>
                    <a:p>
                      <a:pPr indent="0" lvl="0" marL="0" rtl="0" algn="l">
                        <a:spcBef>
                          <a:spcPts val="0"/>
                        </a:spcBef>
                        <a:spcAft>
                          <a:spcPts val="0"/>
                        </a:spcAft>
                        <a:buNone/>
                      </a:pPr>
                      <a:r>
                        <a:rPr lang="el" sz="1300">
                          <a:solidFill>
                            <a:srgbClr val="000000"/>
                          </a:solidFill>
                          <a:latin typeface="Nunito"/>
                          <a:ea typeface="Nunito"/>
                          <a:cs typeface="Nunito"/>
                          <a:sym typeface="Nunito"/>
                        </a:rPr>
                        <a:t>Data</a:t>
                      </a:r>
                      <a:endParaRPr sz="1300">
                        <a:solidFill>
                          <a:srgbClr val="000000"/>
                        </a:solidFill>
                        <a:latin typeface="Nunito"/>
                        <a:ea typeface="Nunito"/>
                        <a:cs typeface="Nunito"/>
                        <a:sym typeface="Nunito"/>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l" sz="1300">
                          <a:solidFill>
                            <a:srgbClr val="000000"/>
                          </a:solidFill>
                          <a:latin typeface="Nunito"/>
                          <a:ea typeface="Nunito"/>
                          <a:cs typeface="Nunito"/>
                          <a:sym typeface="Nunito"/>
                        </a:rPr>
                        <a:t>Static -&gt; Fixed Dataset</a:t>
                      </a:r>
                      <a:endParaRPr sz="1300">
                        <a:solidFill>
                          <a:srgbClr val="000000"/>
                        </a:solidFill>
                        <a:latin typeface="Nunito"/>
                        <a:ea typeface="Nunito"/>
                        <a:cs typeface="Nunito"/>
                        <a:sym typeface="Nunito"/>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l" sz="1300">
                          <a:solidFill>
                            <a:srgbClr val="000000"/>
                          </a:solidFill>
                          <a:latin typeface="Nunito"/>
                          <a:ea typeface="Nunito"/>
                          <a:cs typeface="Nunito"/>
                          <a:sym typeface="Nunito"/>
                        </a:rPr>
                        <a:t>Constantly changing (possibly daily)</a:t>
                      </a:r>
                      <a:endParaRPr sz="1300">
                        <a:solidFill>
                          <a:srgbClr val="000000"/>
                        </a:solidFill>
                        <a:latin typeface="Nunito"/>
                        <a:ea typeface="Nunito"/>
                        <a:cs typeface="Nunito"/>
                        <a:sym typeface="Nunito"/>
                      </a:endParaRPr>
                    </a:p>
                  </a:txBody>
                  <a:tcPr marT="91425" marB="91425" marR="91425" marL="91425"/>
                </a:tc>
              </a:tr>
              <a:tr h="437375">
                <a:tc>
                  <a:txBody>
                    <a:bodyPr/>
                    <a:lstStyle/>
                    <a:p>
                      <a:pPr indent="0" lvl="0" marL="0" rtl="0" algn="l">
                        <a:spcBef>
                          <a:spcPts val="0"/>
                        </a:spcBef>
                        <a:spcAft>
                          <a:spcPts val="0"/>
                        </a:spcAft>
                        <a:buNone/>
                      </a:pPr>
                      <a:r>
                        <a:rPr lang="el" sz="1300">
                          <a:solidFill>
                            <a:srgbClr val="000000"/>
                          </a:solidFill>
                          <a:latin typeface="Nunito"/>
                          <a:ea typeface="Nunito"/>
                          <a:cs typeface="Nunito"/>
                          <a:sym typeface="Nunito"/>
                        </a:rPr>
                        <a:t>Fairness</a:t>
                      </a:r>
                      <a:endParaRPr sz="1300">
                        <a:solidFill>
                          <a:srgbClr val="000000"/>
                        </a:solidFill>
                        <a:latin typeface="Nunito"/>
                        <a:ea typeface="Nunito"/>
                        <a:cs typeface="Nunito"/>
                        <a:sym typeface="Nunito"/>
                      </a:endParaRPr>
                    </a:p>
                  </a:txBody>
                  <a:tcPr marT="91425" marB="91425"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l" sz="1300">
                          <a:solidFill>
                            <a:srgbClr val="000000"/>
                          </a:solidFill>
                          <a:latin typeface="Nunito"/>
                          <a:ea typeface="Nunito"/>
                          <a:cs typeface="Nunito"/>
                          <a:sym typeface="Nunito"/>
                        </a:rPr>
                        <a:t>Good to have (sadly)</a:t>
                      </a:r>
                      <a:endParaRPr sz="1300">
                        <a:solidFill>
                          <a:srgbClr val="000000"/>
                        </a:solidFill>
                        <a:latin typeface="Nunito"/>
                        <a:ea typeface="Nunito"/>
                        <a:cs typeface="Nunito"/>
                        <a:sym typeface="Nunito"/>
                      </a:endParaRPr>
                    </a:p>
                  </a:txBody>
                  <a:tcPr marT="91425" marB="91425"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l" sz="1300">
                          <a:solidFill>
                            <a:srgbClr val="000000"/>
                          </a:solidFill>
                          <a:latin typeface="Nunito"/>
                          <a:ea typeface="Nunito"/>
                          <a:cs typeface="Nunito"/>
                          <a:sym typeface="Nunito"/>
                        </a:rPr>
                        <a:t>Important</a:t>
                      </a:r>
                      <a:endParaRPr sz="1300">
                        <a:solidFill>
                          <a:srgbClr val="000000"/>
                        </a:solidFill>
                        <a:latin typeface="Nunito"/>
                        <a:ea typeface="Nunito"/>
                        <a:cs typeface="Nunito"/>
                        <a:sym typeface="Nunito"/>
                      </a:endParaRPr>
                    </a:p>
                  </a:txBody>
                  <a:tcPr marT="91425" marB="91425" marR="91425" marL="91425"/>
                </a:tc>
              </a:tr>
              <a:tr h="437375">
                <a:tc>
                  <a:txBody>
                    <a:bodyPr/>
                    <a:lstStyle/>
                    <a:p>
                      <a:pPr indent="0" lvl="0" marL="0" rtl="0" algn="l">
                        <a:spcBef>
                          <a:spcPts val="0"/>
                        </a:spcBef>
                        <a:spcAft>
                          <a:spcPts val="0"/>
                        </a:spcAft>
                        <a:buNone/>
                      </a:pPr>
                      <a:r>
                        <a:rPr lang="el" sz="1300">
                          <a:solidFill>
                            <a:srgbClr val="000000"/>
                          </a:solidFill>
                          <a:latin typeface="Nunito"/>
                          <a:ea typeface="Nunito"/>
                          <a:cs typeface="Nunito"/>
                          <a:sym typeface="Nunito"/>
                        </a:rPr>
                        <a:t>Interpretability*</a:t>
                      </a:r>
                      <a:endParaRPr sz="1300">
                        <a:solidFill>
                          <a:srgbClr val="000000"/>
                        </a:solidFill>
                        <a:latin typeface="Nunito"/>
                        <a:ea typeface="Nunito"/>
                        <a:cs typeface="Nunito"/>
                        <a:sym typeface="Nunito"/>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l" sz="1300">
                          <a:solidFill>
                            <a:srgbClr val="000000"/>
                          </a:solidFill>
                          <a:latin typeface="Nunito"/>
                          <a:ea typeface="Nunito"/>
                          <a:cs typeface="Nunito"/>
                          <a:sym typeface="Nunito"/>
                        </a:rPr>
                        <a:t>Good to have</a:t>
                      </a:r>
                      <a:endParaRPr sz="1300">
                        <a:solidFill>
                          <a:srgbClr val="000000"/>
                        </a:solidFill>
                        <a:latin typeface="Nunito"/>
                        <a:ea typeface="Nunito"/>
                        <a:cs typeface="Nunito"/>
                        <a:sym typeface="Nunito"/>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l" sz="1300">
                          <a:solidFill>
                            <a:srgbClr val="000000"/>
                          </a:solidFill>
                          <a:latin typeface="Nunito"/>
                          <a:ea typeface="Nunito"/>
                          <a:cs typeface="Nunito"/>
                          <a:sym typeface="Nunito"/>
                        </a:rPr>
                        <a:t>Important</a:t>
                      </a:r>
                      <a:endParaRPr sz="1300">
                        <a:solidFill>
                          <a:srgbClr val="000000"/>
                        </a:solidFill>
                        <a:latin typeface="Nunito"/>
                        <a:ea typeface="Nunito"/>
                        <a:cs typeface="Nunito"/>
                        <a:sym typeface="Nunito"/>
                      </a:endParaRPr>
                    </a:p>
                  </a:txBody>
                  <a:tcPr marT="91425" marB="91425" marR="91425" marL="91425">
                    <a:lnL cap="flat" cmpd="sng" w="9525">
                      <a:solidFill>
                        <a:srgbClr val="9E9E9E"/>
                      </a:solidFill>
                      <a:prstDash val="solid"/>
                      <a:round/>
                      <a:headEnd len="sm" w="sm" type="none"/>
                      <a:tailEnd len="sm" w="sm" type="none"/>
                    </a:lnL>
                  </a:tcPr>
                </a:tc>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4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Evaluate tradeoffs</a:t>
            </a:r>
            <a:endParaRPr/>
          </a:p>
        </p:txBody>
      </p:sp>
      <p:pic>
        <p:nvPicPr>
          <p:cNvPr id="277" name="Google Shape;277;p44"/>
          <p:cNvPicPr preferRelativeResize="0"/>
          <p:nvPr/>
        </p:nvPicPr>
        <p:blipFill>
          <a:blip r:embed="rId3">
            <a:alphaModFix/>
          </a:blip>
          <a:stretch>
            <a:fillRect/>
          </a:stretch>
        </p:blipFill>
        <p:spPr>
          <a:xfrm>
            <a:off x="3723975" y="674650"/>
            <a:ext cx="4565524" cy="4468851"/>
          </a:xfrm>
          <a:prstGeom prst="rect">
            <a:avLst/>
          </a:prstGeom>
          <a:noFill/>
          <a:ln>
            <a:noFill/>
          </a:ln>
        </p:spPr>
      </p:pic>
      <p:sp>
        <p:nvSpPr>
          <p:cNvPr id="278" name="Google Shape;278;p44"/>
          <p:cNvSpPr txBox="1"/>
          <p:nvPr/>
        </p:nvSpPr>
        <p:spPr>
          <a:xfrm>
            <a:off x="311700" y="1778825"/>
            <a:ext cx="3250800" cy="22605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Clr>
                <a:schemeClr val="dk2"/>
              </a:buClr>
              <a:buSzPts val="1800"/>
              <a:buChar char="●"/>
            </a:pPr>
            <a:r>
              <a:rPr lang="el" sz="1800">
                <a:solidFill>
                  <a:schemeClr val="dk2"/>
                </a:solidFill>
              </a:rPr>
              <a:t>More parameters mean higher accuracy</a:t>
            </a:r>
            <a:endParaRPr sz="1800">
              <a:solidFill>
                <a:schemeClr val="dk2"/>
              </a:solidFill>
            </a:endParaRPr>
          </a:p>
          <a:p>
            <a:pPr indent="-342900" lvl="0" marL="457200" rtl="0" algn="l">
              <a:lnSpc>
                <a:spcPct val="115000"/>
              </a:lnSpc>
              <a:spcBef>
                <a:spcPts val="0"/>
              </a:spcBef>
              <a:spcAft>
                <a:spcPts val="0"/>
              </a:spcAft>
              <a:buClr>
                <a:schemeClr val="dk2"/>
              </a:buClr>
              <a:buSzPts val="1800"/>
              <a:buChar char="●"/>
            </a:pPr>
            <a:r>
              <a:rPr lang="el" sz="1800">
                <a:solidFill>
                  <a:schemeClr val="dk2"/>
                </a:solidFill>
              </a:rPr>
              <a:t>More parameters also mean more computation complexity</a:t>
            </a:r>
            <a:endParaRPr sz="1800">
              <a:solidFill>
                <a:schemeClr val="dk2"/>
              </a:solidFill>
            </a:endParaRPr>
          </a:p>
          <a:p>
            <a:pPr indent="-342900" lvl="0" marL="457200" rtl="0" algn="l">
              <a:lnSpc>
                <a:spcPct val="115000"/>
              </a:lnSpc>
              <a:spcBef>
                <a:spcPts val="0"/>
              </a:spcBef>
              <a:spcAft>
                <a:spcPts val="0"/>
              </a:spcAft>
              <a:buClr>
                <a:schemeClr val="dk2"/>
              </a:buClr>
              <a:buSzPts val="1800"/>
              <a:buChar char="●"/>
            </a:pPr>
            <a:r>
              <a:rPr lang="el" sz="1800">
                <a:solidFill>
                  <a:schemeClr val="dk2"/>
                </a:solidFill>
              </a:rPr>
              <a:t>This is not research.</a:t>
            </a:r>
            <a:endParaRPr sz="1800">
              <a:solidFill>
                <a:schemeClr val="dk2"/>
              </a:solidFill>
            </a:endParaRPr>
          </a:p>
          <a:p>
            <a:pPr indent="-342900" lvl="0" marL="457200" rtl="0" algn="l">
              <a:lnSpc>
                <a:spcPct val="115000"/>
              </a:lnSpc>
              <a:spcBef>
                <a:spcPts val="0"/>
              </a:spcBef>
              <a:spcAft>
                <a:spcPts val="0"/>
              </a:spcAft>
              <a:buClr>
                <a:schemeClr val="dk2"/>
              </a:buClr>
              <a:buSzPts val="1800"/>
              <a:buChar char="●"/>
            </a:pPr>
            <a:r>
              <a:rPr lang="el" sz="1800">
                <a:solidFill>
                  <a:schemeClr val="dk2"/>
                </a:solidFill>
              </a:rPr>
              <a:t>There are tradeoffs!</a:t>
            </a:r>
            <a:endParaRPr sz="1800">
              <a:solidFill>
                <a:schemeClr val="dk2"/>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4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Tips for Model selection</a:t>
            </a:r>
            <a:endParaRPr/>
          </a:p>
        </p:txBody>
      </p:sp>
      <p:sp>
        <p:nvSpPr>
          <p:cNvPr id="284" name="Google Shape;284;p45"/>
          <p:cNvSpPr txBox="1"/>
          <p:nvPr/>
        </p:nvSpPr>
        <p:spPr>
          <a:xfrm>
            <a:off x="488900" y="1922200"/>
            <a:ext cx="7641600" cy="1653600"/>
          </a:xfrm>
          <a:prstGeom prst="rect">
            <a:avLst/>
          </a:prstGeom>
          <a:noFill/>
          <a:ln>
            <a:noFill/>
          </a:ln>
        </p:spPr>
        <p:txBody>
          <a:bodyPr anchorCtr="0" anchor="t" bIns="91425" lIns="91425" spcFirstLastPara="1" rIns="91425" wrap="square" tIns="91425">
            <a:noAutofit/>
          </a:bodyPr>
          <a:lstStyle/>
          <a:p>
            <a:pPr indent="-342900" lvl="0" marL="457200" rtl="0" algn="l">
              <a:lnSpc>
                <a:spcPct val="150000"/>
              </a:lnSpc>
              <a:spcBef>
                <a:spcPts val="0"/>
              </a:spcBef>
              <a:spcAft>
                <a:spcPts val="0"/>
              </a:spcAft>
              <a:buClr>
                <a:srgbClr val="9E9E9E"/>
              </a:buClr>
              <a:buSzPts val="1800"/>
              <a:buAutoNum type="arabicPeriod"/>
            </a:pPr>
            <a:r>
              <a:rPr lang="el" sz="1800">
                <a:solidFill>
                  <a:srgbClr val="9E9E9E"/>
                </a:solidFill>
              </a:rPr>
              <a:t>Start with the simplest models.</a:t>
            </a:r>
            <a:endParaRPr sz="1800">
              <a:solidFill>
                <a:srgbClr val="9E9E9E"/>
              </a:solidFill>
            </a:endParaRPr>
          </a:p>
          <a:p>
            <a:pPr indent="-342900" lvl="0" marL="457200" rtl="0" algn="l">
              <a:lnSpc>
                <a:spcPct val="150000"/>
              </a:lnSpc>
              <a:spcBef>
                <a:spcPts val="0"/>
              </a:spcBef>
              <a:spcAft>
                <a:spcPts val="0"/>
              </a:spcAft>
              <a:buClr>
                <a:srgbClr val="9E9E9E"/>
              </a:buClr>
              <a:buSzPts val="1800"/>
              <a:buAutoNum type="arabicPeriod"/>
            </a:pPr>
            <a:r>
              <a:rPr lang="el" sz="1800">
                <a:solidFill>
                  <a:srgbClr val="9E9E9E"/>
                </a:solidFill>
              </a:rPr>
              <a:t>Avoid the social media “hype” traps</a:t>
            </a:r>
            <a:endParaRPr sz="1800">
              <a:solidFill>
                <a:srgbClr val="9E9E9E"/>
              </a:solidFill>
            </a:endParaRPr>
          </a:p>
          <a:p>
            <a:pPr indent="-342900" lvl="0" marL="457200" rtl="0" algn="l">
              <a:lnSpc>
                <a:spcPct val="150000"/>
              </a:lnSpc>
              <a:spcBef>
                <a:spcPts val="0"/>
              </a:spcBef>
              <a:spcAft>
                <a:spcPts val="0"/>
              </a:spcAft>
              <a:buClr>
                <a:srgbClr val="9E9E9E"/>
              </a:buClr>
              <a:buSzPts val="1800"/>
              <a:buAutoNum type="arabicPeriod"/>
            </a:pPr>
            <a:r>
              <a:rPr lang="el" sz="1800">
                <a:solidFill>
                  <a:srgbClr val="9E9E9E"/>
                </a:solidFill>
              </a:rPr>
              <a:t>Evaluate deployment tradeoffs</a:t>
            </a:r>
            <a:endParaRPr sz="1800">
              <a:solidFill>
                <a:srgbClr val="9E9E9E"/>
              </a:solidFill>
            </a:endParaRPr>
          </a:p>
          <a:p>
            <a:pPr indent="-342900" lvl="0" marL="457200" rtl="0" algn="l">
              <a:lnSpc>
                <a:spcPct val="150000"/>
              </a:lnSpc>
              <a:spcBef>
                <a:spcPts val="0"/>
              </a:spcBef>
              <a:spcAft>
                <a:spcPts val="0"/>
              </a:spcAft>
              <a:buClr>
                <a:schemeClr val="dk1"/>
              </a:buClr>
              <a:buSzPts val="1800"/>
              <a:buAutoNum type="arabicPeriod"/>
            </a:pPr>
            <a:r>
              <a:rPr lang="el" sz="1800">
                <a:solidFill>
                  <a:schemeClr val="dk1"/>
                </a:solidFill>
              </a:rPr>
              <a:t>Trust Battle - Tested Models</a:t>
            </a:r>
            <a:endParaRPr sz="1800">
              <a:solidFill>
                <a:schemeClr val="dk1"/>
              </a:solidFill>
            </a:endParaRPr>
          </a:p>
          <a:p>
            <a:pPr indent="-342900" lvl="0" marL="457200" rtl="0" algn="l">
              <a:lnSpc>
                <a:spcPct val="150000"/>
              </a:lnSpc>
              <a:spcBef>
                <a:spcPts val="0"/>
              </a:spcBef>
              <a:spcAft>
                <a:spcPts val="0"/>
              </a:spcAft>
              <a:buClr>
                <a:srgbClr val="9E9E9E"/>
              </a:buClr>
              <a:buSzPts val="1800"/>
              <a:buAutoNum type="arabicPeriod"/>
            </a:pPr>
            <a:r>
              <a:rPr lang="el" sz="1800">
                <a:solidFill>
                  <a:srgbClr val="9E9E9E"/>
                </a:solidFill>
              </a:rPr>
              <a:t>Combine models =&gt; Ensembling!</a:t>
            </a:r>
            <a:endParaRPr sz="1800">
              <a:solidFill>
                <a:srgbClr val="9E9E9E"/>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4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What The Media Does Not Tell You.</a:t>
            </a:r>
            <a:endParaRPr/>
          </a:p>
        </p:txBody>
      </p:sp>
      <p:sp>
        <p:nvSpPr>
          <p:cNvPr id="290" name="Google Shape;290;p46"/>
          <p:cNvSpPr txBox="1"/>
          <p:nvPr/>
        </p:nvSpPr>
        <p:spPr>
          <a:xfrm>
            <a:off x="204800" y="1366725"/>
            <a:ext cx="7095600" cy="1034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l" sz="1600"/>
              <a:t>Large Language Models (LLMs) are all over the news.</a:t>
            </a:r>
            <a:endParaRPr sz="1600"/>
          </a:p>
          <a:p>
            <a:pPr indent="0" lvl="0" marL="0" rtl="0" algn="l">
              <a:lnSpc>
                <a:spcPct val="115000"/>
              </a:lnSpc>
              <a:spcBef>
                <a:spcPts val="0"/>
              </a:spcBef>
              <a:spcAft>
                <a:spcPts val="0"/>
              </a:spcAft>
              <a:buNone/>
            </a:pPr>
            <a:r>
              <a:rPr lang="el" sz="1600">
                <a:solidFill>
                  <a:srgbClr val="FF00FF"/>
                </a:solidFill>
              </a:rPr>
              <a:t>And for a good reason.</a:t>
            </a:r>
            <a:r>
              <a:rPr lang="el" sz="1600"/>
              <a:t> </a:t>
            </a:r>
            <a:endParaRPr sz="1600"/>
          </a:p>
          <a:p>
            <a:pPr indent="0" lvl="0" marL="0" rtl="0" algn="l">
              <a:lnSpc>
                <a:spcPct val="115000"/>
              </a:lnSpc>
              <a:spcBef>
                <a:spcPts val="0"/>
              </a:spcBef>
              <a:spcAft>
                <a:spcPts val="0"/>
              </a:spcAft>
              <a:buNone/>
            </a:pPr>
            <a:r>
              <a:rPr lang="el" sz="1600"/>
              <a:t>They dominate on Natural Language, Audio and Vision tasks.</a:t>
            </a:r>
            <a:endParaRPr sz="1600"/>
          </a:p>
          <a:p>
            <a:pPr indent="0" lvl="0" marL="0" rtl="0" algn="l">
              <a:lnSpc>
                <a:spcPct val="115000"/>
              </a:lnSpc>
              <a:spcBef>
                <a:spcPts val="0"/>
              </a:spcBef>
              <a:spcAft>
                <a:spcPts val="0"/>
              </a:spcAft>
              <a:buNone/>
            </a:pPr>
            <a:r>
              <a:t/>
            </a:r>
            <a:endParaRPr sz="1600"/>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4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What The Media Does Not Tell You.</a:t>
            </a:r>
            <a:endParaRPr/>
          </a:p>
        </p:txBody>
      </p:sp>
      <p:sp>
        <p:nvSpPr>
          <p:cNvPr id="296" name="Google Shape;296;p47"/>
          <p:cNvSpPr txBox="1"/>
          <p:nvPr/>
        </p:nvSpPr>
        <p:spPr>
          <a:xfrm>
            <a:off x="204800" y="1366725"/>
            <a:ext cx="7095600" cy="1034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l" sz="1600"/>
              <a:t>Large Language Models (LLMs) are all over the news.</a:t>
            </a:r>
            <a:endParaRPr sz="1600"/>
          </a:p>
          <a:p>
            <a:pPr indent="0" lvl="0" marL="0" rtl="0" algn="l">
              <a:lnSpc>
                <a:spcPct val="115000"/>
              </a:lnSpc>
              <a:spcBef>
                <a:spcPts val="0"/>
              </a:spcBef>
              <a:spcAft>
                <a:spcPts val="0"/>
              </a:spcAft>
              <a:buNone/>
            </a:pPr>
            <a:r>
              <a:rPr lang="el" sz="1600">
                <a:solidFill>
                  <a:srgbClr val="FF00FF"/>
                </a:solidFill>
              </a:rPr>
              <a:t>And for a good reason.</a:t>
            </a:r>
            <a:r>
              <a:rPr lang="el" sz="1600"/>
              <a:t> </a:t>
            </a:r>
            <a:endParaRPr sz="1600"/>
          </a:p>
          <a:p>
            <a:pPr indent="0" lvl="0" marL="0" rtl="0" algn="l">
              <a:lnSpc>
                <a:spcPct val="115000"/>
              </a:lnSpc>
              <a:spcBef>
                <a:spcPts val="0"/>
              </a:spcBef>
              <a:spcAft>
                <a:spcPts val="0"/>
              </a:spcAft>
              <a:buNone/>
            </a:pPr>
            <a:r>
              <a:rPr lang="el" sz="1600"/>
              <a:t>They dominate on Natural Language, Audio and Vision tasks.</a:t>
            </a:r>
            <a:endParaRPr sz="1600"/>
          </a:p>
          <a:p>
            <a:pPr indent="0" lvl="0" marL="0" rtl="0" algn="l">
              <a:lnSpc>
                <a:spcPct val="115000"/>
              </a:lnSpc>
              <a:spcBef>
                <a:spcPts val="0"/>
              </a:spcBef>
              <a:spcAft>
                <a:spcPts val="0"/>
              </a:spcAft>
              <a:buNone/>
            </a:pPr>
            <a:r>
              <a:t/>
            </a:r>
            <a:endParaRPr sz="1600"/>
          </a:p>
        </p:txBody>
      </p:sp>
      <p:sp>
        <p:nvSpPr>
          <p:cNvPr id="297" name="Google Shape;297;p47"/>
          <p:cNvSpPr txBox="1"/>
          <p:nvPr/>
        </p:nvSpPr>
        <p:spPr>
          <a:xfrm>
            <a:off x="129800" y="3092625"/>
            <a:ext cx="7245600" cy="1509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l" sz="1600">
                <a:solidFill>
                  <a:srgbClr val="FF00FF"/>
                </a:solidFill>
              </a:rPr>
              <a:t>But this is not what the industry wants:</a:t>
            </a:r>
            <a:endParaRPr sz="1600">
              <a:solidFill>
                <a:srgbClr val="FF00FF"/>
              </a:solidFill>
            </a:endParaRPr>
          </a:p>
          <a:p>
            <a:pPr indent="-330200" lvl="0" marL="457200" rtl="0" algn="l">
              <a:lnSpc>
                <a:spcPct val="115000"/>
              </a:lnSpc>
              <a:spcBef>
                <a:spcPts val="0"/>
              </a:spcBef>
              <a:spcAft>
                <a:spcPts val="0"/>
              </a:spcAft>
              <a:buSzPts val="1600"/>
              <a:buChar char="●"/>
            </a:pPr>
            <a:r>
              <a:rPr lang="el" sz="1600"/>
              <a:t>Industry deals mostly with structure (Tabular) data</a:t>
            </a:r>
            <a:endParaRPr sz="1600"/>
          </a:p>
          <a:p>
            <a:pPr indent="-330200" lvl="0" marL="457200" rtl="0" algn="l">
              <a:lnSpc>
                <a:spcPct val="115000"/>
              </a:lnSpc>
              <a:spcBef>
                <a:spcPts val="0"/>
              </a:spcBef>
              <a:spcAft>
                <a:spcPts val="0"/>
              </a:spcAft>
              <a:buSzPts val="1600"/>
              <a:buChar char="●"/>
            </a:pPr>
            <a:r>
              <a:rPr lang="el" sz="1600"/>
              <a:t>“Traditional” ML models have dominated applied ML competitions</a:t>
            </a:r>
            <a:endParaRPr sz="1600"/>
          </a:p>
          <a:p>
            <a:pPr indent="-330200" lvl="0" marL="457200" rtl="0" algn="l">
              <a:lnSpc>
                <a:spcPct val="115000"/>
              </a:lnSpc>
              <a:spcBef>
                <a:spcPts val="0"/>
              </a:spcBef>
              <a:spcAft>
                <a:spcPts val="0"/>
              </a:spcAft>
              <a:buSzPts val="1600"/>
              <a:buChar char="●"/>
            </a:pPr>
            <a:r>
              <a:rPr lang="el" sz="1600"/>
              <a:t>“Traditional” ML models are widely applied in practise</a:t>
            </a:r>
            <a:endParaRPr sz="1600"/>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4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What The Media Does Not Tell You.</a:t>
            </a:r>
            <a:endParaRPr/>
          </a:p>
        </p:txBody>
      </p:sp>
      <p:pic>
        <p:nvPicPr>
          <p:cNvPr id="303" name="Google Shape;303;p48"/>
          <p:cNvPicPr preferRelativeResize="0"/>
          <p:nvPr/>
        </p:nvPicPr>
        <p:blipFill>
          <a:blip r:embed="rId3">
            <a:alphaModFix/>
          </a:blip>
          <a:stretch>
            <a:fillRect/>
          </a:stretch>
        </p:blipFill>
        <p:spPr>
          <a:xfrm>
            <a:off x="88225" y="1351525"/>
            <a:ext cx="9249199" cy="966725"/>
          </a:xfrm>
          <a:prstGeom prst="rect">
            <a:avLst/>
          </a:prstGeom>
          <a:noFill/>
          <a:ln>
            <a:noFill/>
          </a:ln>
        </p:spPr>
      </p:pic>
      <p:pic>
        <p:nvPicPr>
          <p:cNvPr id="304" name="Google Shape;304;p48"/>
          <p:cNvPicPr preferRelativeResize="0"/>
          <p:nvPr/>
        </p:nvPicPr>
        <p:blipFill>
          <a:blip r:embed="rId4">
            <a:alphaModFix/>
          </a:blip>
          <a:stretch>
            <a:fillRect/>
          </a:stretch>
        </p:blipFill>
        <p:spPr>
          <a:xfrm>
            <a:off x="1999597" y="2147150"/>
            <a:ext cx="4923453" cy="3060525"/>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4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A (small) introduction to GBDTs</a:t>
            </a:r>
            <a:endParaRPr/>
          </a:p>
        </p:txBody>
      </p:sp>
      <p:pic>
        <p:nvPicPr>
          <p:cNvPr id="310" name="Google Shape;310;p49"/>
          <p:cNvPicPr preferRelativeResize="0"/>
          <p:nvPr/>
        </p:nvPicPr>
        <p:blipFill>
          <a:blip r:embed="rId3">
            <a:alphaModFix/>
          </a:blip>
          <a:stretch>
            <a:fillRect/>
          </a:stretch>
        </p:blipFill>
        <p:spPr>
          <a:xfrm>
            <a:off x="139277" y="1230650"/>
            <a:ext cx="1740100" cy="2580725"/>
          </a:xfrm>
          <a:prstGeom prst="rect">
            <a:avLst/>
          </a:prstGeom>
          <a:noFill/>
          <a:ln>
            <a:noFill/>
          </a:ln>
        </p:spPr>
      </p:pic>
      <p:pic>
        <p:nvPicPr>
          <p:cNvPr id="311" name="Google Shape;311;p49"/>
          <p:cNvPicPr preferRelativeResize="0"/>
          <p:nvPr/>
        </p:nvPicPr>
        <p:blipFill>
          <a:blip r:embed="rId4">
            <a:alphaModFix/>
          </a:blip>
          <a:stretch>
            <a:fillRect/>
          </a:stretch>
        </p:blipFill>
        <p:spPr>
          <a:xfrm>
            <a:off x="1879375" y="1230650"/>
            <a:ext cx="3228249" cy="2693000"/>
          </a:xfrm>
          <a:prstGeom prst="rect">
            <a:avLst/>
          </a:prstGeom>
          <a:noFill/>
          <a:ln>
            <a:noFill/>
          </a:ln>
        </p:spPr>
      </p:pic>
      <p:pic>
        <p:nvPicPr>
          <p:cNvPr id="312" name="Google Shape;312;p49"/>
          <p:cNvPicPr preferRelativeResize="0"/>
          <p:nvPr/>
        </p:nvPicPr>
        <p:blipFill>
          <a:blip r:embed="rId5">
            <a:alphaModFix/>
          </a:blip>
          <a:stretch>
            <a:fillRect/>
          </a:stretch>
        </p:blipFill>
        <p:spPr>
          <a:xfrm>
            <a:off x="5260024" y="1285338"/>
            <a:ext cx="3731576" cy="2572824"/>
          </a:xfrm>
          <a:prstGeom prst="rect">
            <a:avLst/>
          </a:prstGeom>
          <a:noFill/>
          <a:ln>
            <a:noFill/>
          </a:ln>
        </p:spPr>
      </p:pic>
      <p:pic>
        <p:nvPicPr>
          <p:cNvPr id="313" name="Google Shape;313;p49"/>
          <p:cNvPicPr preferRelativeResize="0"/>
          <p:nvPr/>
        </p:nvPicPr>
        <p:blipFill>
          <a:blip r:embed="rId6">
            <a:alphaModFix/>
          </a:blip>
          <a:stretch>
            <a:fillRect/>
          </a:stretch>
        </p:blipFill>
        <p:spPr>
          <a:xfrm>
            <a:off x="1423557" y="3923650"/>
            <a:ext cx="6035294" cy="1212075"/>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5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Why XGBoost Works on Tabular Data?</a:t>
            </a:r>
            <a:endParaRPr/>
          </a:p>
        </p:txBody>
      </p:sp>
      <p:sp>
        <p:nvSpPr>
          <p:cNvPr id="319" name="Google Shape;319;p50"/>
          <p:cNvSpPr txBox="1"/>
          <p:nvPr/>
        </p:nvSpPr>
        <p:spPr>
          <a:xfrm>
            <a:off x="448725" y="1051450"/>
            <a:ext cx="7691100" cy="94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600">
                <a:solidFill>
                  <a:srgbClr val="FF00FF"/>
                </a:solidFill>
              </a:rPr>
              <a:t>Feature Engineering: Curate (fix) your data is the key to good model performance!</a:t>
            </a:r>
            <a:endParaRPr sz="1600">
              <a:solidFill>
                <a:srgbClr val="FF00FF"/>
              </a:solidFill>
            </a:endParaRPr>
          </a:p>
          <a:p>
            <a:pPr indent="0" lvl="0" marL="0" rtl="0" algn="l">
              <a:spcBef>
                <a:spcPts val="0"/>
              </a:spcBef>
              <a:spcAft>
                <a:spcPts val="0"/>
              </a:spcAft>
              <a:buNone/>
            </a:pPr>
            <a:r>
              <a:rPr lang="el" sz="1600"/>
              <a:t>Good data &gt; A lot of bad data</a:t>
            </a:r>
            <a:endParaRPr sz="1600"/>
          </a:p>
          <a:p>
            <a:pPr indent="0" lvl="0" marL="0" rtl="0" algn="l">
              <a:spcBef>
                <a:spcPts val="0"/>
              </a:spcBef>
              <a:spcAft>
                <a:spcPts val="0"/>
              </a:spcAft>
              <a:buNone/>
            </a:pPr>
            <a:r>
              <a:rPr lang="el" sz="1600"/>
              <a:t>Good data = Features that describe the problem!</a:t>
            </a:r>
            <a:endParaRPr sz="1600"/>
          </a:p>
        </p:txBody>
      </p:sp>
      <p:pic>
        <p:nvPicPr>
          <p:cNvPr id="320" name="Google Shape;320;p50"/>
          <p:cNvPicPr preferRelativeResize="0"/>
          <p:nvPr/>
        </p:nvPicPr>
        <p:blipFill>
          <a:blip r:embed="rId3">
            <a:alphaModFix/>
          </a:blip>
          <a:stretch>
            <a:fillRect/>
          </a:stretch>
        </p:blipFill>
        <p:spPr>
          <a:xfrm>
            <a:off x="4109798" y="2365000"/>
            <a:ext cx="4834400" cy="1957850"/>
          </a:xfrm>
          <a:prstGeom prst="rect">
            <a:avLst/>
          </a:prstGeom>
          <a:noFill/>
          <a:ln>
            <a:noFill/>
          </a:ln>
        </p:spPr>
      </p:pic>
      <p:sp>
        <p:nvSpPr>
          <p:cNvPr id="321" name="Google Shape;321;p50"/>
          <p:cNvSpPr/>
          <p:nvPr/>
        </p:nvSpPr>
        <p:spPr>
          <a:xfrm>
            <a:off x="4681400" y="3502675"/>
            <a:ext cx="4192500" cy="2010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22" name="Google Shape;322;p50"/>
          <p:cNvSpPr/>
          <p:nvPr/>
        </p:nvSpPr>
        <p:spPr>
          <a:xfrm>
            <a:off x="4109800" y="3502675"/>
            <a:ext cx="462300" cy="2010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23" name="Google Shape;323;p50"/>
          <p:cNvSpPr txBox="1"/>
          <p:nvPr/>
        </p:nvSpPr>
        <p:spPr>
          <a:xfrm>
            <a:off x="5953900" y="2029300"/>
            <a:ext cx="1808400" cy="41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a:t>Sales of a product!</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pic>
        <p:nvPicPr>
          <p:cNvPr id="328" name="Google Shape;328;p51"/>
          <p:cNvPicPr preferRelativeResize="0"/>
          <p:nvPr/>
        </p:nvPicPr>
        <p:blipFill>
          <a:blip r:embed="rId3">
            <a:alphaModFix/>
          </a:blip>
          <a:stretch>
            <a:fillRect/>
          </a:stretch>
        </p:blipFill>
        <p:spPr>
          <a:xfrm>
            <a:off x="4109798" y="2365000"/>
            <a:ext cx="4834400" cy="1957850"/>
          </a:xfrm>
          <a:prstGeom prst="rect">
            <a:avLst/>
          </a:prstGeom>
          <a:noFill/>
          <a:ln>
            <a:noFill/>
          </a:ln>
        </p:spPr>
      </p:pic>
      <p:sp>
        <p:nvSpPr>
          <p:cNvPr id="329" name="Google Shape;329;p51"/>
          <p:cNvSpPr txBox="1"/>
          <p:nvPr/>
        </p:nvSpPr>
        <p:spPr>
          <a:xfrm>
            <a:off x="448725" y="2444500"/>
            <a:ext cx="3502800" cy="236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600">
                <a:solidFill>
                  <a:srgbClr val="FF00FF"/>
                </a:solidFill>
              </a:rPr>
              <a:t>How can a model understand these peaks in the demand and then predict them?</a:t>
            </a:r>
            <a:endParaRPr sz="1600">
              <a:solidFill>
                <a:srgbClr val="FF00FF"/>
              </a:solidFill>
            </a:endParaRPr>
          </a:p>
          <a:p>
            <a:pPr indent="0" lvl="0" marL="0" rtl="0" algn="l">
              <a:spcBef>
                <a:spcPts val="0"/>
              </a:spcBef>
              <a:spcAft>
                <a:spcPts val="0"/>
              </a:spcAft>
              <a:buNone/>
            </a:pPr>
            <a:r>
              <a:t/>
            </a:r>
            <a:endParaRPr sz="1600"/>
          </a:p>
          <a:p>
            <a:pPr indent="0" lvl="0" marL="0" rtl="0" algn="l">
              <a:spcBef>
                <a:spcPts val="0"/>
              </a:spcBef>
              <a:spcAft>
                <a:spcPts val="0"/>
              </a:spcAft>
              <a:buNone/>
            </a:pPr>
            <a:r>
              <a:t/>
            </a:r>
            <a:endParaRPr sz="1600"/>
          </a:p>
          <a:p>
            <a:pPr indent="0" lvl="0" marL="0" rtl="0" algn="l">
              <a:spcBef>
                <a:spcPts val="0"/>
              </a:spcBef>
              <a:spcAft>
                <a:spcPts val="0"/>
              </a:spcAft>
              <a:buNone/>
            </a:pPr>
            <a:r>
              <a:t/>
            </a:r>
            <a:endParaRPr sz="1600"/>
          </a:p>
        </p:txBody>
      </p:sp>
      <p:sp>
        <p:nvSpPr>
          <p:cNvPr id="330" name="Google Shape;330;p51"/>
          <p:cNvSpPr txBox="1"/>
          <p:nvPr/>
        </p:nvSpPr>
        <p:spPr>
          <a:xfrm>
            <a:off x="5953900" y="2029300"/>
            <a:ext cx="1808400" cy="41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a:t>Sales of a product!</a:t>
            </a:r>
            <a:endParaRPr/>
          </a:p>
        </p:txBody>
      </p:sp>
      <p:sp>
        <p:nvSpPr>
          <p:cNvPr id="331" name="Google Shape;331;p51"/>
          <p:cNvSpPr/>
          <p:nvPr/>
        </p:nvSpPr>
        <p:spPr>
          <a:xfrm>
            <a:off x="4681400" y="3502675"/>
            <a:ext cx="4192500" cy="2010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2" name="Google Shape;332;p51"/>
          <p:cNvSpPr/>
          <p:nvPr/>
        </p:nvSpPr>
        <p:spPr>
          <a:xfrm>
            <a:off x="4109800" y="3502675"/>
            <a:ext cx="462300" cy="2010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3" name="Google Shape;333;p5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Why XGBoost Works on Tabular Data?</a:t>
            </a:r>
            <a:endParaRPr/>
          </a:p>
        </p:txBody>
      </p:sp>
      <p:sp>
        <p:nvSpPr>
          <p:cNvPr id="334" name="Google Shape;334;p51"/>
          <p:cNvSpPr txBox="1"/>
          <p:nvPr/>
        </p:nvSpPr>
        <p:spPr>
          <a:xfrm>
            <a:off x="448725" y="1051450"/>
            <a:ext cx="7691100" cy="94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600">
                <a:solidFill>
                  <a:srgbClr val="FF00FF"/>
                </a:solidFill>
              </a:rPr>
              <a:t>Feature Engineering: Curate (fix) your data is the key to good model performance!</a:t>
            </a:r>
            <a:endParaRPr sz="1600">
              <a:solidFill>
                <a:srgbClr val="FF00FF"/>
              </a:solidFill>
            </a:endParaRPr>
          </a:p>
          <a:p>
            <a:pPr indent="0" lvl="0" marL="0" rtl="0" algn="l">
              <a:spcBef>
                <a:spcPts val="0"/>
              </a:spcBef>
              <a:spcAft>
                <a:spcPts val="0"/>
              </a:spcAft>
              <a:buNone/>
            </a:pPr>
            <a:r>
              <a:rPr lang="el" sz="1600"/>
              <a:t>Good data &gt; A lot of bad data</a:t>
            </a:r>
            <a:endParaRPr sz="1600"/>
          </a:p>
          <a:p>
            <a:pPr indent="0" lvl="0" marL="0" rtl="0" algn="l">
              <a:spcBef>
                <a:spcPts val="0"/>
              </a:spcBef>
              <a:spcAft>
                <a:spcPts val="0"/>
              </a:spcAft>
              <a:buNone/>
            </a:pPr>
            <a:r>
              <a:rPr lang="el" sz="1600"/>
              <a:t>Good data = Features that describe the problem!</a:t>
            </a:r>
            <a:endParaRPr sz="1600"/>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pic>
        <p:nvPicPr>
          <p:cNvPr id="339" name="Google Shape;339;p52"/>
          <p:cNvPicPr preferRelativeResize="0"/>
          <p:nvPr/>
        </p:nvPicPr>
        <p:blipFill>
          <a:blip r:embed="rId3">
            <a:alphaModFix/>
          </a:blip>
          <a:stretch>
            <a:fillRect/>
          </a:stretch>
        </p:blipFill>
        <p:spPr>
          <a:xfrm>
            <a:off x="4109798" y="2365000"/>
            <a:ext cx="4834400" cy="1957850"/>
          </a:xfrm>
          <a:prstGeom prst="rect">
            <a:avLst/>
          </a:prstGeom>
          <a:noFill/>
          <a:ln>
            <a:noFill/>
          </a:ln>
        </p:spPr>
      </p:pic>
      <p:sp>
        <p:nvSpPr>
          <p:cNvPr id="340" name="Google Shape;340;p52"/>
          <p:cNvSpPr txBox="1"/>
          <p:nvPr/>
        </p:nvSpPr>
        <p:spPr>
          <a:xfrm>
            <a:off x="448725" y="2444500"/>
            <a:ext cx="3502800" cy="236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600">
                <a:solidFill>
                  <a:srgbClr val="FF00FF"/>
                </a:solidFill>
              </a:rPr>
              <a:t>How can a model understand these peaks in the demand and then predict them?</a:t>
            </a:r>
            <a:endParaRPr sz="1600">
              <a:solidFill>
                <a:srgbClr val="FF00FF"/>
              </a:solidFill>
            </a:endParaRPr>
          </a:p>
          <a:p>
            <a:pPr indent="0" lvl="0" marL="0" rtl="0" algn="l">
              <a:spcBef>
                <a:spcPts val="0"/>
              </a:spcBef>
              <a:spcAft>
                <a:spcPts val="0"/>
              </a:spcAft>
              <a:buNone/>
            </a:pPr>
            <a:r>
              <a:t/>
            </a:r>
            <a:endParaRPr sz="1600"/>
          </a:p>
          <a:p>
            <a:pPr indent="0" lvl="0" marL="0" rtl="0" algn="l">
              <a:spcBef>
                <a:spcPts val="0"/>
              </a:spcBef>
              <a:spcAft>
                <a:spcPts val="0"/>
              </a:spcAft>
              <a:buNone/>
            </a:pPr>
            <a:r>
              <a:t/>
            </a:r>
            <a:endParaRPr sz="1600"/>
          </a:p>
          <a:p>
            <a:pPr indent="0" lvl="0" marL="0" rtl="0" algn="l">
              <a:spcBef>
                <a:spcPts val="0"/>
              </a:spcBef>
              <a:spcAft>
                <a:spcPts val="0"/>
              </a:spcAft>
              <a:buNone/>
            </a:pPr>
            <a:r>
              <a:rPr lang="el" sz="1600"/>
              <a:t>Provide with extra data that these days had a big discount</a:t>
            </a:r>
            <a:endParaRPr sz="1600"/>
          </a:p>
        </p:txBody>
      </p:sp>
      <p:sp>
        <p:nvSpPr>
          <p:cNvPr id="341" name="Google Shape;341;p52"/>
          <p:cNvSpPr txBox="1"/>
          <p:nvPr/>
        </p:nvSpPr>
        <p:spPr>
          <a:xfrm>
            <a:off x="5953900" y="2029300"/>
            <a:ext cx="1808400" cy="41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a:t>Sales of a product!</a:t>
            </a:r>
            <a:endParaRPr/>
          </a:p>
        </p:txBody>
      </p:sp>
      <p:sp>
        <p:nvSpPr>
          <p:cNvPr id="342" name="Google Shape;342;p5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Why XGBoost Works on Tabular Data?</a:t>
            </a:r>
            <a:endParaRPr/>
          </a:p>
        </p:txBody>
      </p:sp>
      <p:sp>
        <p:nvSpPr>
          <p:cNvPr id="343" name="Google Shape;343;p52"/>
          <p:cNvSpPr txBox="1"/>
          <p:nvPr/>
        </p:nvSpPr>
        <p:spPr>
          <a:xfrm>
            <a:off x="448725" y="1051450"/>
            <a:ext cx="7691100" cy="94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600">
                <a:solidFill>
                  <a:srgbClr val="FF00FF"/>
                </a:solidFill>
              </a:rPr>
              <a:t>Feature Engineering: Curate (fix) your data is the key to good model performance!</a:t>
            </a:r>
            <a:endParaRPr sz="1600">
              <a:solidFill>
                <a:srgbClr val="FF00FF"/>
              </a:solidFill>
            </a:endParaRPr>
          </a:p>
          <a:p>
            <a:pPr indent="0" lvl="0" marL="0" rtl="0" algn="l">
              <a:spcBef>
                <a:spcPts val="0"/>
              </a:spcBef>
              <a:spcAft>
                <a:spcPts val="0"/>
              </a:spcAft>
              <a:buNone/>
            </a:pPr>
            <a:r>
              <a:rPr lang="el" sz="1600"/>
              <a:t>Good data &gt; A lot of bad data</a:t>
            </a:r>
            <a:endParaRPr sz="1600"/>
          </a:p>
          <a:p>
            <a:pPr indent="0" lvl="0" marL="0" rtl="0" algn="l">
              <a:spcBef>
                <a:spcPts val="0"/>
              </a:spcBef>
              <a:spcAft>
                <a:spcPts val="0"/>
              </a:spcAft>
              <a:buNone/>
            </a:pPr>
            <a:r>
              <a:rPr lang="el" sz="1600"/>
              <a:t>Good data = Features that describe the problem!</a:t>
            </a:r>
            <a:endParaRPr sz="1600"/>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pic>
        <p:nvPicPr>
          <p:cNvPr id="348" name="Google Shape;348;p53"/>
          <p:cNvPicPr preferRelativeResize="0"/>
          <p:nvPr/>
        </p:nvPicPr>
        <p:blipFill rotWithShape="1">
          <a:blip r:embed="rId3">
            <a:alphaModFix/>
          </a:blip>
          <a:srcRect b="16488" l="0" r="0" t="46147"/>
          <a:stretch/>
        </p:blipFill>
        <p:spPr>
          <a:xfrm>
            <a:off x="4172400" y="3502675"/>
            <a:ext cx="4741201" cy="797100"/>
          </a:xfrm>
          <a:prstGeom prst="rect">
            <a:avLst/>
          </a:prstGeom>
          <a:noFill/>
          <a:ln>
            <a:noFill/>
          </a:ln>
        </p:spPr>
      </p:pic>
      <p:sp>
        <p:nvSpPr>
          <p:cNvPr id="349" name="Google Shape;349;p53"/>
          <p:cNvSpPr txBox="1"/>
          <p:nvPr/>
        </p:nvSpPr>
        <p:spPr>
          <a:xfrm>
            <a:off x="5953900" y="2029300"/>
            <a:ext cx="1808400" cy="41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a:t>Sales of a product!</a:t>
            </a:r>
            <a:endParaRPr/>
          </a:p>
        </p:txBody>
      </p:sp>
      <p:sp>
        <p:nvSpPr>
          <p:cNvPr id="350" name="Google Shape;350;p53"/>
          <p:cNvSpPr txBox="1"/>
          <p:nvPr/>
        </p:nvSpPr>
        <p:spPr>
          <a:xfrm>
            <a:off x="448725" y="2444500"/>
            <a:ext cx="3502800" cy="236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600">
                <a:solidFill>
                  <a:srgbClr val="FF00FF"/>
                </a:solidFill>
              </a:rPr>
              <a:t>How can a model understand the drop in the middle of the time series and predict it? </a:t>
            </a:r>
            <a:endParaRPr sz="1600">
              <a:solidFill>
                <a:srgbClr val="FF00FF"/>
              </a:solidFill>
            </a:endParaRPr>
          </a:p>
          <a:p>
            <a:pPr indent="0" lvl="0" marL="0" rtl="0" algn="l">
              <a:spcBef>
                <a:spcPts val="0"/>
              </a:spcBef>
              <a:spcAft>
                <a:spcPts val="0"/>
              </a:spcAft>
              <a:buNone/>
            </a:pPr>
            <a:r>
              <a:t/>
            </a:r>
            <a:endParaRPr sz="1600"/>
          </a:p>
          <a:p>
            <a:pPr indent="0" lvl="0" marL="0" rtl="0" algn="l">
              <a:spcBef>
                <a:spcPts val="0"/>
              </a:spcBef>
              <a:spcAft>
                <a:spcPts val="0"/>
              </a:spcAft>
              <a:buNone/>
            </a:pPr>
            <a:r>
              <a:t/>
            </a:r>
            <a:endParaRPr sz="1600"/>
          </a:p>
          <a:p>
            <a:pPr indent="0" lvl="0" marL="0" rtl="0" algn="l">
              <a:spcBef>
                <a:spcPts val="0"/>
              </a:spcBef>
              <a:spcAft>
                <a:spcPts val="0"/>
              </a:spcAft>
              <a:buNone/>
            </a:pPr>
            <a:r>
              <a:t/>
            </a:r>
            <a:endParaRPr sz="1600"/>
          </a:p>
        </p:txBody>
      </p:sp>
      <p:sp>
        <p:nvSpPr>
          <p:cNvPr id="351" name="Google Shape;351;p5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Why XGBoost Works on Tabular Data?</a:t>
            </a:r>
            <a:endParaRPr/>
          </a:p>
        </p:txBody>
      </p:sp>
      <p:sp>
        <p:nvSpPr>
          <p:cNvPr id="352" name="Google Shape;352;p53"/>
          <p:cNvSpPr txBox="1"/>
          <p:nvPr/>
        </p:nvSpPr>
        <p:spPr>
          <a:xfrm>
            <a:off x="448725" y="1051450"/>
            <a:ext cx="7691100" cy="94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600">
                <a:solidFill>
                  <a:srgbClr val="FF00FF"/>
                </a:solidFill>
              </a:rPr>
              <a:t>Feature Engineering: Curate (fix) your data is the key to good model performance!</a:t>
            </a:r>
            <a:endParaRPr sz="1600">
              <a:solidFill>
                <a:srgbClr val="FF00FF"/>
              </a:solidFill>
            </a:endParaRPr>
          </a:p>
          <a:p>
            <a:pPr indent="0" lvl="0" marL="0" rtl="0" algn="l">
              <a:spcBef>
                <a:spcPts val="0"/>
              </a:spcBef>
              <a:spcAft>
                <a:spcPts val="0"/>
              </a:spcAft>
              <a:buNone/>
            </a:pPr>
            <a:r>
              <a:rPr lang="el" sz="1600"/>
              <a:t>Good data &gt; A lot of bad data</a:t>
            </a:r>
            <a:endParaRPr sz="1600"/>
          </a:p>
          <a:p>
            <a:pPr indent="0" lvl="0" marL="0" rtl="0" algn="l">
              <a:spcBef>
                <a:spcPts val="0"/>
              </a:spcBef>
              <a:spcAft>
                <a:spcPts val="0"/>
              </a:spcAft>
              <a:buNone/>
            </a:pPr>
            <a:r>
              <a:rPr lang="el" sz="1600"/>
              <a:t>Good data = Features that describe the problem!</a:t>
            </a:r>
            <a:endParaRPr sz="1600"/>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pic>
        <p:nvPicPr>
          <p:cNvPr id="357" name="Google Shape;357;p54"/>
          <p:cNvPicPr preferRelativeResize="0"/>
          <p:nvPr/>
        </p:nvPicPr>
        <p:blipFill>
          <a:blip r:embed="rId3">
            <a:alphaModFix/>
          </a:blip>
          <a:stretch>
            <a:fillRect/>
          </a:stretch>
        </p:blipFill>
        <p:spPr>
          <a:xfrm>
            <a:off x="4172401" y="2518175"/>
            <a:ext cx="4741201" cy="2133300"/>
          </a:xfrm>
          <a:prstGeom prst="rect">
            <a:avLst/>
          </a:prstGeom>
          <a:noFill/>
          <a:ln>
            <a:noFill/>
          </a:ln>
        </p:spPr>
      </p:pic>
      <p:sp>
        <p:nvSpPr>
          <p:cNvPr id="358" name="Google Shape;358;p54"/>
          <p:cNvSpPr txBox="1"/>
          <p:nvPr/>
        </p:nvSpPr>
        <p:spPr>
          <a:xfrm>
            <a:off x="5953900" y="2029300"/>
            <a:ext cx="1808400" cy="41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a:t>Sales of a product!</a:t>
            </a:r>
            <a:endParaRPr/>
          </a:p>
        </p:txBody>
      </p:sp>
      <p:sp>
        <p:nvSpPr>
          <p:cNvPr id="359" name="Google Shape;359;p54"/>
          <p:cNvSpPr txBox="1"/>
          <p:nvPr/>
        </p:nvSpPr>
        <p:spPr>
          <a:xfrm>
            <a:off x="448725" y="2444500"/>
            <a:ext cx="3502800" cy="236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l" sz="1600">
                <a:solidFill>
                  <a:srgbClr val="FF00FF"/>
                </a:solidFill>
              </a:rPr>
              <a:t>How can a model understand the drop in the middle of the time series and predict it? </a:t>
            </a:r>
            <a:endParaRPr sz="1600">
              <a:solidFill>
                <a:srgbClr val="FF00FF"/>
              </a:solidFill>
            </a:endParaRPr>
          </a:p>
          <a:p>
            <a:pPr indent="0" lvl="0" marL="0" rtl="0" algn="l">
              <a:spcBef>
                <a:spcPts val="0"/>
              </a:spcBef>
              <a:spcAft>
                <a:spcPts val="0"/>
              </a:spcAft>
              <a:buNone/>
            </a:pPr>
            <a:r>
              <a:t/>
            </a:r>
            <a:endParaRPr sz="1600"/>
          </a:p>
          <a:p>
            <a:pPr indent="0" lvl="0" marL="0" rtl="0" algn="l">
              <a:spcBef>
                <a:spcPts val="0"/>
              </a:spcBef>
              <a:spcAft>
                <a:spcPts val="0"/>
              </a:spcAft>
              <a:buNone/>
            </a:pPr>
            <a:r>
              <a:t/>
            </a:r>
            <a:endParaRPr sz="1600"/>
          </a:p>
          <a:p>
            <a:pPr indent="0" lvl="0" marL="0" rtl="0" algn="l">
              <a:spcBef>
                <a:spcPts val="0"/>
              </a:spcBef>
              <a:spcAft>
                <a:spcPts val="0"/>
              </a:spcAft>
              <a:buNone/>
            </a:pPr>
            <a:r>
              <a:rPr lang="el" sz="1600"/>
              <a:t>Provide with extra data that these days are holidays!</a:t>
            </a:r>
            <a:endParaRPr sz="1600"/>
          </a:p>
        </p:txBody>
      </p:sp>
      <p:sp>
        <p:nvSpPr>
          <p:cNvPr id="360" name="Google Shape;360;p5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Why XGBoost Works on Tabular Data?</a:t>
            </a:r>
            <a:endParaRPr/>
          </a:p>
        </p:txBody>
      </p:sp>
      <p:sp>
        <p:nvSpPr>
          <p:cNvPr id="361" name="Google Shape;361;p54"/>
          <p:cNvSpPr txBox="1"/>
          <p:nvPr/>
        </p:nvSpPr>
        <p:spPr>
          <a:xfrm>
            <a:off x="448725" y="1051450"/>
            <a:ext cx="7691100" cy="94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600">
                <a:solidFill>
                  <a:srgbClr val="FF00FF"/>
                </a:solidFill>
              </a:rPr>
              <a:t>Feature Engineering: Curate (fix) your data is the key to good model performance!</a:t>
            </a:r>
            <a:endParaRPr sz="1600">
              <a:solidFill>
                <a:srgbClr val="FF00FF"/>
              </a:solidFill>
            </a:endParaRPr>
          </a:p>
          <a:p>
            <a:pPr indent="0" lvl="0" marL="0" rtl="0" algn="l">
              <a:spcBef>
                <a:spcPts val="0"/>
              </a:spcBef>
              <a:spcAft>
                <a:spcPts val="0"/>
              </a:spcAft>
              <a:buNone/>
            </a:pPr>
            <a:r>
              <a:rPr lang="el" sz="1600"/>
              <a:t>Good data &gt; A lot of bad data</a:t>
            </a:r>
            <a:endParaRPr sz="1600"/>
          </a:p>
          <a:p>
            <a:pPr indent="0" lvl="0" marL="0" rtl="0" algn="l">
              <a:spcBef>
                <a:spcPts val="0"/>
              </a:spcBef>
              <a:spcAft>
                <a:spcPts val="0"/>
              </a:spcAft>
              <a:buNone/>
            </a:pPr>
            <a:r>
              <a:rPr lang="el" sz="1600"/>
              <a:t>Good data = Features that describe the problem!</a:t>
            </a:r>
            <a:endParaRPr sz="1600"/>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5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How to come up with good features</a:t>
            </a:r>
            <a:endParaRPr/>
          </a:p>
        </p:txBody>
      </p:sp>
      <p:pic>
        <p:nvPicPr>
          <p:cNvPr id="367" name="Google Shape;367;p55"/>
          <p:cNvPicPr preferRelativeResize="0"/>
          <p:nvPr/>
        </p:nvPicPr>
        <p:blipFill>
          <a:blip r:embed="rId3">
            <a:alphaModFix/>
          </a:blip>
          <a:stretch>
            <a:fillRect/>
          </a:stretch>
        </p:blipFill>
        <p:spPr>
          <a:xfrm>
            <a:off x="0" y="1084175"/>
            <a:ext cx="8462370" cy="1616925"/>
          </a:xfrm>
          <a:prstGeom prst="rect">
            <a:avLst/>
          </a:prstGeom>
          <a:noFill/>
          <a:ln>
            <a:noFill/>
          </a:ln>
        </p:spPr>
      </p:pic>
      <p:sp>
        <p:nvSpPr>
          <p:cNvPr id="368" name="Google Shape;368;p55"/>
          <p:cNvSpPr txBox="1"/>
          <p:nvPr/>
        </p:nvSpPr>
        <p:spPr>
          <a:xfrm>
            <a:off x="311700" y="3127600"/>
            <a:ext cx="7969800" cy="15471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l"/>
              <a:t>Sit together with the business team and understand what features describe the problem!</a:t>
            </a:r>
            <a:endParaRPr/>
          </a:p>
          <a:p>
            <a:pPr indent="0" lvl="0" marL="457200" rtl="0" algn="l">
              <a:spcBef>
                <a:spcPts val="0"/>
              </a:spcBef>
              <a:spcAft>
                <a:spcPts val="0"/>
              </a:spcAft>
              <a:buNone/>
            </a:pPr>
            <a:r>
              <a:t/>
            </a:r>
            <a:endParaRPr/>
          </a:p>
          <a:p>
            <a:pPr indent="-317500" lvl="0" marL="457200" rtl="0" algn="l">
              <a:spcBef>
                <a:spcPts val="0"/>
              </a:spcBef>
              <a:spcAft>
                <a:spcPts val="0"/>
              </a:spcAft>
              <a:buSzPts val="1400"/>
              <a:buChar char="●"/>
            </a:pPr>
            <a:r>
              <a:rPr lang="el"/>
              <a:t>Try to collect as much of this data as possible!</a:t>
            </a:r>
            <a:endParaRPr/>
          </a:p>
          <a:p>
            <a:pPr indent="0" lvl="0" marL="457200" rtl="0" algn="l">
              <a:spcBef>
                <a:spcPts val="0"/>
              </a:spcBef>
              <a:spcAft>
                <a:spcPts val="0"/>
              </a:spcAft>
              <a:buNone/>
            </a:pPr>
            <a:r>
              <a:t/>
            </a:r>
            <a:endParaRPr/>
          </a:p>
          <a:p>
            <a:pPr indent="-317500" lvl="0" marL="457200" rtl="0" algn="l">
              <a:spcBef>
                <a:spcPts val="0"/>
              </a:spcBef>
              <a:spcAft>
                <a:spcPts val="0"/>
              </a:spcAft>
              <a:buSzPts val="1400"/>
              <a:buChar char="●"/>
            </a:pPr>
            <a:r>
              <a:rPr lang="el"/>
              <a:t>Build strong features!</a:t>
            </a:r>
            <a:endParaRPr/>
          </a:p>
          <a:p>
            <a:pPr indent="0" lvl="0" marL="457200" rtl="0" algn="l">
              <a:spcBef>
                <a:spcPts val="0"/>
              </a:spcBef>
              <a:spcAft>
                <a:spcPts val="0"/>
              </a:spcAft>
              <a:buNone/>
            </a:pPr>
            <a:r>
              <a:t/>
            </a:r>
            <a:endParaRPr/>
          </a:p>
          <a:p>
            <a:pPr indent="-317500" lvl="0" marL="457200" rtl="0" algn="l">
              <a:spcBef>
                <a:spcPts val="0"/>
              </a:spcBef>
              <a:spcAft>
                <a:spcPts val="0"/>
              </a:spcAft>
              <a:buSzPts val="1400"/>
              <a:buChar char="●"/>
            </a:pPr>
            <a:r>
              <a:rPr lang="el"/>
              <a:t>Careful for Data Leakage</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5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What if I Work With Unstructured Data?</a:t>
            </a:r>
            <a:endParaRPr/>
          </a:p>
        </p:txBody>
      </p:sp>
      <p:sp>
        <p:nvSpPr>
          <p:cNvPr id="374" name="Google Shape;374;p56"/>
          <p:cNvSpPr txBox="1"/>
          <p:nvPr/>
        </p:nvSpPr>
        <p:spPr>
          <a:xfrm>
            <a:off x="183925" y="1721675"/>
            <a:ext cx="5015100" cy="279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600">
                <a:solidFill>
                  <a:schemeClr val="dk2"/>
                </a:solidFill>
              </a:rPr>
              <a:t>Deep Learning Models (CNNs, Transformers etc) dominate vision, text and audio tasks.</a:t>
            </a:r>
            <a:endParaRPr sz="1600">
              <a:solidFill>
                <a:schemeClr val="dk2"/>
              </a:solidFill>
            </a:endParaRPr>
          </a:p>
          <a:p>
            <a:pPr indent="0" lvl="0" marL="0" rtl="0" algn="l">
              <a:spcBef>
                <a:spcPts val="0"/>
              </a:spcBef>
              <a:spcAft>
                <a:spcPts val="0"/>
              </a:spcAft>
              <a:buNone/>
            </a:pPr>
            <a:r>
              <a:t/>
            </a:r>
            <a:endParaRPr sz="1600">
              <a:solidFill>
                <a:schemeClr val="dk2"/>
              </a:solidFill>
            </a:endParaRPr>
          </a:p>
          <a:p>
            <a:pPr indent="0" lvl="0" marL="0" rtl="0" algn="l">
              <a:spcBef>
                <a:spcPts val="0"/>
              </a:spcBef>
              <a:spcAft>
                <a:spcPts val="0"/>
              </a:spcAft>
              <a:buNone/>
            </a:pPr>
            <a:r>
              <a:rPr lang="el" sz="1600">
                <a:solidFill>
                  <a:schemeClr val="dk2"/>
                </a:solidFill>
              </a:rPr>
              <a:t>However training them from scratch is not feasible</a:t>
            </a:r>
            <a:endParaRPr sz="1600">
              <a:solidFill>
                <a:schemeClr val="dk2"/>
              </a:solidFill>
            </a:endParaRPr>
          </a:p>
          <a:p>
            <a:pPr indent="-330200" lvl="0" marL="457200" rtl="0" algn="l">
              <a:spcBef>
                <a:spcPts val="0"/>
              </a:spcBef>
              <a:spcAft>
                <a:spcPts val="0"/>
              </a:spcAft>
              <a:buClr>
                <a:schemeClr val="dk2"/>
              </a:buClr>
              <a:buSzPts val="1600"/>
              <a:buChar char="●"/>
            </a:pPr>
            <a:r>
              <a:rPr lang="el" sz="1600">
                <a:solidFill>
                  <a:schemeClr val="dk2"/>
                </a:solidFill>
              </a:rPr>
              <a:t>They are data hungry</a:t>
            </a:r>
            <a:endParaRPr sz="1600">
              <a:solidFill>
                <a:schemeClr val="dk2"/>
              </a:solidFill>
            </a:endParaRPr>
          </a:p>
          <a:p>
            <a:pPr indent="-330200" lvl="0" marL="457200" rtl="0" algn="l">
              <a:spcBef>
                <a:spcPts val="0"/>
              </a:spcBef>
              <a:spcAft>
                <a:spcPts val="0"/>
              </a:spcAft>
              <a:buClr>
                <a:schemeClr val="dk2"/>
              </a:buClr>
              <a:buSzPts val="1600"/>
              <a:buChar char="●"/>
            </a:pPr>
            <a:r>
              <a:rPr lang="el" sz="1600">
                <a:solidFill>
                  <a:schemeClr val="dk2"/>
                </a:solidFill>
              </a:rPr>
              <a:t>They require expertise</a:t>
            </a:r>
            <a:endParaRPr sz="1600">
              <a:solidFill>
                <a:schemeClr val="dk2"/>
              </a:solidFill>
            </a:endParaRPr>
          </a:p>
          <a:p>
            <a:pPr indent="-330200" lvl="0" marL="457200" rtl="0" algn="l">
              <a:spcBef>
                <a:spcPts val="0"/>
              </a:spcBef>
              <a:spcAft>
                <a:spcPts val="0"/>
              </a:spcAft>
              <a:buClr>
                <a:schemeClr val="dk2"/>
              </a:buClr>
              <a:buSzPts val="1600"/>
              <a:buChar char="●"/>
            </a:pPr>
            <a:r>
              <a:rPr lang="el" sz="1600">
                <a:solidFill>
                  <a:schemeClr val="dk2"/>
                </a:solidFill>
              </a:rPr>
              <a:t>They want computation resources.</a:t>
            </a:r>
            <a:endParaRPr sz="1600">
              <a:solidFill>
                <a:schemeClr val="dk2"/>
              </a:solidFill>
            </a:endParaRPr>
          </a:p>
          <a:p>
            <a:pPr indent="0" lvl="0" marL="0" rtl="0" algn="l">
              <a:spcBef>
                <a:spcPts val="0"/>
              </a:spcBef>
              <a:spcAft>
                <a:spcPts val="0"/>
              </a:spcAft>
              <a:buNone/>
            </a:pPr>
            <a:r>
              <a:t/>
            </a:r>
            <a:endParaRPr sz="1600">
              <a:solidFill>
                <a:schemeClr val="dk2"/>
              </a:solidFill>
            </a:endParaRPr>
          </a:p>
          <a:p>
            <a:pPr indent="0" lvl="0" marL="0" rtl="0" algn="l">
              <a:spcBef>
                <a:spcPts val="0"/>
              </a:spcBef>
              <a:spcAft>
                <a:spcPts val="0"/>
              </a:spcAft>
              <a:buNone/>
            </a:pPr>
            <a:r>
              <a:t/>
            </a:r>
            <a:endParaRPr sz="1600">
              <a:solidFill>
                <a:schemeClr val="dk2"/>
              </a:solidFill>
            </a:endParaRPr>
          </a:p>
        </p:txBody>
      </p:sp>
      <p:pic>
        <p:nvPicPr>
          <p:cNvPr id="375" name="Google Shape;375;p56"/>
          <p:cNvPicPr preferRelativeResize="0"/>
          <p:nvPr/>
        </p:nvPicPr>
        <p:blipFill>
          <a:blip r:embed="rId3">
            <a:alphaModFix/>
          </a:blip>
          <a:stretch>
            <a:fillRect/>
          </a:stretch>
        </p:blipFill>
        <p:spPr>
          <a:xfrm>
            <a:off x="5346600" y="1017725"/>
            <a:ext cx="3797401" cy="3717000"/>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5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What if I Work With Unstructured Data?</a:t>
            </a:r>
            <a:endParaRPr/>
          </a:p>
        </p:txBody>
      </p:sp>
      <p:sp>
        <p:nvSpPr>
          <p:cNvPr id="381" name="Google Shape;381;p57"/>
          <p:cNvSpPr txBox="1"/>
          <p:nvPr/>
        </p:nvSpPr>
        <p:spPr>
          <a:xfrm>
            <a:off x="194700" y="1440425"/>
            <a:ext cx="8637600" cy="313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600">
                <a:solidFill>
                  <a:schemeClr val="dk2"/>
                </a:solidFill>
              </a:rPr>
              <a:t>With unstructured task, there is core that </a:t>
            </a:r>
            <a:r>
              <a:rPr lang="el" sz="1600">
                <a:solidFill>
                  <a:schemeClr val="dk2"/>
                </a:solidFill>
              </a:rPr>
              <a:t>remains</a:t>
            </a:r>
            <a:r>
              <a:rPr lang="el" sz="1600">
                <a:solidFill>
                  <a:schemeClr val="dk2"/>
                </a:solidFill>
              </a:rPr>
              <a:t> the same. Words have the same meaning everywhere, images too.</a:t>
            </a:r>
            <a:endParaRPr sz="1600">
              <a:solidFill>
                <a:schemeClr val="dk2"/>
              </a:solidFill>
            </a:endParaRPr>
          </a:p>
          <a:p>
            <a:pPr indent="0" lvl="0" marL="0" rtl="0" algn="l">
              <a:spcBef>
                <a:spcPts val="0"/>
              </a:spcBef>
              <a:spcAft>
                <a:spcPts val="0"/>
              </a:spcAft>
              <a:buNone/>
            </a:pPr>
            <a:r>
              <a:t/>
            </a:r>
            <a:endParaRPr sz="1600">
              <a:solidFill>
                <a:schemeClr val="dk2"/>
              </a:solidFill>
            </a:endParaRPr>
          </a:p>
          <a:p>
            <a:pPr indent="0" lvl="0" marL="0" rtl="0" algn="l">
              <a:spcBef>
                <a:spcPts val="0"/>
              </a:spcBef>
              <a:spcAft>
                <a:spcPts val="0"/>
              </a:spcAft>
              <a:buNone/>
            </a:pPr>
            <a:r>
              <a:t/>
            </a:r>
            <a:endParaRPr sz="1600">
              <a:solidFill>
                <a:schemeClr val="dk2"/>
              </a:solidFill>
            </a:endParaRPr>
          </a:p>
          <a:p>
            <a:pPr indent="0" lvl="0" marL="0" rtl="0" algn="l">
              <a:spcBef>
                <a:spcPts val="0"/>
              </a:spcBef>
              <a:spcAft>
                <a:spcPts val="0"/>
              </a:spcAft>
              <a:buNone/>
            </a:pPr>
            <a:r>
              <a:rPr lang="el" sz="1600">
                <a:solidFill>
                  <a:srgbClr val="FF00FF"/>
                </a:solidFill>
              </a:rPr>
              <a:t>Fine Tuning:</a:t>
            </a:r>
            <a:endParaRPr sz="1600">
              <a:solidFill>
                <a:srgbClr val="FF00FF"/>
              </a:solidFill>
            </a:endParaRPr>
          </a:p>
          <a:p>
            <a:pPr indent="0" lvl="0" marL="0" rtl="0" algn="l">
              <a:spcBef>
                <a:spcPts val="0"/>
              </a:spcBef>
              <a:spcAft>
                <a:spcPts val="0"/>
              </a:spcAft>
              <a:buNone/>
            </a:pPr>
            <a:r>
              <a:rPr lang="el" sz="1600">
                <a:solidFill>
                  <a:schemeClr val="dk2"/>
                </a:solidFill>
              </a:rPr>
              <a:t>The process of taking an existing deep learning model and continue training on some new data of your own tasks.</a:t>
            </a:r>
            <a:endParaRPr sz="1600">
              <a:solidFill>
                <a:schemeClr val="dk2"/>
              </a:solidFill>
            </a:endParaRPr>
          </a:p>
          <a:p>
            <a:pPr indent="0" lvl="0" marL="0" rtl="0" algn="l">
              <a:spcBef>
                <a:spcPts val="0"/>
              </a:spcBef>
              <a:spcAft>
                <a:spcPts val="0"/>
              </a:spcAft>
              <a:buNone/>
            </a:pPr>
            <a:r>
              <a:t/>
            </a:r>
            <a:endParaRPr sz="1600">
              <a:solidFill>
                <a:schemeClr val="dk2"/>
              </a:solidFill>
            </a:endParaRPr>
          </a:p>
          <a:p>
            <a:pPr indent="0" lvl="0" marL="0" rtl="0" algn="l">
              <a:spcBef>
                <a:spcPts val="0"/>
              </a:spcBef>
              <a:spcAft>
                <a:spcPts val="0"/>
              </a:spcAft>
              <a:buNone/>
            </a:pPr>
            <a:r>
              <a:rPr lang="el" sz="1600">
                <a:solidFill>
                  <a:srgbClr val="FF00FF"/>
                </a:solidFill>
              </a:rPr>
              <a:t>Transfer Learning:</a:t>
            </a:r>
            <a:endParaRPr sz="1600">
              <a:solidFill>
                <a:srgbClr val="FF00FF"/>
              </a:solidFill>
            </a:endParaRPr>
          </a:p>
          <a:p>
            <a:pPr indent="0" lvl="0" marL="0" rtl="0" algn="l">
              <a:spcBef>
                <a:spcPts val="0"/>
              </a:spcBef>
              <a:spcAft>
                <a:spcPts val="0"/>
              </a:spcAft>
              <a:buNone/>
            </a:pPr>
            <a:r>
              <a:rPr lang="el" sz="1600">
                <a:solidFill>
                  <a:schemeClr val="dk2"/>
                </a:solidFill>
              </a:rPr>
              <a:t>The process of freezing most of the </a:t>
            </a:r>
            <a:r>
              <a:rPr lang="el" sz="1600">
                <a:solidFill>
                  <a:schemeClr val="dk2"/>
                </a:solidFill>
              </a:rPr>
              <a:t>neural</a:t>
            </a:r>
            <a:r>
              <a:rPr lang="el" sz="1600">
                <a:solidFill>
                  <a:schemeClr val="dk2"/>
                </a:solidFill>
              </a:rPr>
              <a:t> network’s state and retrain the last layer with new data. The goal is to make the model perform slightly different or better on your own task.</a:t>
            </a:r>
            <a:endParaRPr sz="1600">
              <a:solidFill>
                <a:schemeClr val="dk2"/>
              </a:solidFill>
            </a:endParaRPr>
          </a:p>
          <a:p>
            <a:pPr indent="0" lvl="0" marL="0" rtl="0" algn="l">
              <a:spcBef>
                <a:spcPts val="0"/>
              </a:spcBef>
              <a:spcAft>
                <a:spcPts val="0"/>
              </a:spcAft>
              <a:buNone/>
            </a:pPr>
            <a:r>
              <a:t/>
            </a:r>
            <a:endParaRPr sz="1600">
              <a:solidFill>
                <a:schemeClr val="dk2"/>
              </a:solidFill>
            </a:endParaRPr>
          </a:p>
          <a:p>
            <a:pPr indent="0" lvl="0" marL="0" rtl="0" algn="l">
              <a:spcBef>
                <a:spcPts val="0"/>
              </a:spcBef>
              <a:spcAft>
                <a:spcPts val="0"/>
              </a:spcAft>
              <a:buNone/>
            </a:pPr>
            <a:r>
              <a:t/>
            </a:r>
            <a:endParaRPr sz="1600">
              <a:solidFill>
                <a:schemeClr val="dk2"/>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5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What if I Work With Unstructured Data?</a:t>
            </a:r>
            <a:endParaRPr/>
          </a:p>
        </p:txBody>
      </p:sp>
      <p:sp>
        <p:nvSpPr>
          <p:cNvPr id="387" name="Google Shape;387;p58"/>
          <p:cNvSpPr txBox="1"/>
          <p:nvPr/>
        </p:nvSpPr>
        <p:spPr>
          <a:xfrm>
            <a:off x="194700" y="1558050"/>
            <a:ext cx="4854600" cy="313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600">
                <a:solidFill>
                  <a:srgbClr val="FF00FF"/>
                </a:solidFill>
              </a:rPr>
              <a:t>Where to find all these models?</a:t>
            </a:r>
            <a:endParaRPr sz="1600">
              <a:solidFill>
                <a:srgbClr val="FF00FF"/>
              </a:solidFill>
            </a:endParaRPr>
          </a:p>
          <a:p>
            <a:pPr indent="0" lvl="0" marL="0" rtl="0" algn="l">
              <a:spcBef>
                <a:spcPts val="0"/>
              </a:spcBef>
              <a:spcAft>
                <a:spcPts val="0"/>
              </a:spcAft>
              <a:buNone/>
            </a:pPr>
            <a:r>
              <a:t/>
            </a:r>
            <a:endParaRPr sz="1600">
              <a:solidFill>
                <a:schemeClr val="dk2"/>
              </a:solidFill>
            </a:endParaRPr>
          </a:p>
          <a:p>
            <a:pPr indent="0" lvl="0" marL="457200" rtl="0" algn="l">
              <a:spcBef>
                <a:spcPts val="0"/>
              </a:spcBef>
              <a:spcAft>
                <a:spcPts val="0"/>
              </a:spcAft>
              <a:buNone/>
            </a:pPr>
            <a:r>
              <a:t/>
            </a:r>
            <a:endParaRPr sz="1600">
              <a:solidFill>
                <a:schemeClr val="dk2"/>
              </a:solidFill>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5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What if I Work With Unstructured Data?</a:t>
            </a:r>
            <a:endParaRPr/>
          </a:p>
        </p:txBody>
      </p:sp>
      <p:sp>
        <p:nvSpPr>
          <p:cNvPr id="393" name="Google Shape;393;p59"/>
          <p:cNvSpPr txBox="1"/>
          <p:nvPr/>
        </p:nvSpPr>
        <p:spPr>
          <a:xfrm>
            <a:off x="194700" y="1558050"/>
            <a:ext cx="4854600" cy="313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600">
                <a:solidFill>
                  <a:srgbClr val="FF00FF"/>
                </a:solidFill>
              </a:rPr>
              <a:t>Where to find all these </a:t>
            </a:r>
            <a:r>
              <a:rPr lang="el" sz="1600">
                <a:solidFill>
                  <a:srgbClr val="FF00FF"/>
                </a:solidFill>
              </a:rPr>
              <a:t>models?</a:t>
            </a:r>
            <a:endParaRPr sz="1600">
              <a:solidFill>
                <a:srgbClr val="FF00FF"/>
              </a:solidFill>
            </a:endParaRPr>
          </a:p>
          <a:p>
            <a:pPr indent="0" lvl="0" marL="0" rtl="0" algn="l">
              <a:spcBef>
                <a:spcPts val="0"/>
              </a:spcBef>
              <a:spcAft>
                <a:spcPts val="0"/>
              </a:spcAft>
              <a:buNone/>
            </a:pPr>
            <a:r>
              <a:t/>
            </a:r>
            <a:endParaRPr sz="1600">
              <a:solidFill>
                <a:schemeClr val="dk2"/>
              </a:solidFill>
            </a:endParaRPr>
          </a:p>
          <a:p>
            <a:pPr indent="-330200" lvl="0" marL="457200" rtl="0" algn="l">
              <a:spcBef>
                <a:spcPts val="0"/>
              </a:spcBef>
              <a:spcAft>
                <a:spcPts val="0"/>
              </a:spcAft>
              <a:buClr>
                <a:schemeClr val="dk2"/>
              </a:buClr>
              <a:buSzPts val="1600"/>
              <a:buChar char="●"/>
            </a:pPr>
            <a:r>
              <a:rPr lang="el" sz="1600">
                <a:solidFill>
                  <a:schemeClr val="dk2"/>
                </a:solidFill>
              </a:rPr>
              <a:t>A platform that offers a vast repository of pretrained models, datasets etc.</a:t>
            </a:r>
            <a:endParaRPr sz="1600">
              <a:solidFill>
                <a:schemeClr val="dk2"/>
              </a:solidFill>
            </a:endParaRPr>
          </a:p>
          <a:p>
            <a:pPr indent="-330200" lvl="0" marL="457200" rtl="0" algn="l">
              <a:spcBef>
                <a:spcPts val="0"/>
              </a:spcBef>
              <a:spcAft>
                <a:spcPts val="0"/>
              </a:spcAft>
              <a:buClr>
                <a:schemeClr val="dk2"/>
              </a:buClr>
              <a:buSzPts val="1600"/>
              <a:buChar char="●"/>
            </a:pPr>
            <a:r>
              <a:rPr lang="el" sz="1600">
                <a:solidFill>
                  <a:schemeClr val="dk2"/>
                </a:solidFill>
              </a:rPr>
              <a:t>It spans across various domains (e.g., NLP, vision) </a:t>
            </a:r>
            <a:endParaRPr sz="1600">
              <a:solidFill>
                <a:schemeClr val="dk2"/>
              </a:solidFill>
            </a:endParaRPr>
          </a:p>
          <a:p>
            <a:pPr indent="-330200" lvl="0" marL="457200" rtl="0" algn="l">
              <a:spcBef>
                <a:spcPts val="0"/>
              </a:spcBef>
              <a:spcAft>
                <a:spcPts val="0"/>
              </a:spcAft>
              <a:buClr>
                <a:schemeClr val="dk2"/>
              </a:buClr>
              <a:buSzPts val="1600"/>
              <a:buChar char="●"/>
            </a:pPr>
            <a:r>
              <a:rPr lang="el" sz="1600">
                <a:solidFill>
                  <a:schemeClr val="dk2"/>
                </a:solidFill>
              </a:rPr>
              <a:t>It provides a user-friendly tools for implementing transfer learning or fine-tuning, making </a:t>
            </a:r>
            <a:endParaRPr sz="1600">
              <a:solidFill>
                <a:schemeClr val="dk2"/>
              </a:solidFill>
            </a:endParaRPr>
          </a:p>
          <a:p>
            <a:pPr indent="-330200" lvl="0" marL="457200" rtl="0" algn="l">
              <a:spcBef>
                <a:spcPts val="0"/>
              </a:spcBef>
              <a:spcAft>
                <a:spcPts val="0"/>
              </a:spcAft>
              <a:buClr>
                <a:schemeClr val="dk2"/>
              </a:buClr>
              <a:buSzPts val="1600"/>
              <a:buChar char="●"/>
            </a:pPr>
            <a:r>
              <a:rPr lang="el" sz="1600">
                <a:solidFill>
                  <a:schemeClr val="dk2"/>
                </a:solidFill>
              </a:rPr>
              <a:t>It is a go-to resource for quickly adapting models to your specific tasks.</a:t>
            </a:r>
            <a:endParaRPr sz="1600">
              <a:solidFill>
                <a:schemeClr val="dk2"/>
              </a:solidFill>
            </a:endParaRPr>
          </a:p>
        </p:txBody>
      </p:sp>
      <p:pic>
        <p:nvPicPr>
          <p:cNvPr id="394" name="Google Shape;394;p59"/>
          <p:cNvPicPr preferRelativeResize="0"/>
          <p:nvPr/>
        </p:nvPicPr>
        <p:blipFill>
          <a:blip r:embed="rId3">
            <a:alphaModFix/>
          </a:blip>
          <a:stretch>
            <a:fillRect/>
          </a:stretch>
        </p:blipFill>
        <p:spPr>
          <a:xfrm>
            <a:off x="5393462" y="1774226"/>
            <a:ext cx="3738175" cy="2427875"/>
          </a:xfrm>
          <a:prstGeom prst="rect">
            <a:avLst/>
          </a:prstGeom>
          <a:noFill/>
          <a:ln>
            <a:noFill/>
          </a:ln>
        </p:spPr>
      </p:pic>
      <p:sp>
        <p:nvSpPr>
          <p:cNvPr id="395" name="Google Shape;395;p59"/>
          <p:cNvSpPr txBox="1"/>
          <p:nvPr/>
        </p:nvSpPr>
        <p:spPr>
          <a:xfrm>
            <a:off x="6427950" y="1282225"/>
            <a:ext cx="2332200" cy="49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l" sz="1800">
                <a:solidFill>
                  <a:schemeClr val="dk1"/>
                </a:solidFill>
              </a:rPr>
              <a:t>Hugging Face!!</a:t>
            </a:r>
            <a:endParaRPr b="1" sz="1800">
              <a:solidFill>
                <a:schemeClr val="dk1"/>
              </a:solidFill>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p60"/>
          <p:cNvSpPr txBox="1"/>
          <p:nvPr>
            <p:ph idx="1" type="body"/>
          </p:nvPr>
        </p:nvSpPr>
        <p:spPr>
          <a:xfrm>
            <a:off x="311700" y="115247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l"/>
              <a:t>It's</a:t>
            </a:r>
            <a:r>
              <a:rPr lang="el"/>
              <a:t> that simple!</a:t>
            </a:r>
            <a:endParaRPr/>
          </a:p>
        </p:txBody>
      </p:sp>
      <p:sp>
        <p:nvSpPr>
          <p:cNvPr id="401" name="Google Shape;401;p6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What if I Work With Unstructured Data?</a:t>
            </a:r>
            <a:endParaRPr/>
          </a:p>
        </p:txBody>
      </p:sp>
      <p:pic>
        <p:nvPicPr>
          <p:cNvPr id="402" name="Google Shape;402;p60"/>
          <p:cNvPicPr preferRelativeResize="0"/>
          <p:nvPr/>
        </p:nvPicPr>
        <p:blipFill>
          <a:blip r:embed="rId3">
            <a:alphaModFix/>
          </a:blip>
          <a:stretch>
            <a:fillRect/>
          </a:stretch>
        </p:blipFill>
        <p:spPr>
          <a:xfrm>
            <a:off x="142252" y="2005000"/>
            <a:ext cx="4884099" cy="2419350"/>
          </a:xfrm>
          <a:prstGeom prst="rect">
            <a:avLst/>
          </a:prstGeom>
          <a:noFill/>
          <a:ln>
            <a:noFill/>
          </a:ln>
        </p:spPr>
      </p:pic>
      <p:pic>
        <p:nvPicPr>
          <p:cNvPr id="403" name="Google Shape;403;p60"/>
          <p:cNvPicPr preferRelativeResize="0"/>
          <p:nvPr/>
        </p:nvPicPr>
        <p:blipFill>
          <a:blip r:embed="rId4">
            <a:alphaModFix/>
          </a:blip>
          <a:stretch>
            <a:fillRect/>
          </a:stretch>
        </p:blipFill>
        <p:spPr>
          <a:xfrm>
            <a:off x="5713425" y="1306724"/>
            <a:ext cx="3311850" cy="3901450"/>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6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Tips for Model selection</a:t>
            </a:r>
            <a:endParaRPr/>
          </a:p>
        </p:txBody>
      </p:sp>
      <p:sp>
        <p:nvSpPr>
          <p:cNvPr id="409" name="Google Shape;409;p61"/>
          <p:cNvSpPr txBox="1"/>
          <p:nvPr/>
        </p:nvSpPr>
        <p:spPr>
          <a:xfrm>
            <a:off x="488900" y="1922200"/>
            <a:ext cx="7641600" cy="1653600"/>
          </a:xfrm>
          <a:prstGeom prst="rect">
            <a:avLst/>
          </a:prstGeom>
          <a:noFill/>
          <a:ln>
            <a:noFill/>
          </a:ln>
        </p:spPr>
        <p:txBody>
          <a:bodyPr anchorCtr="0" anchor="t" bIns="91425" lIns="91425" spcFirstLastPara="1" rIns="91425" wrap="square" tIns="91425">
            <a:noAutofit/>
          </a:bodyPr>
          <a:lstStyle/>
          <a:p>
            <a:pPr indent="-342900" lvl="0" marL="457200" rtl="0" algn="l">
              <a:lnSpc>
                <a:spcPct val="150000"/>
              </a:lnSpc>
              <a:spcBef>
                <a:spcPts val="0"/>
              </a:spcBef>
              <a:spcAft>
                <a:spcPts val="0"/>
              </a:spcAft>
              <a:buClr>
                <a:srgbClr val="9E9E9E"/>
              </a:buClr>
              <a:buSzPts val="1800"/>
              <a:buAutoNum type="arabicPeriod"/>
            </a:pPr>
            <a:r>
              <a:rPr lang="el" sz="1800">
                <a:solidFill>
                  <a:srgbClr val="9E9E9E"/>
                </a:solidFill>
              </a:rPr>
              <a:t>Start with the simplest models.</a:t>
            </a:r>
            <a:endParaRPr sz="1800">
              <a:solidFill>
                <a:srgbClr val="9E9E9E"/>
              </a:solidFill>
            </a:endParaRPr>
          </a:p>
          <a:p>
            <a:pPr indent="-342900" lvl="0" marL="457200" rtl="0" algn="l">
              <a:lnSpc>
                <a:spcPct val="150000"/>
              </a:lnSpc>
              <a:spcBef>
                <a:spcPts val="0"/>
              </a:spcBef>
              <a:spcAft>
                <a:spcPts val="0"/>
              </a:spcAft>
              <a:buClr>
                <a:srgbClr val="9E9E9E"/>
              </a:buClr>
              <a:buSzPts val="1800"/>
              <a:buAutoNum type="arabicPeriod"/>
            </a:pPr>
            <a:r>
              <a:rPr lang="el" sz="1800">
                <a:solidFill>
                  <a:srgbClr val="9E9E9E"/>
                </a:solidFill>
              </a:rPr>
              <a:t>Avoid the social media “hype” traps</a:t>
            </a:r>
            <a:endParaRPr sz="1800">
              <a:solidFill>
                <a:srgbClr val="9E9E9E"/>
              </a:solidFill>
            </a:endParaRPr>
          </a:p>
          <a:p>
            <a:pPr indent="-342900" lvl="0" marL="457200" rtl="0" algn="l">
              <a:lnSpc>
                <a:spcPct val="150000"/>
              </a:lnSpc>
              <a:spcBef>
                <a:spcPts val="0"/>
              </a:spcBef>
              <a:spcAft>
                <a:spcPts val="0"/>
              </a:spcAft>
              <a:buClr>
                <a:srgbClr val="9E9E9E"/>
              </a:buClr>
              <a:buSzPts val="1800"/>
              <a:buAutoNum type="arabicPeriod"/>
            </a:pPr>
            <a:r>
              <a:rPr lang="el" sz="1800">
                <a:solidFill>
                  <a:srgbClr val="9E9E9E"/>
                </a:solidFill>
              </a:rPr>
              <a:t>Evaluate deployment tradeoffs</a:t>
            </a:r>
            <a:endParaRPr sz="1800">
              <a:solidFill>
                <a:srgbClr val="9E9E9E"/>
              </a:solidFill>
            </a:endParaRPr>
          </a:p>
          <a:p>
            <a:pPr indent="-342900" lvl="0" marL="457200" rtl="0" algn="l">
              <a:lnSpc>
                <a:spcPct val="150000"/>
              </a:lnSpc>
              <a:spcBef>
                <a:spcPts val="0"/>
              </a:spcBef>
              <a:spcAft>
                <a:spcPts val="0"/>
              </a:spcAft>
              <a:buClr>
                <a:srgbClr val="9E9E9E"/>
              </a:buClr>
              <a:buSzPts val="1800"/>
              <a:buAutoNum type="arabicPeriod"/>
            </a:pPr>
            <a:r>
              <a:rPr lang="el" sz="1800">
                <a:solidFill>
                  <a:srgbClr val="9E9E9E"/>
                </a:solidFill>
              </a:rPr>
              <a:t>Trust Battle - Tested Models</a:t>
            </a:r>
            <a:endParaRPr sz="1800">
              <a:solidFill>
                <a:srgbClr val="9E9E9E"/>
              </a:solidFill>
            </a:endParaRPr>
          </a:p>
          <a:p>
            <a:pPr indent="-342900" lvl="0" marL="457200" rtl="0" algn="l">
              <a:lnSpc>
                <a:spcPct val="150000"/>
              </a:lnSpc>
              <a:spcBef>
                <a:spcPts val="0"/>
              </a:spcBef>
              <a:spcAft>
                <a:spcPts val="0"/>
              </a:spcAft>
              <a:buClr>
                <a:schemeClr val="dk1"/>
              </a:buClr>
              <a:buSzPts val="1800"/>
              <a:buAutoNum type="arabicPeriod"/>
            </a:pPr>
            <a:r>
              <a:rPr lang="el" sz="1800">
                <a:solidFill>
                  <a:schemeClr val="dk1"/>
                </a:solidFill>
              </a:rPr>
              <a:t>Combine models =&gt; Ensembling!</a:t>
            </a:r>
            <a:endParaRPr sz="1800">
              <a:solidFill>
                <a:schemeClr val="dk1"/>
              </a:solidFill>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p6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The idea of Combining</a:t>
            </a:r>
            <a:endParaRPr/>
          </a:p>
        </p:txBody>
      </p:sp>
      <p:sp>
        <p:nvSpPr>
          <p:cNvPr id="415" name="Google Shape;415;p62"/>
          <p:cNvSpPr txBox="1"/>
          <p:nvPr/>
        </p:nvSpPr>
        <p:spPr>
          <a:xfrm>
            <a:off x="502300" y="1185425"/>
            <a:ext cx="8284500" cy="365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600"/>
              <a:t>Ensembles = Combinations of multiple models!</a:t>
            </a:r>
            <a:endParaRPr sz="1600"/>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6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The idea of Combining</a:t>
            </a:r>
            <a:endParaRPr/>
          </a:p>
        </p:txBody>
      </p:sp>
      <p:sp>
        <p:nvSpPr>
          <p:cNvPr id="421" name="Google Shape;421;p63"/>
          <p:cNvSpPr txBox="1"/>
          <p:nvPr/>
        </p:nvSpPr>
        <p:spPr>
          <a:xfrm>
            <a:off x="502300" y="1185425"/>
            <a:ext cx="8284500" cy="365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600"/>
              <a:t>Ensembles = Combinations of multiple models!</a:t>
            </a:r>
            <a:endParaRPr sz="1600"/>
          </a:p>
          <a:p>
            <a:pPr indent="0" lvl="0" marL="0" rtl="0" algn="l">
              <a:spcBef>
                <a:spcPts val="0"/>
              </a:spcBef>
              <a:spcAft>
                <a:spcPts val="0"/>
              </a:spcAft>
              <a:buNone/>
            </a:pPr>
            <a:r>
              <a:t/>
            </a:r>
            <a:endParaRPr sz="1600"/>
          </a:p>
          <a:p>
            <a:pPr indent="0" lvl="0" marL="0" rtl="0" algn="l">
              <a:spcBef>
                <a:spcPts val="0"/>
              </a:spcBef>
              <a:spcAft>
                <a:spcPts val="0"/>
              </a:spcAft>
              <a:buNone/>
            </a:pPr>
            <a:r>
              <a:rPr lang="el" sz="1600"/>
              <a:t>In every prediction problem we look for a </a:t>
            </a:r>
            <a:r>
              <a:rPr lang="el" sz="1600">
                <a:solidFill>
                  <a:srgbClr val="FF00FF"/>
                </a:solidFill>
              </a:rPr>
              <a:t>“good-enough”</a:t>
            </a:r>
            <a:r>
              <a:rPr lang="el" sz="1600"/>
              <a:t> model</a:t>
            </a:r>
            <a:endParaRPr sz="1600"/>
          </a:p>
          <a:p>
            <a:pPr indent="-330200" lvl="0" marL="457200" rtl="0" algn="l">
              <a:spcBef>
                <a:spcPts val="0"/>
              </a:spcBef>
              <a:spcAft>
                <a:spcPts val="0"/>
              </a:spcAft>
              <a:buSzPts val="1600"/>
              <a:buChar char="-"/>
            </a:pPr>
            <a:r>
              <a:rPr lang="el" sz="1600"/>
              <a:t>A non-trivial, difficult and boring task</a:t>
            </a:r>
            <a:endParaRPr sz="1600"/>
          </a:p>
          <a:p>
            <a:pPr indent="-330200" lvl="0" marL="457200" rtl="0" algn="l">
              <a:spcBef>
                <a:spcPts val="0"/>
              </a:spcBef>
              <a:spcAft>
                <a:spcPts val="0"/>
              </a:spcAft>
              <a:buSzPts val="1600"/>
              <a:buChar char="-"/>
            </a:pPr>
            <a:r>
              <a:rPr lang="el" sz="1600"/>
              <a:t>Why not avoid it?</a:t>
            </a:r>
            <a:endParaRPr sz="1600"/>
          </a:p>
          <a:p>
            <a:pPr indent="0" lvl="0" marL="0" rtl="0" algn="l">
              <a:spcBef>
                <a:spcPts val="0"/>
              </a:spcBef>
              <a:spcAft>
                <a:spcPts val="0"/>
              </a:spcAft>
              <a:buNone/>
            </a:pPr>
            <a:r>
              <a:t/>
            </a:r>
            <a:endParaRPr sz="1600"/>
          </a:p>
          <a:p>
            <a:pPr indent="0" lvl="0" marL="0" rtl="0" algn="l">
              <a:spcBef>
                <a:spcPts val="0"/>
              </a:spcBef>
              <a:spcAft>
                <a:spcPts val="0"/>
              </a:spcAft>
              <a:buNone/>
            </a:pPr>
            <a:r>
              <a:t/>
            </a:r>
            <a:endParaRPr sz="1600"/>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p6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The idea of Combining</a:t>
            </a:r>
            <a:endParaRPr/>
          </a:p>
        </p:txBody>
      </p:sp>
      <p:sp>
        <p:nvSpPr>
          <p:cNvPr id="427" name="Google Shape;427;p64"/>
          <p:cNvSpPr txBox="1"/>
          <p:nvPr/>
        </p:nvSpPr>
        <p:spPr>
          <a:xfrm>
            <a:off x="502300" y="1185425"/>
            <a:ext cx="8284500" cy="365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600"/>
              <a:t>Ensembles = Combinations of multiple models!</a:t>
            </a:r>
            <a:endParaRPr sz="1600"/>
          </a:p>
          <a:p>
            <a:pPr indent="0" lvl="0" marL="0" rtl="0" algn="l">
              <a:spcBef>
                <a:spcPts val="0"/>
              </a:spcBef>
              <a:spcAft>
                <a:spcPts val="0"/>
              </a:spcAft>
              <a:buNone/>
            </a:pPr>
            <a:r>
              <a:t/>
            </a:r>
            <a:endParaRPr sz="1600"/>
          </a:p>
          <a:p>
            <a:pPr indent="0" lvl="0" marL="0" rtl="0" algn="l">
              <a:spcBef>
                <a:spcPts val="0"/>
              </a:spcBef>
              <a:spcAft>
                <a:spcPts val="0"/>
              </a:spcAft>
              <a:buNone/>
            </a:pPr>
            <a:r>
              <a:rPr lang="el" sz="1600"/>
              <a:t>In every prediction problem we look for a </a:t>
            </a:r>
            <a:r>
              <a:rPr lang="el" sz="1600">
                <a:solidFill>
                  <a:srgbClr val="FF00FF"/>
                </a:solidFill>
              </a:rPr>
              <a:t>“good-enough”</a:t>
            </a:r>
            <a:r>
              <a:rPr lang="el" sz="1600"/>
              <a:t> model</a:t>
            </a:r>
            <a:endParaRPr sz="1600"/>
          </a:p>
          <a:p>
            <a:pPr indent="-330200" lvl="0" marL="457200" rtl="0" algn="l">
              <a:spcBef>
                <a:spcPts val="0"/>
              </a:spcBef>
              <a:spcAft>
                <a:spcPts val="0"/>
              </a:spcAft>
              <a:buSzPts val="1600"/>
              <a:buChar char="-"/>
            </a:pPr>
            <a:r>
              <a:rPr lang="el" sz="1600"/>
              <a:t>A non-trivial, difficult and boring task</a:t>
            </a:r>
            <a:endParaRPr sz="1600"/>
          </a:p>
          <a:p>
            <a:pPr indent="-330200" lvl="0" marL="457200" rtl="0" algn="l">
              <a:spcBef>
                <a:spcPts val="0"/>
              </a:spcBef>
              <a:spcAft>
                <a:spcPts val="0"/>
              </a:spcAft>
              <a:buSzPts val="1600"/>
              <a:buChar char="-"/>
            </a:pPr>
            <a:r>
              <a:rPr lang="el" sz="1600"/>
              <a:t>Why not avoid it?</a:t>
            </a:r>
            <a:endParaRPr sz="1600"/>
          </a:p>
          <a:p>
            <a:pPr indent="0" lvl="0" marL="0" rtl="0" algn="l">
              <a:spcBef>
                <a:spcPts val="0"/>
              </a:spcBef>
              <a:spcAft>
                <a:spcPts val="0"/>
              </a:spcAft>
              <a:buNone/>
            </a:pPr>
            <a:r>
              <a:t/>
            </a:r>
            <a:endParaRPr sz="1600"/>
          </a:p>
          <a:p>
            <a:pPr indent="0" lvl="0" marL="0" rtl="0" algn="l">
              <a:spcBef>
                <a:spcPts val="0"/>
              </a:spcBef>
              <a:spcAft>
                <a:spcPts val="0"/>
              </a:spcAft>
              <a:buNone/>
            </a:pPr>
            <a:r>
              <a:rPr lang="el" sz="1600">
                <a:solidFill>
                  <a:srgbClr val="FF00FF"/>
                </a:solidFill>
              </a:rPr>
              <a:t>Combinations:</a:t>
            </a:r>
            <a:endParaRPr sz="1600">
              <a:solidFill>
                <a:srgbClr val="FF00FF"/>
              </a:solidFill>
            </a:endParaRPr>
          </a:p>
          <a:p>
            <a:pPr indent="0" lvl="0" marL="0" rtl="0" algn="l">
              <a:spcBef>
                <a:spcPts val="0"/>
              </a:spcBef>
              <a:spcAft>
                <a:spcPts val="0"/>
              </a:spcAft>
              <a:buNone/>
            </a:pPr>
            <a:r>
              <a:rPr lang="el" sz="1600"/>
              <a:t>Instead of looking for the “best-model” combine multiple predictions</a:t>
            </a:r>
            <a:endParaRPr sz="1600"/>
          </a:p>
          <a:p>
            <a:pPr indent="0" lvl="0" marL="0" rtl="0" algn="l">
              <a:spcBef>
                <a:spcPts val="0"/>
              </a:spcBef>
              <a:spcAft>
                <a:spcPts val="0"/>
              </a:spcAft>
              <a:buNone/>
            </a:pPr>
            <a:r>
              <a:t/>
            </a:r>
            <a:endParaRPr sz="1600"/>
          </a:p>
          <a:p>
            <a:pPr indent="0" lvl="0" marL="0" rtl="0" algn="l">
              <a:spcBef>
                <a:spcPts val="0"/>
              </a:spcBef>
              <a:spcAft>
                <a:spcPts val="0"/>
              </a:spcAft>
              <a:buNone/>
            </a:pPr>
            <a:r>
              <a:rPr lang="el" sz="1600">
                <a:solidFill>
                  <a:srgbClr val="FF00FF"/>
                </a:solidFill>
              </a:rPr>
              <a:t>Ensemble:</a:t>
            </a:r>
            <a:endParaRPr sz="1600">
              <a:solidFill>
                <a:srgbClr val="FF00FF"/>
              </a:solidFill>
            </a:endParaRPr>
          </a:p>
          <a:p>
            <a:pPr indent="0" lvl="0" marL="0" rtl="0" algn="l">
              <a:spcBef>
                <a:spcPts val="0"/>
              </a:spcBef>
              <a:spcAft>
                <a:spcPts val="0"/>
              </a:spcAft>
              <a:buNone/>
            </a:pPr>
            <a:r>
              <a:rPr lang="el" sz="1600"/>
              <a:t>A strong model from an ensemble of weak models (referred to as base learners)</a:t>
            </a:r>
            <a:endParaRPr sz="1600"/>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p6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Ensembles Evidence</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id="437" name="Google Shape;437;p6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Ensembles Evidence</a:t>
            </a:r>
            <a:endParaRPr/>
          </a:p>
        </p:txBody>
      </p:sp>
      <p:sp>
        <p:nvSpPr>
          <p:cNvPr id="438" name="Google Shape;438;p66"/>
          <p:cNvSpPr txBox="1"/>
          <p:nvPr/>
        </p:nvSpPr>
        <p:spPr>
          <a:xfrm>
            <a:off x="271525" y="1240075"/>
            <a:ext cx="8520600" cy="29001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Font typeface="Nunito"/>
              <a:buChar char="●"/>
            </a:pPr>
            <a:r>
              <a:rPr lang="el" sz="1800">
                <a:latin typeface="Nunito"/>
                <a:ea typeface="Nunito"/>
                <a:cs typeface="Nunito"/>
                <a:sym typeface="Nunito"/>
              </a:rPr>
              <a:t>20/22 winning solutions on Kaggle in Jan - Aug 2021 use ensembles</a:t>
            </a:r>
            <a:endParaRPr sz="1800">
              <a:latin typeface="Nunito"/>
              <a:ea typeface="Nunito"/>
              <a:cs typeface="Nunito"/>
              <a:sym typeface="Nunito"/>
            </a:endParaRPr>
          </a:p>
          <a:p>
            <a:pPr indent="-342900" lvl="0" marL="457200" rtl="0" algn="l">
              <a:lnSpc>
                <a:spcPct val="115000"/>
              </a:lnSpc>
              <a:spcBef>
                <a:spcPts val="0"/>
              </a:spcBef>
              <a:spcAft>
                <a:spcPts val="0"/>
              </a:spcAft>
              <a:buSzPts val="1800"/>
              <a:buFont typeface="Nunito"/>
              <a:buChar char="●"/>
            </a:pPr>
            <a:r>
              <a:rPr lang="el" sz="1800">
                <a:latin typeface="Nunito"/>
                <a:ea typeface="Nunito"/>
                <a:cs typeface="Nunito"/>
                <a:sym typeface="Nunito"/>
              </a:rPr>
              <a:t>One solution uses </a:t>
            </a:r>
            <a:r>
              <a:rPr lang="el" sz="1800" u="sng">
                <a:solidFill>
                  <a:srgbClr val="FF00FF"/>
                </a:solidFill>
                <a:latin typeface="Nunito"/>
                <a:ea typeface="Nunito"/>
                <a:cs typeface="Nunito"/>
                <a:sym typeface="Nunito"/>
                <a:hlinkClick r:id="rId3">
                  <a:extLst>
                    <a:ext uri="{A12FA001-AC4F-418D-AE19-62706E023703}">
                      <ahyp:hlinkClr val="tx"/>
                    </a:ext>
                  </a:extLst>
                </a:hlinkClick>
              </a:rPr>
              <a:t>33 models</a:t>
            </a:r>
            <a:r>
              <a:rPr lang="el" sz="1800">
                <a:latin typeface="Nunito"/>
                <a:ea typeface="Nunito"/>
                <a:cs typeface="Nunito"/>
                <a:sym typeface="Nunito"/>
              </a:rPr>
              <a:t>!</a:t>
            </a:r>
            <a:endParaRPr sz="1800">
              <a:latin typeface="Nunito"/>
              <a:ea typeface="Nunito"/>
              <a:cs typeface="Nunito"/>
              <a:sym typeface="Nunito"/>
            </a:endParaRPr>
          </a:p>
        </p:txBody>
      </p:sp>
      <p:sp>
        <p:nvSpPr>
          <p:cNvPr id="439" name="Google Shape;439;p66"/>
          <p:cNvSpPr txBox="1"/>
          <p:nvPr/>
        </p:nvSpPr>
        <p:spPr>
          <a:xfrm>
            <a:off x="297625" y="4494350"/>
            <a:ext cx="6876300" cy="2310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000000"/>
              </a:buClr>
              <a:buSzPts val="1100"/>
              <a:buFont typeface="Arial"/>
              <a:buNone/>
            </a:pPr>
            <a:r>
              <a:rPr lang="el" sz="1000" u="sng">
                <a:solidFill>
                  <a:srgbClr val="0097A7"/>
                </a:solidFill>
                <a:latin typeface="Nunito"/>
                <a:ea typeface="Nunito"/>
                <a:cs typeface="Nunito"/>
                <a:sym typeface="Nunito"/>
                <a:hlinkClick r:id="rId4">
                  <a:extLst>
                    <a:ext uri="{A12FA001-AC4F-418D-AE19-62706E023703}">
                      <ahyp:hlinkClr val="tx"/>
                    </a:ext>
                  </a:extLst>
                </a:hlinkClick>
              </a:rPr>
              <a:t>https://farid.one/kaggle-solutions</a:t>
            </a:r>
            <a:r>
              <a:rPr lang="el" sz="1000">
                <a:latin typeface="Nunito"/>
                <a:ea typeface="Nunito"/>
                <a:cs typeface="Nunito"/>
                <a:sym typeface="Nunito"/>
              </a:rPr>
              <a:t> </a:t>
            </a:r>
            <a:endParaRPr sz="1000">
              <a:latin typeface="Nunito"/>
              <a:ea typeface="Nunito"/>
              <a:cs typeface="Nunito"/>
              <a:sym typeface="Nunito"/>
            </a:endParaRPr>
          </a:p>
        </p:txBody>
      </p:sp>
      <p:pic>
        <p:nvPicPr>
          <p:cNvPr id="440" name="Google Shape;440;p66"/>
          <p:cNvPicPr preferRelativeResize="0"/>
          <p:nvPr/>
        </p:nvPicPr>
        <p:blipFill>
          <a:blip r:embed="rId5">
            <a:alphaModFix/>
          </a:blip>
          <a:stretch>
            <a:fillRect/>
          </a:stretch>
        </p:blipFill>
        <p:spPr>
          <a:xfrm>
            <a:off x="1394650" y="2114475"/>
            <a:ext cx="6354701" cy="2270350"/>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 name="Shape 444"/>
        <p:cNvGrpSpPr/>
        <p:nvPr/>
      </p:nvGrpSpPr>
      <p:grpSpPr>
        <a:xfrm>
          <a:off x="0" y="0"/>
          <a:ext cx="0" cy="0"/>
          <a:chOff x="0" y="0"/>
          <a:chExt cx="0" cy="0"/>
        </a:xfrm>
      </p:grpSpPr>
      <p:sp>
        <p:nvSpPr>
          <p:cNvPr id="445" name="Google Shape;445;p6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Why does ensembling work?</a:t>
            </a:r>
            <a:endParaRPr/>
          </a:p>
        </p:txBody>
      </p:sp>
      <p:sp>
        <p:nvSpPr>
          <p:cNvPr id="446" name="Google Shape;446;p67"/>
          <p:cNvSpPr txBox="1"/>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Font typeface="Nunito"/>
              <a:buChar char="●"/>
            </a:pPr>
            <a:r>
              <a:rPr lang="el" sz="1800">
                <a:latin typeface="Nunito"/>
                <a:ea typeface="Nunito"/>
                <a:cs typeface="Nunito"/>
                <a:sym typeface="Nunito"/>
              </a:rPr>
              <a:t>Task: email classification (SPAM / NOT SPAM)</a:t>
            </a:r>
            <a:endParaRPr sz="1800">
              <a:latin typeface="Nunito"/>
              <a:ea typeface="Nunito"/>
              <a:cs typeface="Nunito"/>
              <a:sym typeface="Nunito"/>
            </a:endParaRPr>
          </a:p>
          <a:p>
            <a:pPr indent="-342900" lvl="0" marL="457200" rtl="0" algn="l">
              <a:lnSpc>
                <a:spcPct val="115000"/>
              </a:lnSpc>
              <a:spcBef>
                <a:spcPts val="0"/>
              </a:spcBef>
              <a:spcAft>
                <a:spcPts val="0"/>
              </a:spcAft>
              <a:buSzPts val="1800"/>
              <a:buFont typeface="Nunito"/>
              <a:buChar char="●"/>
            </a:pPr>
            <a:r>
              <a:rPr lang="el" sz="1800">
                <a:latin typeface="Nunito"/>
                <a:ea typeface="Nunito"/>
                <a:cs typeface="Nunito"/>
                <a:sym typeface="Nunito"/>
              </a:rPr>
              <a:t>3 </a:t>
            </a:r>
            <a:r>
              <a:rPr lang="el" sz="1800">
                <a:solidFill>
                  <a:srgbClr val="000000"/>
                </a:solidFill>
                <a:latin typeface="Nunito"/>
                <a:ea typeface="Nunito"/>
                <a:cs typeface="Nunito"/>
                <a:sym typeface="Nunito"/>
              </a:rPr>
              <a:t>uncorrelated </a:t>
            </a:r>
            <a:r>
              <a:rPr lang="el" sz="1800">
                <a:latin typeface="Nunito"/>
                <a:ea typeface="Nunito"/>
                <a:cs typeface="Nunito"/>
                <a:sym typeface="Nunito"/>
              </a:rPr>
              <a:t>models, each with accuracy of 70%</a:t>
            </a:r>
            <a:endParaRPr sz="1800">
              <a:latin typeface="Nunito"/>
              <a:ea typeface="Nunito"/>
              <a:cs typeface="Nunito"/>
              <a:sym typeface="Nunito"/>
            </a:endParaRPr>
          </a:p>
          <a:p>
            <a:pPr indent="-342900" lvl="0" marL="457200" rtl="0" algn="l">
              <a:lnSpc>
                <a:spcPct val="115000"/>
              </a:lnSpc>
              <a:spcBef>
                <a:spcPts val="0"/>
              </a:spcBef>
              <a:spcAft>
                <a:spcPts val="0"/>
              </a:spcAft>
              <a:buSzPts val="1800"/>
              <a:buFont typeface="Nunito"/>
              <a:buChar char="●"/>
            </a:pPr>
            <a:r>
              <a:rPr lang="el" sz="1800">
                <a:latin typeface="Nunito"/>
                <a:ea typeface="Nunito"/>
                <a:cs typeface="Nunito"/>
                <a:sym typeface="Nunito"/>
              </a:rPr>
              <a:t>Ensemble: majority vote of these 3 models</a:t>
            </a:r>
            <a:endParaRPr sz="1800">
              <a:latin typeface="Nunito"/>
              <a:ea typeface="Nunito"/>
              <a:cs typeface="Nunito"/>
              <a:sym typeface="Nunito"/>
            </a:endParaRPr>
          </a:p>
          <a:p>
            <a:pPr indent="-317500" lvl="1" marL="914400" rtl="0" algn="l">
              <a:lnSpc>
                <a:spcPct val="115000"/>
              </a:lnSpc>
              <a:spcBef>
                <a:spcPts val="0"/>
              </a:spcBef>
              <a:spcAft>
                <a:spcPts val="0"/>
              </a:spcAft>
              <a:buSzPts val="1400"/>
              <a:buFont typeface="Nunito"/>
              <a:buChar char="○"/>
            </a:pPr>
            <a:r>
              <a:rPr lang="el">
                <a:latin typeface="Nunito"/>
                <a:ea typeface="Nunito"/>
                <a:cs typeface="Nunito"/>
                <a:sym typeface="Nunito"/>
              </a:rPr>
              <a:t>Ensemble is correct if at least 2 models are correct</a:t>
            </a:r>
            <a:endParaRPr>
              <a:latin typeface="Nunito"/>
              <a:ea typeface="Nunito"/>
              <a:cs typeface="Nunito"/>
              <a:sym typeface="Nunito"/>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0" name="Shape 450"/>
        <p:cNvGrpSpPr/>
        <p:nvPr/>
      </p:nvGrpSpPr>
      <p:grpSpPr>
        <a:xfrm>
          <a:off x="0" y="0"/>
          <a:ext cx="0" cy="0"/>
          <a:chOff x="0" y="0"/>
          <a:chExt cx="0" cy="0"/>
        </a:xfrm>
      </p:grpSpPr>
      <p:sp>
        <p:nvSpPr>
          <p:cNvPr id="451" name="Google Shape;451;p6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Why does ensembling work?</a:t>
            </a:r>
            <a:endParaRPr/>
          </a:p>
        </p:txBody>
      </p:sp>
      <p:sp>
        <p:nvSpPr>
          <p:cNvPr id="452" name="Google Shape;452;p68"/>
          <p:cNvSpPr txBox="1"/>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Clr>
                <a:srgbClr val="CCCCCC"/>
              </a:buClr>
              <a:buSzPts val="1800"/>
              <a:buFont typeface="Nunito"/>
              <a:buChar char="●"/>
            </a:pPr>
            <a:r>
              <a:rPr lang="el" sz="1800">
                <a:solidFill>
                  <a:srgbClr val="CCCCCC"/>
                </a:solidFill>
                <a:latin typeface="Nunito"/>
                <a:ea typeface="Nunito"/>
                <a:cs typeface="Nunito"/>
                <a:sym typeface="Nunito"/>
              </a:rPr>
              <a:t>3 models, each with 70% accuracy</a:t>
            </a:r>
            <a:endParaRPr sz="1800">
              <a:solidFill>
                <a:srgbClr val="CCCCCC"/>
              </a:solidFill>
              <a:latin typeface="Nunito"/>
              <a:ea typeface="Nunito"/>
              <a:cs typeface="Nunito"/>
              <a:sym typeface="Nunito"/>
            </a:endParaRPr>
          </a:p>
          <a:p>
            <a:pPr indent="-342900" lvl="0" marL="457200" rtl="0" algn="l">
              <a:lnSpc>
                <a:spcPct val="115000"/>
              </a:lnSpc>
              <a:spcBef>
                <a:spcPts val="0"/>
              </a:spcBef>
              <a:spcAft>
                <a:spcPts val="0"/>
              </a:spcAft>
              <a:buClr>
                <a:srgbClr val="CCCCCC"/>
              </a:buClr>
              <a:buSzPts val="1800"/>
              <a:buFont typeface="Nunito"/>
              <a:buChar char="●"/>
            </a:pPr>
            <a:r>
              <a:rPr lang="el" sz="1800">
                <a:solidFill>
                  <a:srgbClr val="CCCCCC"/>
                </a:solidFill>
                <a:latin typeface="Nunito"/>
                <a:ea typeface="Nunito"/>
                <a:cs typeface="Nunito"/>
                <a:sym typeface="Nunito"/>
              </a:rPr>
              <a:t>Ensemble is correct if at least 2 models are correct</a:t>
            </a:r>
            <a:endParaRPr sz="1800">
              <a:solidFill>
                <a:srgbClr val="CCCCCC"/>
              </a:solidFill>
              <a:latin typeface="Nunito"/>
              <a:ea typeface="Nunito"/>
              <a:cs typeface="Nunito"/>
              <a:sym typeface="Nunito"/>
            </a:endParaRPr>
          </a:p>
          <a:p>
            <a:pPr indent="0" lvl="0" marL="0" rtl="0" algn="l">
              <a:lnSpc>
                <a:spcPct val="115000"/>
              </a:lnSpc>
              <a:spcBef>
                <a:spcPts val="1600"/>
              </a:spcBef>
              <a:spcAft>
                <a:spcPts val="1600"/>
              </a:spcAft>
              <a:buNone/>
            </a:pPr>
            <a:r>
              <a:t/>
            </a:r>
            <a:endParaRPr sz="1800">
              <a:latin typeface="Nunito"/>
              <a:ea typeface="Nunito"/>
              <a:cs typeface="Nunito"/>
              <a:sym typeface="Nunito"/>
            </a:endParaRPr>
          </a:p>
        </p:txBody>
      </p:sp>
      <p:graphicFrame>
        <p:nvGraphicFramePr>
          <p:cNvPr id="453" name="Google Shape;453;p68"/>
          <p:cNvGraphicFramePr/>
          <p:nvPr/>
        </p:nvGraphicFramePr>
        <p:xfrm>
          <a:off x="1039725" y="2686900"/>
          <a:ext cx="3000000" cy="3000000"/>
        </p:xfrm>
        <a:graphic>
          <a:graphicData uri="http://schemas.openxmlformats.org/drawingml/2006/table">
            <a:tbl>
              <a:tblPr>
                <a:noFill/>
                <a:tableStyleId>{5BCA6783-9D1B-475B-B446-B2AFDC278119}</a:tableStyleId>
              </a:tblPr>
              <a:tblGrid>
                <a:gridCol w="2115650"/>
                <a:gridCol w="2594025"/>
                <a:gridCol w="2354850"/>
              </a:tblGrid>
              <a:tr h="535775">
                <a:tc>
                  <a:txBody>
                    <a:bodyPr/>
                    <a:lstStyle/>
                    <a:p>
                      <a:pPr indent="0" lvl="0" marL="0" rtl="0" algn="l">
                        <a:spcBef>
                          <a:spcPts val="0"/>
                        </a:spcBef>
                        <a:spcAft>
                          <a:spcPts val="0"/>
                        </a:spcAft>
                        <a:buNone/>
                      </a:pPr>
                      <a:r>
                        <a:rPr b="1" lang="el" sz="1600">
                          <a:latin typeface="Nunito"/>
                          <a:ea typeface="Nunito"/>
                          <a:cs typeface="Nunito"/>
                          <a:sym typeface="Nunito"/>
                        </a:rPr>
                        <a:t>Outputs of 3 models</a:t>
                      </a:r>
                      <a:endParaRPr b="1" sz="1600">
                        <a:latin typeface="Nunito"/>
                        <a:ea typeface="Nunito"/>
                        <a:cs typeface="Nunito"/>
                        <a:sym typeface="Nunito"/>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tcPr>
                </a:tc>
                <a:tc>
                  <a:txBody>
                    <a:bodyPr/>
                    <a:lstStyle/>
                    <a:p>
                      <a:pPr indent="0" lvl="0" marL="0" rtl="0" algn="l">
                        <a:spcBef>
                          <a:spcPts val="0"/>
                        </a:spcBef>
                        <a:spcAft>
                          <a:spcPts val="0"/>
                        </a:spcAft>
                        <a:buNone/>
                      </a:pPr>
                      <a:r>
                        <a:rPr b="1" lang="el" sz="1600">
                          <a:latin typeface="Nunito"/>
                          <a:ea typeface="Nunito"/>
                          <a:cs typeface="Nunito"/>
                          <a:sym typeface="Nunito"/>
                        </a:rPr>
                        <a:t>Probability</a:t>
                      </a:r>
                      <a:endParaRPr b="1" sz="1600">
                        <a:latin typeface="Nunito"/>
                        <a:ea typeface="Nunito"/>
                        <a:cs typeface="Nunito"/>
                        <a:sym typeface="Nunito"/>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tcPr>
                </a:tc>
                <a:tc>
                  <a:txBody>
                    <a:bodyPr/>
                    <a:lstStyle/>
                    <a:p>
                      <a:pPr indent="0" lvl="0" marL="0" rtl="0" algn="l">
                        <a:spcBef>
                          <a:spcPts val="0"/>
                        </a:spcBef>
                        <a:spcAft>
                          <a:spcPts val="0"/>
                        </a:spcAft>
                        <a:buNone/>
                      </a:pPr>
                      <a:r>
                        <a:rPr b="1" lang="el" sz="1600">
                          <a:latin typeface="Nunito"/>
                          <a:ea typeface="Nunito"/>
                          <a:cs typeface="Nunito"/>
                          <a:sym typeface="Nunito"/>
                        </a:rPr>
                        <a:t>Ensemble’s output</a:t>
                      </a:r>
                      <a:endParaRPr b="1" sz="1600">
                        <a:latin typeface="Nunito"/>
                        <a:ea typeface="Nunito"/>
                        <a:cs typeface="Nunito"/>
                        <a:sym typeface="Nunito"/>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tcPr>
                </a:tc>
              </a:tr>
              <a:tr h="330175">
                <a:tc>
                  <a:txBody>
                    <a:bodyPr/>
                    <a:lstStyle/>
                    <a:p>
                      <a:pPr indent="0" lvl="0" marL="0" rtl="0" algn="l">
                        <a:spcBef>
                          <a:spcPts val="0"/>
                        </a:spcBef>
                        <a:spcAft>
                          <a:spcPts val="0"/>
                        </a:spcAft>
                        <a:buNone/>
                      </a:pPr>
                      <a:r>
                        <a:rPr lang="el">
                          <a:latin typeface="Nunito"/>
                          <a:ea typeface="Nunito"/>
                          <a:cs typeface="Nunito"/>
                          <a:sym typeface="Nunito"/>
                        </a:rPr>
                        <a:t>All 3 are correct</a:t>
                      </a:r>
                      <a:endParaRPr>
                        <a:latin typeface="Nunito"/>
                        <a:ea typeface="Nunito"/>
                        <a:cs typeface="Nunito"/>
                        <a:sym typeface="Nunito"/>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tcPr>
                </a:tc>
                <a:tc>
                  <a:txBody>
                    <a:bodyPr/>
                    <a:lstStyle/>
                    <a:p>
                      <a:pPr indent="0" lvl="0" marL="0" rtl="0" algn="l">
                        <a:spcBef>
                          <a:spcPts val="0"/>
                        </a:spcBef>
                        <a:spcAft>
                          <a:spcPts val="0"/>
                        </a:spcAft>
                        <a:buNone/>
                      </a:pPr>
                      <a:r>
                        <a:rPr lang="el">
                          <a:latin typeface="Nunito"/>
                          <a:ea typeface="Nunito"/>
                          <a:cs typeface="Nunito"/>
                          <a:sym typeface="Nunito"/>
                        </a:rPr>
                        <a:t>0.7 * 0.7 * 0.7 = 0.343</a:t>
                      </a:r>
                      <a:endParaRPr>
                        <a:latin typeface="Nunito"/>
                        <a:ea typeface="Nunito"/>
                        <a:cs typeface="Nunito"/>
                        <a:sym typeface="Nunito"/>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tcPr>
                </a:tc>
                <a:tc>
                  <a:txBody>
                    <a:bodyPr/>
                    <a:lstStyle/>
                    <a:p>
                      <a:pPr indent="0" lvl="0" marL="0" rtl="0" algn="l">
                        <a:spcBef>
                          <a:spcPts val="0"/>
                        </a:spcBef>
                        <a:spcAft>
                          <a:spcPts val="0"/>
                        </a:spcAft>
                        <a:buNone/>
                      </a:pPr>
                      <a:r>
                        <a:rPr lang="el">
                          <a:latin typeface="Nunito"/>
                          <a:ea typeface="Nunito"/>
                          <a:cs typeface="Nunito"/>
                          <a:sym typeface="Nunito"/>
                        </a:rPr>
                        <a:t>Correct</a:t>
                      </a:r>
                      <a:endParaRPr>
                        <a:latin typeface="Nunito"/>
                        <a:ea typeface="Nunito"/>
                        <a:cs typeface="Nunito"/>
                        <a:sym typeface="Nunito"/>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tcPr>
                </a:tc>
              </a:tr>
              <a:tr h="330175">
                <a:tc>
                  <a:txBody>
                    <a:bodyPr/>
                    <a:lstStyle/>
                    <a:p>
                      <a:pPr indent="0" lvl="0" marL="0" rtl="0" algn="l">
                        <a:spcBef>
                          <a:spcPts val="0"/>
                        </a:spcBef>
                        <a:spcAft>
                          <a:spcPts val="0"/>
                        </a:spcAft>
                        <a:buNone/>
                      </a:pPr>
                      <a:r>
                        <a:rPr lang="el">
                          <a:latin typeface="Nunito"/>
                          <a:ea typeface="Nunito"/>
                          <a:cs typeface="Nunito"/>
                          <a:sym typeface="Nunito"/>
                        </a:rPr>
                        <a:t>Only 2 are correct</a:t>
                      </a:r>
                      <a:endParaRPr>
                        <a:latin typeface="Nunito"/>
                        <a:ea typeface="Nunito"/>
                        <a:cs typeface="Nunito"/>
                        <a:sym typeface="Nunito"/>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tcPr>
                </a:tc>
                <a:tc>
                  <a:txBody>
                    <a:bodyPr/>
                    <a:lstStyle/>
                    <a:p>
                      <a:pPr indent="0" lvl="0" marL="0" rtl="0" algn="l">
                        <a:spcBef>
                          <a:spcPts val="0"/>
                        </a:spcBef>
                        <a:spcAft>
                          <a:spcPts val="0"/>
                        </a:spcAft>
                        <a:buNone/>
                      </a:pPr>
                      <a:r>
                        <a:rPr lang="el">
                          <a:latin typeface="Nunito"/>
                          <a:ea typeface="Nunito"/>
                          <a:cs typeface="Nunito"/>
                          <a:sym typeface="Nunito"/>
                        </a:rPr>
                        <a:t>(0.7 * 0.7 * 0.3) * 3 = 0.441</a:t>
                      </a:r>
                      <a:endParaRPr>
                        <a:latin typeface="Nunito"/>
                        <a:ea typeface="Nunito"/>
                        <a:cs typeface="Nunito"/>
                        <a:sym typeface="Nunito"/>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tcPr>
                </a:tc>
                <a:tc>
                  <a:txBody>
                    <a:bodyPr/>
                    <a:lstStyle/>
                    <a:p>
                      <a:pPr indent="0" lvl="0" marL="0" rtl="0" algn="l">
                        <a:spcBef>
                          <a:spcPts val="0"/>
                        </a:spcBef>
                        <a:spcAft>
                          <a:spcPts val="0"/>
                        </a:spcAft>
                        <a:buNone/>
                      </a:pPr>
                      <a:r>
                        <a:rPr lang="el">
                          <a:latin typeface="Nunito"/>
                          <a:ea typeface="Nunito"/>
                          <a:cs typeface="Nunito"/>
                          <a:sym typeface="Nunito"/>
                        </a:rPr>
                        <a:t>Correct</a:t>
                      </a:r>
                      <a:endParaRPr>
                        <a:latin typeface="Nunito"/>
                        <a:ea typeface="Nunito"/>
                        <a:cs typeface="Nunito"/>
                        <a:sym typeface="Nunito"/>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tcPr>
                </a:tc>
              </a:tr>
              <a:tr h="330175">
                <a:tc>
                  <a:txBody>
                    <a:bodyPr/>
                    <a:lstStyle/>
                    <a:p>
                      <a:pPr indent="0" lvl="0" marL="0" rtl="0" algn="l">
                        <a:spcBef>
                          <a:spcPts val="0"/>
                        </a:spcBef>
                        <a:spcAft>
                          <a:spcPts val="0"/>
                        </a:spcAft>
                        <a:buNone/>
                      </a:pPr>
                      <a:r>
                        <a:rPr lang="el">
                          <a:latin typeface="Nunito"/>
                          <a:ea typeface="Nunito"/>
                          <a:cs typeface="Nunito"/>
                          <a:sym typeface="Nunito"/>
                        </a:rPr>
                        <a:t>Only 1 is correct</a:t>
                      </a:r>
                      <a:endParaRPr>
                        <a:latin typeface="Nunito"/>
                        <a:ea typeface="Nunito"/>
                        <a:cs typeface="Nunito"/>
                        <a:sym typeface="Nunito"/>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tcPr>
                </a:tc>
                <a:tc>
                  <a:txBody>
                    <a:bodyPr/>
                    <a:lstStyle/>
                    <a:p>
                      <a:pPr indent="0" lvl="0" marL="0" rtl="0" algn="l">
                        <a:spcBef>
                          <a:spcPts val="0"/>
                        </a:spcBef>
                        <a:spcAft>
                          <a:spcPts val="0"/>
                        </a:spcAft>
                        <a:buNone/>
                      </a:pPr>
                      <a:r>
                        <a:rPr lang="el">
                          <a:latin typeface="Nunito"/>
                          <a:ea typeface="Nunito"/>
                          <a:cs typeface="Nunito"/>
                          <a:sym typeface="Nunito"/>
                        </a:rPr>
                        <a:t>(0.3 * 0.3 * 0.7) * 3 = 0.189</a:t>
                      </a:r>
                      <a:endParaRPr>
                        <a:latin typeface="Nunito"/>
                        <a:ea typeface="Nunito"/>
                        <a:cs typeface="Nunito"/>
                        <a:sym typeface="Nunito"/>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tcPr>
                </a:tc>
                <a:tc>
                  <a:txBody>
                    <a:bodyPr/>
                    <a:lstStyle/>
                    <a:p>
                      <a:pPr indent="0" lvl="0" marL="0" rtl="0" algn="l">
                        <a:spcBef>
                          <a:spcPts val="0"/>
                        </a:spcBef>
                        <a:spcAft>
                          <a:spcPts val="0"/>
                        </a:spcAft>
                        <a:buNone/>
                      </a:pPr>
                      <a:r>
                        <a:rPr lang="el">
                          <a:latin typeface="Nunito"/>
                          <a:ea typeface="Nunito"/>
                          <a:cs typeface="Nunito"/>
                          <a:sym typeface="Nunito"/>
                        </a:rPr>
                        <a:t>Wrong</a:t>
                      </a:r>
                      <a:endParaRPr>
                        <a:latin typeface="Nunito"/>
                        <a:ea typeface="Nunito"/>
                        <a:cs typeface="Nunito"/>
                        <a:sym typeface="Nunito"/>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tcPr>
                </a:tc>
              </a:tr>
              <a:tr h="330175">
                <a:tc>
                  <a:txBody>
                    <a:bodyPr/>
                    <a:lstStyle/>
                    <a:p>
                      <a:pPr indent="0" lvl="0" marL="0" rtl="0" algn="l">
                        <a:spcBef>
                          <a:spcPts val="0"/>
                        </a:spcBef>
                        <a:spcAft>
                          <a:spcPts val="0"/>
                        </a:spcAft>
                        <a:buNone/>
                      </a:pPr>
                      <a:r>
                        <a:rPr lang="el">
                          <a:latin typeface="Nunito"/>
                          <a:ea typeface="Nunito"/>
                          <a:cs typeface="Nunito"/>
                          <a:sym typeface="Nunito"/>
                        </a:rPr>
                        <a:t>None is correct</a:t>
                      </a:r>
                      <a:endParaRPr>
                        <a:latin typeface="Nunito"/>
                        <a:ea typeface="Nunito"/>
                        <a:cs typeface="Nunito"/>
                        <a:sym typeface="Nunito"/>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tcPr>
                </a:tc>
                <a:tc>
                  <a:txBody>
                    <a:bodyPr/>
                    <a:lstStyle/>
                    <a:p>
                      <a:pPr indent="0" lvl="0" marL="0" rtl="0" algn="l">
                        <a:spcBef>
                          <a:spcPts val="0"/>
                        </a:spcBef>
                        <a:spcAft>
                          <a:spcPts val="0"/>
                        </a:spcAft>
                        <a:buNone/>
                      </a:pPr>
                      <a:r>
                        <a:rPr lang="el">
                          <a:latin typeface="Nunito"/>
                          <a:ea typeface="Nunito"/>
                          <a:cs typeface="Nunito"/>
                          <a:sym typeface="Nunito"/>
                        </a:rPr>
                        <a:t>0.3 * 0.3 * 0.3 = 0.027</a:t>
                      </a:r>
                      <a:endParaRPr>
                        <a:latin typeface="Nunito"/>
                        <a:ea typeface="Nunito"/>
                        <a:cs typeface="Nunito"/>
                        <a:sym typeface="Nunito"/>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tcPr>
                </a:tc>
                <a:tc>
                  <a:txBody>
                    <a:bodyPr/>
                    <a:lstStyle/>
                    <a:p>
                      <a:pPr indent="0" lvl="0" marL="0" rtl="0" algn="l">
                        <a:spcBef>
                          <a:spcPts val="0"/>
                        </a:spcBef>
                        <a:spcAft>
                          <a:spcPts val="0"/>
                        </a:spcAft>
                        <a:buNone/>
                      </a:pPr>
                      <a:r>
                        <a:rPr lang="el">
                          <a:latin typeface="Nunito"/>
                          <a:ea typeface="Nunito"/>
                          <a:cs typeface="Nunito"/>
                          <a:sym typeface="Nunito"/>
                        </a:rPr>
                        <a:t>Wrong</a:t>
                      </a:r>
                      <a:endParaRPr>
                        <a:latin typeface="Nunito"/>
                        <a:ea typeface="Nunito"/>
                        <a:cs typeface="Nunito"/>
                        <a:sym typeface="Nunito"/>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tcPr>
                </a:tc>
              </a:tr>
            </a:tbl>
          </a:graphicData>
        </a:graphic>
      </p:graphicFrame>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6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Why does ensembling work?</a:t>
            </a:r>
            <a:endParaRPr/>
          </a:p>
        </p:txBody>
      </p:sp>
      <p:sp>
        <p:nvSpPr>
          <p:cNvPr id="459" name="Google Shape;459;p69"/>
          <p:cNvSpPr txBox="1"/>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Clr>
                <a:srgbClr val="CCCCCC"/>
              </a:buClr>
              <a:buSzPts val="1800"/>
              <a:buFont typeface="Nunito"/>
              <a:buChar char="●"/>
            </a:pPr>
            <a:r>
              <a:rPr lang="el" sz="1800">
                <a:solidFill>
                  <a:srgbClr val="CCCCCC"/>
                </a:solidFill>
                <a:latin typeface="Nunito"/>
                <a:ea typeface="Nunito"/>
                <a:cs typeface="Nunito"/>
                <a:sym typeface="Nunito"/>
              </a:rPr>
              <a:t>3 models, each with 70% accuracy</a:t>
            </a:r>
            <a:endParaRPr sz="1800">
              <a:solidFill>
                <a:srgbClr val="CCCCCC"/>
              </a:solidFill>
              <a:latin typeface="Nunito"/>
              <a:ea typeface="Nunito"/>
              <a:cs typeface="Nunito"/>
              <a:sym typeface="Nunito"/>
            </a:endParaRPr>
          </a:p>
          <a:p>
            <a:pPr indent="-342900" lvl="0" marL="457200" rtl="0" algn="l">
              <a:lnSpc>
                <a:spcPct val="115000"/>
              </a:lnSpc>
              <a:spcBef>
                <a:spcPts val="0"/>
              </a:spcBef>
              <a:spcAft>
                <a:spcPts val="0"/>
              </a:spcAft>
              <a:buClr>
                <a:srgbClr val="CCCCCC"/>
              </a:buClr>
              <a:buSzPts val="1800"/>
              <a:buFont typeface="Nunito"/>
              <a:buChar char="●"/>
            </a:pPr>
            <a:r>
              <a:rPr lang="el" sz="1800">
                <a:solidFill>
                  <a:srgbClr val="CCCCCC"/>
                </a:solidFill>
                <a:latin typeface="Nunito"/>
                <a:ea typeface="Nunito"/>
                <a:cs typeface="Nunito"/>
                <a:sym typeface="Nunito"/>
              </a:rPr>
              <a:t>Ensemble is correct if at least 2 models are correct</a:t>
            </a:r>
            <a:endParaRPr sz="1800">
              <a:solidFill>
                <a:srgbClr val="CCCCCC"/>
              </a:solidFill>
              <a:latin typeface="Nunito"/>
              <a:ea typeface="Nunito"/>
              <a:cs typeface="Nunito"/>
              <a:sym typeface="Nunito"/>
            </a:endParaRPr>
          </a:p>
          <a:p>
            <a:pPr indent="-342900" lvl="0" marL="457200" rtl="0" algn="l">
              <a:lnSpc>
                <a:spcPct val="115000"/>
              </a:lnSpc>
              <a:spcBef>
                <a:spcPts val="0"/>
              </a:spcBef>
              <a:spcAft>
                <a:spcPts val="0"/>
              </a:spcAft>
              <a:buSzPts val="1800"/>
              <a:buFont typeface="Nunito"/>
              <a:buChar char="●"/>
            </a:pPr>
            <a:r>
              <a:rPr lang="el" sz="1800">
                <a:latin typeface="Nunito"/>
                <a:ea typeface="Nunito"/>
                <a:cs typeface="Nunito"/>
                <a:sym typeface="Nunito"/>
              </a:rPr>
              <a:t>Probability at least 2 models are correct: 34.3% + 44.1% = 78.4%</a:t>
            </a:r>
            <a:endParaRPr sz="1800">
              <a:latin typeface="Nunito"/>
              <a:ea typeface="Nunito"/>
              <a:cs typeface="Nunito"/>
              <a:sym typeface="Nunito"/>
            </a:endParaRPr>
          </a:p>
        </p:txBody>
      </p:sp>
      <p:graphicFrame>
        <p:nvGraphicFramePr>
          <p:cNvPr id="460" name="Google Shape;460;p69"/>
          <p:cNvGraphicFramePr/>
          <p:nvPr/>
        </p:nvGraphicFramePr>
        <p:xfrm>
          <a:off x="1039725" y="2686900"/>
          <a:ext cx="3000000" cy="3000000"/>
        </p:xfrm>
        <a:graphic>
          <a:graphicData uri="http://schemas.openxmlformats.org/drawingml/2006/table">
            <a:tbl>
              <a:tblPr>
                <a:noFill/>
                <a:tableStyleId>{5BCA6783-9D1B-475B-B446-B2AFDC278119}</a:tableStyleId>
              </a:tblPr>
              <a:tblGrid>
                <a:gridCol w="2115650"/>
                <a:gridCol w="2594025"/>
                <a:gridCol w="2354850"/>
              </a:tblGrid>
              <a:tr h="535775">
                <a:tc>
                  <a:txBody>
                    <a:bodyPr/>
                    <a:lstStyle/>
                    <a:p>
                      <a:pPr indent="0" lvl="0" marL="0" rtl="0" algn="l">
                        <a:spcBef>
                          <a:spcPts val="0"/>
                        </a:spcBef>
                        <a:spcAft>
                          <a:spcPts val="0"/>
                        </a:spcAft>
                        <a:buNone/>
                      </a:pPr>
                      <a:r>
                        <a:rPr b="1" lang="el" sz="1600">
                          <a:latin typeface="Nunito"/>
                          <a:ea typeface="Nunito"/>
                          <a:cs typeface="Nunito"/>
                          <a:sym typeface="Nunito"/>
                        </a:rPr>
                        <a:t>Outputs of 3 models</a:t>
                      </a:r>
                      <a:endParaRPr b="1" sz="1600">
                        <a:latin typeface="Nunito"/>
                        <a:ea typeface="Nunito"/>
                        <a:cs typeface="Nunito"/>
                        <a:sym typeface="Nunito"/>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tcPr>
                </a:tc>
                <a:tc>
                  <a:txBody>
                    <a:bodyPr/>
                    <a:lstStyle/>
                    <a:p>
                      <a:pPr indent="0" lvl="0" marL="0" rtl="0" algn="l">
                        <a:spcBef>
                          <a:spcPts val="0"/>
                        </a:spcBef>
                        <a:spcAft>
                          <a:spcPts val="0"/>
                        </a:spcAft>
                        <a:buNone/>
                      </a:pPr>
                      <a:r>
                        <a:rPr b="1" lang="el" sz="1600">
                          <a:latin typeface="Nunito"/>
                          <a:ea typeface="Nunito"/>
                          <a:cs typeface="Nunito"/>
                          <a:sym typeface="Nunito"/>
                        </a:rPr>
                        <a:t>Probability</a:t>
                      </a:r>
                      <a:endParaRPr b="1" sz="1600">
                        <a:latin typeface="Nunito"/>
                        <a:ea typeface="Nunito"/>
                        <a:cs typeface="Nunito"/>
                        <a:sym typeface="Nunito"/>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tcPr>
                </a:tc>
                <a:tc>
                  <a:txBody>
                    <a:bodyPr/>
                    <a:lstStyle/>
                    <a:p>
                      <a:pPr indent="0" lvl="0" marL="0" rtl="0" algn="l">
                        <a:spcBef>
                          <a:spcPts val="0"/>
                        </a:spcBef>
                        <a:spcAft>
                          <a:spcPts val="0"/>
                        </a:spcAft>
                        <a:buNone/>
                      </a:pPr>
                      <a:r>
                        <a:rPr b="1" lang="el" sz="1600">
                          <a:latin typeface="Nunito"/>
                          <a:ea typeface="Nunito"/>
                          <a:cs typeface="Nunito"/>
                          <a:sym typeface="Nunito"/>
                        </a:rPr>
                        <a:t>Ensemble’s output</a:t>
                      </a:r>
                      <a:endParaRPr b="1" sz="1600">
                        <a:latin typeface="Nunito"/>
                        <a:ea typeface="Nunito"/>
                        <a:cs typeface="Nunito"/>
                        <a:sym typeface="Nunito"/>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tcPr>
                </a:tc>
              </a:tr>
              <a:tr h="330175">
                <a:tc>
                  <a:txBody>
                    <a:bodyPr/>
                    <a:lstStyle/>
                    <a:p>
                      <a:pPr indent="0" lvl="0" marL="0" rtl="0" algn="l">
                        <a:spcBef>
                          <a:spcPts val="0"/>
                        </a:spcBef>
                        <a:spcAft>
                          <a:spcPts val="0"/>
                        </a:spcAft>
                        <a:buNone/>
                      </a:pPr>
                      <a:r>
                        <a:rPr lang="el">
                          <a:latin typeface="Nunito"/>
                          <a:ea typeface="Nunito"/>
                          <a:cs typeface="Nunito"/>
                          <a:sym typeface="Nunito"/>
                        </a:rPr>
                        <a:t>All 3 are correct</a:t>
                      </a:r>
                      <a:endParaRPr>
                        <a:latin typeface="Nunito"/>
                        <a:ea typeface="Nunito"/>
                        <a:cs typeface="Nunito"/>
                        <a:sym typeface="Nunito"/>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tcPr>
                </a:tc>
                <a:tc>
                  <a:txBody>
                    <a:bodyPr/>
                    <a:lstStyle/>
                    <a:p>
                      <a:pPr indent="0" lvl="0" marL="0" rtl="0" algn="l">
                        <a:spcBef>
                          <a:spcPts val="0"/>
                        </a:spcBef>
                        <a:spcAft>
                          <a:spcPts val="0"/>
                        </a:spcAft>
                        <a:buNone/>
                      </a:pPr>
                      <a:r>
                        <a:rPr lang="el">
                          <a:latin typeface="Nunito"/>
                          <a:ea typeface="Nunito"/>
                          <a:cs typeface="Nunito"/>
                          <a:sym typeface="Nunito"/>
                        </a:rPr>
                        <a:t>0.7 * 0.7 * 0.7 = 0.343</a:t>
                      </a:r>
                      <a:endParaRPr>
                        <a:latin typeface="Nunito"/>
                        <a:ea typeface="Nunito"/>
                        <a:cs typeface="Nunito"/>
                        <a:sym typeface="Nunito"/>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tcPr>
                </a:tc>
                <a:tc>
                  <a:txBody>
                    <a:bodyPr/>
                    <a:lstStyle/>
                    <a:p>
                      <a:pPr indent="0" lvl="0" marL="0" rtl="0" algn="l">
                        <a:spcBef>
                          <a:spcPts val="0"/>
                        </a:spcBef>
                        <a:spcAft>
                          <a:spcPts val="0"/>
                        </a:spcAft>
                        <a:buNone/>
                      </a:pPr>
                      <a:r>
                        <a:rPr lang="el">
                          <a:latin typeface="Nunito"/>
                          <a:ea typeface="Nunito"/>
                          <a:cs typeface="Nunito"/>
                          <a:sym typeface="Nunito"/>
                        </a:rPr>
                        <a:t>Correct</a:t>
                      </a:r>
                      <a:endParaRPr>
                        <a:latin typeface="Nunito"/>
                        <a:ea typeface="Nunito"/>
                        <a:cs typeface="Nunito"/>
                        <a:sym typeface="Nunito"/>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tcPr>
                </a:tc>
              </a:tr>
              <a:tr h="330175">
                <a:tc>
                  <a:txBody>
                    <a:bodyPr/>
                    <a:lstStyle/>
                    <a:p>
                      <a:pPr indent="0" lvl="0" marL="0" rtl="0" algn="l">
                        <a:spcBef>
                          <a:spcPts val="0"/>
                        </a:spcBef>
                        <a:spcAft>
                          <a:spcPts val="0"/>
                        </a:spcAft>
                        <a:buNone/>
                      </a:pPr>
                      <a:r>
                        <a:rPr lang="el">
                          <a:latin typeface="Nunito"/>
                          <a:ea typeface="Nunito"/>
                          <a:cs typeface="Nunito"/>
                          <a:sym typeface="Nunito"/>
                        </a:rPr>
                        <a:t>Only 2 are correct</a:t>
                      </a:r>
                      <a:endParaRPr>
                        <a:latin typeface="Nunito"/>
                        <a:ea typeface="Nunito"/>
                        <a:cs typeface="Nunito"/>
                        <a:sym typeface="Nunito"/>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tcPr>
                </a:tc>
                <a:tc>
                  <a:txBody>
                    <a:bodyPr/>
                    <a:lstStyle/>
                    <a:p>
                      <a:pPr indent="0" lvl="0" marL="0" rtl="0" algn="l">
                        <a:spcBef>
                          <a:spcPts val="0"/>
                        </a:spcBef>
                        <a:spcAft>
                          <a:spcPts val="0"/>
                        </a:spcAft>
                        <a:buNone/>
                      </a:pPr>
                      <a:r>
                        <a:rPr lang="el">
                          <a:latin typeface="Nunito"/>
                          <a:ea typeface="Nunito"/>
                          <a:cs typeface="Nunito"/>
                          <a:sym typeface="Nunito"/>
                        </a:rPr>
                        <a:t>(0.7 * 0.7 * 0.3) * 3 = 0.441</a:t>
                      </a:r>
                      <a:endParaRPr>
                        <a:latin typeface="Nunito"/>
                        <a:ea typeface="Nunito"/>
                        <a:cs typeface="Nunito"/>
                        <a:sym typeface="Nunito"/>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tcPr>
                </a:tc>
                <a:tc>
                  <a:txBody>
                    <a:bodyPr/>
                    <a:lstStyle/>
                    <a:p>
                      <a:pPr indent="0" lvl="0" marL="0" rtl="0" algn="l">
                        <a:spcBef>
                          <a:spcPts val="0"/>
                        </a:spcBef>
                        <a:spcAft>
                          <a:spcPts val="0"/>
                        </a:spcAft>
                        <a:buNone/>
                      </a:pPr>
                      <a:r>
                        <a:rPr lang="el">
                          <a:latin typeface="Nunito"/>
                          <a:ea typeface="Nunito"/>
                          <a:cs typeface="Nunito"/>
                          <a:sym typeface="Nunito"/>
                        </a:rPr>
                        <a:t>Correct</a:t>
                      </a:r>
                      <a:endParaRPr>
                        <a:latin typeface="Nunito"/>
                        <a:ea typeface="Nunito"/>
                        <a:cs typeface="Nunito"/>
                        <a:sym typeface="Nunito"/>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tcPr>
                </a:tc>
              </a:tr>
              <a:tr h="330175">
                <a:tc>
                  <a:txBody>
                    <a:bodyPr/>
                    <a:lstStyle/>
                    <a:p>
                      <a:pPr indent="0" lvl="0" marL="0" rtl="0" algn="l">
                        <a:spcBef>
                          <a:spcPts val="0"/>
                        </a:spcBef>
                        <a:spcAft>
                          <a:spcPts val="0"/>
                        </a:spcAft>
                        <a:buNone/>
                      </a:pPr>
                      <a:r>
                        <a:rPr lang="el">
                          <a:latin typeface="Nunito"/>
                          <a:ea typeface="Nunito"/>
                          <a:cs typeface="Nunito"/>
                          <a:sym typeface="Nunito"/>
                        </a:rPr>
                        <a:t>Only 1 is correct</a:t>
                      </a:r>
                      <a:endParaRPr>
                        <a:latin typeface="Nunito"/>
                        <a:ea typeface="Nunito"/>
                        <a:cs typeface="Nunito"/>
                        <a:sym typeface="Nunito"/>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tcPr>
                </a:tc>
                <a:tc>
                  <a:txBody>
                    <a:bodyPr/>
                    <a:lstStyle/>
                    <a:p>
                      <a:pPr indent="0" lvl="0" marL="0" rtl="0" algn="l">
                        <a:spcBef>
                          <a:spcPts val="0"/>
                        </a:spcBef>
                        <a:spcAft>
                          <a:spcPts val="0"/>
                        </a:spcAft>
                        <a:buNone/>
                      </a:pPr>
                      <a:r>
                        <a:rPr lang="el">
                          <a:latin typeface="Nunito"/>
                          <a:ea typeface="Nunito"/>
                          <a:cs typeface="Nunito"/>
                          <a:sym typeface="Nunito"/>
                        </a:rPr>
                        <a:t>(0.3 * 0.3 * 0.7) * 3 = 0.189</a:t>
                      </a:r>
                      <a:endParaRPr>
                        <a:latin typeface="Nunito"/>
                        <a:ea typeface="Nunito"/>
                        <a:cs typeface="Nunito"/>
                        <a:sym typeface="Nunito"/>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tcPr>
                </a:tc>
                <a:tc>
                  <a:txBody>
                    <a:bodyPr/>
                    <a:lstStyle/>
                    <a:p>
                      <a:pPr indent="0" lvl="0" marL="0" rtl="0" algn="l">
                        <a:spcBef>
                          <a:spcPts val="0"/>
                        </a:spcBef>
                        <a:spcAft>
                          <a:spcPts val="0"/>
                        </a:spcAft>
                        <a:buNone/>
                      </a:pPr>
                      <a:r>
                        <a:rPr lang="el">
                          <a:latin typeface="Nunito"/>
                          <a:ea typeface="Nunito"/>
                          <a:cs typeface="Nunito"/>
                          <a:sym typeface="Nunito"/>
                        </a:rPr>
                        <a:t>Wrong</a:t>
                      </a:r>
                      <a:endParaRPr>
                        <a:latin typeface="Nunito"/>
                        <a:ea typeface="Nunito"/>
                        <a:cs typeface="Nunito"/>
                        <a:sym typeface="Nunito"/>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tcPr>
                </a:tc>
              </a:tr>
              <a:tr h="330175">
                <a:tc>
                  <a:txBody>
                    <a:bodyPr/>
                    <a:lstStyle/>
                    <a:p>
                      <a:pPr indent="0" lvl="0" marL="0" rtl="0" algn="l">
                        <a:spcBef>
                          <a:spcPts val="0"/>
                        </a:spcBef>
                        <a:spcAft>
                          <a:spcPts val="0"/>
                        </a:spcAft>
                        <a:buNone/>
                      </a:pPr>
                      <a:r>
                        <a:rPr lang="el">
                          <a:latin typeface="Nunito"/>
                          <a:ea typeface="Nunito"/>
                          <a:cs typeface="Nunito"/>
                          <a:sym typeface="Nunito"/>
                        </a:rPr>
                        <a:t>None is correct</a:t>
                      </a:r>
                      <a:endParaRPr>
                        <a:latin typeface="Nunito"/>
                        <a:ea typeface="Nunito"/>
                        <a:cs typeface="Nunito"/>
                        <a:sym typeface="Nunito"/>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tcPr>
                </a:tc>
                <a:tc>
                  <a:txBody>
                    <a:bodyPr/>
                    <a:lstStyle/>
                    <a:p>
                      <a:pPr indent="0" lvl="0" marL="0" rtl="0" algn="l">
                        <a:spcBef>
                          <a:spcPts val="0"/>
                        </a:spcBef>
                        <a:spcAft>
                          <a:spcPts val="0"/>
                        </a:spcAft>
                        <a:buNone/>
                      </a:pPr>
                      <a:r>
                        <a:rPr lang="el">
                          <a:latin typeface="Nunito"/>
                          <a:ea typeface="Nunito"/>
                          <a:cs typeface="Nunito"/>
                          <a:sym typeface="Nunito"/>
                        </a:rPr>
                        <a:t>0.3 * 0.3 * 0.3 = 0.027</a:t>
                      </a:r>
                      <a:endParaRPr>
                        <a:latin typeface="Nunito"/>
                        <a:ea typeface="Nunito"/>
                        <a:cs typeface="Nunito"/>
                        <a:sym typeface="Nunito"/>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tcPr>
                </a:tc>
                <a:tc>
                  <a:txBody>
                    <a:bodyPr/>
                    <a:lstStyle/>
                    <a:p>
                      <a:pPr indent="0" lvl="0" marL="0" rtl="0" algn="l">
                        <a:spcBef>
                          <a:spcPts val="0"/>
                        </a:spcBef>
                        <a:spcAft>
                          <a:spcPts val="0"/>
                        </a:spcAft>
                        <a:buNone/>
                      </a:pPr>
                      <a:r>
                        <a:rPr lang="el">
                          <a:latin typeface="Nunito"/>
                          <a:ea typeface="Nunito"/>
                          <a:cs typeface="Nunito"/>
                          <a:sym typeface="Nunito"/>
                        </a:rPr>
                        <a:t>Wrong</a:t>
                      </a:r>
                      <a:endParaRPr>
                        <a:latin typeface="Nunito"/>
                        <a:ea typeface="Nunito"/>
                        <a:cs typeface="Nunito"/>
                        <a:sym typeface="Nunito"/>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tcPr>
                </a:tc>
              </a:tr>
            </a:tbl>
          </a:graphicData>
        </a:graphic>
      </p:graphicFrame>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4" name="Shape 464"/>
        <p:cNvGrpSpPr/>
        <p:nvPr/>
      </p:nvGrpSpPr>
      <p:grpSpPr>
        <a:xfrm>
          <a:off x="0" y="0"/>
          <a:ext cx="0" cy="0"/>
          <a:chOff x="0" y="0"/>
          <a:chExt cx="0" cy="0"/>
        </a:xfrm>
      </p:grpSpPr>
      <p:sp>
        <p:nvSpPr>
          <p:cNvPr id="465" name="Google Shape;465;p7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Why does ensembling work?</a:t>
            </a:r>
            <a:endParaRPr/>
          </a:p>
        </p:txBody>
      </p:sp>
      <p:sp>
        <p:nvSpPr>
          <p:cNvPr id="466" name="Google Shape;466;p70"/>
          <p:cNvSpPr txBox="1"/>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Clr>
                <a:srgbClr val="CCCCCC"/>
              </a:buClr>
              <a:buSzPts val="1800"/>
              <a:buFont typeface="Nunito"/>
              <a:buChar char="●"/>
            </a:pPr>
            <a:r>
              <a:rPr lang="el" sz="1800">
                <a:solidFill>
                  <a:srgbClr val="CCCCCC"/>
                </a:solidFill>
                <a:latin typeface="Nunito"/>
                <a:ea typeface="Nunito"/>
                <a:cs typeface="Nunito"/>
                <a:sym typeface="Nunito"/>
              </a:rPr>
              <a:t>3 models, each with 70% accuracy</a:t>
            </a:r>
            <a:endParaRPr sz="1800">
              <a:solidFill>
                <a:srgbClr val="CCCCCC"/>
              </a:solidFill>
              <a:latin typeface="Nunito"/>
              <a:ea typeface="Nunito"/>
              <a:cs typeface="Nunito"/>
              <a:sym typeface="Nunito"/>
            </a:endParaRPr>
          </a:p>
          <a:p>
            <a:pPr indent="-342900" lvl="0" marL="457200" rtl="0" algn="l">
              <a:lnSpc>
                <a:spcPct val="115000"/>
              </a:lnSpc>
              <a:spcBef>
                <a:spcPts val="0"/>
              </a:spcBef>
              <a:spcAft>
                <a:spcPts val="0"/>
              </a:spcAft>
              <a:buClr>
                <a:srgbClr val="CCCCCC"/>
              </a:buClr>
              <a:buSzPts val="1800"/>
              <a:buFont typeface="Nunito"/>
              <a:buChar char="●"/>
            </a:pPr>
            <a:r>
              <a:rPr lang="el" sz="1800">
                <a:solidFill>
                  <a:srgbClr val="CCCCCC"/>
                </a:solidFill>
                <a:latin typeface="Nunito"/>
                <a:ea typeface="Nunito"/>
                <a:cs typeface="Nunito"/>
                <a:sym typeface="Nunito"/>
              </a:rPr>
              <a:t>Ensemble is correct if at least 2 models are correct</a:t>
            </a:r>
            <a:endParaRPr sz="1800">
              <a:solidFill>
                <a:srgbClr val="CCCCCC"/>
              </a:solidFill>
              <a:latin typeface="Nunito"/>
              <a:ea typeface="Nunito"/>
              <a:cs typeface="Nunito"/>
              <a:sym typeface="Nunito"/>
            </a:endParaRPr>
          </a:p>
          <a:p>
            <a:pPr indent="-342900" lvl="0" marL="457200" rtl="0" algn="l">
              <a:lnSpc>
                <a:spcPct val="115000"/>
              </a:lnSpc>
              <a:spcBef>
                <a:spcPts val="0"/>
              </a:spcBef>
              <a:spcAft>
                <a:spcPts val="0"/>
              </a:spcAft>
              <a:buSzPts val="1800"/>
              <a:buFont typeface="Nunito"/>
              <a:buChar char="●"/>
            </a:pPr>
            <a:r>
              <a:rPr lang="el" sz="1800">
                <a:latin typeface="Nunito"/>
                <a:ea typeface="Nunito"/>
                <a:cs typeface="Nunito"/>
                <a:sym typeface="Nunito"/>
              </a:rPr>
              <a:t>Probability at least 2 models are correct: 34.3% + 44.1% = 78.4%</a:t>
            </a:r>
            <a:endParaRPr sz="1800">
              <a:latin typeface="Nunito"/>
              <a:ea typeface="Nunito"/>
              <a:cs typeface="Nunito"/>
              <a:sym typeface="Nunito"/>
            </a:endParaRPr>
          </a:p>
        </p:txBody>
      </p:sp>
      <p:sp>
        <p:nvSpPr>
          <p:cNvPr id="467" name="Google Shape;467;p70"/>
          <p:cNvSpPr txBox="1"/>
          <p:nvPr/>
        </p:nvSpPr>
        <p:spPr>
          <a:xfrm>
            <a:off x="1595675" y="3126350"/>
            <a:ext cx="6355500" cy="714300"/>
          </a:xfrm>
          <a:prstGeom prst="rect">
            <a:avLst/>
          </a:prstGeom>
          <a:noFill/>
          <a:ln>
            <a:noFill/>
          </a:ln>
        </p:spPr>
        <p:txBody>
          <a:bodyPr anchorCtr="0" anchor="t" bIns="91425" lIns="91425" spcFirstLastPara="1" rIns="91425" wrap="square" tIns="91425">
            <a:spAutoFit/>
          </a:bodyPr>
          <a:lstStyle/>
          <a:p>
            <a:pPr indent="-330200" lvl="0" marL="457200" rtl="0" algn="l">
              <a:lnSpc>
                <a:spcPct val="115000"/>
              </a:lnSpc>
              <a:spcBef>
                <a:spcPts val="0"/>
              </a:spcBef>
              <a:spcAft>
                <a:spcPts val="0"/>
              </a:spcAft>
              <a:buClr>
                <a:srgbClr val="FF00FF"/>
              </a:buClr>
              <a:buSzPts val="1600"/>
              <a:buFont typeface="Nunito"/>
              <a:buChar char="●"/>
            </a:pPr>
            <a:r>
              <a:rPr lang="el" sz="1600">
                <a:solidFill>
                  <a:srgbClr val="FF00FF"/>
                </a:solidFill>
                <a:latin typeface="Nunito"/>
                <a:ea typeface="Nunito"/>
                <a:cs typeface="Nunito"/>
                <a:sym typeface="Nunito"/>
              </a:rPr>
              <a:t>The less correlation among base learners, the better</a:t>
            </a:r>
            <a:endParaRPr sz="1600">
              <a:solidFill>
                <a:srgbClr val="FF00FF"/>
              </a:solidFill>
              <a:latin typeface="Nunito"/>
              <a:ea typeface="Nunito"/>
              <a:cs typeface="Nunito"/>
              <a:sym typeface="Nunito"/>
            </a:endParaRPr>
          </a:p>
          <a:p>
            <a:pPr indent="-330200" lvl="0" marL="457200" rtl="0" algn="l">
              <a:lnSpc>
                <a:spcPct val="115000"/>
              </a:lnSpc>
              <a:spcBef>
                <a:spcPts val="0"/>
              </a:spcBef>
              <a:spcAft>
                <a:spcPts val="0"/>
              </a:spcAft>
              <a:buClr>
                <a:srgbClr val="FF00FF"/>
              </a:buClr>
              <a:buSzPts val="1600"/>
              <a:buFont typeface="Nunito"/>
              <a:buChar char="●"/>
            </a:pPr>
            <a:r>
              <a:rPr lang="el" sz="1600">
                <a:solidFill>
                  <a:srgbClr val="FF00FF"/>
                </a:solidFill>
                <a:latin typeface="Nunito"/>
                <a:ea typeface="Nunito"/>
                <a:cs typeface="Nunito"/>
                <a:sym typeface="Nunito"/>
              </a:rPr>
              <a:t>Common for base learners to have different architectures</a:t>
            </a:r>
            <a:endParaRPr sz="1600">
              <a:solidFill>
                <a:srgbClr val="FF00FF"/>
              </a:solidFill>
              <a:latin typeface="Nunito"/>
              <a:ea typeface="Nunito"/>
              <a:cs typeface="Nunito"/>
              <a:sym typeface="Nunito"/>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p7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Takeaway on Model Selection.</a:t>
            </a:r>
            <a:endParaRPr/>
          </a:p>
        </p:txBody>
      </p:sp>
      <p:sp>
        <p:nvSpPr>
          <p:cNvPr id="473" name="Google Shape;473;p71"/>
          <p:cNvSpPr txBox="1"/>
          <p:nvPr/>
        </p:nvSpPr>
        <p:spPr>
          <a:xfrm>
            <a:off x="547800" y="1859100"/>
            <a:ext cx="8284500" cy="2283600"/>
          </a:xfrm>
          <a:prstGeom prst="rect">
            <a:avLst/>
          </a:prstGeom>
          <a:noFill/>
          <a:ln>
            <a:noFill/>
          </a:ln>
        </p:spPr>
        <p:txBody>
          <a:bodyPr anchorCtr="0" anchor="t" bIns="91425" lIns="91425" spcFirstLastPara="1" rIns="91425" wrap="square" tIns="91425">
            <a:noAutofit/>
          </a:bodyPr>
          <a:lstStyle/>
          <a:p>
            <a:pPr indent="-330200" lvl="0" marL="457200" rtl="0" algn="l">
              <a:lnSpc>
                <a:spcPct val="115000"/>
              </a:lnSpc>
              <a:spcBef>
                <a:spcPts val="0"/>
              </a:spcBef>
              <a:spcAft>
                <a:spcPts val="0"/>
              </a:spcAft>
              <a:buSzPts val="1600"/>
              <a:buChar char="●"/>
            </a:pPr>
            <a:r>
              <a:rPr lang="el" sz="1600"/>
              <a:t>Start simple and scale up until you reach your performance goal</a:t>
            </a:r>
            <a:endParaRPr sz="1600"/>
          </a:p>
          <a:p>
            <a:pPr indent="-330200" lvl="0" marL="457200" rtl="0" algn="l">
              <a:lnSpc>
                <a:spcPct val="115000"/>
              </a:lnSpc>
              <a:spcBef>
                <a:spcPts val="0"/>
              </a:spcBef>
              <a:spcAft>
                <a:spcPts val="0"/>
              </a:spcAft>
              <a:buSzPts val="1600"/>
              <a:buChar char="●"/>
            </a:pPr>
            <a:r>
              <a:rPr lang="el" sz="1600"/>
              <a:t>Do not fall for the “hype” on social media and the State-of-the-art research performance</a:t>
            </a:r>
            <a:endParaRPr sz="1600"/>
          </a:p>
          <a:p>
            <a:pPr indent="-330200" lvl="0" marL="457200" rtl="0" algn="l">
              <a:lnSpc>
                <a:spcPct val="115000"/>
              </a:lnSpc>
              <a:spcBef>
                <a:spcPts val="0"/>
              </a:spcBef>
              <a:spcAft>
                <a:spcPts val="0"/>
              </a:spcAft>
              <a:buSzPts val="1600"/>
              <a:buChar char="●"/>
            </a:pPr>
            <a:r>
              <a:rPr lang="el" sz="1600"/>
              <a:t>Trust what works</a:t>
            </a:r>
            <a:endParaRPr sz="1600"/>
          </a:p>
          <a:p>
            <a:pPr indent="-330200" lvl="1" marL="914400" rtl="0" algn="l">
              <a:lnSpc>
                <a:spcPct val="115000"/>
              </a:lnSpc>
              <a:spcBef>
                <a:spcPts val="0"/>
              </a:spcBef>
              <a:spcAft>
                <a:spcPts val="0"/>
              </a:spcAft>
              <a:buSzPts val="1600"/>
              <a:buChar char="○"/>
            </a:pPr>
            <a:r>
              <a:rPr lang="el" sz="1600"/>
              <a:t>Gradient Boosted Decision Trees (GBDTs) on Tabular Data</a:t>
            </a:r>
            <a:endParaRPr sz="1600"/>
          </a:p>
          <a:p>
            <a:pPr indent="-330200" lvl="1" marL="914400" rtl="0" algn="l">
              <a:lnSpc>
                <a:spcPct val="115000"/>
              </a:lnSpc>
              <a:spcBef>
                <a:spcPts val="0"/>
              </a:spcBef>
              <a:spcAft>
                <a:spcPts val="0"/>
              </a:spcAft>
              <a:buSzPts val="1600"/>
              <a:buChar char="○"/>
            </a:pPr>
            <a:r>
              <a:rPr lang="el" sz="1600"/>
              <a:t>Pretrained Models from Hugging face for structured tasks</a:t>
            </a:r>
            <a:endParaRPr sz="1600"/>
          </a:p>
          <a:p>
            <a:pPr indent="-330200" lvl="0" marL="457200" rtl="0" algn="l">
              <a:lnSpc>
                <a:spcPct val="115000"/>
              </a:lnSpc>
              <a:spcBef>
                <a:spcPts val="0"/>
              </a:spcBef>
              <a:spcAft>
                <a:spcPts val="0"/>
              </a:spcAft>
              <a:buSzPts val="1600"/>
              <a:buChar char="●"/>
            </a:pPr>
            <a:r>
              <a:rPr lang="el" sz="1600"/>
              <a:t>Ensemble your models.</a:t>
            </a:r>
            <a:endParaRPr sz="1600"/>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72"/>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l"/>
              <a:t>Time for discussion!</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7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An exercise!</a:t>
            </a:r>
            <a:endParaRPr/>
          </a:p>
        </p:txBody>
      </p:sp>
      <p:sp>
        <p:nvSpPr>
          <p:cNvPr id="484" name="Google Shape;484;p73"/>
          <p:cNvSpPr txBox="1"/>
          <p:nvPr/>
        </p:nvSpPr>
        <p:spPr>
          <a:xfrm>
            <a:off x="311700" y="1090375"/>
            <a:ext cx="8520600" cy="3966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l" sz="1800">
                <a:latin typeface="Nunito"/>
                <a:ea typeface="Nunito"/>
                <a:cs typeface="Nunito"/>
                <a:sym typeface="Nunito"/>
              </a:rPr>
              <a:t>Duolingo is a platform for language learning. When a student is learning a new language, Duolingo wants to recommend increasingly difficult stories to read.</a:t>
            </a:r>
            <a:endParaRPr sz="1800">
              <a:latin typeface="Nunito"/>
              <a:ea typeface="Nunito"/>
              <a:cs typeface="Nunito"/>
              <a:sym typeface="Nunito"/>
            </a:endParaRPr>
          </a:p>
          <a:p>
            <a:pPr indent="-336550" lvl="0" marL="457200" rtl="0" algn="l">
              <a:lnSpc>
                <a:spcPct val="115000"/>
              </a:lnSpc>
              <a:spcBef>
                <a:spcPts val="1600"/>
              </a:spcBef>
              <a:spcAft>
                <a:spcPts val="0"/>
              </a:spcAft>
              <a:buClr>
                <a:srgbClr val="000000"/>
              </a:buClr>
              <a:buSzPts val="1700"/>
              <a:buFont typeface="Nunito"/>
              <a:buAutoNum type="arabicPeriod"/>
            </a:pPr>
            <a:r>
              <a:rPr lang="el" sz="1800">
                <a:latin typeface="Nunito"/>
                <a:ea typeface="Nunito"/>
                <a:cs typeface="Nunito"/>
                <a:sym typeface="Nunito"/>
              </a:rPr>
              <a:t>What features would you use to measure the difficulty level of a story?</a:t>
            </a:r>
            <a:endParaRPr sz="1800">
              <a:latin typeface="Nunito"/>
              <a:ea typeface="Nunito"/>
              <a:cs typeface="Nunito"/>
              <a:sym typeface="Nunito"/>
            </a:endParaRPr>
          </a:p>
          <a:p>
            <a:pPr indent="-323850" lvl="1" marL="914400" rtl="0" algn="l">
              <a:lnSpc>
                <a:spcPct val="115000"/>
              </a:lnSpc>
              <a:spcBef>
                <a:spcPts val="0"/>
              </a:spcBef>
              <a:spcAft>
                <a:spcPts val="0"/>
              </a:spcAft>
              <a:buClr>
                <a:srgbClr val="000000"/>
              </a:buClr>
              <a:buSzPts val="1500"/>
              <a:buFont typeface="Nunito"/>
              <a:buAutoNum type="alphaLcPeriod"/>
            </a:pPr>
            <a:r>
              <a:rPr lang="el" sz="1500">
                <a:latin typeface="Nunito"/>
                <a:ea typeface="Nunito"/>
                <a:cs typeface="Nunito"/>
                <a:sym typeface="Nunito"/>
              </a:rPr>
              <a:t>Hint: Think of a sentence in Dutch with 3 words and another with 20. Which is the most difficult?</a:t>
            </a:r>
            <a:endParaRPr sz="1500">
              <a:latin typeface="Nunito"/>
              <a:ea typeface="Nunito"/>
              <a:cs typeface="Nunito"/>
              <a:sym typeface="Nunito"/>
            </a:endParaRPr>
          </a:p>
          <a:p>
            <a:pPr indent="-323850" lvl="1" marL="914400" rtl="0" algn="l">
              <a:lnSpc>
                <a:spcPct val="115000"/>
              </a:lnSpc>
              <a:spcBef>
                <a:spcPts val="0"/>
              </a:spcBef>
              <a:spcAft>
                <a:spcPts val="0"/>
              </a:spcAft>
              <a:buClr>
                <a:srgbClr val="000000"/>
              </a:buClr>
              <a:buSzPts val="1500"/>
              <a:buFont typeface="Nunito"/>
              <a:buAutoNum type="alphaLcPeriod"/>
            </a:pPr>
            <a:r>
              <a:rPr lang="el" sz="1500">
                <a:latin typeface="Nunito"/>
                <a:ea typeface="Nunito"/>
                <a:cs typeface="Nunito"/>
                <a:sym typeface="Nunito"/>
              </a:rPr>
              <a:t>Do “hard” words appear more or less in a a difficulty story compared to an easy one?</a:t>
            </a:r>
            <a:endParaRPr sz="1500">
              <a:latin typeface="Nunito"/>
              <a:ea typeface="Nunito"/>
              <a:cs typeface="Nunito"/>
              <a:sym typeface="Nunito"/>
            </a:endParaRPr>
          </a:p>
          <a:p>
            <a:pPr indent="-323850" lvl="1" marL="914400" rtl="0" algn="l">
              <a:lnSpc>
                <a:spcPct val="115000"/>
              </a:lnSpc>
              <a:spcBef>
                <a:spcPts val="0"/>
              </a:spcBef>
              <a:spcAft>
                <a:spcPts val="0"/>
              </a:spcAft>
              <a:buClr>
                <a:srgbClr val="000000"/>
              </a:buClr>
              <a:buSzPts val="1500"/>
              <a:buFont typeface="Nunito"/>
              <a:buAutoNum type="alphaLcPeriod"/>
            </a:pPr>
            <a:r>
              <a:rPr lang="el" sz="1500">
                <a:latin typeface="Nunito"/>
                <a:ea typeface="Nunito"/>
                <a:cs typeface="Nunito"/>
                <a:sym typeface="Nunito"/>
              </a:rPr>
              <a:t>How can you measure how hard a sentence is then??</a:t>
            </a:r>
            <a:endParaRPr sz="1500">
              <a:latin typeface="Nunito"/>
              <a:ea typeface="Nunito"/>
              <a:cs typeface="Nunito"/>
              <a:sym typeface="Nunito"/>
            </a:endParaRPr>
          </a:p>
          <a:p>
            <a:pPr indent="-336550" lvl="0" marL="457200" rtl="0" algn="l">
              <a:lnSpc>
                <a:spcPct val="115000"/>
              </a:lnSpc>
              <a:spcBef>
                <a:spcPts val="0"/>
              </a:spcBef>
              <a:spcAft>
                <a:spcPts val="0"/>
              </a:spcAft>
              <a:buClr>
                <a:srgbClr val="000000"/>
              </a:buClr>
              <a:buSzPts val="1700"/>
              <a:buFont typeface="Nunito"/>
              <a:buAutoNum type="arabicPeriod"/>
            </a:pPr>
            <a:r>
              <a:rPr lang="el" sz="1800">
                <a:latin typeface="Nunito"/>
                <a:ea typeface="Nunito"/>
                <a:cs typeface="Nunito"/>
                <a:sym typeface="Nunito"/>
              </a:rPr>
              <a:t>Given a story, how would you edit it to make it easier or more difficult?</a:t>
            </a:r>
            <a:endParaRPr sz="1800">
              <a:latin typeface="Nunito"/>
              <a:ea typeface="Nunito"/>
              <a:cs typeface="Nunito"/>
              <a:sym typeface="Nunito"/>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 name="Shape 488"/>
        <p:cNvGrpSpPr/>
        <p:nvPr/>
      </p:nvGrpSpPr>
      <p:grpSpPr>
        <a:xfrm>
          <a:off x="0" y="0"/>
          <a:ext cx="0" cy="0"/>
          <a:chOff x="0" y="0"/>
          <a:chExt cx="0" cy="0"/>
        </a:xfrm>
      </p:grpSpPr>
      <p:sp>
        <p:nvSpPr>
          <p:cNvPr id="489" name="Google Shape;489;p7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An second exercise!</a:t>
            </a:r>
            <a:endParaRPr/>
          </a:p>
        </p:txBody>
      </p:sp>
      <p:sp>
        <p:nvSpPr>
          <p:cNvPr id="490" name="Google Shape;490;p74"/>
          <p:cNvSpPr txBox="1"/>
          <p:nvPr/>
        </p:nvSpPr>
        <p:spPr>
          <a:xfrm>
            <a:off x="311700" y="1144975"/>
            <a:ext cx="8520600" cy="48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l" sz="2800">
                <a:solidFill>
                  <a:srgbClr val="000000"/>
                </a:solidFill>
                <a:latin typeface="Nunito"/>
                <a:ea typeface="Nunito"/>
                <a:cs typeface="Nunito"/>
                <a:sym typeface="Nunito"/>
              </a:rPr>
              <a:t>What went wrong with Zillow Offers?</a:t>
            </a:r>
            <a:endParaRPr b="1" sz="2800">
              <a:solidFill>
                <a:srgbClr val="000000"/>
              </a:solidFill>
              <a:latin typeface="Nunito"/>
              <a:ea typeface="Nunito"/>
              <a:cs typeface="Nunito"/>
              <a:sym typeface="Nunito"/>
            </a:endParaRPr>
          </a:p>
        </p:txBody>
      </p:sp>
      <p:pic>
        <p:nvPicPr>
          <p:cNvPr id="491" name="Google Shape;491;p74"/>
          <p:cNvPicPr preferRelativeResize="0"/>
          <p:nvPr/>
        </p:nvPicPr>
        <p:blipFill>
          <a:blip r:embed="rId3">
            <a:alphaModFix/>
          </a:blip>
          <a:stretch>
            <a:fillRect/>
          </a:stretch>
        </p:blipFill>
        <p:spPr>
          <a:xfrm>
            <a:off x="1598625" y="1915425"/>
            <a:ext cx="5648453" cy="2094471"/>
          </a:xfrm>
          <a:prstGeom prst="rect">
            <a:avLst/>
          </a:prstGeom>
          <a:noFill/>
          <a:ln>
            <a:noFill/>
          </a:ln>
        </p:spPr>
      </p:pic>
      <p:pic>
        <p:nvPicPr>
          <p:cNvPr id="492" name="Google Shape;492;p74"/>
          <p:cNvPicPr preferRelativeResize="0"/>
          <p:nvPr/>
        </p:nvPicPr>
        <p:blipFill rotWithShape="1">
          <a:blip r:embed="rId4">
            <a:alphaModFix/>
          </a:blip>
          <a:srcRect b="51725" l="0" r="0" t="0"/>
          <a:stretch/>
        </p:blipFill>
        <p:spPr>
          <a:xfrm>
            <a:off x="1770273" y="4061162"/>
            <a:ext cx="5476800" cy="549900"/>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sp>
        <p:nvSpPr>
          <p:cNvPr id="497" name="Google Shape;497;p7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A second exercise!</a:t>
            </a:r>
            <a:endParaRPr/>
          </a:p>
        </p:txBody>
      </p:sp>
      <p:sp>
        <p:nvSpPr>
          <p:cNvPr id="498" name="Google Shape;498;p75"/>
          <p:cNvSpPr txBox="1"/>
          <p:nvPr/>
        </p:nvSpPr>
        <p:spPr>
          <a:xfrm>
            <a:off x="415225" y="1205500"/>
            <a:ext cx="7963200" cy="366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a:t>What was Zillow doing?</a:t>
            </a:r>
            <a:endParaRPr/>
          </a:p>
          <a:p>
            <a:pPr indent="0" lvl="0" marL="0" rtl="0" algn="l">
              <a:spcBef>
                <a:spcPts val="0"/>
              </a:spcBef>
              <a:spcAft>
                <a:spcPts val="0"/>
              </a:spcAft>
              <a:buNone/>
            </a:pPr>
            <a:r>
              <a:t/>
            </a:r>
            <a:endParaRPr/>
          </a:p>
          <a:p>
            <a:pPr indent="0" lvl="0" marL="0" rtl="0" algn="l">
              <a:spcBef>
                <a:spcPts val="0"/>
              </a:spcBef>
              <a:spcAft>
                <a:spcPts val="0"/>
              </a:spcAft>
              <a:buNone/>
            </a:pPr>
            <a:r>
              <a:rPr lang="el"/>
              <a:t>A very big real estate company!</a:t>
            </a:r>
            <a:endParaRPr/>
          </a:p>
          <a:p>
            <a:pPr indent="0" lvl="0" marL="0" rtl="0" algn="l">
              <a:spcBef>
                <a:spcPts val="0"/>
              </a:spcBef>
              <a:spcAft>
                <a:spcPts val="0"/>
              </a:spcAft>
              <a:buNone/>
            </a:pPr>
            <a:r>
              <a:t/>
            </a:r>
            <a:endParaRPr/>
          </a:p>
          <a:p>
            <a:pPr indent="-317500" lvl="0" marL="457200" rtl="0" algn="l">
              <a:spcBef>
                <a:spcPts val="0"/>
              </a:spcBef>
              <a:spcAft>
                <a:spcPts val="0"/>
              </a:spcAft>
              <a:buSzPts val="1400"/>
              <a:buAutoNum type="arabicParenR"/>
            </a:pPr>
            <a:r>
              <a:rPr lang="el"/>
              <a:t>Use ML to predict the future price of houses</a:t>
            </a:r>
            <a:endParaRPr/>
          </a:p>
          <a:p>
            <a:pPr indent="-317500" lvl="0" marL="457200" rtl="0" algn="l">
              <a:spcBef>
                <a:spcPts val="0"/>
              </a:spcBef>
              <a:spcAft>
                <a:spcPts val="0"/>
              </a:spcAft>
              <a:buSzPts val="1400"/>
              <a:buAutoNum type="arabicParenR"/>
            </a:pPr>
            <a:r>
              <a:rPr lang="el"/>
              <a:t>Find houses that are “bargains”. They can buy now cheap and then sell more expensive</a:t>
            </a:r>
            <a:endParaRPr/>
          </a:p>
          <a:p>
            <a:pPr indent="-317500" lvl="0" marL="457200" rtl="0" algn="l">
              <a:spcBef>
                <a:spcPts val="0"/>
              </a:spcBef>
              <a:spcAft>
                <a:spcPts val="0"/>
              </a:spcAft>
              <a:buClr>
                <a:srgbClr val="FF00FF"/>
              </a:buClr>
              <a:buSzPts val="1400"/>
              <a:buAutoNum type="arabicParenR"/>
            </a:pPr>
            <a:r>
              <a:rPr lang="el">
                <a:solidFill>
                  <a:srgbClr val="FF00FF"/>
                </a:solidFill>
              </a:rPr>
              <a:t>ML model over-predicted the house prices!</a:t>
            </a:r>
            <a:endParaRPr>
              <a:solidFill>
                <a:srgbClr val="FF00FF"/>
              </a:solidFill>
            </a:endParaRPr>
          </a:p>
          <a:p>
            <a:pPr indent="-317500" lvl="0" marL="457200" rtl="0" algn="l">
              <a:spcBef>
                <a:spcPts val="0"/>
              </a:spcBef>
              <a:spcAft>
                <a:spcPts val="0"/>
              </a:spcAft>
              <a:buSzPts val="1400"/>
              <a:buAutoNum type="arabicParenR"/>
            </a:pPr>
            <a:r>
              <a:rPr lang="el"/>
              <a:t>Zillow bought houses at higher prices than they should!</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7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Bad modelling practises!</a:t>
            </a:r>
            <a:endParaRPr/>
          </a:p>
        </p:txBody>
      </p:sp>
      <p:pic>
        <p:nvPicPr>
          <p:cNvPr id="504" name="Google Shape;504;p76"/>
          <p:cNvPicPr preferRelativeResize="0"/>
          <p:nvPr/>
        </p:nvPicPr>
        <p:blipFill>
          <a:blip r:embed="rId3">
            <a:alphaModFix/>
          </a:blip>
          <a:stretch>
            <a:fillRect/>
          </a:stretch>
        </p:blipFill>
        <p:spPr>
          <a:xfrm>
            <a:off x="6078900" y="1017725"/>
            <a:ext cx="3005316" cy="3820976"/>
          </a:xfrm>
          <a:prstGeom prst="rect">
            <a:avLst/>
          </a:prstGeom>
          <a:noFill/>
          <a:ln>
            <a:noFill/>
          </a:ln>
        </p:spPr>
      </p:pic>
      <p:sp>
        <p:nvSpPr>
          <p:cNvPr id="505" name="Google Shape;505;p76"/>
          <p:cNvSpPr txBox="1"/>
          <p:nvPr/>
        </p:nvSpPr>
        <p:spPr>
          <a:xfrm>
            <a:off x="296025" y="1148375"/>
            <a:ext cx="5782800" cy="311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600">
                <a:solidFill>
                  <a:srgbClr val="FF00FF"/>
                </a:solidFill>
              </a:rPr>
              <a:t>What happened to Zillow?</a:t>
            </a:r>
            <a:endParaRPr sz="1600">
              <a:solidFill>
                <a:srgbClr val="FF00FF"/>
              </a:solidFill>
            </a:endParaRPr>
          </a:p>
          <a:p>
            <a:pPr indent="0" lvl="0" marL="0" rtl="0" algn="l">
              <a:spcBef>
                <a:spcPts val="0"/>
              </a:spcBef>
              <a:spcAft>
                <a:spcPts val="0"/>
              </a:spcAft>
              <a:buNone/>
            </a:pPr>
            <a:r>
              <a:rPr lang="el" sz="1600">
                <a:solidFill>
                  <a:schemeClr val="dk1"/>
                </a:solidFill>
              </a:rPr>
              <a:t>Zillow invested in houses much more than their actual price</a:t>
            </a:r>
            <a:endParaRPr sz="1600">
              <a:solidFill>
                <a:schemeClr val="dk1"/>
              </a:solidFill>
            </a:endParaRPr>
          </a:p>
          <a:p>
            <a:pPr indent="0" lvl="0" marL="0" rtl="0" algn="l">
              <a:spcBef>
                <a:spcPts val="0"/>
              </a:spcBef>
              <a:spcAft>
                <a:spcPts val="0"/>
              </a:spcAft>
              <a:buNone/>
            </a:pPr>
            <a:r>
              <a:t/>
            </a:r>
            <a:endParaRPr sz="1600">
              <a:solidFill>
                <a:schemeClr val="dk1"/>
              </a:solidFill>
            </a:endParaRPr>
          </a:p>
          <a:p>
            <a:pPr indent="0" lvl="0" marL="0" rtl="0" algn="l">
              <a:spcBef>
                <a:spcPts val="0"/>
              </a:spcBef>
              <a:spcAft>
                <a:spcPts val="0"/>
              </a:spcAft>
              <a:buNone/>
            </a:pPr>
            <a:r>
              <a:rPr lang="el" sz="1600">
                <a:solidFill>
                  <a:srgbClr val="FF00FF"/>
                </a:solidFill>
              </a:rPr>
              <a:t>Why?</a:t>
            </a:r>
            <a:endParaRPr sz="1600">
              <a:solidFill>
                <a:srgbClr val="FF00FF"/>
              </a:solidFill>
            </a:endParaRPr>
          </a:p>
          <a:p>
            <a:pPr indent="0" lvl="0" marL="0" rtl="0" algn="l">
              <a:spcBef>
                <a:spcPts val="0"/>
              </a:spcBef>
              <a:spcAft>
                <a:spcPts val="0"/>
              </a:spcAft>
              <a:buNone/>
            </a:pPr>
            <a:r>
              <a:rPr lang="el" sz="1600">
                <a:solidFill>
                  <a:schemeClr val="dk1"/>
                </a:solidFill>
              </a:rPr>
              <a:t>Their model predicted all houses higher than the true value </a:t>
            </a:r>
            <a:endParaRPr sz="1600">
              <a:solidFill>
                <a:schemeClr val="dk1"/>
              </a:solidFill>
            </a:endParaRPr>
          </a:p>
          <a:p>
            <a:pPr indent="0" lvl="0" marL="0" rtl="0" algn="l">
              <a:spcBef>
                <a:spcPts val="0"/>
              </a:spcBef>
              <a:spcAft>
                <a:spcPts val="0"/>
              </a:spcAft>
              <a:buNone/>
            </a:pPr>
            <a:r>
              <a:rPr lang="el" sz="1600">
                <a:solidFill>
                  <a:schemeClr val="dk1"/>
                </a:solidFill>
              </a:rPr>
              <a:t>(overestimated)</a:t>
            </a:r>
            <a:endParaRPr sz="1600">
              <a:solidFill>
                <a:schemeClr val="dk1"/>
              </a:solidFill>
            </a:endParaRPr>
          </a:p>
          <a:p>
            <a:pPr indent="0" lvl="0" marL="0" rtl="0" algn="l">
              <a:spcBef>
                <a:spcPts val="0"/>
              </a:spcBef>
              <a:spcAft>
                <a:spcPts val="0"/>
              </a:spcAft>
              <a:buNone/>
            </a:pPr>
            <a:r>
              <a:t/>
            </a:r>
            <a:endParaRPr sz="1600">
              <a:solidFill>
                <a:schemeClr val="dk1"/>
              </a:solidFill>
            </a:endParaRPr>
          </a:p>
          <a:p>
            <a:pPr indent="0" lvl="0" marL="0" rtl="0" algn="l">
              <a:spcBef>
                <a:spcPts val="0"/>
              </a:spcBef>
              <a:spcAft>
                <a:spcPts val="0"/>
              </a:spcAft>
              <a:buNone/>
            </a:pPr>
            <a:r>
              <a:rPr lang="el" sz="1600">
                <a:solidFill>
                  <a:schemeClr val="dk1"/>
                </a:solidFill>
              </a:rPr>
              <a:t>How?</a:t>
            </a:r>
            <a:endParaRPr sz="1600">
              <a:solidFill>
                <a:schemeClr val="dk1"/>
              </a:solidFill>
            </a:endParaRPr>
          </a:p>
          <a:p>
            <a:pPr indent="0" lvl="0" marL="0" rtl="0" algn="l">
              <a:spcBef>
                <a:spcPts val="0"/>
              </a:spcBef>
              <a:spcAft>
                <a:spcPts val="0"/>
              </a:spcAft>
              <a:buNone/>
            </a:pPr>
            <a:r>
              <a:rPr lang="el" sz="1600">
                <a:solidFill>
                  <a:schemeClr val="dk1"/>
                </a:solidFill>
              </a:rPr>
              <a:t>Zillow’s model did not account for:</a:t>
            </a:r>
            <a:endParaRPr sz="1600">
              <a:solidFill>
                <a:schemeClr val="dk1"/>
              </a:solidFill>
            </a:endParaRPr>
          </a:p>
          <a:p>
            <a:pPr indent="-330200" lvl="0" marL="457200" rtl="0" algn="l">
              <a:spcBef>
                <a:spcPts val="0"/>
              </a:spcBef>
              <a:spcAft>
                <a:spcPts val="0"/>
              </a:spcAft>
              <a:buClr>
                <a:schemeClr val="dk1"/>
              </a:buClr>
              <a:buSzPts val="1600"/>
              <a:buChar char="-"/>
            </a:pPr>
            <a:r>
              <a:rPr lang="el" sz="1600">
                <a:solidFill>
                  <a:schemeClr val="dk1"/>
                </a:solidFill>
              </a:rPr>
              <a:t>Dynamics of </a:t>
            </a:r>
            <a:r>
              <a:rPr lang="el" sz="1600">
                <a:solidFill>
                  <a:schemeClr val="dk1"/>
                </a:solidFill>
              </a:rPr>
              <a:t>housing</a:t>
            </a:r>
            <a:r>
              <a:rPr lang="el" sz="1600">
                <a:solidFill>
                  <a:schemeClr val="dk1"/>
                </a:solidFill>
              </a:rPr>
              <a:t> market: Prices change per year!!</a:t>
            </a:r>
            <a:endParaRPr sz="1600">
              <a:solidFill>
                <a:schemeClr val="dk1"/>
              </a:solidFill>
            </a:endParaRPr>
          </a:p>
          <a:p>
            <a:pPr indent="-330200" lvl="0" marL="457200" rtl="0" algn="l">
              <a:spcBef>
                <a:spcPts val="0"/>
              </a:spcBef>
              <a:spcAft>
                <a:spcPts val="0"/>
              </a:spcAft>
              <a:buClr>
                <a:schemeClr val="dk1"/>
              </a:buClr>
              <a:buSzPts val="1600"/>
              <a:buChar char="-"/>
            </a:pPr>
            <a:r>
              <a:rPr lang="el" sz="1600">
                <a:solidFill>
                  <a:schemeClr val="dk1"/>
                </a:solidFill>
              </a:rPr>
              <a:t>Local patterns: The same house in Brugge is more expensive than in Kortrijk</a:t>
            </a:r>
            <a:endParaRPr sz="1600">
              <a:solidFill>
                <a:schemeClr val="dk1"/>
              </a:solidFill>
            </a:endParaRPr>
          </a:p>
        </p:txBody>
      </p:sp>
      <p:sp>
        <p:nvSpPr>
          <p:cNvPr id="506" name="Google Shape;506;p76"/>
          <p:cNvSpPr txBox="1"/>
          <p:nvPr/>
        </p:nvSpPr>
        <p:spPr>
          <a:xfrm>
            <a:off x="1303700" y="4396625"/>
            <a:ext cx="4366800" cy="65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800">
                <a:solidFill>
                  <a:srgbClr val="FF00FF"/>
                </a:solidFill>
              </a:rPr>
              <a:t>What would you do to fix these issues?</a:t>
            </a:r>
            <a:endParaRPr sz="1800">
              <a:solidFill>
                <a:srgbClr val="FF00FF"/>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