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1172E9-235D-4B24-9CB2-AE9D2BF44DFD}">
  <a:tblStyle styleId="{161172E9-235D-4B24-9CB2-AE9D2BF44D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schemas.openxmlformats.org/officeDocument/2006/relationships/slide" Target="slides/slide82.xml"/><Relationship Id="rId43" Type="http://schemas.openxmlformats.org/officeDocument/2006/relationships/slide" Target="slides/slide37.xml"/><Relationship Id="rId87" Type="http://schemas.openxmlformats.org/officeDocument/2006/relationships/slide" Target="slides/slide8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0" Type="http://schemas.openxmlformats.org/officeDocument/2006/relationships/slide" Target="slides/slide84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ff986e7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ff986e7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a5fe8bcc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8a5fe8bcc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ff986e7d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ff986e7d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8a5fe8bcc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8a5fe8bcc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8a5fe8bc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8a5fe8bc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8bc82f2c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8bc82f2c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8bc82f2c7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8bc82f2c7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766862e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f766862e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f766862e6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f766862e6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766862e6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f766862e6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8a5fe8bcc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8a5fe8bcc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8bc82f2c7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8bc82f2c7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8bc82f2c7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8bc82f2c7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8bc82f2c7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8bc82f2c7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8bc82f2c7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8bc82f2c7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bc82f2c7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8bc82f2c7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8bc82f2c7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8bc82f2c7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8a5fe8bcc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8a5fe8bcc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f766862e6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f766862e6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f766862e6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f766862e6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f766862e6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f766862e6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f766862e6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f766862e6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766862e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f766862e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f766862e6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f766862e6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f766862e6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f766862e6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f766862e6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f766862e6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f766862e6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f766862e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f766862e6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f766862e6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f766862e6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f766862e6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f766862e60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f766862e6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f766862e6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f766862e6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f766862e6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f766862e6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8a5fe8bcc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8a5fe8bcc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8a5fe8bcc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8a5fe8bcc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8bc82f2c7a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8bc82f2c7a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8bc82f2c7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8bc82f2c7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8a5fe8bccf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8a5fe8bcc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8a5fe8bcc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8a5fe8bcc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8bc82f2c7a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8bc82f2c7a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8bc82f2c7a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8bc82f2c7a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8a5fe8bcc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8a5fe8bcc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8a5fe8bccf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8a5fe8bcc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8a5fe8bccf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8a5fe8bcc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8bc82f2c7a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8bc82f2c7a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8bc82f2c7a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8bc82f2c7a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8bc82f2c7a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8bc82f2c7a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8bc82f2c7a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8bc82f2c7a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8bc82f2c7a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8bc82f2c7a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8a5fe8bccf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8a5fe8bccf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8a5fe8bcc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8a5fe8bcc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8a5fe8bccf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8a5fe8bcc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8a5fe8bccf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8a5fe8bccf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5ff986e7d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5ff986e7d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5ff986e7d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25ff986e7d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900">
                <a:solidFill>
                  <a:schemeClr val="dk1"/>
                </a:solidFill>
              </a:rPr>
              <a:t>The human brain is limited: Can only process a specific number of bits. According to techjury*, every person created at least 1.7MB of data per second in 2020</a:t>
            </a:r>
            <a:endParaRPr sz="9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5ff986e7d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25ff986e7d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link for the site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5ff986e7d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5ff986e7d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5ff986e7d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25ff986e7d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300">
                <a:solidFill>
                  <a:schemeClr val="dk1"/>
                </a:solidFill>
              </a:rPr>
              <a:t>How do I know that the predictions are good enough?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f766862e6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f766862e6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>
                <a:solidFill>
                  <a:schemeClr val="dk1"/>
                </a:solidFill>
              </a:rPr>
              <a:t>How do I know that the predictions are good enough?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f766862e6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2f766862e6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8bc82f2c7a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8bc82f2c7a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5ff986e7d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5ff986e7d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8bc82f2c7a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28bc82f2c7a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8bc82f2c7a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8bc82f2c7a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f766862e60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f766862e60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60caafb7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260caafb7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28a5fe8bccf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28a5fe8bccf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8bc82f2c7a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28bc82f2c7a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8bc82f2c7a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28bc82f2c7a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260caafb75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260caafb75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8bc82f2c7a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8bc82f2c7a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8a5fe8bccf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28a5fe8bccf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8bc82f2c7a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28bc82f2c7a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8bc82f2c7a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8bc82f2c7a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8bc82f2c7a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28bc82f2c7a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8bc82f2c7a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8bc82f2c7a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8a5fe8bccf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8a5fe8bccf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8bc82f2c7a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8bc82f2c7a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8bc82f2c7a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8bc82f2c7a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60caafb75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60caafb75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8a5fe8bccf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8a5fe8bccf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60caafb75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60caafb75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8a5fe8bccf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8a5fe8bccf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60caafb75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60caafb75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8a5fe8bccf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a5fe8bccf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5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5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7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Cloud for AI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Course 3: </a:t>
            </a:r>
            <a:r>
              <a:rPr lang="el">
                <a:solidFill>
                  <a:srgbClr val="FF00FF"/>
                </a:solidFill>
              </a:rPr>
              <a:t>Scoping</a:t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75" y="4041963"/>
            <a:ext cx="8547614" cy="12119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0" y="4435375"/>
            <a:ext cx="2750100" cy="61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Filotas Theodosiou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7225" y="4152422"/>
            <a:ext cx="1101225" cy="9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are we going to talk about today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Scoping Process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191050" y="2767550"/>
            <a:ext cx="6571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2000"/>
              <a:t>Scoping stage</a:t>
            </a:r>
            <a:endParaRPr b="1" sz="2000"/>
          </a:p>
        </p:txBody>
      </p:sp>
      <p:sp>
        <p:nvSpPr>
          <p:cNvPr id="71" name="Google Shape;71;p15"/>
          <p:cNvSpPr txBox="1"/>
          <p:nvPr/>
        </p:nvSpPr>
        <p:spPr>
          <a:xfrm>
            <a:off x="327500" y="3279250"/>
            <a:ext cx="7893600" cy="17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Decide to work on the speech recognition task for voice search &amp; classification</a:t>
            </a:r>
            <a:endParaRPr/>
          </a:p>
          <a:p>
            <a:pPr indent="-1841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Decide on the key metrics</a:t>
            </a:r>
            <a:endParaRPr/>
          </a:p>
          <a:p>
            <a:pPr indent="-193675" lvl="1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l"/>
              <a:t>Note: Metrics might be different compared to a normal data science project</a:t>
            </a:r>
            <a:endParaRPr/>
          </a:p>
          <a:p>
            <a:pPr indent="-193675" lvl="1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l"/>
              <a:t>Accuracy, latency</a:t>
            </a:r>
            <a:endParaRPr/>
          </a:p>
          <a:p>
            <a:pPr indent="-1841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Estimate resources and timeline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Define and Structure your Project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pick a project to work on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pick a project to work on 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000" y="1313350"/>
            <a:ext cx="1368925" cy="13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0" y="2763300"/>
            <a:ext cx="3896700" cy="23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Inexperienced Graduate Student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Jump to the first project on your mind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Be excited about it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Sometimes be lucky and work out okay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Spend many hours and finally drops 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Scoping Example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191050" y="2705275"/>
            <a:ext cx="65712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Scoping: </a:t>
            </a:r>
            <a:r>
              <a:rPr lang="el"/>
              <a:t>Ecommerce retailer (Nikon) looks to increase sales.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do you do?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Scoping Example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191050" y="2705275"/>
            <a:ext cx="65712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Scoping: </a:t>
            </a:r>
            <a:r>
              <a:rPr lang="el"/>
              <a:t>Ecommerce retailer (Nikon) looks to increase sales.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do you do?</a:t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435775" y="3382325"/>
            <a:ext cx="2748600" cy="1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Brainstorm ideas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Better recommender system 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Better search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Improve catalog data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Inventory management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Price optimization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Scoping Example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>
            <a:off x="191050" y="2705275"/>
            <a:ext cx="65712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Scoping: </a:t>
            </a:r>
            <a:r>
              <a:rPr lang="el"/>
              <a:t>Ecommerce retailer (Nikon) looks to increase sales.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do you do?</a:t>
            </a:r>
            <a:endParaRPr/>
          </a:p>
        </p:txBody>
      </p:sp>
      <p:sp>
        <p:nvSpPr>
          <p:cNvPr id="111" name="Google Shape;111;p21"/>
          <p:cNvSpPr txBox="1"/>
          <p:nvPr/>
        </p:nvSpPr>
        <p:spPr>
          <a:xfrm>
            <a:off x="435775" y="3382325"/>
            <a:ext cx="2748600" cy="1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Brainstorm ideas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Better recommender system 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Better search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Improve catalog data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Inventory management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Price optimization</a:t>
            </a:r>
            <a:endParaRPr/>
          </a:p>
        </p:txBody>
      </p:sp>
      <p:sp>
        <p:nvSpPr>
          <p:cNvPr id="112" name="Google Shape;112;p21"/>
          <p:cNvSpPr txBox="1"/>
          <p:nvPr/>
        </p:nvSpPr>
        <p:spPr>
          <a:xfrm>
            <a:off x="5739375" y="3382325"/>
            <a:ext cx="3058800" cy="1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Questions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What project should we work on?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What are the metrics for success?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What are the resources (data, time, people) needed?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Scoping Example</a:t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191050" y="2705275"/>
            <a:ext cx="65712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Scoping: </a:t>
            </a:r>
            <a:r>
              <a:rPr lang="el"/>
              <a:t>Ecommerce retailer (Nikon) looks to increase sales.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do you do?</a:t>
            </a: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435775" y="3382325"/>
            <a:ext cx="2748600" cy="1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Brainstorm ideas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Better recommender system 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Better search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Improve catalog data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Inventory management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Price optimization</a:t>
            </a: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5739375" y="3382325"/>
            <a:ext cx="3058800" cy="1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Questions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What project should we work on?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What are the metrics for success?</a:t>
            </a:r>
            <a:endParaRPr/>
          </a:p>
          <a:p>
            <a:pPr indent="-174625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What are the resources (data, time, people) needed?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3380450" y="3478025"/>
            <a:ext cx="2055900" cy="1473900"/>
          </a:xfrm>
          <a:prstGeom prst="rect">
            <a:avLst/>
          </a:prstGeom>
          <a:solidFill>
            <a:srgbClr val="B7B7B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Tip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Some ideas are more valuable than others (2,5,10 times) more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Spend your time wisely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Scoping process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6425" y="1325650"/>
            <a:ext cx="1016300" cy="10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Scoping process</a:t>
            </a:r>
            <a:endParaRPr/>
          </a:p>
        </p:txBody>
      </p:sp>
      <p:sp>
        <p:nvSpPr>
          <p:cNvPr id="134" name="Google Shape;134;p24"/>
          <p:cNvSpPr/>
          <p:nvPr/>
        </p:nvSpPr>
        <p:spPr>
          <a:xfrm>
            <a:off x="523200" y="1407400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Brainstorm business problems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(Not AI problems)</a:t>
            </a:r>
            <a:endParaRPr sz="1000"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6425" y="1325650"/>
            <a:ext cx="1016300" cy="10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Scoping process</a:t>
            </a:r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523200" y="1407400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Brainstorm business problems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(Not AI problems)</a:t>
            </a:r>
            <a:endParaRPr sz="1000"/>
          </a:p>
        </p:txBody>
      </p:sp>
      <p:sp>
        <p:nvSpPr>
          <p:cNvPr id="142" name="Google Shape;142;p25"/>
          <p:cNvSpPr/>
          <p:nvPr/>
        </p:nvSpPr>
        <p:spPr>
          <a:xfrm>
            <a:off x="3161250" y="1477450"/>
            <a:ext cx="1038900" cy="316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Problem</a:t>
            </a:r>
            <a:endParaRPr sz="1100"/>
          </a:p>
        </p:txBody>
      </p:sp>
      <p:cxnSp>
        <p:nvCxnSpPr>
          <p:cNvPr id="143" name="Google Shape;143;p25"/>
          <p:cNvCxnSpPr>
            <a:stCxn id="142" idx="1"/>
            <a:endCxn id="141" idx="3"/>
          </p:cNvCxnSpPr>
          <p:nvPr/>
        </p:nvCxnSpPr>
        <p:spPr>
          <a:xfrm rot="10800000">
            <a:off x="2564250" y="1635850"/>
            <a:ext cx="5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6425" y="1325650"/>
            <a:ext cx="1016300" cy="10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5"/>
          <p:cNvSpPr txBox="1"/>
          <p:nvPr/>
        </p:nvSpPr>
        <p:spPr>
          <a:xfrm>
            <a:off x="5263275" y="2400900"/>
            <a:ext cx="3809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Discuss with a business expert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are the top 3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Increased conversion(search to buy)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Reduced inventory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Increase margin (profit per item)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Scoping process</a:t>
            </a:r>
            <a:endParaRPr/>
          </a:p>
        </p:txBody>
      </p:sp>
      <p:sp>
        <p:nvSpPr>
          <p:cNvPr id="151" name="Google Shape;151;p26"/>
          <p:cNvSpPr/>
          <p:nvPr/>
        </p:nvSpPr>
        <p:spPr>
          <a:xfrm>
            <a:off x="523200" y="1407400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Brainstorm business problems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(Not AI problems)</a:t>
            </a:r>
            <a:endParaRPr sz="1000"/>
          </a:p>
        </p:txBody>
      </p:sp>
      <p:sp>
        <p:nvSpPr>
          <p:cNvPr id="152" name="Google Shape;152;p26"/>
          <p:cNvSpPr/>
          <p:nvPr/>
        </p:nvSpPr>
        <p:spPr>
          <a:xfrm>
            <a:off x="523200" y="2095625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Brainstorm AI solutions</a:t>
            </a:r>
            <a:endParaRPr sz="1000"/>
          </a:p>
        </p:txBody>
      </p:sp>
      <p:sp>
        <p:nvSpPr>
          <p:cNvPr id="153" name="Google Shape;153;p26"/>
          <p:cNvSpPr/>
          <p:nvPr/>
        </p:nvSpPr>
        <p:spPr>
          <a:xfrm>
            <a:off x="1451675" y="1886450"/>
            <a:ext cx="177000" cy="17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"/>
          <p:cNvSpPr/>
          <p:nvPr/>
        </p:nvSpPr>
        <p:spPr>
          <a:xfrm>
            <a:off x="3161250" y="1477450"/>
            <a:ext cx="1038900" cy="316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Problem</a:t>
            </a:r>
            <a:endParaRPr sz="1100"/>
          </a:p>
        </p:txBody>
      </p:sp>
      <p:sp>
        <p:nvSpPr>
          <p:cNvPr id="155" name="Google Shape;155;p26"/>
          <p:cNvSpPr/>
          <p:nvPr/>
        </p:nvSpPr>
        <p:spPr>
          <a:xfrm>
            <a:off x="3161250" y="2165675"/>
            <a:ext cx="1038900" cy="316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Solution</a:t>
            </a:r>
            <a:endParaRPr sz="1100"/>
          </a:p>
        </p:txBody>
      </p:sp>
      <p:cxnSp>
        <p:nvCxnSpPr>
          <p:cNvPr id="156" name="Google Shape;156;p26"/>
          <p:cNvCxnSpPr>
            <a:stCxn id="154" idx="1"/>
            <a:endCxn id="151" idx="3"/>
          </p:cNvCxnSpPr>
          <p:nvPr/>
        </p:nvCxnSpPr>
        <p:spPr>
          <a:xfrm rot="10800000">
            <a:off x="2564250" y="1635850"/>
            <a:ext cx="5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6"/>
          <p:cNvCxnSpPr>
            <a:stCxn id="155" idx="1"/>
            <a:endCxn id="152" idx="3"/>
          </p:cNvCxnSpPr>
          <p:nvPr/>
        </p:nvCxnSpPr>
        <p:spPr>
          <a:xfrm rot="10800000">
            <a:off x="2564250" y="2324075"/>
            <a:ext cx="5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6425" y="1325650"/>
            <a:ext cx="1016300" cy="10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 txBox="1"/>
          <p:nvPr/>
        </p:nvSpPr>
        <p:spPr>
          <a:xfrm>
            <a:off x="5263275" y="2400900"/>
            <a:ext cx="3809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Discuss with a business expert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are the top 3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Increased conversion(search to buy)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Reduced inventory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Increase margin (profit per item)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Scoping process</a:t>
            </a:r>
            <a:endParaRPr/>
          </a:p>
        </p:txBody>
      </p:sp>
      <p:sp>
        <p:nvSpPr>
          <p:cNvPr id="165" name="Google Shape;165;p27"/>
          <p:cNvSpPr/>
          <p:nvPr/>
        </p:nvSpPr>
        <p:spPr>
          <a:xfrm>
            <a:off x="523200" y="1407400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Brainstorm business problems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(Not AI problems)</a:t>
            </a:r>
            <a:endParaRPr sz="1000"/>
          </a:p>
        </p:txBody>
      </p:sp>
      <p:sp>
        <p:nvSpPr>
          <p:cNvPr id="166" name="Google Shape;166;p27"/>
          <p:cNvSpPr/>
          <p:nvPr/>
        </p:nvSpPr>
        <p:spPr>
          <a:xfrm>
            <a:off x="523200" y="2095625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Brainstorm AI solutions</a:t>
            </a:r>
            <a:endParaRPr sz="1000"/>
          </a:p>
        </p:txBody>
      </p:sp>
      <p:sp>
        <p:nvSpPr>
          <p:cNvPr id="167" name="Google Shape;167;p27"/>
          <p:cNvSpPr/>
          <p:nvPr/>
        </p:nvSpPr>
        <p:spPr>
          <a:xfrm>
            <a:off x="523200" y="2783850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Assess the feasibility and value of potential solutions</a:t>
            </a:r>
            <a:endParaRPr sz="1000"/>
          </a:p>
        </p:txBody>
      </p:sp>
      <p:sp>
        <p:nvSpPr>
          <p:cNvPr id="168" name="Google Shape;168;p27"/>
          <p:cNvSpPr/>
          <p:nvPr/>
        </p:nvSpPr>
        <p:spPr>
          <a:xfrm>
            <a:off x="1451675" y="1886450"/>
            <a:ext cx="177000" cy="17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7"/>
          <p:cNvSpPr/>
          <p:nvPr/>
        </p:nvSpPr>
        <p:spPr>
          <a:xfrm>
            <a:off x="1451675" y="2579088"/>
            <a:ext cx="177000" cy="17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/>
          <p:nvPr/>
        </p:nvSpPr>
        <p:spPr>
          <a:xfrm>
            <a:off x="3161250" y="1477450"/>
            <a:ext cx="1038900" cy="316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Problem</a:t>
            </a:r>
            <a:endParaRPr sz="1100"/>
          </a:p>
        </p:txBody>
      </p:sp>
      <p:sp>
        <p:nvSpPr>
          <p:cNvPr id="171" name="Google Shape;171;p27"/>
          <p:cNvSpPr/>
          <p:nvPr/>
        </p:nvSpPr>
        <p:spPr>
          <a:xfrm>
            <a:off x="3161250" y="2165675"/>
            <a:ext cx="1038900" cy="316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Solution</a:t>
            </a:r>
            <a:endParaRPr sz="1100"/>
          </a:p>
        </p:txBody>
      </p:sp>
      <p:sp>
        <p:nvSpPr>
          <p:cNvPr id="172" name="Google Shape;172;p27"/>
          <p:cNvSpPr/>
          <p:nvPr/>
        </p:nvSpPr>
        <p:spPr>
          <a:xfrm>
            <a:off x="3161250" y="2853900"/>
            <a:ext cx="1038900" cy="316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Diligence</a:t>
            </a:r>
            <a:endParaRPr sz="1100"/>
          </a:p>
        </p:txBody>
      </p:sp>
      <p:cxnSp>
        <p:nvCxnSpPr>
          <p:cNvPr id="173" name="Google Shape;173;p27"/>
          <p:cNvCxnSpPr>
            <a:stCxn id="170" idx="1"/>
            <a:endCxn id="165" idx="3"/>
          </p:cNvCxnSpPr>
          <p:nvPr/>
        </p:nvCxnSpPr>
        <p:spPr>
          <a:xfrm rot="10800000">
            <a:off x="2564250" y="1635850"/>
            <a:ext cx="5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7"/>
          <p:cNvCxnSpPr>
            <a:stCxn id="171" idx="1"/>
            <a:endCxn id="166" idx="3"/>
          </p:cNvCxnSpPr>
          <p:nvPr/>
        </p:nvCxnSpPr>
        <p:spPr>
          <a:xfrm rot="10800000">
            <a:off x="2564250" y="2324075"/>
            <a:ext cx="5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7"/>
          <p:cNvCxnSpPr>
            <a:stCxn id="172" idx="1"/>
            <a:endCxn id="167" idx="3"/>
          </p:cNvCxnSpPr>
          <p:nvPr/>
        </p:nvCxnSpPr>
        <p:spPr>
          <a:xfrm rot="10800000">
            <a:off x="2564250" y="3012300"/>
            <a:ext cx="5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6425" y="1325650"/>
            <a:ext cx="1016300" cy="10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/>
          <p:nvPr/>
        </p:nvSpPr>
        <p:spPr>
          <a:xfrm>
            <a:off x="5263275" y="2400900"/>
            <a:ext cx="3809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Discuss with a business expert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are the top 3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Increased conversion(search to buy)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Reduced inventory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Increase margin (profit per item)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Scoping process</a:t>
            </a:r>
            <a:endParaRPr/>
          </a:p>
        </p:txBody>
      </p:sp>
      <p:sp>
        <p:nvSpPr>
          <p:cNvPr id="183" name="Google Shape;183;p28"/>
          <p:cNvSpPr/>
          <p:nvPr/>
        </p:nvSpPr>
        <p:spPr>
          <a:xfrm>
            <a:off x="523200" y="1407400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Brainstorm business problems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(Not AI problems)</a:t>
            </a:r>
            <a:endParaRPr sz="1000"/>
          </a:p>
        </p:txBody>
      </p:sp>
      <p:sp>
        <p:nvSpPr>
          <p:cNvPr id="184" name="Google Shape;184;p28"/>
          <p:cNvSpPr/>
          <p:nvPr/>
        </p:nvSpPr>
        <p:spPr>
          <a:xfrm>
            <a:off x="523200" y="2095625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Brainstorm AI solutions</a:t>
            </a:r>
            <a:endParaRPr sz="1000"/>
          </a:p>
        </p:txBody>
      </p:sp>
      <p:sp>
        <p:nvSpPr>
          <p:cNvPr id="185" name="Google Shape;185;p28"/>
          <p:cNvSpPr/>
          <p:nvPr/>
        </p:nvSpPr>
        <p:spPr>
          <a:xfrm>
            <a:off x="523200" y="2783850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Assess the feasibility and value of potential solutions</a:t>
            </a:r>
            <a:endParaRPr sz="1000"/>
          </a:p>
        </p:txBody>
      </p:sp>
      <p:sp>
        <p:nvSpPr>
          <p:cNvPr id="186" name="Google Shape;186;p28"/>
          <p:cNvSpPr/>
          <p:nvPr/>
        </p:nvSpPr>
        <p:spPr>
          <a:xfrm>
            <a:off x="523200" y="3472075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Determine milestones</a:t>
            </a:r>
            <a:endParaRPr sz="1000"/>
          </a:p>
        </p:txBody>
      </p:sp>
      <p:sp>
        <p:nvSpPr>
          <p:cNvPr id="187" name="Google Shape;187;p28"/>
          <p:cNvSpPr/>
          <p:nvPr/>
        </p:nvSpPr>
        <p:spPr>
          <a:xfrm>
            <a:off x="1451675" y="1886450"/>
            <a:ext cx="177000" cy="17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8"/>
          <p:cNvSpPr/>
          <p:nvPr/>
        </p:nvSpPr>
        <p:spPr>
          <a:xfrm>
            <a:off x="1451675" y="2579088"/>
            <a:ext cx="177000" cy="17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8"/>
          <p:cNvSpPr/>
          <p:nvPr/>
        </p:nvSpPr>
        <p:spPr>
          <a:xfrm>
            <a:off x="1451675" y="3267313"/>
            <a:ext cx="177000" cy="17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3161250" y="1477450"/>
            <a:ext cx="1038900" cy="316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Problem</a:t>
            </a:r>
            <a:endParaRPr sz="1100"/>
          </a:p>
        </p:txBody>
      </p:sp>
      <p:sp>
        <p:nvSpPr>
          <p:cNvPr id="191" name="Google Shape;191;p28"/>
          <p:cNvSpPr/>
          <p:nvPr/>
        </p:nvSpPr>
        <p:spPr>
          <a:xfrm>
            <a:off x="3161250" y="2165675"/>
            <a:ext cx="1038900" cy="316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Solution</a:t>
            </a:r>
            <a:endParaRPr sz="1100"/>
          </a:p>
        </p:txBody>
      </p:sp>
      <p:sp>
        <p:nvSpPr>
          <p:cNvPr id="192" name="Google Shape;192;p28"/>
          <p:cNvSpPr/>
          <p:nvPr/>
        </p:nvSpPr>
        <p:spPr>
          <a:xfrm>
            <a:off x="3161250" y="2853900"/>
            <a:ext cx="1038900" cy="316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Diligence</a:t>
            </a:r>
            <a:endParaRPr sz="1100"/>
          </a:p>
        </p:txBody>
      </p:sp>
      <p:cxnSp>
        <p:nvCxnSpPr>
          <p:cNvPr id="193" name="Google Shape;193;p28"/>
          <p:cNvCxnSpPr>
            <a:stCxn id="190" idx="1"/>
            <a:endCxn id="183" idx="3"/>
          </p:cNvCxnSpPr>
          <p:nvPr/>
        </p:nvCxnSpPr>
        <p:spPr>
          <a:xfrm rot="10800000">
            <a:off x="2564250" y="1635850"/>
            <a:ext cx="5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8"/>
          <p:cNvCxnSpPr>
            <a:stCxn id="191" idx="1"/>
            <a:endCxn id="184" idx="3"/>
          </p:cNvCxnSpPr>
          <p:nvPr/>
        </p:nvCxnSpPr>
        <p:spPr>
          <a:xfrm rot="10800000">
            <a:off x="2564250" y="2324075"/>
            <a:ext cx="5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8"/>
          <p:cNvCxnSpPr>
            <a:stCxn id="192" idx="1"/>
            <a:endCxn id="185" idx="3"/>
          </p:cNvCxnSpPr>
          <p:nvPr/>
        </p:nvCxnSpPr>
        <p:spPr>
          <a:xfrm rot="10800000">
            <a:off x="2564250" y="3012300"/>
            <a:ext cx="5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6425" y="1325650"/>
            <a:ext cx="1016300" cy="10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8"/>
          <p:cNvSpPr txBox="1"/>
          <p:nvPr/>
        </p:nvSpPr>
        <p:spPr>
          <a:xfrm>
            <a:off x="5263275" y="2400900"/>
            <a:ext cx="3809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Discuss with a business expert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are the top 3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Increased conversion(search to buy)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Reduced inventory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Increase margin (profit per item)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Scoping process</a:t>
            </a:r>
            <a:endParaRPr/>
          </a:p>
        </p:txBody>
      </p:sp>
      <p:sp>
        <p:nvSpPr>
          <p:cNvPr id="203" name="Google Shape;203;p29"/>
          <p:cNvSpPr/>
          <p:nvPr/>
        </p:nvSpPr>
        <p:spPr>
          <a:xfrm>
            <a:off x="523200" y="1407400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Brainstorm business problems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(Not AI problems)</a:t>
            </a:r>
            <a:endParaRPr sz="1000"/>
          </a:p>
        </p:txBody>
      </p:sp>
      <p:sp>
        <p:nvSpPr>
          <p:cNvPr id="204" name="Google Shape;204;p29"/>
          <p:cNvSpPr/>
          <p:nvPr/>
        </p:nvSpPr>
        <p:spPr>
          <a:xfrm>
            <a:off x="523200" y="2095625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Brainstorm AI solutions</a:t>
            </a:r>
            <a:endParaRPr sz="1000"/>
          </a:p>
        </p:txBody>
      </p:sp>
      <p:sp>
        <p:nvSpPr>
          <p:cNvPr id="205" name="Google Shape;205;p29"/>
          <p:cNvSpPr/>
          <p:nvPr/>
        </p:nvSpPr>
        <p:spPr>
          <a:xfrm>
            <a:off x="523200" y="2783850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Assess the feasibility and value of potential solutions</a:t>
            </a:r>
            <a:endParaRPr sz="1000"/>
          </a:p>
        </p:txBody>
      </p:sp>
      <p:sp>
        <p:nvSpPr>
          <p:cNvPr id="206" name="Google Shape;206;p29"/>
          <p:cNvSpPr/>
          <p:nvPr/>
        </p:nvSpPr>
        <p:spPr>
          <a:xfrm>
            <a:off x="523200" y="3472075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Determine milestones</a:t>
            </a:r>
            <a:endParaRPr sz="1000"/>
          </a:p>
        </p:txBody>
      </p:sp>
      <p:sp>
        <p:nvSpPr>
          <p:cNvPr id="207" name="Google Shape;207;p29"/>
          <p:cNvSpPr/>
          <p:nvPr/>
        </p:nvSpPr>
        <p:spPr>
          <a:xfrm>
            <a:off x="523200" y="4160300"/>
            <a:ext cx="2041200" cy="4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Budget for resources</a:t>
            </a:r>
            <a:endParaRPr sz="1000"/>
          </a:p>
        </p:txBody>
      </p:sp>
      <p:sp>
        <p:nvSpPr>
          <p:cNvPr id="208" name="Google Shape;208;p29"/>
          <p:cNvSpPr/>
          <p:nvPr/>
        </p:nvSpPr>
        <p:spPr>
          <a:xfrm>
            <a:off x="1451675" y="1886450"/>
            <a:ext cx="177000" cy="17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9"/>
          <p:cNvSpPr/>
          <p:nvPr/>
        </p:nvSpPr>
        <p:spPr>
          <a:xfrm>
            <a:off x="1451675" y="2579088"/>
            <a:ext cx="177000" cy="17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9"/>
          <p:cNvSpPr/>
          <p:nvPr/>
        </p:nvSpPr>
        <p:spPr>
          <a:xfrm>
            <a:off x="1451675" y="3267313"/>
            <a:ext cx="177000" cy="17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9"/>
          <p:cNvSpPr/>
          <p:nvPr/>
        </p:nvSpPr>
        <p:spPr>
          <a:xfrm>
            <a:off x="1451675" y="3959950"/>
            <a:ext cx="177000" cy="17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9"/>
          <p:cNvSpPr/>
          <p:nvPr/>
        </p:nvSpPr>
        <p:spPr>
          <a:xfrm>
            <a:off x="3161250" y="1477450"/>
            <a:ext cx="1038900" cy="316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Problem</a:t>
            </a:r>
            <a:endParaRPr sz="1100"/>
          </a:p>
        </p:txBody>
      </p:sp>
      <p:sp>
        <p:nvSpPr>
          <p:cNvPr id="213" name="Google Shape;213;p29"/>
          <p:cNvSpPr/>
          <p:nvPr/>
        </p:nvSpPr>
        <p:spPr>
          <a:xfrm>
            <a:off x="3161250" y="2165675"/>
            <a:ext cx="1038900" cy="316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Solution</a:t>
            </a:r>
            <a:endParaRPr sz="1100"/>
          </a:p>
        </p:txBody>
      </p:sp>
      <p:sp>
        <p:nvSpPr>
          <p:cNvPr id="214" name="Google Shape;214;p29"/>
          <p:cNvSpPr/>
          <p:nvPr/>
        </p:nvSpPr>
        <p:spPr>
          <a:xfrm>
            <a:off x="3161250" y="2853900"/>
            <a:ext cx="1038900" cy="316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Diligence</a:t>
            </a:r>
            <a:endParaRPr sz="1100"/>
          </a:p>
        </p:txBody>
      </p:sp>
      <p:cxnSp>
        <p:nvCxnSpPr>
          <p:cNvPr id="215" name="Google Shape;215;p29"/>
          <p:cNvCxnSpPr>
            <a:stCxn id="212" idx="1"/>
            <a:endCxn id="203" idx="3"/>
          </p:cNvCxnSpPr>
          <p:nvPr/>
        </p:nvCxnSpPr>
        <p:spPr>
          <a:xfrm rot="10800000">
            <a:off x="2564250" y="1635850"/>
            <a:ext cx="5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29"/>
          <p:cNvCxnSpPr>
            <a:stCxn id="213" idx="1"/>
            <a:endCxn id="204" idx="3"/>
          </p:cNvCxnSpPr>
          <p:nvPr/>
        </p:nvCxnSpPr>
        <p:spPr>
          <a:xfrm rot="10800000">
            <a:off x="2564250" y="2324075"/>
            <a:ext cx="5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29"/>
          <p:cNvCxnSpPr>
            <a:stCxn id="214" idx="1"/>
            <a:endCxn id="205" idx="3"/>
          </p:cNvCxnSpPr>
          <p:nvPr/>
        </p:nvCxnSpPr>
        <p:spPr>
          <a:xfrm rot="10800000">
            <a:off x="2564250" y="3012300"/>
            <a:ext cx="5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8" name="Google Shape;21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6425" y="1325650"/>
            <a:ext cx="1016300" cy="10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5263275" y="2400900"/>
            <a:ext cx="3809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Discuss with a business expert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are the top 3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Increased conversion(search to buy)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Reduced inventory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Increase margin (profit per item)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Separating problems and solutions</a:t>
            </a:r>
            <a:endParaRPr/>
          </a:p>
        </p:txBody>
      </p:sp>
      <p:sp>
        <p:nvSpPr>
          <p:cNvPr id="225" name="Google Shape;225;p30"/>
          <p:cNvSpPr txBox="1"/>
          <p:nvPr/>
        </p:nvSpPr>
        <p:spPr>
          <a:xfrm>
            <a:off x="1621175" y="1429575"/>
            <a:ext cx="2748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Problem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0"/>
          <p:cNvSpPr txBox="1"/>
          <p:nvPr/>
        </p:nvSpPr>
        <p:spPr>
          <a:xfrm>
            <a:off x="4369775" y="1429575"/>
            <a:ext cx="2748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Solution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30"/>
          <p:cNvCxnSpPr/>
          <p:nvPr/>
        </p:nvCxnSpPr>
        <p:spPr>
          <a:xfrm>
            <a:off x="1650625" y="1775900"/>
            <a:ext cx="563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0"/>
          <p:cNvCxnSpPr/>
          <p:nvPr/>
        </p:nvCxnSpPr>
        <p:spPr>
          <a:xfrm>
            <a:off x="4369775" y="1245350"/>
            <a:ext cx="0" cy="325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30"/>
          <p:cNvSpPr txBox="1"/>
          <p:nvPr/>
        </p:nvSpPr>
        <p:spPr>
          <a:xfrm>
            <a:off x="1960125" y="1879075"/>
            <a:ext cx="2210700" cy="26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Increase conversion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Reduce inventory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Increase margin</a:t>
            </a:r>
            <a:endParaRPr/>
          </a:p>
        </p:txBody>
      </p:sp>
      <p:sp>
        <p:nvSpPr>
          <p:cNvPr id="230" name="Google Shape;230;p30"/>
          <p:cNvSpPr txBox="1"/>
          <p:nvPr/>
        </p:nvSpPr>
        <p:spPr>
          <a:xfrm>
            <a:off x="4638725" y="1879075"/>
            <a:ext cx="3828300" cy="26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Search, </a:t>
            </a:r>
            <a:r>
              <a:rPr lang="el"/>
              <a:t>recommendations</a:t>
            </a:r>
            <a:r>
              <a:rPr lang="el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Demand predictions, marketing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Optimize what to sell, recommend bundles</a:t>
            </a:r>
            <a:endParaRPr/>
          </a:p>
        </p:txBody>
      </p:sp>
      <p:cxnSp>
        <p:nvCxnSpPr>
          <p:cNvPr id="231" name="Google Shape;231;p30"/>
          <p:cNvCxnSpPr/>
          <p:nvPr/>
        </p:nvCxnSpPr>
        <p:spPr>
          <a:xfrm>
            <a:off x="3957100" y="2107500"/>
            <a:ext cx="6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30"/>
          <p:cNvCxnSpPr/>
          <p:nvPr/>
        </p:nvCxnSpPr>
        <p:spPr>
          <a:xfrm>
            <a:off x="3957100" y="2510450"/>
            <a:ext cx="6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30"/>
          <p:cNvCxnSpPr/>
          <p:nvPr/>
        </p:nvCxnSpPr>
        <p:spPr>
          <a:xfrm>
            <a:off x="3957100" y="2928125"/>
            <a:ext cx="6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p30"/>
          <p:cNvSpPr txBox="1"/>
          <p:nvPr/>
        </p:nvSpPr>
        <p:spPr>
          <a:xfrm>
            <a:off x="2122250" y="3522350"/>
            <a:ext cx="1569600" cy="486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to achieve</a:t>
            </a:r>
            <a:endParaRPr/>
          </a:p>
        </p:txBody>
      </p:sp>
      <p:sp>
        <p:nvSpPr>
          <p:cNvPr id="235" name="Google Shape;235;p30"/>
          <p:cNvSpPr txBox="1"/>
          <p:nvPr/>
        </p:nvSpPr>
        <p:spPr>
          <a:xfrm>
            <a:off x="4959275" y="3522350"/>
            <a:ext cx="1569600" cy="486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achieve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241" name="Google Shape;24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1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249" name="Google Shape;2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2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52" name="Google Shape;252;p32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258" name="Google Shape;2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3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61" name="Google Shape;261;p33"/>
          <p:cNvSpPr txBox="1"/>
          <p:nvPr/>
        </p:nvSpPr>
        <p:spPr>
          <a:xfrm>
            <a:off x="4813200" y="2571750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“Any ideas on potential improvements?”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268" name="Google Shape;2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“Want to help taxi drivers understand the trips better to assist our customers”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71" name="Google Shape;271;p34"/>
          <p:cNvSpPr txBox="1"/>
          <p:nvPr/>
        </p:nvSpPr>
        <p:spPr>
          <a:xfrm>
            <a:off x="4813200" y="25813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“Any ideas on potential improvements?”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72" name="Google Shape;272;p34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278" name="Google Shape;27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5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“Want to help taxi drivers understand the trips better to assist our customers”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81" name="Google Shape;281;p35"/>
          <p:cNvSpPr txBox="1"/>
          <p:nvPr/>
        </p:nvSpPr>
        <p:spPr>
          <a:xfrm>
            <a:off x="4813200" y="25813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“Any ideas on potential improvements?”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“Interesting. How do you understand trips?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82" name="Google Shape;282;p35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288" name="Google Shape;2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6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“Want to help taxi drivers understand the trips better to assist our customers”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know why some trips take more”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91" name="Google Shape;291;p36"/>
          <p:cNvSpPr txBox="1"/>
          <p:nvPr/>
        </p:nvSpPr>
        <p:spPr>
          <a:xfrm>
            <a:off x="4813200" y="25813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“Any ideas on potential improvements?”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“Interesting. How do you understand trips?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92" name="Google Shape;292;p36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7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“Want to help taxi drivers understand the trips better to assist our customers”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know why some trips take more”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01" name="Google Shape;301;p37"/>
          <p:cNvSpPr txBox="1"/>
          <p:nvPr/>
        </p:nvSpPr>
        <p:spPr>
          <a:xfrm>
            <a:off x="4813200" y="25813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“Any ideas on potential improvements?”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“Interesting. How do you understand trips?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“Like not-normal </a:t>
            </a:r>
            <a:r>
              <a:rPr lang="el" sz="1500">
                <a:solidFill>
                  <a:schemeClr val="dk2"/>
                </a:solidFill>
              </a:rPr>
              <a:t>cases </a:t>
            </a:r>
            <a:r>
              <a:rPr lang="el" sz="1500">
                <a:solidFill>
                  <a:schemeClr val="dk2"/>
                </a:solidFill>
              </a:rPr>
              <a:t>you mean?”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02" name="Google Shape;302;p37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308" name="Google Shape;3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8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“Want to help taxi drivers understand the trips better to assist our customers”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know why some trips take more”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“Yes”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4813200" y="25813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“Any ideas on potential improvements?”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“Interesting. How do you understand trips?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“Like not-normal cases you mean?”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318" name="Google Shape;3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9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“Want to help taxi drivers understand the trips better to assist our customers”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know why some trips take more”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“Yes”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21" name="Google Shape;321;p39"/>
          <p:cNvSpPr txBox="1"/>
          <p:nvPr/>
        </p:nvSpPr>
        <p:spPr>
          <a:xfrm>
            <a:off x="4813200" y="25813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“Any ideas on potential improvements?”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“Interesting. How do you understand trips?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“Like not-normal cases you mean?”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“Cluster those trips would be helpful.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22" name="Google Shape;322;p39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328" name="Google Shape;32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“Want to help taxi drivers understand the trips better to assist our customers”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know why some trips take more”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“Yes”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4813200" y="25813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“Any ideas on potential improvements?”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“Interesting. How do you understand trips?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“Like not-normal cases you mean?”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“Cluster those trips would be helpful. 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Do you gather details about the trips”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338" name="Google Shape;33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1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“Want to help taxi drivers understand the trips better to assist our customers”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know why some trips take more”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“Yes”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“Yes, we have a lot of historical data”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41" name="Google Shape;341;p41"/>
          <p:cNvSpPr txBox="1"/>
          <p:nvPr/>
        </p:nvSpPr>
        <p:spPr>
          <a:xfrm>
            <a:off x="4813200" y="25813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“Any ideas on potential improvements?”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“Interesting. How do you understand trips?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“Like not-normal cases you mean?”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“Cluster those trips would be helpful. 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Do you gather details about the trips”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42" name="Google Shape;342;p41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348" name="Google Shape;3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2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“Want to help taxi drivers understand the trips better to assist our customers”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know why some trips take more”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“Yes”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“Yes, we have a lot of historical data”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51" name="Google Shape;351;p42"/>
          <p:cNvSpPr txBox="1"/>
          <p:nvPr/>
        </p:nvSpPr>
        <p:spPr>
          <a:xfrm>
            <a:off x="4813200" y="25813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“Any ideas on potential improvements?”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“Interesting. How do you understand trips?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“Like not-normal cases you mean?”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“Cluster those trips would be helpful. 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Do you gather details about the trips” 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“Can I access them to check if it is feasible?”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52" name="Google Shape;352;p42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3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358" name="Google Shape;35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3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“Want to help taxi drivers understand the trips better to assist our customers”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know why some trips take more”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“Yes”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“Yes, we have a lot of historical data”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Of course.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61" name="Google Shape;361;p43"/>
          <p:cNvSpPr txBox="1"/>
          <p:nvPr/>
        </p:nvSpPr>
        <p:spPr>
          <a:xfrm>
            <a:off x="4813200" y="25813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“Any ideas on potential improvements?”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“Interesting. How do you understand trips?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“Like not-normal cases you mean?”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“Cluster those trips would be helpful. 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Do you gather details about the trips” 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“Can I access them to check if it is feasible?”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62" name="Google Shape;362;p43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4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Talking to a Business Expert Example</a:t>
            </a:r>
            <a:endParaRPr/>
          </a:p>
        </p:txBody>
      </p:sp>
      <p:pic>
        <p:nvPicPr>
          <p:cNvPr id="368" name="Google Shape;3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00" y="1475350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4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increase customer satisfaction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“Want to help taxi drivers understand the trips better to assist our customers”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know why some trips take more”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“Yes”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“Yes, we have a lot of historical data”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Of course.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….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71" name="Google Shape;371;p44"/>
          <p:cNvSpPr txBox="1"/>
          <p:nvPr/>
        </p:nvSpPr>
        <p:spPr>
          <a:xfrm>
            <a:off x="4813200" y="25813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“Any ideas on potential improvements?”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“Interesting. How do you understand trips?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“Like not-normal cases you mean?”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“Cluster those trips would be helpful. 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Do you gather details about the trips” 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“Can I access them to check if it is feasible?”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…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72" name="Google Shape;372;p44"/>
          <p:cNvSpPr txBox="1"/>
          <p:nvPr/>
        </p:nvSpPr>
        <p:spPr>
          <a:xfrm>
            <a:off x="2949525" y="849100"/>
            <a:ext cx="40032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MUBER example from Course 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Diligence</a:t>
            </a:r>
            <a:r>
              <a:rPr lang="el"/>
              <a:t> and Feasibility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Feasibility: Is this project </a:t>
            </a:r>
            <a:r>
              <a:rPr lang="el"/>
              <a:t>technically</a:t>
            </a:r>
            <a:r>
              <a:rPr lang="el"/>
              <a:t> feasible?</a:t>
            </a:r>
            <a:endParaRPr/>
          </a:p>
        </p:txBody>
      </p:sp>
      <p:sp>
        <p:nvSpPr>
          <p:cNvPr id="383" name="Google Shape;383;p46"/>
          <p:cNvSpPr txBox="1"/>
          <p:nvPr/>
        </p:nvSpPr>
        <p:spPr>
          <a:xfrm>
            <a:off x="478975" y="1105325"/>
            <a:ext cx="73983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chemeClr val="dk1"/>
                </a:solidFill>
              </a:rPr>
              <a:t>Ask yourself!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Before starting your project, how do you know that this thing can be even built?</a:t>
            </a:r>
            <a:endParaRPr sz="1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Feasibility: Is this project technically feasible?</a:t>
            </a:r>
            <a:endParaRPr/>
          </a:p>
        </p:txBody>
      </p:sp>
      <p:sp>
        <p:nvSpPr>
          <p:cNvPr id="389" name="Google Shape;389;p47"/>
          <p:cNvSpPr txBox="1"/>
          <p:nvPr/>
        </p:nvSpPr>
        <p:spPr>
          <a:xfrm>
            <a:off x="478975" y="1105325"/>
            <a:ext cx="73983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chemeClr val="dk1"/>
                </a:solidFill>
              </a:rPr>
              <a:t>Ask yourself!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Before starting your project, how do you know that this thing can be even built?</a:t>
            </a:r>
            <a:endParaRPr sz="1500">
              <a:solidFill>
                <a:srgbClr val="FF00FF"/>
              </a:solidFill>
            </a:endParaRPr>
          </a:p>
        </p:txBody>
      </p:sp>
      <p:sp>
        <p:nvSpPr>
          <p:cNvPr id="390" name="Google Shape;390;p47"/>
          <p:cNvSpPr txBox="1"/>
          <p:nvPr/>
        </p:nvSpPr>
        <p:spPr>
          <a:xfrm>
            <a:off x="567425" y="1842225"/>
            <a:ext cx="81573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Get a quick sense of feasibility with quick research.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Use external benchmarks (literature, github, medium, other company, a competitor)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eg. can you find someone that has already developed a good recommendation system?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Feasibility: Is this project technically feasible?</a:t>
            </a:r>
            <a:endParaRPr/>
          </a:p>
        </p:txBody>
      </p:sp>
      <p:sp>
        <p:nvSpPr>
          <p:cNvPr id="396" name="Google Shape;396;p48"/>
          <p:cNvSpPr txBox="1"/>
          <p:nvPr/>
        </p:nvSpPr>
        <p:spPr>
          <a:xfrm>
            <a:off x="478975" y="1105325"/>
            <a:ext cx="73983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chemeClr val="dk1"/>
                </a:solidFill>
              </a:rPr>
              <a:t>Ask yourself!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Before starting your project, how do you know that this thing can be even built?</a:t>
            </a:r>
            <a:endParaRPr sz="1500">
              <a:solidFill>
                <a:srgbClr val="FF00FF"/>
              </a:solidFill>
            </a:endParaRPr>
          </a:p>
        </p:txBody>
      </p:sp>
      <p:sp>
        <p:nvSpPr>
          <p:cNvPr id="397" name="Google Shape;397;p48"/>
          <p:cNvSpPr txBox="1"/>
          <p:nvPr/>
        </p:nvSpPr>
        <p:spPr>
          <a:xfrm>
            <a:off x="567425" y="1842225"/>
            <a:ext cx="81573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Get a quick sense of feasibility with quick research.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Use external benchmarks (literature, github, medium, other company, a competitor)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eg. can you find someone that has already developed a good recommendation system?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graphicFrame>
        <p:nvGraphicFramePr>
          <p:cNvPr id="398" name="Google Shape;398;p48"/>
          <p:cNvGraphicFramePr/>
          <p:nvPr/>
        </p:nvGraphicFramePr>
        <p:xfrm>
          <a:off x="2186775" y="322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{161172E9-235D-4B24-9CB2-AE9D2BF44DFD}</a:tableStyleId>
              </a:tblPr>
              <a:tblGrid>
                <a:gridCol w="2256275"/>
                <a:gridCol w="2256275"/>
              </a:tblGrid>
              <a:tr h="72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/>
                        <a:t>HLP (human performance)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/>
                        <a:t>Can a human detect phone scratches?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/>
                        <a:t>If yes, then maybe an AI can too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/>
                        <a:t>Do I have predictive features?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/>
                        <a:t>(For example, do I have past transactions to forecast news?)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72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/>
                        <a:t>HLP 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/>
                        <a:t>Set a performance goal.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/>
                        <a:t>If a human can reach it, then maybe an AI can too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/>
                        <a:t>Do I have to find new features?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/>
                        <a:t>Whats the history of the project?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9" name="Google Shape;399;p48"/>
          <p:cNvSpPr txBox="1"/>
          <p:nvPr/>
        </p:nvSpPr>
        <p:spPr>
          <a:xfrm>
            <a:off x="2660175" y="2733825"/>
            <a:ext cx="15873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000"/>
              <a:t>Unstructured data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(eg audio, images)</a:t>
            </a:r>
            <a:endParaRPr sz="1000"/>
          </a:p>
        </p:txBody>
      </p:sp>
      <p:sp>
        <p:nvSpPr>
          <p:cNvPr id="400" name="Google Shape;400;p48"/>
          <p:cNvSpPr txBox="1"/>
          <p:nvPr/>
        </p:nvSpPr>
        <p:spPr>
          <a:xfrm>
            <a:off x="4912725" y="2751838"/>
            <a:ext cx="12453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000"/>
              <a:t>Structured data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(eg tables etc)</a:t>
            </a:r>
            <a:endParaRPr sz="1000"/>
          </a:p>
        </p:txBody>
      </p:sp>
      <p:sp>
        <p:nvSpPr>
          <p:cNvPr id="401" name="Google Shape;401;p48"/>
          <p:cNvSpPr txBox="1"/>
          <p:nvPr/>
        </p:nvSpPr>
        <p:spPr>
          <a:xfrm>
            <a:off x="311700" y="3350450"/>
            <a:ext cx="17490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000"/>
              <a:t>New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(do a task for the first time )</a:t>
            </a:r>
            <a:endParaRPr sz="1000"/>
          </a:p>
        </p:txBody>
      </p:sp>
      <p:sp>
        <p:nvSpPr>
          <p:cNvPr id="402" name="Google Shape;402;p48"/>
          <p:cNvSpPr txBox="1"/>
          <p:nvPr/>
        </p:nvSpPr>
        <p:spPr>
          <a:xfrm>
            <a:off x="228300" y="4026050"/>
            <a:ext cx="1832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000"/>
              <a:t>Existing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(Already have a system and you look for improvement)</a:t>
            </a:r>
            <a:endParaRPr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Why use HLP to benchmark?</a:t>
            </a:r>
            <a:endParaRPr/>
          </a:p>
        </p:txBody>
      </p:sp>
      <p:sp>
        <p:nvSpPr>
          <p:cNvPr id="408" name="Google Shape;408;p49"/>
          <p:cNvSpPr txBox="1"/>
          <p:nvPr/>
        </p:nvSpPr>
        <p:spPr>
          <a:xfrm>
            <a:off x="449500" y="1039025"/>
            <a:ext cx="84375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People are very good at unstructured data tasks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Criteria: Can a human, given the same data, perform the task?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Example: You build self-driving cars and you want to classify the color of the traffic light</a:t>
            </a:r>
            <a:endParaRPr sz="1600"/>
          </a:p>
        </p:txBody>
      </p:sp>
      <p:pic>
        <p:nvPicPr>
          <p:cNvPr id="409" name="Google Shape;40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35625"/>
            <a:ext cx="3555227" cy="235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Why use HLP to benchmark?</a:t>
            </a:r>
            <a:endParaRPr/>
          </a:p>
        </p:txBody>
      </p:sp>
      <p:sp>
        <p:nvSpPr>
          <p:cNvPr id="415" name="Google Shape;415;p50"/>
          <p:cNvSpPr txBox="1"/>
          <p:nvPr/>
        </p:nvSpPr>
        <p:spPr>
          <a:xfrm>
            <a:off x="442150" y="965350"/>
            <a:ext cx="84375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People are very good at unstructured data tasks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Criteria: Can a human, given the same data, perform the task?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Example: You build self-driving cars and you want to classify the color of the traffic light</a:t>
            </a:r>
            <a:endParaRPr sz="1600"/>
          </a:p>
        </p:txBody>
      </p:sp>
      <p:sp>
        <p:nvSpPr>
          <p:cNvPr id="416" name="Google Shape;416;p50"/>
          <p:cNvSpPr txBox="1"/>
          <p:nvPr/>
        </p:nvSpPr>
        <p:spPr>
          <a:xfrm>
            <a:off x="1981575" y="2391150"/>
            <a:ext cx="6671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Sit down and think if you can solve an unstructured task </a:t>
            </a:r>
            <a:endParaRPr b="1" sz="1600"/>
          </a:p>
        </p:txBody>
      </p:sp>
      <p:pic>
        <p:nvPicPr>
          <p:cNvPr id="417" name="Google Shape;417;p50"/>
          <p:cNvPicPr preferRelativeResize="0"/>
          <p:nvPr/>
        </p:nvPicPr>
        <p:blipFill rotWithShape="1">
          <a:blip r:embed="rId3">
            <a:alphaModFix/>
          </a:blip>
          <a:srcRect b="0" l="0" r="42319" t="0"/>
          <a:stretch/>
        </p:blipFill>
        <p:spPr>
          <a:xfrm>
            <a:off x="145025" y="2753525"/>
            <a:ext cx="4991101" cy="235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Why use HLP to benchmark?</a:t>
            </a:r>
            <a:endParaRPr/>
          </a:p>
        </p:txBody>
      </p:sp>
      <p:pic>
        <p:nvPicPr>
          <p:cNvPr id="423" name="Google Shape;42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25" y="2753525"/>
            <a:ext cx="8653169" cy="2355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1"/>
          <p:cNvSpPr txBox="1"/>
          <p:nvPr/>
        </p:nvSpPr>
        <p:spPr>
          <a:xfrm>
            <a:off x="442150" y="965350"/>
            <a:ext cx="84375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People are very good at unstructured data tasks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Criteria: Can a human, given the same data, perform the task?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Example: You build self-driving cars and you want to classify the color of the traffic light</a:t>
            </a:r>
            <a:endParaRPr sz="1600"/>
          </a:p>
        </p:txBody>
      </p:sp>
      <p:sp>
        <p:nvSpPr>
          <p:cNvPr id="425" name="Google Shape;425;p51"/>
          <p:cNvSpPr txBox="1"/>
          <p:nvPr/>
        </p:nvSpPr>
        <p:spPr>
          <a:xfrm>
            <a:off x="1981575" y="2391150"/>
            <a:ext cx="6671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Sit down and think if you can solve an unstructured task </a:t>
            </a:r>
            <a:endParaRPr b="1"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Why use HLP to benchmark?</a:t>
            </a:r>
            <a:endParaRPr/>
          </a:p>
        </p:txBody>
      </p:sp>
      <p:pic>
        <p:nvPicPr>
          <p:cNvPr id="431" name="Google Shape;43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25" y="2753525"/>
            <a:ext cx="8653169" cy="235547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2"/>
          <p:cNvSpPr txBox="1"/>
          <p:nvPr/>
        </p:nvSpPr>
        <p:spPr>
          <a:xfrm>
            <a:off x="2338025" y="1607875"/>
            <a:ext cx="5127900" cy="79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If you cant, its better to invest time on other things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l" sz="1500"/>
              <a:t>Better equipment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l" sz="1500"/>
              <a:t>Better sensors (better traffic lights)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Do we have features that are predictive?</a:t>
            </a:r>
            <a:endParaRPr/>
          </a:p>
        </p:txBody>
      </p:sp>
      <p:sp>
        <p:nvSpPr>
          <p:cNvPr id="438" name="Google Shape;438;p53"/>
          <p:cNvSpPr txBox="1"/>
          <p:nvPr/>
        </p:nvSpPr>
        <p:spPr>
          <a:xfrm>
            <a:off x="311700" y="1017725"/>
            <a:ext cx="84006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Before jumping into our project its best to check if the solution is feasible given our data.</a:t>
            </a:r>
            <a:endParaRPr/>
          </a:p>
        </p:txBody>
      </p:sp>
      <p:sp>
        <p:nvSpPr>
          <p:cNvPr id="439" name="Google Shape;439;p53"/>
          <p:cNvSpPr txBox="1"/>
          <p:nvPr/>
        </p:nvSpPr>
        <p:spPr>
          <a:xfrm>
            <a:off x="2475950" y="287375"/>
            <a:ext cx="3581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x						y</a:t>
            </a:r>
            <a:endParaRPr b="1">
              <a:solidFill>
                <a:srgbClr val="FF00FF"/>
              </a:solidFill>
            </a:endParaRPr>
          </a:p>
        </p:txBody>
      </p:sp>
      <p:pic>
        <p:nvPicPr>
          <p:cNvPr id="440" name="Google Shape;44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400" y="1938875"/>
            <a:ext cx="6015401" cy="21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estimate the value of a ML project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Diligence on value: Bridge the gap</a:t>
            </a:r>
            <a:endParaRPr/>
          </a:p>
        </p:txBody>
      </p:sp>
      <p:sp>
        <p:nvSpPr>
          <p:cNvPr id="451" name="Google Shape;451;p55"/>
          <p:cNvSpPr txBox="1"/>
          <p:nvPr/>
        </p:nvSpPr>
        <p:spPr>
          <a:xfrm>
            <a:off x="434775" y="1046375"/>
            <a:ext cx="824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Example: You design a speech recognition app for web searches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People speak on their phone and the phone </a:t>
            </a:r>
            <a:r>
              <a:rPr lang="el"/>
              <a:t>browse</a:t>
            </a:r>
            <a:r>
              <a:rPr lang="el"/>
              <a:t> the web</a:t>
            </a:r>
            <a:endParaRPr/>
          </a:p>
        </p:txBody>
      </p:sp>
      <p:sp>
        <p:nvSpPr>
          <p:cNvPr id="452" name="Google Shape;452;p55"/>
          <p:cNvSpPr txBox="1"/>
          <p:nvPr/>
        </p:nvSpPr>
        <p:spPr>
          <a:xfrm>
            <a:off x="228425" y="2078025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Metrics</a:t>
            </a:r>
            <a:endParaRPr/>
          </a:p>
        </p:txBody>
      </p:sp>
      <p:sp>
        <p:nvSpPr>
          <p:cNvPr id="453" name="Google Shape;453;p55"/>
          <p:cNvSpPr txBox="1"/>
          <p:nvPr/>
        </p:nvSpPr>
        <p:spPr>
          <a:xfrm>
            <a:off x="7464675" y="2078025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Business metrics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Diligence on value: Bridge the gap</a:t>
            </a:r>
            <a:endParaRPr/>
          </a:p>
        </p:txBody>
      </p:sp>
      <p:sp>
        <p:nvSpPr>
          <p:cNvPr id="459" name="Google Shape;459;p56"/>
          <p:cNvSpPr txBox="1"/>
          <p:nvPr/>
        </p:nvSpPr>
        <p:spPr>
          <a:xfrm>
            <a:off x="434775" y="1046375"/>
            <a:ext cx="824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Example: You design a speech recognition app for web searches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People speak on their phone and the phone browse the web</a:t>
            </a:r>
            <a:endParaRPr/>
          </a:p>
        </p:txBody>
      </p:sp>
      <p:sp>
        <p:nvSpPr>
          <p:cNvPr id="460" name="Google Shape;460;p56"/>
          <p:cNvSpPr txBox="1"/>
          <p:nvPr/>
        </p:nvSpPr>
        <p:spPr>
          <a:xfrm>
            <a:off x="228425" y="2078025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Metrics</a:t>
            </a:r>
            <a:endParaRPr/>
          </a:p>
        </p:txBody>
      </p:sp>
      <p:sp>
        <p:nvSpPr>
          <p:cNvPr id="461" name="Google Shape;461;p56"/>
          <p:cNvSpPr txBox="1"/>
          <p:nvPr/>
        </p:nvSpPr>
        <p:spPr>
          <a:xfrm>
            <a:off x="7464675" y="2078025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Business metrics</a:t>
            </a:r>
            <a:endParaRPr/>
          </a:p>
        </p:txBody>
      </p:sp>
      <p:sp>
        <p:nvSpPr>
          <p:cNvPr id="462" name="Google Shape;462;p56"/>
          <p:cNvSpPr txBox="1"/>
          <p:nvPr/>
        </p:nvSpPr>
        <p:spPr>
          <a:xfrm>
            <a:off x="228425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World level accuracy</a:t>
            </a:r>
            <a:endParaRPr sz="1300"/>
          </a:p>
        </p:txBody>
      </p:sp>
      <p:sp>
        <p:nvSpPr>
          <p:cNvPr id="463" name="Google Shape;463;p56"/>
          <p:cNvSpPr txBox="1"/>
          <p:nvPr/>
        </p:nvSpPr>
        <p:spPr>
          <a:xfrm>
            <a:off x="7464675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Revenue</a:t>
            </a:r>
            <a:endParaRPr sz="1300"/>
          </a:p>
        </p:txBody>
      </p:sp>
      <p:cxnSp>
        <p:nvCxnSpPr>
          <p:cNvPr id="464" name="Google Shape;464;p56"/>
          <p:cNvCxnSpPr/>
          <p:nvPr/>
        </p:nvCxnSpPr>
        <p:spPr>
          <a:xfrm>
            <a:off x="820375" y="2630625"/>
            <a:ext cx="0" cy="5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5" name="Google Shape;465;p56"/>
          <p:cNvCxnSpPr/>
          <p:nvPr/>
        </p:nvCxnSpPr>
        <p:spPr>
          <a:xfrm>
            <a:off x="8072625" y="2630613"/>
            <a:ext cx="0" cy="5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6" name="Google Shape;466;p56"/>
          <p:cNvSpPr txBox="1"/>
          <p:nvPr/>
        </p:nvSpPr>
        <p:spPr>
          <a:xfrm>
            <a:off x="782200" y="2677725"/>
            <a:ext cx="81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main goal</a:t>
            </a:r>
            <a:endParaRPr sz="900"/>
          </a:p>
        </p:txBody>
      </p:sp>
      <p:sp>
        <p:nvSpPr>
          <p:cNvPr id="467" name="Google Shape;467;p56"/>
          <p:cNvSpPr txBox="1"/>
          <p:nvPr/>
        </p:nvSpPr>
        <p:spPr>
          <a:xfrm>
            <a:off x="8072625" y="2677725"/>
            <a:ext cx="81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main goal</a:t>
            </a:r>
            <a:endParaRPr sz="9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Diligence on value: Bridge the gap</a:t>
            </a:r>
            <a:endParaRPr/>
          </a:p>
        </p:txBody>
      </p:sp>
      <p:sp>
        <p:nvSpPr>
          <p:cNvPr id="473" name="Google Shape;473;p57"/>
          <p:cNvSpPr txBox="1"/>
          <p:nvPr/>
        </p:nvSpPr>
        <p:spPr>
          <a:xfrm>
            <a:off x="434775" y="1046375"/>
            <a:ext cx="824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Example: You design a speech recognition app for web searches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People speak on their phone and the phone browse the web</a:t>
            </a:r>
            <a:endParaRPr/>
          </a:p>
        </p:txBody>
      </p:sp>
      <p:sp>
        <p:nvSpPr>
          <p:cNvPr id="474" name="Google Shape;474;p57"/>
          <p:cNvSpPr txBox="1"/>
          <p:nvPr/>
        </p:nvSpPr>
        <p:spPr>
          <a:xfrm>
            <a:off x="228425" y="2078025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Metrics</a:t>
            </a:r>
            <a:endParaRPr/>
          </a:p>
        </p:txBody>
      </p:sp>
      <p:sp>
        <p:nvSpPr>
          <p:cNvPr id="475" name="Google Shape;475;p57"/>
          <p:cNvSpPr txBox="1"/>
          <p:nvPr/>
        </p:nvSpPr>
        <p:spPr>
          <a:xfrm>
            <a:off x="7464675" y="2078025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Business metrics</a:t>
            </a:r>
            <a:endParaRPr/>
          </a:p>
        </p:txBody>
      </p:sp>
      <p:sp>
        <p:nvSpPr>
          <p:cNvPr id="476" name="Google Shape;476;p57"/>
          <p:cNvSpPr txBox="1"/>
          <p:nvPr/>
        </p:nvSpPr>
        <p:spPr>
          <a:xfrm>
            <a:off x="228425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World level accuracy</a:t>
            </a:r>
            <a:endParaRPr sz="1300"/>
          </a:p>
        </p:txBody>
      </p:sp>
      <p:sp>
        <p:nvSpPr>
          <p:cNvPr id="477" name="Google Shape;477;p57"/>
          <p:cNvSpPr txBox="1"/>
          <p:nvPr/>
        </p:nvSpPr>
        <p:spPr>
          <a:xfrm>
            <a:off x="7464675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Revenue</a:t>
            </a:r>
            <a:endParaRPr sz="1300"/>
          </a:p>
        </p:txBody>
      </p:sp>
      <p:cxnSp>
        <p:nvCxnSpPr>
          <p:cNvPr id="478" name="Google Shape;478;p57"/>
          <p:cNvCxnSpPr/>
          <p:nvPr/>
        </p:nvCxnSpPr>
        <p:spPr>
          <a:xfrm>
            <a:off x="820375" y="2630625"/>
            <a:ext cx="0" cy="5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57"/>
          <p:cNvCxnSpPr/>
          <p:nvPr/>
        </p:nvCxnSpPr>
        <p:spPr>
          <a:xfrm>
            <a:off x="8072625" y="2630613"/>
            <a:ext cx="0" cy="5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0" name="Google Shape;480;p57"/>
          <p:cNvSpPr txBox="1"/>
          <p:nvPr/>
        </p:nvSpPr>
        <p:spPr>
          <a:xfrm>
            <a:off x="3397050" y="2181138"/>
            <a:ext cx="1643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common ground?</a:t>
            </a:r>
            <a:endParaRPr/>
          </a:p>
        </p:txBody>
      </p:sp>
      <p:sp>
        <p:nvSpPr>
          <p:cNvPr id="481" name="Google Shape;481;p57"/>
          <p:cNvSpPr txBox="1"/>
          <p:nvPr/>
        </p:nvSpPr>
        <p:spPr>
          <a:xfrm>
            <a:off x="782200" y="2677725"/>
            <a:ext cx="81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main goal</a:t>
            </a:r>
            <a:endParaRPr sz="900"/>
          </a:p>
        </p:txBody>
      </p:sp>
      <p:sp>
        <p:nvSpPr>
          <p:cNvPr id="482" name="Google Shape;482;p57"/>
          <p:cNvSpPr txBox="1"/>
          <p:nvPr/>
        </p:nvSpPr>
        <p:spPr>
          <a:xfrm>
            <a:off x="8072625" y="2677725"/>
            <a:ext cx="81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main goal</a:t>
            </a:r>
            <a:endParaRPr sz="9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Diligence on value: Bridge the gap</a:t>
            </a:r>
            <a:endParaRPr/>
          </a:p>
        </p:txBody>
      </p:sp>
      <p:sp>
        <p:nvSpPr>
          <p:cNvPr id="488" name="Google Shape;488;p58"/>
          <p:cNvSpPr txBox="1"/>
          <p:nvPr/>
        </p:nvSpPr>
        <p:spPr>
          <a:xfrm>
            <a:off x="434775" y="1046375"/>
            <a:ext cx="824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Example: You design a speech recognition app for web searches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People speak on their phone and the phone browse the web</a:t>
            </a:r>
            <a:endParaRPr/>
          </a:p>
        </p:txBody>
      </p:sp>
      <p:sp>
        <p:nvSpPr>
          <p:cNvPr id="489" name="Google Shape;489;p58"/>
          <p:cNvSpPr txBox="1"/>
          <p:nvPr/>
        </p:nvSpPr>
        <p:spPr>
          <a:xfrm>
            <a:off x="228425" y="2078025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Metrics</a:t>
            </a:r>
            <a:endParaRPr/>
          </a:p>
        </p:txBody>
      </p:sp>
      <p:sp>
        <p:nvSpPr>
          <p:cNvPr id="490" name="Google Shape;490;p58"/>
          <p:cNvSpPr txBox="1"/>
          <p:nvPr/>
        </p:nvSpPr>
        <p:spPr>
          <a:xfrm>
            <a:off x="7464675" y="2078025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Business metrics</a:t>
            </a:r>
            <a:endParaRPr/>
          </a:p>
        </p:txBody>
      </p:sp>
      <p:sp>
        <p:nvSpPr>
          <p:cNvPr id="491" name="Google Shape;491;p58"/>
          <p:cNvSpPr txBox="1"/>
          <p:nvPr/>
        </p:nvSpPr>
        <p:spPr>
          <a:xfrm>
            <a:off x="228425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World level accuracy</a:t>
            </a:r>
            <a:endParaRPr sz="1300"/>
          </a:p>
        </p:txBody>
      </p:sp>
      <p:sp>
        <p:nvSpPr>
          <p:cNvPr id="492" name="Google Shape;492;p58"/>
          <p:cNvSpPr txBox="1"/>
          <p:nvPr/>
        </p:nvSpPr>
        <p:spPr>
          <a:xfrm>
            <a:off x="3534575" y="3063100"/>
            <a:ext cx="1215900" cy="550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Search result quality</a:t>
            </a:r>
            <a:endParaRPr sz="1300"/>
          </a:p>
        </p:txBody>
      </p:sp>
      <p:sp>
        <p:nvSpPr>
          <p:cNvPr id="493" name="Google Shape;493;p58"/>
          <p:cNvSpPr txBox="1"/>
          <p:nvPr/>
        </p:nvSpPr>
        <p:spPr>
          <a:xfrm>
            <a:off x="7464675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Revenue</a:t>
            </a:r>
            <a:endParaRPr sz="1300"/>
          </a:p>
        </p:txBody>
      </p:sp>
      <p:cxnSp>
        <p:nvCxnSpPr>
          <p:cNvPr id="494" name="Google Shape;494;p58"/>
          <p:cNvCxnSpPr/>
          <p:nvPr/>
        </p:nvCxnSpPr>
        <p:spPr>
          <a:xfrm>
            <a:off x="820375" y="2630625"/>
            <a:ext cx="0" cy="5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" name="Google Shape;495;p58"/>
          <p:cNvCxnSpPr/>
          <p:nvPr/>
        </p:nvCxnSpPr>
        <p:spPr>
          <a:xfrm>
            <a:off x="8072625" y="2630613"/>
            <a:ext cx="0" cy="5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p58"/>
          <p:cNvCxnSpPr/>
          <p:nvPr/>
        </p:nvCxnSpPr>
        <p:spPr>
          <a:xfrm flipH="1">
            <a:off x="4156225" y="2549650"/>
            <a:ext cx="7200" cy="3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p58"/>
          <p:cNvSpPr txBox="1"/>
          <p:nvPr/>
        </p:nvSpPr>
        <p:spPr>
          <a:xfrm>
            <a:off x="3397050" y="2181138"/>
            <a:ext cx="1643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common ground?</a:t>
            </a:r>
            <a:endParaRPr/>
          </a:p>
        </p:txBody>
      </p:sp>
      <p:sp>
        <p:nvSpPr>
          <p:cNvPr id="498" name="Google Shape;498;p58"/>
          <p:cNvSpPr txBox="1"/>
          <p:nvPr/>
        </p:nvSpPr>
        <p:spPr>
          <a:xfrm>
            <a:off x="782200" y="2677725"/>
            <a:ext cx="81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main goal</a:t>
            </a:r>
            <a:endParaRPr sz="900"/>
          </a:p>
        </p:txBody>
      </p:sp>
      <p:sp>
        <p:nvSpPr>
          <p:cNvPr id="499" name="Google Shape;499;p58"/>
          <p:cNvSpPr txBox="1"/>
          <p:nvPr/>
        </p:nvSpPr>
        <p:spPr>
          <a:xfrm>
            <a:off x="8072625" y="2677725"/>
            <a:ext cx="81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main goal</a:t>
            </a:r>
            <a:endParaRPr sz="9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Diligence on value: Bridge the gap</a:t>
            </a:r>
            <a:endParaRPr/>
          </a:p>
        </p:txBody>
      </p:sp>
      <p:sp>
        <p:nvSpPr>
          <p:cNvPr id="505" name="Google Shape;505;p59"/>
          <p:cNvSpPr txBox="1"/>
          <p:nvPr/>
        </p:nvSpPr>
        <p:spPr>
          <a:xfrm>
            <a:off x="434775" y="1046375"/>
            <a:ext cx="824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Example: You design a speech recognition app for web searches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People speak on their phone and the phone browse the web</a:t>
            </a:r>
            <a:endParaRPr/>
          </a:p>
        </p:txBody>
      </p:sp>
      <p:sp>
        <p:nvSpPr>
          <p:cNvPr id="506" name="Google Shape;506;p59"/>
          <p:cNvSpPr txBox="1"/>
          <p:nvPr/>
        </p:nvSpPr>
        <p:spPr>
          <a:xfrm>
            <a:off x="228425" y="2078025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Metrics</a:t>
            </a:r>
            <a:endParaRPr/>
          </a:p>
        </p:txBody>
      </p:sp>
      <p:sp>
        <p:nvSpPr>
          <p:cNvPr id="507" name="Google Shape;507;p59"/>
          <p:cNvSpPr txBox="1"/>
          <p:nvPr/>
        </p:nvSpPr>
        <p:spPr>
          <a:xfrm>
            <a:off x="7464675" y="2078025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Business metrics</a:t>
            </a:r>
            <a:endParaRPr/>
          </a:p>
        </p:txBody>
      </p:sp>
      <p:sp>
        <p:nvSpPr>
          <p:cNvPr id="508" name="Google Shape;508;p59"/>
          <p:cNvSpPr txBox="1"/>
          <p:nvPr/>
        </p:nvSpPr>
        <p:spPr>
          <a:xfrm>
            <a:off x="228425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World level accuracy</a:t>
            </a:r>
            <a:endParaRPr sz="1300"/>
          </a:p>
        </p:txBody>
      </p:sp>
      <p:sp>
        <p:nvSpPr>
          <p:cNvPr id="509" name="Google Shape;509;p59"/>
          <p:cNvSpPr txBox="1"/>
          <p:nvPr/>
        </p:nvSpPr>
        <p:spPr>
          <a:xfrm>
            <a:off x="1709475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Query-level accuracy</a:t>
            </a:r>
            <a:endParaRPr sz="1300"/>
          </a:p>
        </p:txBody>
      </p:sp>
      <p:sp>
        <p:nvSpPr>
          <p:cNvPr id="510" name="Google Shape;510;p59"/>
          <p:cNvSpPr txBox="1"/>
          <p:nvPr/>
        </p:nvSpPr>
        <p:spPr>
          <a:xfrm>
            <a:off x="3534575" y="3063100"/>
            <a:ext cx="1215900" cy="550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Search result quality</a:t>
            </a:r>
            <a:endParaRPr sz="1300"/>
          </a:p>
        </p:txBody>
      </p:sp>
      <p:sp>
        <p:nvSpPr>
          <p:cNvPr id="511" name="Google Shape;511;p59"/>
          <p:cNvSpPr txBox="1"/>
          <p:nvPr/>
        </p:nvSpPr>
        <p:spPr>
          <a:xfrm>
            <a:off x="5359638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User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engagement</a:t>
            </a:r>
            <a:endParaRPr sz="1300"/>
          </a:p>
        </p:txBody>
      </p:sp>
      <p:sp>
        <p:nvSpPr>
          <p:cNvPr id="512" name="Google Shape;512;p59"/>
          <p:cNvSpPr txBox="1"/>
          <p:nvPr/>
        </p:nvSpPr>
        <p:spPr>
          <a:xfrm>
            <a:off x="7464675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Revenue</a:t>
            </a:r>
            <a:endParaRPr sz="1300"/>
          </a:p>
        </p:txBody>
      </p:sp>
      <p:cxnSp>
        <p:nvCxnSpPr>
          <p:cNvPr id="513" name="Google Shape;513;p59"/>
          <p:cNvCxnSpPr/>
          <p:nvPr/>
        </p:nvCxnSpPr>
        <p:spPr>
          <a:xfrm>
            <a:off x="820375" y="2630625"/>
            <a:ext cx="0" cy="5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4" name="Google Shape;514;p59"/>
          <p:cNvCxnSpPr/>
          <p:nvPr/>
        </p:nvCxnSpPr>
        <p:spPr>
          <a:xfrm>
            <a:off x="8072625" y="2630613"/>
            <a:ext cx="0" cy="5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59"/>
          <p:cNvCxnSpPr/>
          <p:nvPr/>
        </p:nvCxnSpPr>
        <p:spPr>
          <a:xfrm flipH="1" rot="10800000">
            <a:off x="1318975" y="3277450"/>
            <a:ext cx="4347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59"/>
          <p:cNvCxnSpPr>
            <a:stCxn id="512" idx="1"/>
          </p:cNvCxnSpPr>
          <p:nvPr/>
        </p:nvCxnSpPr>
        <p:spPr>
          <a:xfrm rot="10800000">
            <a:off x="6823575" y="3280450"/>
            <a:ext cx="64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59"/>
          <p:cNvCxnSpPr/>
          <p:nvPr/>
        </p:nvCxnSpPr>
        <p:spPr>
          <a:xfrm flipH="1">
            <a:off x="4156225" y="2549650"/>
            <a:ext cx="7200" cy="3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8" name="Google Shape;518;p59"/>
          <p:cNvSpPr txBox="1"/>
          <p:nvPr/>
        </p:nvSpPr>
        <p:spPr>
          <a:xfrm>
            <a:off x="3397050" y="2181138"/>
            <a:ext cx="1643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common ground?</a:t>
            </a:r>
            <a:endParaRPr/>
          </a:p>
        </p:txBody>
      </p:sp>
      <p:sp>
        <p:nvSpPr>
          <p:cNvPr id="519" name="Google Shape;519;p59"/>
          <p:cNvSpPr txBox="1"/>
          <p:nvPr/>
        </p:nvSpPr>
        <p:spPr>
          <a:xfrm>
            <a:off x="782200" y="2677725"/>
            <a:ext cx="81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main goal</a:t>
            </a:r>
            <a:endParaRPr sz="900"/>
          </a:p>
        </p:txBody>
      </p:sp>
      <p:sp>
        <p:nvSpPr>
          <p:cNvPr id="520" name="Google Shape;520;p59"/>
          <p:cNvSpPr txBox="1"/>
          <p:nvPr/>
        </p:nvSpPr>
        <p:spPr>
          <a:xfrm>
            <a:off x="8072625" y="2677725"/>
            <a:ext cx="81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main goal</a:t>
            </a:r>
            <a:endParaRPr sz="900"/>
          </a:p>
        </p:txBody>
      </p:sp>
      <p:sp>
        <p:nvSpPr>
          <p:cNvPr id="521" name="Google Shape;521;p59"/>
          <p:cNvSpPr txBox="1"/>
          <p:nvPr/>
        </p:nvSpPr>
        <p:spPr>
          <a:xfrm>
            <a:off x="1318975" y="3012000"/>
            <a:ext cx="81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aim </a:t>
            </a:r>
            <a:endParaRPr sz="900"/>
          </a:p>
        </p:txBody>
      </p:sp>
      <p:sp>
        <p:nvSpPr>
          <p:cNvPr id="522" name="Google Shape;522;p59"/>
          <p:cNvSpPr txBox="1"/>
          <p:nvPr/>
        </p:nvSpPr>
        <p:spPr>
          <a:xfrm>
            <a:off x="6993075" y="3012000"/>
            <a:ext cx="4716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aim</a:t>
            </a:r>
            <a:endParaRPr sz="9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Diligence on value: Bridge the gap</a:t>
            </a:r>
            <a:endParaRPr/>
          </a:p>
        </p:txBody>
      </p:sp>
      <p:sp>
        <p:nvSpPr>
          <p:cNvPr id="528" name="Google Shape;528;p60"/>
          <p:cNvSpPr txBox="1"/>
          <p:nvPr/>
        </p:nvSpPr>
        <p:spPr>
          <a:xfrm>
            <a:off x="434775" y="1046375"/>
            <a:ext cx="824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Example: You design a speech recognition app for web searches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People speak on their phone and the phone browse the web</a:t>
            </a:r>
            <a:endParaRPr/>
          </a:p>
        </p:txBody>
      </p:sp>
      <p:sp>
        <p:nvSpPr>
          <p:cNvPr id="529" name="Google Shape;529;p60"/>
          <p:cNvSpPr txBox="1"/>
          <p:nvPr/>
        </p:nvSpPr>
        <p:spPr>
          <a:xfrm>
            <a:off x="228425" y="2078025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Metrics</a:t>
            </a:r>
            <a:endParaRPr/>
          </a:p>
        </p:txBody>
      </p:sp>
      <p:sp>
        <p:nvSpPr>
          <p:cNvPr id="530" name="Google Shape;530;p60"/>
          <p:cNvSpPr txBox="1"/>
          <p:nvPr/>
        </p:nvSpPr>
        <p:spPr>
          <a:xfrm>
            <a:off x="7464675" y="2078025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Business metrics</a:t>
            </a:r>
            <a:endParaRPr/>
          </a:p>
        </p:txBody>
      </p:sp>
      <p:sp>
        <p:nvSpPr>
          <p:cNvPr id="531" name="Google Shape;531;p60"/>
          <p:cNvSpPr txBox="1"/>
          <p:nvPr/>
        </p:nvSpPr>
        <p:spPr>
          <a:xfrm>
            <a:off x="228425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World level accuracy</a:t>
            </a:r>
            <a:endParaRPr sz="1300"/>
          </a:p>
        </p:txBody>
      </p:sp>
      <p:sp>
        <p:nvSpPr>
          <p:cNvPr id="532" name="Google Shape;532;p60"/>
          <p:cNvSpPr txBox="1"/>
          <p:nvPr/>
        </p:nvSpPr>
        <p:spPr>
          <a:xfrm>
            <a:off x="1709475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Query-level accuracy</a:t>
            </a:r>
            <a:endParaRPr sz="1300"/>
          </a:p>
        </p:txBody>
      </p:sp>
      <p:sp>
        <p:nvSpPr>
          <p:cNvPr id="533" name="Google Shape;533;p60"/>
          <p:cNvSpPr txBox="1"/>
          <p:nvPr/>
        </p:nvSpPr>
        <p:spPr>
          <a:xfrm>
            <a:off x="3534575" y="3063100"/>
            <a:ext cx="1215900" cy="550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Search result quality</a:t>
            </a:r>
            <a:endParaRPr sz="1300"/>
          </a:p>
        </p:txBody>
      </p:sp>
      <p:sp>
        <p:nvSpPr>
          <p:cNvPr id="534" name="Google Shape;534;p60"/>
          <p:cNvSpPr txBox="1"/>
          <p:nvPr/>
        </p:nvSpPr>
        <p:spPr>
          <a:xfrm>
            <a:off x="5359638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User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engagement</a:t>
            </a:r>
            <a:endParaRPr sz="1300"/>
          </a:p>
        </p:txBody>
      </p:sp>
      <p:sp>
        <p:nvSpPr>
          <p:cNvPr id="535" name="Google Shape;535;p60"/>
          <p:cNvSpPr txBox="1"/>
          <p:nvPr/>
        </p:nvSpPr>
        <p:spPr>
          <a:xfrm>
            <a:off x="7464675" y="3063100"/>
            <a:ext cx="1215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Revenue</a:t>
            </a:r>
            <a:endParaRPr sz="1300"/>
          </a:p>
        </p:txBody>
      </p:sp>
      <p:sp>
        <p:nvSpPr>
          <p:cNvPr id="536" name="Google Shape;536;p60"/>
          <p:cNvSpPr txBox="1"/>
          <p:nvPr/>
        </p:nvSpPr>
        <p:spPr>
          <a:xfrm>
            <a:off x="972700" y="4251850"/>
            <a:ext cx="73836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Technical and business teams try to agree on metrics that are both comfortable with </a:t>
            </a:r>
            <a:endParaRPr b="1">
              <a:solidFill>
                <a:srgbClr val="FF00FF"/>
              </a:solidFill>
            </a:endParaRPr>
          </a:p>
        </p:txBody>
      </p:sp>
      <p:cxnSp>
        <p:nvCxnSpPr>
          <p:cNvPr id="537" name="Google Shape;537;p60"/>
          <p:cNvCxnSpPr/>
          <p:nvPr/>
        </p:nvCxnSpPr>
        <p:spPr>
          <a:xfrm>
            <a:off x="820375" y="2630625"/>
            <a:ext cx="0" cy="5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60"/>
          <p:cNvCxnSpPr/>
          <p:nvPr/>
        </p:nvCxnSpPr>
        <p:spPr>
          <a:xfrm>
            <a:off x="8072625" y="2630613"/>
            <a:ext cx="0" cy="5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60"/>
          <p:cNvCxnSpPr/>
          <p:nvPr/>
        </p:nvCxnSpPr>
        <p:spPr>
          <a:xfrm flipH="1" rot="10800000">
            <a:off x="1318975" y="3277450"/>
            <a:ext cx="4347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60"/>
          <p:cNvCxnSpPr>
            <a:stCxn id="535" idx="1"/>
          </p:cNvCxnSpPr>
          <p:nvPr/>
        </p:nvCxnSpPr>
        <p:spPr>
          <a:xfrm rot="10800000">
            <a:off x="6823575" y="3280450"/>
            <a:ext cx="64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60"/>
          <p:cNvCxnSpPr/>
          <p:nvPr/>
        </p:nvCxnSpPr>
        <p:spPr>
          <a:xfrm flipH="1">
            <a:off x="4156225" y="2549650"/>
            <a:ext cx="7200" cy="3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2" name="Google Shape;542;p60"/>
          <p:cNvSpPr txBox="1"/>
          <p:nvPr/>
        </p:nvSpPr>
        <p:spPr>
          <a:xfrm>
            <a:off x="3397050" y="2181138"/>
            <a:ext cx="1643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common ground?</a:t>
            </a:r>
            <a:endParaRPr/>
          </a:p>
        </p:txBody>
      </p:sp>
      <p:sp>
        <p:nvSpPr>
          <p:cNvPr id="543" name="Google Shape;543;p60"/>
          <p:cNvSpPr txBox="1"/>
          <p:nvPr/>
        </p:nvSpPr>
        <p:spPr>
          <a:xfrm>
            <a:off x="782200" y="2677725"/>
            <a:ext cx="81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main goal</a:t>
            </a:r>
            <a:endParaRPr sz="900"/>
          </a:p>
        </p:txBody>
      </p:sp>
      <p:sp>
        <p:nvSpPr>
          <p:cNvPr id="544" name="Google Shape;544;p60"/>
          <p:cNvSpPr txBox="1"/>
          <p:nvPr/>
        </p:nvSpPr>
        <p:spPr>
          <a:xfrm>
            <a:off x="8072625" y="2677725"/>
            <a:ext cx="81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main goal</a:t>
            </a:r>
            <a:endParaRPr sz="900"/>
          </a:p>
        </p:txBody>
      </p:sp>
      <p:sp>
        <p:nvSpPr>
          <p:cNvPr id="545" name="Google Shape;545;p60"/>
          <p:cNvSpPr txBox="1"/>
          <p:nvPr/>
        </p:nvSpPr>
        <p:spPr>
          <a:xfrm>
            <a:off x="1318975" y="3012000"/>
            <a:ext cx="81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aim </a:t>
            </a:r>
            <a:endParaRPr sz="900"/>
          </a:p>
        </p:txBody>
      </p:sp>
      <p:sp>
        <p:nvSpPr>
          <p:cNvPr id="546" name="Google Shape;546;p60"/>
          <p:cNvSpPr txBox="1"/>
          <p:nvPr/>
        </p:nvSpPr>
        <p:spPr>
          <a:xfrm>
            <a:off x="6993075" y="3012000"/>
            <a:ext cx="4716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aim</a:t>
            </a:r>
            <a:endParaRPr sz="9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Please, do not forget!</a:t>
            </a:r>
            <a:endParaRPr/>
          </a:p>
        </p:txBody>
      </p:sp>
      <p:sp>
        <p:nvSpPr>
          <p:cNvPr id="552" name="Google Shape;552;p61"/>
          <p:cNvSpPr txBox="1"/>
          <p:nvPr/>
        </p:nvSpPr>
        <p:spPr>
          <a:xfrm>
            <a:off x="486350" y="1864300"/>
            <a:ext cx="7022400" cy="2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Ethical considerations: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28160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Is this project creating net positive societal value</a:t>
            </a:r>
            <a:endParaRPr sz="1600"/>
          </a:p>
          <a:p>
            <a:pPr indent="-28160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Is this project reasonably fair and free from bias</a:t>
            </a:r>
            <a:endParaRPr sz="1600"/>
          </a:p>
          <a:p>
            <a:pPr indent="-28160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Have any ethical concerns been openly aired?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I think we should only work on project that give positive societal value!!</a:t>
            </a:r>
            <a:endParaRPr sz="1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Milestones and Resourcing</a:t>
            </a:r>
            <a:endParaRPr/>
          </a:p>
        </p:txBody>
      </p:sp>
      <p:sp>
        <p:nvSpPr>
          <p:cNvPr id="558" name="Google Shape;558;p62"/>
          <p:cNvSpPr txBox="1"/>
          <p:nvPr/>
        </p:nvSpPr>
        <p:spPr>
          <a:xfrm>
            <a:off x="472325" y="1348650"/>
            <a:ext cx="54897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/>
              <a:t>Key specifications before starting a ML project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l" sz="1800"/>
              <a:t>ML metrics (accuracy, precision/recall, etc.)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l" sz="1800"/>
              <a:t>Software metrics(latency, throughput, etc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l" sz="1800"/>
              <a:t>Business metrics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l" sz="1800"/>
              <a:t>Resources needed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l" sz="1800"/>
              <a:t>Timeline</a:t>
            </a:r>
            <a:endParaRPr sz="1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Putting them all together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025" y="757275"/>
            <a:ext cx="5265225" cy="36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64"/>
          <p:cNvSpPr txBox="1"/>
          <p:nvPr/>
        </p:nvSpPr>
        <p:spPr>
          <a:xfrm>
            <a:off x="6086725" y="2195950"/>
            <a:ext cx="2807700" cy="1017000"/>
          </a:xfrm>
          <a:prstGeom prst="rect">
            <a:avLst/>
          </a:prstGeom>
          <a:solidFill>
            <a:srgbClr val="CFE2F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2200"/>
              <a:t>Which Data Scientist would you choose?</a:t>
            </a:r>
            <a:endParaRPr sz="22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Scoping Key Stages</a:t>
            </a:r>
            <a:endParaRPr/>
          </a:p>
        </p:txBody>
      </p:sp>
      <p:pic>
        <p:nvPicPr>
          <p:cNvPr id="575" name="Google Shape;57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075" y="1332100"/>
            <a:ext cx="1914139" cy="1071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910" y="1332100"/>
            <a:ext cx="1891215" cy="107169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65"/>
          <p:cNvSpPr txBox="1"/>
          <p:nvPr/>
        </p:nvSpPr>
        <p:spPr>
          <a:xfrm>
            <a:off x="1135750" y="2571750"/>
            <a:ext cx="7137900" cy="23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Before </a:t>
            </a:r>
            <a:r>
              <a:rPr lang="el" sz="1500"/>
              <a:t>proceeding</a:t>
            </a:r>
            <a:r>
              <a:rPr lang="el" sz="1500"/>
              <a:t> we need to answer the following questions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180975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l" sz="1500"/>
              <a:t>What problem are we trying to solve?</a:t>
            </a:r>
            <a:endParaRPr sz="1500"/>
          </a:p>
          <a:p>
            <a:pPr indent="-180975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l" sz="1500"/>
              <a:t>How are we going to approach it?</a:t>
            </a:r>
            <a:endParaRPr sz="1500"/>
          </a:p>
          <a:p>
            <a:pPr indent="-180975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l" sz="1500"/>
              <a:t>Do we need Machine Learning to solve it?</a:t>
            </a:r>
            <a:endParaRPr sz="1500"/>
          </a:p>
          <a:p>
            <a:pPr indent="-180975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l" sz="1500"/>
              <a:t>How do we know if our solution is good enough (Its never perfect, trust me!)</a:t>
            </a:r>
            <a:endParaRPr sz="1500"/>
          </a:p>
          <a:p>
            <a:pPr indent="-180975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l" sz="1500"/>
              <a:t>What kind of data we will need?</a:t>
            </a:r>
            <a:endParaRPr sz="1500"/>
          </a:p>
        </p:txBody>
      </p:sp>
      <p:pic>
        <p:nvPicPr>
          <p:cNvPr id="578" name="Google Shape;578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3969" y="1304575"/>
            <a:ext cx="1896980" cy="10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Dont Forget! Why Do We Use ML Systems?</a:t>
            </a:r>
            <a:endParaRPr/>
          </a:p>
        </p:txBody>
      </p:sp>
      <p:pic>
        <p:nvPicPr>
          <p:cNvPr id="584" name="Google Shape;58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300" y="1599675"/>
            <a:ext cx="2135775" cy="21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6"/>
          <p:cNvSpPr txBox="1"/>
          <p:nvPr/>
        </p:nvSpPr>
        <p:spPr>
          <a:xfrm>
            <a:off x="6308138" y="3735450"/>
            <a:ext cx="30441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900"/>
              <a:t>Ancient Greeks went to Oracles to tell them the future</a:t>
            </a:r>
            <a:endParaRPr sz="300"/>
          </a:p>
        </p:txBody>
      </p:sp>
      <p:sp>
        <p:nvSpPr>
          <p:cNvPr id="586" name="Google Shape;586;p66"/>
          <p:cNvSpPr txBox="1"/>
          <p:nvPr/>
        </p:nvSpPr>
        <p:spPr>
          <a:xfrm>
            <a:off x="109900" y="1198813"/>
            <a:ext cx="6439800" cy="3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“Planning is bringing the future into the present so you can do something about it now”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Machine learning assists individuals and businesses deploy solutions that: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1873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Unlock previously untapped sources of revenue</a:t>
            </a:r>
            <a:endParaRPr sz="1600"/>
          </a:p>
          <a:p>
            <a:pPr indent="-1873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Save Time</a:t>
            </a:r>
            <a:endParaRPr sz="1600"/>
          </a:p>
          <a:p>
            <a:pPr indent="-1873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Reduce costs through more efficient workflows</a:t>
            </a:r>
            <a:endParaRPr sz="1600"/>
          </a:p>
          <a:p>
            <a:pPr indent="-1873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Use data-driven methods for more effective decision making</a:t>
            </a:r>
            <a:endParaRPr sz="1600"/>
          </a:p>
          <a:p>
            <a:pPr indent="-1873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Improve customer experience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					</a:t>
            </a:r>
            <a:endParaRPr sz="16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When Do We Consider ML Systems?</a:t>
            </a:r>
            <a:endParaRPr/>
          </a:p>
        </p:txBody>
      </p:sp>
      <p:pic>
        <p:nvPicPr>
          <p:cNvPr id="592" name="Google Shape;59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2300" y="1191125"/>
            <a:ext cx="3710012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67"/>
          <p:cNvSpPr txBox="1"/>
          <p:nvPr/>
        </p:nvSpPr>
        <p:spPr>
          <a:xfrm>
            <a:off x="233025" y="1148375"/>
            <a:ext cx="4513800" cy="3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Automating Machine Learning </a:t>
            </a:r>
            <a:r>
              <a:rPr lang="el" sz="1500"/>
              <a:t>operations</a:t>
            </a:r>
            <a:r>
              <a:rPr lang="el" sz="1500"/>
              <a:t> means: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190500" lvl="0" marL="269999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Faster go-to-market times</a:t>
            </a:r>
            <a:endParaRPr sz="1500"/>
          </a:p>
          <a:p>
            <a:pPr indent="-190500" lvl="0" marL="269999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Lower operation costs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Assist managers and developers be more agile and strategic in their decisions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Every human creates 1.7MB of data every second</a:t>
            </a:r>
            <a:endParaRPr sz="15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How many can the human brain process?</a:t>
            </a:r>
            <a:endParaRPr sz="15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500">
                <a:solidFill>
                  <a:schemeClr val="dk1"/>
                </a:solidFill>
              </a:rPr>
              <a:t>But: You c</a:t>
            </a:r>
            <a:r>
              <a:rPr lang="el" sz="1500">
                <a:solidFill>
                  <a:schemeClr val="dk1"/>
                </a:solidFill>
              </a:rPr>
              <a:t>annot accomplish the goals of ML without a solid framework.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Step 1: Clearly Define your Business Objective</a:t>
            </a:r>
            <a:endParaRPr/>
          </a:p>
        </p:txBody>
      </p:sp>
      <p:sp>
        <p:nvSpPr>
          <p:cNvPr id="599" name="Google Shape;599;p68"/>
          <p:cNvSpPr txBox="1"/>
          <p:nvPr/>
        </p:nvSpPr>
        <p:spPr>
          <a:xfrm>
            <a:off x="311688" y="1017725"/>
            <a:ext cx="8313600" cy="3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What is the task we are trying to solve?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196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What is the decision we want to automate/enhance?</a:t>
            </a:r>
            <a:endParaRPr sz="1600"/>
          </a:p>
          <a:p>
            <a:pPr indent="-196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What is the business problem we are going to solve with the decision?</a:t>
            </a:r>
            <a:endParaRPr sz="1600"/>
          </a:p>
        </p:txBody>
      </p:sp>
      <p:pic>
        <p:nvPicPr>
          <p:cNvPr id="600" name="Google Shape;60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525" y="2271525"/>
            <a:ext cx="4406901" cy="28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9"/>
          <p:cNvSpPr txBox="1"/>
          <p:nvPr>
            <p:ph type="title"/>
          </p:nvPr>
        </p:nvSpPr>
        <p:spPr>
          <a:xfrm>
            <a:off x="119200" y="206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Step 2:Clearly define the evaluation protocol</a:t>
            </a:r>
            <a:endParaRPr/>
          </a:p>
        </p:txBody>
      </p:sp>
      <p:sp>
        <p:nvSpPr>
          <p:cNvPr id="606" name="Google Shape;606;p69"/>
          <p:cNvSpPr txBox="1"/>
          <p:nvPr/>
        </p:nvSpPr>
        <p:spPr>
          <a:xfrm>
            <a:off x="0" y="986125"/>
            <a:ext cx="5859300" cy="28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269999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>
                <a:solidFill>
                  <a:srgbClr val="FF00FF"/>
                </a:solidFill>
              </a:rPr>
              <a:t>Business </a:t>
            </a:r>
            <a:r>
              <a:rPr lang="el" sz="1600">
                <a:solidFill>
                  <a:srgbClr val="FF00FF"/>
                </a:solidFill>
              </a:rPr>
              <a:t>Metrics</a:t>
            </a:r>
            <a:r>
              <a:rPr lang="el" sz="1600"/>
              <a:t>: Evaluate on the business task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For example revenue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Precise but difficult to be defined</a:t>
            </a:r>
            <a:endParaRPr sz="16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196850" lvl="0" marL="269999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>
                <a:solidFill>
                  <a:srgbClr val="FF00FF"/>
                </a:solidFill>
              </a:rPr>
              <a:t>ML Metrics</a:t>
            </a:r>
            <a:r>
              <a:rPr lang="el" sz="1600"/>
              <a:t>: </a:t>
            </a:r>
            <a:r>
              <a:rPr lang="el" sz="1600"/>
              <a:t>Evaluate</a:t>
            </a:r>
            <a:r>
              <a:rPr lang="el" sz="1600"/>
              <a:t> on some properties of the prediction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For example accuracy, recall, MSE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Easy and cheap to use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Not 1-1 correlation with the business task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0"/>
          <p:cNvSpPr txBox="1"/>
          <p:nvPr>
            <p:ph type="title"/>
          </p:nvPr>
        </p:nvSpPr>
        <p:spPr>
          <a:xfrm>
            <a:off x="119200" y="206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Step 2:Clearly define the evaluation protocol</a:t>
            </a:r>
            <a:endParaRPr/>
          </a:p>
        </p:txBody>
      </p:sp>
      <p:sp>
        <p:nvSpPr>
          <p:cNvPr id="612" name="Google Shape;612;p70"/>
          <p:cNvSpPr txBox="1"/>
          <p:nvPr/>
        </p:nvSpPr>
        <p:spPr>
          <a:xfrm>
            <a:off x="0" y="986125"/>
            <a:ext cx="5859300" cy="28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269999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>
                <a:solidFill>
                  <a:srgbClr val="FF00FF"/>
                </a:solidFill>
              </a:rPr>
              <a:t>Business Metrics</a:t>
            </a:r>
            <a:r>
              <a:rPr lang="el" sz="1600"/>
              <a:t>: Evaluate on the business task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For example revenue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Precise but difficult to be defined</a:t>
            </a:r>
            <a:endParaRPr sz="16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196850" lvl="0" marL="269999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>
                <a:solidFill>
                  <a:srgbClr val="FF00FF"/>
                </a:solidFill>
              </a:rPr>
              <a:t>ML Metrics</a:t>
            </a:r>
            <a:r>
              <a:rPr lang="el" sz="1600"/>
              <a:t>: Evaluate on some properties of the prediction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For example accuracy, recall, MSE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Easy and cheap to use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Not 1-1 correlation with the business task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We usually rely on ML metrics.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But remember:</a:t>
            </a:r>
            <a:endParaRPr sz="1600"/>
          </a:p>
        </p:txBody>
      </p:sp>
      <p:pic>
        <p:nvPicPr>
          <p:cNvPr id="613" name="Google Shape;61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800" y="4055775"/>
            <a:ext cx="5210399" cy="10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70"/>
          <p:cNvSpPr txBox="1"/>
          <p:nvPr/>
        </p:nvSpPr>
        <p:spPr>
          <a:xfrm>
            <a:off x="1251250" y="3820225"/>
            <a:ext cx="28971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Good performance on a ML metric</a:t>
            </a:r>
            <a:endParaRPr sz="1200"/>
          </a:p>
        </p:txBody>
      </p:sp>
      <p:sp>
        <p:nvSpPr>
          <p:cNvPr id="615" name="Google Shape;615;p70"/>
          <p:cNvSpPr txBox="1"/>
          <p:nvPr/>
        </p:nvSpPr>
        <p:spPr>
          <a:xfrm>
            <a:off x="4572000" y="3820225"/>
            <a:ext cx="28971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Good business decision</a:t>
            </a:r>
            <a:endParaRPr sz="12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1"/>
          <p:cNvSpPr txBox="1"/>
          <p:nvPr>
            <p:ph type="title"/>
          </p:nvPr>
        </p:nvSpPr>
        <p:spPr>
          <a:xfrm>
            <a:off x="311700" y="445025"/>
            <a:ext cx="872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Low Accuracy Does not (Always) Mean Good Performance</a:t>
            </a:r>
            <a:endParaRPr/>
          </a:p>
        </p:txBody>
      </p:sp>
      <p:pic>
        <p:nvPicPr>
          <p:cNvPr id="621" name="Google Shape;62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4850" y="1170650"/>
            <a:ext cx="2860700" cy="38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 example…</a:t>
            </a:r>
            <a:endParaRPr/>
          </a:p>
        </p:txBody>
      </p:sp>
      <p:pic>
        <p:nvPicPr>
          <p:cNvPr id="627" name="Google Shape;62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5248"/>
            <a:ext cx="4571999" cy="1831741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72"/>
          <p:cNvSpPr txBox="1"/>
          <p:nvPr/>
        </p:nvSpPr>
        <p:spPr>
          <a:xfrm>
            <a:off x="898150" y="1017713"/>
            <a:ext cx="3820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Consider these predictions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 example…</a:t>
            </a:r>
            <a:endParaRPr/>
          </a:p>
        </p:txBody>
      </p:sp>
      <p:pic>
        <p:nvPicPr>
          <p:cNvPr id="634" name="Google Shape;63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5248"/>
            <a:ext cx="4571999" cy="1831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8499" y="1686388"/>
            <a:ext cx="3530251" cy="10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73"/>
          <p:cNvSpPr txBox="1"/>
          <p:nvPr/>
        </p:nvSpPr>
        <p:spPr>
          <a:xfrm>
            <a:off x="898150" y="1017713"/>
            <a:ext cx="3820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Consider these predictions</a:t>
            </a:r>
            <a:endParaRPr/>
          </a:p>
        </p:txBody>
      </p:sp>
      <p:sp>
        <p:nvSpPr>
          <p:cNvPr id="637" name="Google Shape;637;p73"/>
          <p:cNvSpPr txBox="1"/>
          <p:nvPr/>
        </p:nvSpPr>
        <p:spPr>
          <a:xfrm>
            <a:off x="5037300" y="1226063"/>
            <a:ext cx="41067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And their evaluation with different intrinsic metrics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 example…</a:t>
            </a:r>
            <a:endParaRPr/>
          </a:p>
        </p:txBody>
      </p:sp>
      <p:pic>
        <p:nvPicPr>
          <p:cNvPr id="643" name="Google Shape;64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5248"/>
            <a:ext cx="4571999" cy="1831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8499" y="1686388"/>
            <a:ext cx="3530251" cy="10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74"/>
          <p:cNvSpPr txBox="1"/>
          <p:nvPr/>
        </p:nvSpPr>
        <p:spPr>
          <a:xfrm>
            <a:off x="898150" y="1017713"/>
            <a:ext cx="3820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Consider these predictions</a:t>
            </a:r>
            <a:endParaRPr/>
          </a:p>
        </p:txBody>
      </p:sp>
      <p:sp>
        <p:nvSpPr>
          <p:cNvPr id="646" name="Google Shape;646;p74"/>
          <p:cNvSpPr txBox="1"/>
          <p:nvPr/>
        </p:nvSpPr>
        <p:spPr>
          <a:xfrm>
            <a:off x="5037300" y="1226063"/>
            <a:ext cx="41067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And their evaluation with different intrinsic metrics</a:t>
            </a:r>
            <a:endParaRPr/>
          </a:p>
        </p:txBody>
      </p:sp>
      <p:pic>
        <p:nvPicPr>
          <p:cNvPr id="647" name="Google Shape;647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9575" y="3136994"/>
            <a:ext cx="2929475" cy="4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 example…</a:t>
            </a:r>
            <a:endParaRPr/>
          </a:p>
        </p:txBody>
      </p:sp>
      <p:pic>
        <p:nvPicPr>
          <p:cNvPr id="653" name="Google Shape;65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5248"/>
            <a:ext cx="4571999" cy="1831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8499" y="1686388"/>
            <a:ext cx="3530251" cy="10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75"/>
          <p:cNvSpPr txBox="1"/>
          <p:nvPr/>
        </p:nvSpPr>
        <p:spPr>
          <a:xfrm>
            <a:off x="898150" y="1017713"/>
            <a:ext cx="3820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Consider these predictions</a:t>
            </a:r>
            <a:endParaRPr/>
          </a:p>
        </p:txBody>
      </p:sp>
      <p:sp>
        <p:nvSpPr>
          <p:cNvPr id="656" name="Google Shape;656;p75"/>
          <p:cNvSpPr txBox="1"/>
          <p:nvPr/>
        </p:nvSpPr>
        <p:spPr>
          <a:xfrm>
            <a:off x="5037300" y="1226063"/>
            <a:ext cx="41067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And their evaluation with different intrinsic metrics</a:t>
            </a:r>
            <a:endParaRPr/>
          </a:p>
        </p:txBody>
      </p:sp>
      <p:pic>
        <p:nvPicPr>
          <p:cNvPr id="657" name="Google Shape;657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9575" y="3136994"/>
            <a:ext cx="2929475" cy="4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75"/>
          <p:cNvSpPr txBox="1"/>
          <p:nvPr/>
        </p:nvSpPr>
        <p:spPr>
          <a:xfrm>
            <a:off x="-109625" y="3748750"/>
            <a:ext cx="6174300" cy="1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269999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l" sz="1500"/>
              <a:t>No free lunch theorem</a:t>
            </a:r>
            <a:endParaRPr sz="1500"/>
          </a:p>
          <a:p>
            <a:pPr indent="-190500" lvl="0" marL="269999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l" sz="1500"/>
              <a:t>Different ML metrics have different good and bad properties</a:t>
            </a:r>
            <a:endParaRPr sz="1500"/>
          </a:p>
          <a:p>
            <a:pPr indent="-190500" lvl="0" marL="269999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l" sz="1500"/>
              <a:t>Consider multiple (not correlated) ML metrics</a:t>
            </a:r>
            <a:endParaRPr sz="1500"/>
          </a:p>
          <a:p>
            <a:pPr indent="-190500" lvl="0" marL="269999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l" sz="1500"/>
              <a:t>Try to define Business metrics</a:t>
            </a:r>
            <a:endParaRPr sz="1500"/>
          </a:p>
          <a:p>
            <a:pPr indent="-190500" lvl="0" marL="269999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l" sz="1500"/>
              <a:t>If not possible, align </a:t>
            </a:r>
            <a:r>
              <a:rPr lang="el" sz="1500">
                <a:solidFill>
                  <a:schemeClr val="dk1"/>
                </a:solidFill>
              </a:rPr>
              <a:t>Business </a:t>
            </a:r>
            <a:r>
              <a:rPr lang="el" sz="1500"/>
              <a:t>with </a:t>
            </a:r>
            <a:r>
              <a:rPr lang="el" sz="1500">
                <a:solidFill>
                  <a:schemeClr val="dk1"/>
                </a:solidFill>
              </a:rPr>
              <a:t>ML </a:t>
            </a:r>
            <a:r>
              <a:rPr lang="el" sz="1500"/>
              <a:t>metrics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Rules of Thumb for Picking Evaluation Protocols</a:t>
            </a:r>
            <a:endParaRPr/>
          </a:p>
        </p:txBody>
      </p:sp>
      <p:sp>
        <p:nvSpPr>
          <p:cNvPr id="664" name="Google Shape;664;p76"/>
          <p:cNvSpPr txBox="1"/>
          <p:nvPr/>
        </p:nvSpPr>
        <p:spPr>
          <a:xfrm>
            <a:off x="542675" y="1909500"/>
            <a:ext cx="8356200" cy="24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No free lunch theorem -&gt; No Single Best Metric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Different ML metrics have different good and bad properties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Accuracy is easy, but hides the truth under the carpet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Consider multiple (not correlated) ML metrics -&gt; then pick what works best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Try to define Business metrics -&gt; at least an approximation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If not possible, align </a:t>
            </a:r>
            <a:r>
              <a:rPr lang="el" sz="1700">
                <a:solidFill>
                  <a:schemeClr val="dk1"/>
                </a:solidFill>
              </a:rPr>
              <a:t>Business </a:t>
            </a:r>
            <a:r>
              <a:rPr lang="el" sz="1700"/>
              <a:t>with </a:t>
            </a:r>
            <a:r>
              <a:rPr lang="el" sz="1700">
                <a:solidFill>
                  <a:schemeClr val="dk1"/>
                </a:solidFill>
              </a:rPr>
              <a:t>ML </a:t>
            </a:r>
            <a:r>
              <a:rPr lang="el" sz="1700"/>
              <a:t>metrics</a:t>
            </a:r>
            <a:endParaRPr sz="17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Applications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1</a:t>
            </a:r>
            <a:endParaRPr/>
          </a:p>
        </p:txBody>
      </p:sp>
      <p:sp>
        <p:nvSpPr>
          <p:cNvPr id="675" name="Google Shape;675;p78"/>
          <p:cNvSpPr txBox="1"/>
          <p:nvPr/>
        </p:nvSpPr>
        <p:spPr>
          <a:xfrm>
            <a:off x="515700" y="1220900"/>
            <a:ext cx="83166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You work with a </a:t>
            </a:r>
            <a:r>
              <a:rPr lang="el" sz="1500"/>
              <a:t>telecommunication</a:t>
            </a:r>
            <a:r>
              <a:rPr lang="el" sz="1500"/>
              <a:t> company and you want to predict which </a:t>
            </a:r>
            <a:r>
              <a:rPr lang="el" sz="1500"/>
              <a:t>customers</a:t>
            </a:r>
            <a:r>
              <a:rPr lang="el" sz="1500"/>
              <a:t> are going to churn (quit on their contracts)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Why? </a:t>
            </a:r>
            <a:r>
              <a:rPr b="1" lang="el" sz="1500"/>
              <a:t>Offer them a discount in order to stay!!</a:t>
            </a:r>
            <a:endParaRPr b="1" sz="1500"/>
          </a:p>
        </p:txBody>
      </p:sp>
      <p:pic>
        <p:nvPicPr>
          <p:cNvPr id="676" name="Google Shape;67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61" y="2571750"/>
            <a:ext cx="4896826" cy="22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78"/>
          <p:cNvSpPr txBox="1"/>
          <p:nvPr/>
        </p:nvSpPr>
        <p:spPr>
          <a:xfrm>
            <a:off x="5653038" y="2952500"/>
            <a:ext cx="29181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This is your 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Your task is  build a </a:t>
            </a:r>
            <a:r>
              <a:rPr lang="el"/>
              <a:t>classification</a:t>
            </a:r>
            <a:r>
              <a:rPr lang="el"/>
              <a:t> model for churn/no churn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127450"/>
            <a:ext cx="6117125" cy="3909425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1: Turn predictions into decisions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127450"/>
            <a:ext cx="6117125" cy="390942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1: Turn predictions into decisions</a:t>
            </a:r>
            <a:endParaRPr/>
          </a:p>
        </p:txBody>
      </p:sp>
      <p:sp>
        <p:nvSpPr>
          <p:cNvPr id="690" name="Google Shape;690;p80"/>
          <p:cNvSpPr/>
          <p:nvPr/>
        </p:nvSpPr>
        <p:spPr>
          <a:xfrm>
            <a:off x="3853950" y="1392725"/>
            <a:ext cx="965975" cy="854775"/>
          </a:xfrm>
          <a:custGeom>
            <a:rect b="b" l="l" r="r" t="t"/>
            <a:pathLst>
              <a:path extrusionOk="0" h="34191" w="38639">
                <a:moveTo>
                  <a:pt x="0" y="0"/>
                </a:moveTo>
                <a:cubicBezTo>
                  <a:pt x="5846" y="1376"/>
                  <a:pt x="28788" y="2555"/>
                  <a:pt x="35076" y="8253"/>
                </a:cubicBezTo>
                <a:cubicBezTo>
                  <a:pt x="41364" y="13952"/>
                  <a:pt x="37286" y="29868"/>
                  <a:pt x="37728" y="3419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691" name="Google Shape;691;p80"/>
          <p:cNvSpPr txBox="1"/>
          <p:nvPr/>
        </p:nvSpPr>
        <p:spPr>
          <a:xfrm>
            <a:off x="3977900" y="2247500"/>
            <a:ext cx="2190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6199" lvl="0" marL="179999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200"/>
              <a:buChar char="●"/>
            </a:pPr>
            <a:r>
              <a:rPr b="1" lang="el" sz="1200">
                <a:solidFill>
                  <a:srgbClr val="FF00FF"/>
                </a:solidFill>
              </a:rPr>
              <a:t>After this threshold, the customer will churn</a:t>
            </a:r>
            <a:endParaRPr b="1" sz="1200">
              <a:solidFill>
                <a:srgbClr val="FF00FF"/>
              </a:solidFill>
            </a:endParaRPr>
          </a:p>
          <a:p>
            <a:pPr indent="-166199" lvl="0" marL="179999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200"/>
              <a:buChar char="●"/>
            </a:pPr>
            <a:r>
              <a:rPr b="1" lang="el" sz="1200">
                <a:solidFill>
                  <a:srgbClr val="FF00FF"/>
                </a:solidFill>
              </a:rPr>
              <a:t>Threshold is adjustable</a:t>
            </a:r>
            <a:endParaRPr b="1" sz="1200">
              <a:solidFill>
                <a:srgbClr val="FF00FF"/>
              </a:solidFill>
            </a:endParaRPr>
          </a:p>
        </p:txBody>
      </p:sp>
      <p:cxnSp>
        <p:nvCxnSpPr>
          <p:cNvPr id="692" name="Google Shape;692;p80"/>
          <p:cNvCxnSpPr>
            <a:stCxn id="691" idx="2"/>
          </p:cNvCxnSpPr>
          <p:nvPr/>
        </p:nvCxnSpPr>
        <p:spPr>
          <a:xfrm>
            <a:off x="5072900" y="2991800"/>
            <a:ext cx="0" cy="4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3" name="Google Shape;693;p80"/>
          <p:cNvSpPr txBox="1"/>
          <p:nvPr/>
        </p:nvSpPr>
        <p:spPr>
          <a:xfrm>
            <a:off x="3552325" y="3437000"/>
            <a:ext cx="25194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200">
                <a:solidFill>
                  <a:schemeClr val="dk1"/>
                </a:solidFill>
              </a:rPr>
              <a:t>By default this 0.5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200">
                <a:solidFill>
                  <a:srgbClr val="FF00FF"/>
                </a:solidFill>
              </a:rPr>
              <a:t>BUT CAN BE ADJUSTED</a:t>
            </a:r>
            <a:endParaRPr b="1" sz="12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127450"/>
            <a:ext cx="6117125" cy="390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7125" y="1554850"/>
            <a:ext cx="2759725" cy="158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81"/>
          <p:cNvSpPr/>
          <p:nvPr/>
        </p:nvSpPr>
        <p:spPr>
          <a:xfrm>
            <a:off x="3853950" y="1392725"/>
            <a:ext cx="965975" cy="854775"/>
          </a:xfrm>
          <a:custGeom>
            <a:rect b="b" l="l" r="r" t="t"/>
            <a:pathLst>
              <a:path extrusionOk="0" h="34191" w="38639">
                <a:moveTo>
                  <a:pt x="0" y="0"/>
                </a:moveTo>
                <a:cubicBezTo>
                  <a:pt x="5846" y="1376"/>
                  <a:pt x="28788" y="2555"/>
                  <a:pt x="35076" y="8253"/>
                </a:cubicBezTo>
                <a:cubicBezTo>
                  <a:pt x="41364" y="13952"/>
                  <a:pt x="37286" y="29868"/>
                  <a:pt x="37728" y="3419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701" name="Google Shape;701;p81"/>
          <p:cNvSpPr txBox="1"/>
          <p:nvPr/>
        </p:nvSpPr>
        <p:spPr>
          <a:xfrm>
            <a:off x="3977900" y="2247500"/>
            <a:ext cx="2190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6199" lvl="0" marL="179999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200"/>
              <a:buChar char="●"/>
            </a:pPr>
            <a:r>
              <a:rPr b="1" lang="el" sz="1200">
                <a:solidFill>
                  <a:srgbClr val="FF00FF"/>
                </a:solidFill>
              </a:rPr>
              <a:t>After this threshold, the </a:t>
            </a:r>
            <a:r>
              <a:rPr b="1" lang="el" sz="1200">
                <a:solidFill>
                  <a:srgbClr val="FF00FF"/>
                </a:solidFill>
              </a:rPr>
              <a:t>customer</a:t>
            </a:r>
            <a:r>
              <a:rPr b="1" lang="el" sz="1200">
                <a:solidFill>
                  <a:srgbClr val="FF00FF"/>
                </a:solidFill>
              </a:rPr>
              <a:t> will churn</a:t>
            </a:r>
            <a:endParaRPr b="1" sz="1200">
              <a:solidFill>
                <a:srgbClr val="FF00FF"/>
              </a:solidFill>
            </a:endParaRPr>
          </a:p>
          <a:p>
            <a:pPr indent="-166199" lvl="0" marL="179999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200"/>
              <a:buChar char="●"/>
            </a:pPr>
            <a:r>
              <a:rPr b="1" lang="el" sz="1200">
                <a:solidFill>
                  <a:srgbClr val="FF00FF"/>
                </a:solidFill>
              </a:rPr>
              <a:t>Threshold is adjustable</a:t>
            </a:r>
            <a:endParaRPr b="1" sz="1200">
              <a:solidFill>
                <a:srgbClr val="FF00FF"/>
              </a:solidFill>
            </a:endParaRPr>
          </a:p>
        </p:txBody>
      </p:sp>
      <p:sp>
        <p:nvSpPr>
          <p:cNvPr id="702" name="Google Shape;702;p81"/>
          <p:cNvSpPr txBox="1"/>
          <p:nvPr>
            <p:ph type="title"/>
          </p:nvPr>
        </p:nvSpPr>
        <p:spPr>
          <a:xfrm>
            <a:off x="19407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1: Turn predictions into decisions</a:t>
            </a:r>
            <a:endParaRPr/>
          </a:p>
        </p:txBody>
      </p:sp>
      <p:sp>
        <p:nvSpPr>
          <p:cNvPr id="703" name="Google Shape;703;p81"/>
          <p:cNvSpPr txBox="1"/>
          <p:nvPr/>
        </p:nvSpPr>
        <p:spPr>
          <a:xfrm>
            <a:off x="3552325" y="3437000"/>
            <a:ext cx="25194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200">
                <a:solidFill>
                  <a:schemeClr val="dk1"/>
                </a:solidFill>
              </a:rPr>
              <a:t>By default this 0.5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200">
                <a:solidFill>
                  <a:srgbClr val="FF00FF"/>
                </a:solidFill>
              </a:rPr>
              <a:t>BUT CAN BE ADJUSTED</a:t>
            </a:r>
            <a:endParaRPr b="1" sz="1200">
              <a:solidFill>
                <a:srgbClr val="FF00FF"/>
              </a:solidFill>
            </a:endParaRPr>
          </a:p>
        </p:txBody>
      </p:sp>
      <p:sp>
        <p:nvSpPr>
          <p:cNvPr id="704" name="Google Shape;704;p81"/>
          <p:cNvSpPr txBox="1"/>
          <p:nvPr/>
        </p:nvSpPr>
        <p:spPr>
          <a:xfrm>
            <a:off x="6115075" y="1017725"/>
            <a:ext cx="31773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Confusion Matrix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Financial losses of each decision 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127450"/>
            <a:ext cx="6117125" cy="390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7125" y="1554850"/>
            <a:ext cx="2759725" cy="158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82"/>
          <p:cNvSpPr/>
          <p:nvPr/>
        </p:nvSpPr>
        <p:spPr>
          <a:xfrm>
            <a:off x="3853950" y="1392725"/>
            <a:ext cx="965975" cy="854775"/>
          </a:xfrm>
          <a:custGeom>
            <a:rect b="b" l="l" r="r" t="t"/>
            <a:pathLst>
              <a:path extrusionOk="0" h="34191" w="38639">
                <a:moveTo>
                  <a:pt x="0" y="0"/>
                </a:moveTo>
                <a:cubicBezTo>
                  <a:pt x="5846" y="1376"/>
                  <a:pt x="28788" y="2555"/>
                  <a:pt x="35076" y="8253"/>
                </a:cubicBezTo>
                <a:cubicBezTo>
                  <a:pt x="41364" y="13952"/>
                  <a:pt x="37286" y="29868"/>
                  <a:pt x="37728" y="3419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712" name="Google Shape;712;p82"/>
          <p:cNvSpPr txBox="1"/>
          <p:nvPr/>
        </p:nvSpPr>
        <p:spPr>
          <a:xfrm>
            <a:off x="3977900" y="2247500"/>
            <a:ext cx="2190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6199" lvl="0" marL="179999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200"/>
              <a:buChar char="●"/>
            </a:pPr>
            <a:r>
              <a:rPr b="1" lang="el" sz="1200">
                <a:solidFill>
                  <a:srgbClr val="FF00FF"/>
                </a:solidFill>
              </a:rPr>
              <a:t>After this threshold, the customer will churn</a:t>
            </a:r>
            <a:endParaRPr b="1" sz="1200">
              <a:solidFill>
                <a:srgbClr val="FF00FF"/>
              </a:solidFill>
            </a:endParaRPr>
          </a:p>
          <a:p>
            <a:pPr indent="-166199" lvl="0" marL="179999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200"/>
              <a:buChar char="●"/>
            </a:pPr>
            <a:r>
              <a:rPr b="1" lang="el" sz="1200">
                <a:solidFill>
                  <a:srgbClr val="FF00FF"/>
                </a:solidFill>
              </a:rPr>
              <a:t>Threshold is adjustable</a:t>
            </a:r>
            <a:endParaRPr b="1" sz="1200">
              <a:solidFill>
                <a:srgbClr val="FF00FF"/>
              </a:solidFill>
            </a:endParaRPr>
          </a:p>
        </p:txBody>
      </p:sp>
      <p:sp>
        <p:nvSpPr>
          <p:cNvPr id="713" name="Google Shape;713;p82"/>
          <p:cNvSpPr txBox="1"/>
          <p:nvPr/>
        </p:nvSpPr>
        <p:spPr>
          <a:xfrm>
            <a:off x="6211975" y="3367575"/>
            <a:ext cx="29835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Why 50% is not a good option?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Because offering discounts costs money.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Lower thresholds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=&gt; more discounts =&gt; less money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We need a balance!!</a:t>
            </a:r>
            <a:endParaRPr sz="1200"/>
          </a:p>
        </p:txBody>
      </p:sp>
      <p:sp>
        <p:nvSpPr>
          <p:cNvPr id="714" name="Google Shape;714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1: Turn predictions into decisions</a:t>
            </a:r>
            <a:endParaRPr/>
          </a:p>
        </p:txBody>
      </p:sp>
      <p:sp>
        <p:nvSpPr>
          <p:cNvPr id="715" name="Google Shape;715;p82"/>
          <p:cNvSpPr txBox="1"/>
          <p:nvPr/>
        </p:nvSpPr>
        <p:spPr>
          <a:xfrm>
            <a:off x="3802350" y="3352850"/>
            <a:ext cx="24096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Predictions on the confusion matrix vary based on the threshold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716" name="Google Shape;716;p82"/>
          <p:cNvSpPr/>
          <p:nvPr/>
        </p:nvSpPr>
        <p:spPr>
          <a:xfrm>
            <a:off x="5909875" y="3050725"/>
            <a:ext cx="663200" cy="589525"/>
          </a:xfrm>
          <a:custGeom>
            <a:rect b="b" l="l" r="r" t="t"/>
            <a:pathLst>
              <a:path extrusionOk="0" h="23581" w="26528">
                <a:moveTo>
                  <a:pt x="0" y="23581"/>
                </a:moveTo>
                <a:cubicBezTo>
                  <a:pt x="1916" y="22353"/>
                  <a:pt x="7074" y="20142"/>
                  <a:pt x="11495" y="16212"/>
                </a:cubicBezTo>
                <a:cubicBezTo>
                  <a:pt x="15916" y="12282"/>
                  <a:pt x="24023" y="2702"/>
                  <a:pt x="26528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717" name="Google Shape;717;p82"/>
          <p:cNvSpPr txBox="1"/>
          <p:nvPr/>
        </p:nvSpPr>
        <p:spPr>
          <a:xfrm>
            <a:off x="6115075" y="1017725"/>
            <a:ext cx="31773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Confusion Matrix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Financial losses of each decision 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pick the threshold?</a:t>
            </a:r>
            <a:endParaRPr/>
          </a:p>
        </p:txBody>
      </p:sp>
      <p:sp>
        <p:nvSpPr>
          <p:cNvPr id="723" name="Google Shape;723;p83"/>
          <p:cNvSpPr txBox="1"/>
          <p:nvPr/>
        </p:nvSpPr>
        <p:spPr>
          <a:xfrm>
            <a:off x="412650" y="1097975"/>
            <a:ext cx="784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600">
                <a:solidFill>
                  <a:schemeClr val="dk1"/>
                </a:solidFill>
              </a:rPr>
              <a:t>How to Translate Outcomes to Financial Impact!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pick the threshold?</a:t>
            </a:r>
            <a:endParaRPr/>
          </a:p>
        </p:txBody>
      </p:sp>
      <p:sp>
        <p:nvSpPr>
          <p:cNvPr id="729" name="Google Shape;729;p84"/>
          <p:cNvSpPr txBox="1"/>
          <p:nvPr/>
        </p:nvSpPr>
        <p:spPr>
          <a:xfrm>
            <a:off x="412650" y="1097975"/>
            <a:ext cx="784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How to </a:t>
            </a:r>
            <a:r>
              <a:rPr b="1" lang="el" sz="1600"/>
              <a:t>Translate Outcomes to Financial Impact!</a:t>
            </a:r>
            <a:endParaRPr b="1" sz="1600"/>
          </a:p>
        </p:txBody>
      </p:sp>
      <p:pic>
        <p:nvPicPr>
          <p:cNvPr id="730" name="Google Shape;730;p84"/>
          <p:cNvPicPr preferRelativeResize="0"/>
          <p:nvPr/>
        </p:nvPicPr>
        <p:blipFill rotWithShape="1">
          <a:blip r:embed="rId3">
            <a:alphaModFix/>
          </a:blip>
          <a:srcRect b="47739" l="0" r="35942" t="0"/>
          <a:stretch/>
        </p:blipFill>
        <p:spPr>
          <a:xfrm>
            <a:off x="3242325" y="1708625"/>
            <a:ext cx="3415375" cy="13421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84"/>
          <p:cNvSpPr txBox="1"/>
          <p:nvPr/>
        </p:nvSpPr>
        <p:spPr>
          <a:xfrm>
            <a:off x="788700" y="1708625"/>
            <a:ext cx="15621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>
                <a:solidFill>
                  <a:srgbClr val="FF00FF"/>
                </a:solidFill>
              </a:rPr>
              <a:t>Confusion matrix</a:t>
            </a:r>
            <a:endParaRPr sz="1300">
              <a:solidFill>
                <a:srgbClr val="FF00FF"/>
              </a:solidFill>
            </a:endParaRPr>
          </a:p>
        </p:txBody>
      </p:sp>
      <p:sp>
        <p:nvSpPr>
          <p:cNvPr id="732" name="Google Shape;732;p84"/>
          <p:cNvSpPr txBox="1"/>
          <p:nvPr/>
        </p:nvSpPr>
        <p:spPr>
          <a:xfrm>
            <a:off x="11250" y="2001300"/>
            <a:ext cx="31170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Total customers in each category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Varies with the different thresholds!!</a:t>
            </a:r>
            <a:endParaRPr sz="12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pick the threshold?</a:t>
            </a:r>
            <a:endParaRPr/>
          </a:p>
        </p:txBody>
      </p:sp>
      <p:pic>
        <p:nvPicPr>
          <p:cNvPr id="738" name="Google Shape;738;p85"/>
          <p:cNvPicPr preferRelativeResize="0"/>
          <p:nvPr/>
        </p:nvPicPr>
        <p:blipFill rotWithShape="1">
          <a:blip r:embed="rId3">
            <a:alphaModFix/>
          </a:blip>
          <a:srcRect b="0" l="0" r="35942" t="0"/>
          <a:stretch/>
        </p:blipFill>
        <p:spPr>
          <a:xfrm>
            <a:off x="3242325" y="1708625"/>
            <a:ext cx="3415375" cy="25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85"/>
          <p:cNvSpPr txBox="1"/>
          <p:nvPr/>
        </p:nvSpPr>
        <p:spPr>
          <a:xfrm>
            <a:off x="788700" y="1708625"/>
            <a:ext cx="15621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>
                <a:solidFill>
                  <a:srgbClr val="FF00FF"/>
                </a:solidFill>
              </a:rPr>
              <a:t>Confusion matrix</a:t>
            </a:r>
            <a:endParaRPr sz="1300">
              <a:solidFill>
                <a:srgbClr val="FF00FF"/>
              </a:solidFill>
            </a:endParaRPr>
          </a:p>
        </p:txBody>
      </p:sp>
      <p:sp>
        <p:nvSpPr>
          <p:cNvPr id="740" name="Google Shape;740;p85"/>
          <p:cNvSpPr txBox="1"/>
          <p:nvPr/>
        </p:nvSpPr>
        <p:spPr>
          <a:xfrm>
            <a:off x="788700" y="3365375"/>
            <a:ext cx="12819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>
                <a:solidFill>
                  <a:srgbClr val="FF00FF"/>
                </a:solidFill>
              </a:rPr>
              <a:t>Payoff matrix</a:t>
            </a:r>
            <a:endParaRPr sz="1300">
              <a:solidFill>
                <a:srgbClr val="FF00FF"/>
              </a:solidFill>
            </a:endParaRPr>
          </a:p>
        </p:txBody>
      </p:sp>
      <p:sp>
        <p:nvSpPr>
          <p:cNvPr id="741" name="Google Shape;741;p85"/>
          <p:cNvSpPr txBox="1"/>
          <p:nvPr/>
        </p:nvSpPr>
        <p:spPr>
          <a:xfrm>
            <a:off x="0" y="3727975"/>
            <a:ext cx="31170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Cost or profit in case we offer a discount.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If we predicted correct we get 200$. If we predict wrong we lose 30$</a:t>
            </a:r>
            <a:endParaRPr sz="1200"/>
          </a:p>
        </p:txBody>
      </p:sp>
      <p:sp>
        <p:nvSpPr>
          <p:cNvPr id="742" name="Google Shape;742;p85"/>
          <p:cNvSpPr txBox="1"/>
          <p:nvPr/>
        </p:nvSpPr>
        <p:spPr>
          <a:xfrm>
            <a:off x="11250" y="2001300"/>
            <a:ext cx="31170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Total customers in each category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Varies with the different thresholds!!</a:t>
            </a:r>
            <a:endParaRPr sz="1200"/>
          </a:p>
        </p:txBody>
      </p:sp>
      <p:sp>
        <p:nvSpPr>
          <p:cNvPr id="743" name="Google Shape;743;p85"/>
          <p:cNvSpPr txBox="1"/>
          <p:nvPr/>
        </p:nvSpPr>
        <p:spPr>
          <a:xfrm>
            <a:off x="412650" y="1097975"/>
            <a:ext cx="784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How to Translate Outcomes to Financial Impact!</a:t>
            </a:r>
            <a:endParaRPr b="1" sz="16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pick the threshold?</a:t>
            </a:r>
            <a:endParaRPr/>
          </a:p>
        </p:txBody>
      </p:sp>
      <p:pic>
        <p:nvPicPr>
          <p:cNvPr id="749" name="Google Shape;749;p86"/>
          <p:cNvPicPr preferRelativeResize="0"/>
          <p:nvPr/>
        </p:nvPicPr>
        <p:blipFill rotWithShape="1">
          <a:blip r:embed="rId3">
            <a:alphaModFix/>
          </a:blip>
          <a:srcRect b="0" l="0" r="1458" t="0"/>
          <a:stretch/>
        </p:blipFill>
        <p:spPr>
          <a:xfrm>
            <a:off x="3242325" y="1708625"/>
            <a:ext cx="5254024" cy="25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86"/>
          <p:cNvSpPr txBox="1"/>
          <p:nvPr/>
        </p:nvSpPr>
        <p:spPr>
          <a:xfrm>
            <a:off x="788700" y="1708625"/>
            <a:ext cx="15621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>
                <a:solidFill>
                  <a:srgbClr val="FF00FF"/>
                </a:solidFill>
              </a:rPr>
              <a:t>Confusion matrix</a:t>
            </a:r>
            <a:endParaRPr sz="1300">
              <a:solidFill>
                <a:srgbClr val="FF00FF"/>
              </a:solidFill>
            </a:endParaRPr>
          </a:p>
        </p:txBody>
      </p:sp>
      <p:sp>
        <p:nvSpPr>
          <p:cNvPr id="751" name="Google Shape;751;p86"/>
          <p:cNvSpPr txBox="1"/>
          <p:nvPr/>
        </p:nvSpPr>
        <p:spPr>
          <a:xfrm>
            <a:off x="788700" y="3365375"/>
            <a:ext cx="12819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>
                <a:solidFill>
                  <a:srgbClr val="FF00FF"/>
                </a:solidFill>
              </a:rPr>
              <a:t>Payoff matrix</a:t>
            </a:r>
            <a:endParaRPr sz="1300">
              <a:solidFill>
                <a:srgbClr val="FF00FF"/>
              </a:solidFill>
            </a:endParaRPr>
          </a:p>
        </p:txBody>
      </p:sp>
      <p:sp>
        <p:nvSpPr>
          <p:cNvPr id="752" name="Google Shape;752;p86"/>
          <p:cNvSpPr txBox="1"/>
          <p:nvPr/>
        </p:nvSpPr>
        <p:spPr>
          <a:xfrm>
            <a:off x="0" y="3727975"/>
            <a:ext cx="31170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Cost or profit in case we offer a discount.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If we predicted correct we get 200$. If we predict wrong we lose 30$</a:t>
            </a:r>
            <a:endParaRPr sz="1200"/>
          </a:p>
        </p:txBody>
      </p:sp>
      <p:sp>
        <p:nvSpPr>
          <p:cNvPr id="753" name="Google Shape;753;p86"/>
          <p:cNvSpPr txBox="1"/>
          <p:nvPr/>
        </p:nvSpPr>
        <p:spPr>
          <a:xfrm>
            <a:off x="11250" y="2001300"/>
            <a:ext cx="31170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Total customers in each category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Varies with the different thresholds!!</a:t>
            </a:r>
            <a:endParaRPr sz="1200"/>
          </a:p>
        </p:txBody>
      </p:sp>
      <p:sp>
        <p:nvSpPr>
          <p:cNvPr id="754" name="Google Shape;754;p86"/>
          <p:cNvSpPr txBox="1"/>
          <p:nvPr/>
        </p:nvSpPr>
        <p:spPr>
          <a:xfrm>
            <a:off x="412650" y="1097975"/>
            <a:ext cx="784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How to Translate Outcomes to Financial Impact!</a:t>
            </a:r>
            <a:endParaRPr b="1" sz="16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pick the threshold?</a:t>
            </a:r>
            <a:endParaRPr/>
          </a:p>
        </p:txBody>
      </p:sp>
      <p:pic>
        <p:nvPicPr>
          <p:cNvPr id="760" name="Google Shape;760;p87"/>
          <p:cNvPicPr preferRelativeResize="0"/>
          <p:nvPr/>
        </p:nvPicPr>
        <p:blipFill rotWithShape="1">
          <a:blip r:embed="rId3">
            <a:alphaModFix/>
          </a:blip>
          <a:srcRect b="0" l="0" r="1458" t="0"/>
          <a:stretch/>
        </p:blipFill>
        <p:spPr>
          <a:xfrm>
            <a:off x="3242325" y="1708625"/>
            <a:ext cx="5254024" cy="25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87"/>
          <p:cNvSpPr txBox="1"/>
          <p:nvPr/>
        </p:nvSpPr>
        <p:spPr>
          <a:xfrm>
            <a:off x="788700" y="1708625"/>
            <a:ext cx="15621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>
                <a:solidFill>
                  <a:srgbClr val="FF00FF"/>
                </a:solidFill>
              </a:rPr>
              <a:t>Confusion matrix</a:t>
            </a:r>
            <a:endParaRPr sz="1300">
              <a:solidFill>
                <a:srgbClr val="FF00FF"/>
              </a:solidFill>
            </a:endParaRPr>
          </a:p>
        </p:txBody>
      </p:sp>
      <p:sp>
        <p:nvSpPr>
          <p:cNvPr id="762" name="Google Shape;762;p87"/>
          <p:cNvSpPr txBox="1"/>
          <p:nvPr/>
        </p:nvSpPr>
        <p:spPr>
          <a:xfrm>
            <a:off x="788700" y="3365375"/>
            <a:ext cx="12819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>
                <a:solidFill>
                  <a:srgbClr val="FF00FF"/>
                </a:solidFill>
              </a:rPr>
              <a:t>Payoff matrix</a:t>
            </a:r>
            <a:endParaRPr sz="1300">
              <a:solidFill>
                <a:srgbClr val="FF00FF"/>
              </a:solidFill>
            </a:endParaRPr>
          </a:p>
        </p:txBody>
      </p:sp>
      <p:sp>
        <p:nvSpPr>
          <p:cNvPr id="763" name="Google Shape;763;p87"/>
          <p:cNvSpPr txBox="1"/>
          <p:nvPr/>
        </p:nvSpPr>
        <p:spPr>
          <a:xfrm>
            <a:off x="0" y="3727975"/>
            <a:ext cx="31170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Cost or profit in case we offer a discount.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If we predicted correct we get 200$. If we predict wrong we lose 30$</a:t>
            </a:r>
            <a:endParaRPr sz="1200"/>
          </a:p>
        </p:txBody>
      </p:sp>
      <p:sp>
        <p:nvSpPr>
          <p:cNvPr id="764" name="Google Shape;764;p87"/>
          <p:cNvSpPr txBox="1"/>
          <p:nvPr/>
        </p:nvSpPr>
        <p:spPr>
          <a:xfrm>
            <a:off x="11250" y="2001300"/>
            <a:ext cx="31170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Total customers in each category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Varies with the different thresholds!!</a:t>
            </a:r>
            <a:endParaRPr sz="1200"/>
          </a:p>
        </p:txBody>
      </p:sp>
      <p:cxnSp>
        <p:nvCxnSpPr>
          <p:cNvPr id="765" name="Google Shape;765;p87"/>
          <p:cNvCxnSpPr/>
          <p:nvPr/>
        </p:nvCxnSpPr>
        <p:spPr>
          <a:xfrm rot="10800000">
            <a:off x="7730150" y="1598975"/>
            <a:ext cx="7200" cy="96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6" name="Google Shape;766;p87"/>
          <p:cNvSpPr txBox="1"/>
          <p:nvPr/>
        </p:nvSpPr>
        <p:spPr>
          <a:xfrm>
            <a:off x="6587800" y="914975"/>
            <a:ext cx="2203500" cy="61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 get 150.000 correct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 loss 80.000</a:t>
            </a:r>
            <a:endParaRPr/>
          </a:p>
        </p:txBody>
      </p:sp>
      <p:cxnSp>
        <p:nvCxnSpPr>
          <p:cNvPr id="767" name="Google Shape;767;p87"/>
          <p:cNvCxnSpPr/>
          <p:nvPr/>
        </p:nvCxnSpPr>
        <p:spPr>
          <a:xfrm>
            <a:off x="7803675" y="3470750"/>
            <a:ext cx="0" cy="87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8" name="Google Shape;768;p87"/>
          <p:cNvSpPr txBox="1"/>
          <p:nvPr/>
        </p:nvSpPr>
        <p:spPr>
          <a:xfrm>
            <a:off x="6657700" y="4408250"/>
            <a:ext cx="2538600" cy="6105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What if I adjust the threshold?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769" name="Google Shape;769;p87"/>
          <p:cNvSpPr txBox="1"/>
          <p:nvPr/>
        </p:nvSpPr>
        <p:spPr>
          <a:xfrm>
            <a:off x="412650" y="1097975"/>
            <a:ext cx="784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How to Translate Outcomes to Financial Impact!</a:t>
            </a:r>
            <a:endParaRPr b="1" sz="16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Profit Curves: Optimize the Threshold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5" name="Google Shape;77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251" y="1658000"/>
            <a:ext cx="4069174" cy="25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88"/>
          <p:cNvSpPr txBox="1"/>
          <p:nvPr/>
        </p:nvSpPr>
        <p:spPr>
          <a:xfrm>
            <a:off x="589525" y="1017713"/>
            <a:ext cx="68901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Given a payoff matrix we can find the profit on different thresholds!</a:t>
            </a:r>
            <a:endParaRPr b="1" sz="1600"/>
          </a:p>
        </p:txBody>
      </p:sp>
      <p:sp>
        <p:nvSpPr>
          <p:cNvPr id="777" name="Google Shape;777;p88"/>
          <p:cNvSpPr/>
          <p:nvPr/>
        </p:nvSpPr>
        <p:spPr>
          <a:xfrm>
            <a:off x="420025" y="2711750"/>
            <a:ext cx="207000" cy="572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8" name="Google Shape;778;p88"/>
          <p:cNvCxnSpPr>
            <a:stCxn id="777" idx="4"/>
          </p:cNvCxnSpPr>
          <p:nvPr/>
        </p:nvCxnSpPr>
        <p:spPr>
          <a:xfrm>
            <a:off x="523525" y="3284450"/>
            <a:ext cx="0" cy="11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9" name="Google Shape;779;p88"/>
          <p:cNvSpPr txBox="1"/>
          <p:nvPr/>
        </p:nvSpPr>
        <p:spPr>
          <a:xfrm>
            <a:off x="-36825" y="4315250"/>
            <a:ext cx="1923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Estimated as before</a:t>
            </a:r>
            <a:endParaRPr/>
          </a:p>
        </p:txBody>
      </p:sp>
      <p:cxnSp>
        <p:nvCxnSpPr>
          <p:cNvPr id="780" name="Google Shape;780;p88"/>
          <p:cNvCxnSpPr/>
          <p:nvPr/>
        </p:nvCxnSpPr>
        <p:spPr>
          <a:xfrm>
            <a:off x="1694850" y="1709575"/>
            <a:ext cx="0" cy="189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Profit Curves: Optimize the Threshold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6" name="Google Shape;78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251" y="1658000"/>
            <a:ext cx="4069174" cy="25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89"/>
          <p:cNvSpPr/>
          <p:nvPr/>
        </p:nvSpPr>
        <p:spPr>
          <a:xfrm>
            <a:off x="420025" y="2711750"/>
            <a:ext cx="207000" cy="572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8" name="Google Shape;788;p89"/>
          <p:cNvCxnSpPr>
            <a:stCxn id="787" idx="4"/>
          </p:cNvCxnSpPr>
          <p:nvPr/>
        </p:nvCxnSpPr>
        <p:spPr>
          <a:xfrm>
            <a:off x="523525" y="3284450"/>
            <a:ext cx="0" cy="11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9" name="Google Shape;789;p89"/>
          <p:cNvSpPr txBox="1"/>
          <p:nvPr/>
        </p:nvSpPr>
        <p:spPr>
          <a:xfrm>
            <a:off x="-36825" y="4315250"/>
            <a:ext cx="1923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Estimated as before</a:t>
            </a:r>
            <a:endParaRPr/>
          </a:p>
        </p:txBody>
      </p:sp>
      <p:cxnSp>
        <p:nvCxnSpPr>
          <p:cNvPr id="790" name="Google Shape;790;p89"/>
          <p:cNvCxnSpPr/>
          <p:nvPr/>
        </p:nvCxnSpPr>
        <p:spPr>
          <a:xfrm>
            <a:off x="1694850" y="1709575"/>
            <a:ext cx="0" cy="189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791" name="Google Shape;791;p89"/>
          <p:cNvSpPr/>
          <p:nvPr/>
        </p:nvSpPr>
        <p:spPr>
          <a:xfrm>
            <a:off x="1694850" y="1487725"/>
            <a:ext cx="4030800" cy="479775"/>
          </a:xfrm>
          <a:custGeom>
            <a:rect b="b" l="l" r="r" t="t"/>
            <a:pathLst>
              <a:path extrusionOk="0" h="19191" w="161232">
                <a:moveTo>
                  <a:pt x="0" y="18896"/>
                </a:moveTo>
                <a:cubicBezTo>
                  <a:pt x="11053" y="15801"/>
                  <a:pt x="41708" y="2145"/>
                  <a:pt x="66320" y="327"/>
                </a:cubicBezTo>
                <a:cubicBezTo>
                  <a:pt x="90932" y="-1491"/>
                  <a:pt x="131854" y="4846"/>
                  <a:pt x="147673" y="7990"/>
                </a:cubicBezTo>
                <a:cubicBezTo>
                  <a:pt x="163492" y="11134"/>
                  <a:pt x="158972" y="17324"/>
                  <a:pt x="161232" y="1919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792" name="Google Shape;792;p89"/>
          <p:cNvSpPr txBox="1"/>
          <p:nvPr/>
        </p:nvSpPr>
        <p:spPr>
          <a:xfrm>
            <a:off x="4966650" y="1884363"/>
            <a:ext cx="16212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Max profit</a:t>
            </a:r>
            <a:endParaRPr>
              <a:solidFill>
                <a:srgbClr val="FF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Ideal threshold!!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793" name="Google Shape;793;p89"/>
          <p:cNvSpPr txBox="1"/>
          <p:nvPr/>
        </p:nvSpPr>
        <p:spPr>
          <a:xfrm>
            <a:off x="589525" y="1017713"/>
            <a:ext cx="68901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Given a payoff matrix we can find the profit on different thresholds!</a:t>
            </a:r>
            <a:endParaRPr b="1" sz="16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Profit Curves: Optimize the Threshold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9" name="Google Shape;79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251" y="1658000"/>
            <a:ext cx="4069174" cy="25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90"/>
          <p:cNvSpPr/>
          <p:nvPr/>
        </p:nvSpPr>
        <p:spPr>
          <a:xfrm>
            <a:off x="420025" y="2711750"/>
            <a:ext cx="207000" cy="572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1" name="Google Shape;801;p90"/>
          <p:cNvCxnSpPr>
            <a:stCxn id="800" idx="4"/>
          </p:cNvCxnSpPr>
          <p:nvPr/>
        </p:nvCxnSpPr>
        <p:spPr>
          <a:xfrm>
            <a:off x="523525" y="3284450"/>
            <a:ext cx="0" cy="11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2" name="Google Shape;802;p90"/>
          <p:cNvSpPr txBox="1"/>
          <p:nvPr/>
        </p:nvSpPr>
        <p:spPr>
          <a:xfrm>
            <a:off x="-36825" y="4315250"/>
            <a:ext cx="1923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Estimated as before</a:t>
            </a:r>
            <a:endParaRPr/>
          </a:p>
        </p:txBody>
      </p:sp>
      <p:cxnSp>
        <p:nvCxnSpPr>
          <p:cNvPr id="803" name="Google Shape;803;p90"/>
          <p:cNvCxnSpPr/>
          <p:nvPr/>
        </p:nvCxnSpPr>
        <p:spPr>
          <a:xfrm>
            <a:off x="1694850" y="1709575"/>
            <a:ext cx="0" cy="189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804" name="Google Shape;804;p90"/>
          <p:cNvSpPr/>
          <p:nvPr/>
        </p:nvSpPr>
        <p:spPr>
          <a:xfrm>
            <a:off x="1694850" y="1487725"/>
            <a:ext cx="4030800" cy="479775"/>
          </a:xfrm>
          <a:custGeom>
            <a:rect b="b" l="l" r="r" t="t"/>
            <a:pathLst>
              <a:path extrusionOk="0" h="19191" w="161232">
                <a:moveTo>
                  <a:pt x="0" y="18896"/>
                </a:moveTo>
                <a:cubicBezTo>
                  <a:pt x="11053" y="15801"/>
                  <a:pt x="41708" y="2145"/>
                  <a:pt x="66320" y="327"/>
                </a:cubicBezTo>
                <a:cubicBezTo>
                  <a:pt x="90932" y="-1491"/>
                  <a:pt x="131854" y="4846"/>
                  <a:pt x="147673" y="7990"/>
                </a:cubicBezTo>
                <a:cubicBezTo>
                  <a:pt x="163492" y="11134"/>
                  <a:pt x="158972" y="17324"/>
                  <a:pt x="161232" y="1919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805" name="Google Shape;805;p90"/>
          <p:cNvSpPr txBox="1"/>
          <p:nvPr/>
        </p:nvSpPr>
        <p:spPr>
          <a:xfrm>
            <a:off x="4966650" y="1884363"/>
            <a:ext cx="16212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Max profit</a:t>
            </a:r>
            <a:endParaRPr>
              <a:solidFill>
                <a:srgbClr val="FF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Ideal threshold!!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806" name="Google Shape;806;p90"/>
          <p:cNvSpPr txBox="1"/>
          <p:nvPr/>
        </p:nvSpPr>
        <p:spPr>
          <a:xfrm>
            <a:off x="589525" y="1017713"/>
            <a:ext cx="68901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Given a payoff matrix we can find the profit on different thresholds!</a:t>
            </a:r>
            <a:endParaRPr b="1" sz="1600"/>
          </a:p>
        </p:txBody>
      </p:sp>
      <p:sp>
        <p:nvSpPr>
          <p:cNvPr id="807" name="Google Shape;807;p90"/>
          <p:cNvSpPr txBox="1"/>
          <p:nvPr/>
        </p:nvSpPr>
        <p:spPr>
          <a:xfrm>
            <a:off x="4867625" y="2912875"/>
            <a:ext cx="3464700" cy="75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This is how we align Business Metrics with ML Metrics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9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Show me the code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2: Optimize Decisions on Regression problems</a:t>
            </a:r>
            <a:endParaRPr/>
          </a:p>
        </p:txBody>
      </p:sp>
      <p:pic>
        <p:nvPicPr>
          <p:cNvPr id="818" name="Google Shape;81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975" y="1591325"/>
            <a:ext cx="5242461" cy="25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Extend Profit Curves </a:t>
            </a:r>
            <a:endParaRPr/>
          </a:p>
        </p:txBody>
      </p:sp>
      <p:sp>
        <p:nvSpPr>
          <p:cNvPr id="824" name="Google Shape;824;p93"/>
          <p:cNvSpPr/>
          <p:nvPr/>
        </p:nvSpPr>
        <p:spPr>
          <a:xfrm>
            <a:off x="600425" y="1611275"/>
            <a:ext cx="2130875" cy="2109900"/>
          </a:xfrm>
          <a:prstGeom prst="flowChartPredefined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/>
              <a:t>Assume the cost of excess inventory for an item is </a:t>
            </a:r>
            <a:r>
              <a:rPr b="1" lang="el" sz="1700"/>
              <a:t>1€/unit</a:t>
            </a:r>
            <a:endParaRPr b="1" sz="1700"/>
          </a:p>
        </p:txBody>
      </p:sp>
      <p:sp>
        <p:nvSpPr>
          <p:cNvPr id="825" name="Google Shape;825;p93"/>
          <p:cNvSpPr/>
          <p:nvPr/>
        </p:nvSpPr>
        <p:spPr>
          <a:xfrm>
            <a:off x="3293100" y="1611275"/>
            <a:ext cx="2130875" cy="2109900"/>
          </a:xfrm>
          <a:prstGeom prst="flowChartPredefined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/>
              <a:t>Assume the cost of insufficient inventory is </a:t>
            </a:r>
            <a:r>
              <a:rPr b="1" lang="el" sz="1700"/>
              <a:t>3€/unit</a:t>
            </a:r>
            <a:endParaRPr b="1" sz="1700"/>
          </a:p>
        </p:txBody>
      </p:sp>
      <p:sp>
        <p:nvSpPr>
          <p:cNvPr id="826" name="Google Shape;826;p93"/>
          <p:cNvSpPr/>
          <p:nvPr/>
        </p:nvSpPr>
        <p:spPr>
          <a:xfrm>
            <a:off x="5985775" y="1611275"/>
            <a:ext cx="2130875" cy="2109900"/>
          </a:xfrm>
          <a:prstGeom prst="flowChartPredefined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/>
              <a:t>A model </a:t>
            </a:r>
            <a:r>
              <a:rPr b="1" lang="el" sz="1700"/>
              <a:t>predicts </a:t>
            </a:r>
            <a:r>
              <a:rPr lang="el" sz="1700"/>
              <a:t>demand for tomorrow will be </a:t>
            </a:r>
            <a:r>
              <a:rPr b="1" lang="el" sz="1700"/>
              <a:t>8 units</a:t>
            </a:r>
            <a:endParaRPr b="1" sz="1700"/>
          </a:p>
        </p:txBody>
      </p:sp>
      <p:sp>
        <p:nvSpPr>
          <p:cNvPr id="827" name="Google Shape;827;p93"/>
          <p:cNvSpPr txBox="1"/>
          <p:nvPr/>
        </p:nvSpPr>
        <p:spPr>
          <a:xfrm>
            <a:off x="1126200" y="3962325"/>
            <a:ext cx="65922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2000"/>
              <a:t>How many items should you have on your </a:t>
            </a:r>
            <a:r>
              <a:rPr lang="el" sz="2000"/>
              <a:t>inventory?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Careful: This is a super hard problem :) </a:t>
            </a:r>
            <a:endParaRPr sz="18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94"/>
          <p:cNvSpPr/>
          <p:nvPr/>
        </p:nvSpPr>
        <p:spPr>
          <a:xfrm>
            <a:off x="1260100" y="1412300"/>
            <a:ext cx="1751661" cy="1439450"/>
          </a:xfrm>
          <a:prstGeom prst="flowChartPredefined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Assume the cost of excess inventory for an item is </a:t>
            </a:r>
            <a:r>
              <a:rPr b="1" lang="el"/>
              <a:t>1€/unit</a:t>
            </a:r>
            <a:endParaRPr b="1"/>
          </a:p>
        </p:txBody>
      </p:sp>
      <p:sp>
        <p:nvSpPr>
          <p:cNvPr id="833" name="Google Shape;833;p94"/>
          <p:cNvSpPr/>
          <p:nvPr/>
        </p:nvSpPr>
        <p:spPr>
          <a:xfrm>
            <a:off x="3473582" y="1412300"/>
            <a:ext cx="1751661" cy="1439450"/>
          </a:xfrm>
          <a:prstGeom prst="flowChartPredefined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Assume the cost of insufficient inventory is </a:t>
            </a:r>
            <a:r>
              <a:rPr b="1" lang="el"/>
              <a:t>3€/unit</a:t>
            </a:r>
            <a:endParaRPr b="1"/>
          </a:p>
        </p:txBody>
      </p:sp>
      <p:sp>
        <p:nvSpPr>
          <p:cNvPr id="834" name="Google Shape;834;p94"/>
          <p:cNvSpPr/>
          <p:nvPr/>
        </p:nvSpPr>
        <p:spPr>
          <a:xfrm>
            <a:off x="5687064" y="1412300"/>
            <a:ext cx="1751661" cy="1439450"/>
          </a:xfrm>
          <a:prstGeom prst="flowChartPredefined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model </a:t>
            </a:r>
            <a:r>
              <a:rPr b="1" lang="el"/>
              <a:t>predicts </a:t>
            </a:r>
            <a:r>
              <a:rPr lang="el"/>
              <a:t>demand for tomorrow will be </a:t>
            </a:r>
            <a:r>
              <a:rPr b="1" lang="el"/>
              <a:t>8 units</a:t>
            </a:r>
            <a:endParaRPr b="1"/>
          </a:p>
        </p:txBody>
      </p:sp>
      <p:sp>
        <p:nvSpPr>
          <p:cNvPr id="835" name="Google Shape;835;p94"/>
          <p:cNvSpPr txBox="1"/>
          <p:nvPr/>
        </p:nvSpPr>
        <p:spPr>
          <a:xfrm>
            <a:off x="361075" y="3080200"/>
            <a:ext cx="8349000" cy="18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If the model is perfect -&gt; I should order 8 units!! Maximize profits.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Is the model perfect?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If the model is very wrong, maybe I should order a lot extra than the prediction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If the model is very good, maybe I should not order a lot extra than the prediction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I need to investigate the performance of my model!</a:t>
            </a:r>
            <a:endParaRPr sz="1600">
              <a:solidFill>
                <a:srgbClr val="FF00FF"/>
              </a:solidFill>
            </a:endParaRPr>
          </a:p>
        </p:txBody>
      </p:sp>
      <p:sp>
        <p:nvSpPr>
          <p:cNvPr id="836" name="Google Shape;836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Extend Profit Curves 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standard framework of a Data Scientist</a:t>
            </a:r>
            <a:endParaRPr/>
          </a:p>
        </p:txBody>
      </p:sp>
      <p:pic>
        <p:nvPicPr>
          <p:cNvPr id="842" name="Google Shape;84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899" y="1921249"/>
            <a:ext cx="7562799" cy="1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95"/>
          <p:cNvSpPr txBox="1"/>
          <p:nvPr/>
        </p:nvSpPr>
        <p:spPr>
          <a:xfrm>
            <a:off x="589938" y="4148450"/>
            <a:ext cx="1847400" cy="42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Your contribution</a:t>
            </a:r>
            <a:endParaRPr sz="1600"/>
          </a:p>
        </p:txBody>
      </p:sp>
      <p:sp>
        <p:nvSpPr>
          <p:cNvPr id="844" name="Google Shape;844;p95"/>
          <p:cNvSpPr txBox="1"/>
          <p:nvPr/>
        </p:nvSpPr>
        <p:spPr>
          <a:xfrm>
            <a:off x="3648313" y="4022600"/>
            <a:ext cx="1847400" cy="67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Stakeholders</a:t>
            </a:r>
            <a:r>
              <a:rPr lang="el" sz="1600"/>
              <a:t> contribution</a:t>
            </a:r>
            <a:endParaRPr sz="16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9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Show me the code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