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da79e9e5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da79e9e5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da79e9e51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da79e9e51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9da79e9e5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9da79e9e5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da79e9e51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9da79e9e51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Todays course is about cloud platforms. </a:t>
            </a:r>
            <a:endParaRPr/>
          </a:p>
          <a:p>
            <a:pPr indent="0" lvl="0" marL="0" rtl="0" algn="l">
              <a:spcBef>
                <a:spcPts val="0"/>
              </a:spcBef>
              <a:spcAft>
                <a:spcPts val="0"/>
              </a:spcAft>
              <a:buNone/>
            </a:pPr>
            <a:r>
              <a:rPr lang="el"/>
              <a:t>Why are they </a:t>
            </a:r>
            <a:r>
              <a:rPr lang="el"/>
              <a:t>preferred, how to utilize them and things to consider</a:t>
            </a:r>
            <a:endParaRPr/>
          </a:p>
          <a:p>
            <a:pPr indent="-298450" lvl="0" marL="457200" rtl="0" algn="l">
              <a:spcBef>
                <a:spcPts val="0"/>
              </a:spcBef>
              <a:spcAft>
                <a:spcPts val="0"/>
              </a:spcAft>
              <a:buSzPts val="1100"/>
              <a:buChar char="-"/>
            </a:pPr>
            <a:r>
              <a:rPr lang="el"/>
              <a:t>As you can see these are some of the biggest players in the cloud world</a:t>
            </a:r>
            <a:endParaRPr/>
          </a:p>
          <a:p>
            <a:pPr indent="-298450" lvl="0" marL="457200" rtl="0" algn="l">
              <a:spcBef>
                <a:spcPts val="0"/>
              </a:spcBef>
              <a:spcAft>
                <a:spcPts val="0"/>
              </a:spcAft>
              <a:buSzPts val="1100"/>
              <a:buChar char="-"/>
            </a:pPr>
            <a:r>
              <a:rPr lang="el"/>
              <a:t>(Talk them one by one)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da79e9e5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da79e9e5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Before starting I want to make this as clear as possible.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da79e9e5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da79e9e5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this is a quick overview of what we are going to consider.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9da79e9e5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9da79e9e5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So for this course I have selected google-cloud as the cloud platform to work on.</a:t>
            </a:r>
            <a:endParaRPr/>
          </a:p>
          <a:p>
            <a:pPr indent="0" lvl="0" marL="0" rtl="0" algn="l">
              <a:spcBef>
                <a:spcPts val="0"/>
              </a:spcBef>
              <a:spcAft>
                <a:spcPts val="0"/>
              </a:spcAft>
              <a:buNone/>
            </a:pPr>
            <a:r>
              <a:rPr lang="el"/>
              <a:t>The main reason is that it is much more beginner friendly than Azure or AWS.</a:t>
            </a:r>
            <a:endParaRPr/>
          </a:p>
          <a:p>
            <a:pPr indent="-298450" lvl="0" marL="457200" rtl="0" algn="l">
              <a:spcBef>
                <a:spcPts val="0"/>
              </a:spcBef>
              <a:spcAft>
                <a:spcPts val="0"/>
              </a:spcAft>
              <a:buSzPts val="1100"/>
              <a:buChar char="-"/>
            </a:pPr>
            <a:r>
              <a:rPr lang="el"/>
              <a:t>It also have a very nice user-friendly interface.</a:t>
            </a:r>
            <a:endParaRPr/>
          </a:p>
          <a:p>
            <a:pPr indent="-298450" lvl="0" marL="457200" rtl="0" algn="l">
              <a:spcBef>
                <a:spcPts val="0"/>
              </a:spcBef>
              <a:spcAft>
                <a:spcPts val="0"/>
              </a:spcAft>
              <a:buSzPts val="1100"/>
              <a:buChar char="-"/>
            </a:pPr>
            <a:r>
              <a:rPr lang="el"/>
              <a:t>It does not have as many features as AWS but it has more than you will need as beginners!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da79e9e5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da79e9e5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begin by talking about IT Infrastructures and how these are being modernized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9da79e9e5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9da79e9e5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Some years ago, in the so called era of “Big Data” </a:t>
            </a:r>
            <a:r>
              <a:rPr lang="el"/>
              <a:t>scaling</a:t>
            </a:r>
            <a:r>
              <a:rPr lang="el"/>
              <a:t> an application to include  more users used to be an advantage</a:t>
            </a:r>
            <a:endParaRPr/>
          </a:p>
          <a:p>
            <a:pPr indent="0" lvl="0" marL="0" rtl="0" algn="l">
              <a:spcBef>
                <a:spcPts val="0"/>
              </a:spcBef>
              <a:spcAft>
                <a:spcPts val="0"/>
              </a:spcAft>
              <a:buNone/>
            </a:pPr>
            <a:r>
              <a:rPr lang="el"/>
              <a:t>Now its the norm. As soon as a company grows, </a:t>
            </a:r>
            <a:r>
              <a:rPr lang="el"/>
              <a:t>scaling</a:t>
            </a:r>
            <a:r>
              <a:rPr lang="el"/>
              <a:t> is more extremely important to keep users satisfied</a:t>
            </a:r>
            <a:endParaRPr/>
          </a:p>
          <a:p>
            <a:pPr indent="-298450" lvl="0" marL="457200" rtl="0" algn="l">
              <a:spcBef>
                <a:spcPts val="0"/>
              </a:spcBef>
              <a:spcAft>
                <a:spcPts val="0"/>
              </a:spcAft>
              <a:buSzPts val="1100"/>
              <a:buChar char="-"/>
            </a:pPr>
            <a:r>
              <a:rPr lang="el"/>
              <a:t>However this creates limitations for </a:t>
            </a:r>
            <a:r>
              <a:rPr lang="el"/>
              <a:t>scaling</a:t>
            </a:r>
            <a:r>
              <a:rPr lang="el"/>
              <a:t> the hardware as we saw in the last lecture</a:t>
            </a:r>
            <a:endParaRPr/>
          </a:p>
          <a:p>
            <a:pPr indent="-298450" lvl="0" marL="457200" rtl="0" algn="l">
              <a:spcBef>
                <a:spcPts val="0"/>
              </a:spcBef>
              <a:spcAft>
                <a:spcPts val="0"/>
              </a:spcAft>
              <a:buSzPts val="1100"/>
              <a:buChar char="-"/>
            </a:pPr>
            <a:r>
              <a:rPr lang="el"/>
              <a:t>Organizations do not want to spend by money for IT resources. \</a:t>
            </a:r>
            <a:endParaRPr/>
          </a:p>
          <a:p>
            <a:pPr indent="-298450" lvl="0" marL="457200" rtl="0" algn="l">
              <a:spcBef>
                <a:spcPts val="0"/>
              </a:spcBef>
              <a:spcAft>
                <a:spcPts val="0"/>
              </a:spcAft>
              <a:buSzPts val="1100"/>
              <a:buChar char="-"/>
            </a:pPr>
            <a:r>
              <a:rPr lang="el"/>
              <a:t>In addition, smaller companies or start-ups do not have the expertise to design IT </a:t>
            </a:r>
            <a:r>
              <a:rPr lang="el"/>
              <a:t>solutions.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da79e9e51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da79e9e51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where cloud comes into the game.</a:t>
            </a:r>
            <a:endParaRPr/>
          </a:p>
          <a:p>
            <a:pPr indent="0" lvl="0" marL="0" rtl="0" algn="l">
              <a:spcBef>
                <a:spcPts val="0"/>
              </a:spcBef>
              <a:spcAft>
                <a:spcPts val="0"/>
              </a:spcAft>
              <a:buNone/>
            </a:pPr>
            <a:r>
              <a:rPr lang="el"/>
              <a:t>There has been a new IT paradigm over the past years.</a:t>
            </a:r>
            <a:endParaRPr/>
          </a:p>
          <a:p>
            <a:pPr indent="0" lvl="0" marL="0" rtl="0" algn="l">
              <a:spcBef>
                <a:spcPts val="0"/>
              </a:spcBef>
              <a:spcAft>
                <a:spcPts val="0"/>
              </a:spcAft>
              <a:buNone/>
            </a:pPr>
            <a:r>
              <a:rPr lang="el"/>
              <a:t>Companies, instead of buying big server rooms with predifenied capacities</a:t>
            </a:r>
            <a:endParaRPr/>
          </a:p>
          <a:p>
            <a:pPr indent="0" lvl="0" marL="0" rtl="0" algn="l">
              <a:spcBef>
                <a:spcPts val="0"/>
              </a:spcBef>
              <a:spcAft>
                <a:spcPts val="0"/>
              </a:spcAft>
              <a:buNone/>
            </a:pPr>
            <a:r>
              <a:rPr lang="el"/>
              <a:t>They started investing in only what they use at every time. Not more not less.</a:t>
            </a:r>
            <a:endParaRPr/>
          </a:p>
          <a:p>
            <a:pPr indent="0" lvl="0" marL="0" rtl="0" algn="l">
              <a:spcBef>
                <a:spcPts val="0"/>
              </a:spcBef>
              <a:spcAft>
                <a:spcPts val="0"/>
              </a:spcAft>
              <a:buNone/>
            </a:pPr>
            <a:r>
              <a:rPr lang="el"/>
              <a:t>This has provided </a:t>
            </a:r>
            <a:r>
              <a:rPr lang="el"/>
              <a:t>greeted</a:t>
            </a:r>
            <a:r>
              <a:rPr lang="el"/>
              <a:t> financial benefits for such organzations.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9da79e9e5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9da79e9e5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lets review what things looked before the cloud era.</a:t>
            </a:r>
            <a:endParaRPr/>
          </a:p>
          <a:p>
            <a:pPr indent="-298450" lvl="0" marL="457200" rtl="0" algn="l">
              <a:spcBef>
                <a:spcPts val="0"/>
              </a:spcBef>
              <a:spcAft>
                <a:spcPts val="0"/>
              </a:spcAft>
              <a:buSzPts val="1100"/>
              <a:buChar char="-"/>
            </a:pPr>
            <a:r>
              <a:rPr lang="el"/>
              <a:t>Companies used to store their data in their own infrastructures</a:t>
            </a:r>
            <a:endParaRPr/>
          </a:p>
          <a:p>
            <a:pPr indent="-298450" lvl="0" marL="457200" rtl="0" algn="l">
              <a:spcBef>
                <a:spcPts val="0"/>
              </a:spcBef>
              <a:spcAft>
                <a:spcPts val="0"/>
              </a:spcAft>
              <a:buSzPts val="1100"/>
              <a:buChar char="-"/>
            </a:pPr>
            <a:r>
              <a:rPr lang="el"/>
              <a:t>They had these big rooms with computers that are connected to each other</a:t>
            </a:r>
            <a:endParaRPr/>
          </a:p>
          <a:p>
            <a:pPr indent="-298450" lvl="0" marL="457200" rtl="0" algn="l">
              <a:spcBef>
                <a:spcPts val="0"/>
              </a:spcBef>
              <a:spcAft>
                <a:spcPts val="0"/>
              </a:spcAft>
              <a:buSzPts val="1100"/>
              <a:buChar char="-"/>
            </a:pPr>
            <a:r>
              <a:rPr lang="el"/>
              <a:t>When the companies reached its limit and wanted to expand they need to buy new computers</a:t>
            </a:r>
            <a:endParaRPr/>
          </a:p>
          <a:p>
            <a:pPr indent="-298450" lvl="0" marL="457200" rtl="0" algn="l">
              <a:spcBef>
                <a:spcPts val="0"/>
              </a:spcBef>
              <a:spcAft>
                <a:spcPts val="0"/>
              </a:spcAft>
              <a:buSzPts val="1100"/>
              <a:buChar char="-"/>
            </a:pPr>
            <a:r>
              <a:rPr lang="el"/>
              <a:t>So at some point they started building data centers and big servers</a:t>
            </a:r>
            <a:endParaRPr/>
          </a:p>
          <a:p>
            <a:pPr indent="-298450" lvl="0" marL="457200" rtl="0" algn="l">
              <a:spcBef>
                <a:spcPts val="0"/>
              </a:spcBef>
              <a:spcAft>
                <a:spcPts val="0"/>
              </a:spcAft>
              <a:buSzPts val="1100"/>
              <a:buChar char="-"/>
            </a:pPr>
            <a:r>
              <a:rPr lang="el"/>
              <a:t>However, as we said, this created lots of problems.</a:t>
            </a:r>
            <a:endParaRPr/>
          </a:p>
          <a:p>
            <a:pPr indent="-298450" lvl="1" marL="914400" rtl="0" algn="l">
              <a:spcBef>
                <a:spcPts val="0"/>
              </a:spcBef>
              <a:spcAft>
                <a:spcPts val="0"/>
              </a:spcAft>
              <a:buSzPts val="1100"/>
              <a:buChar char="-"/>
            </a:pPr>
            <a:r>
              <a:rPr lang="el"/>
              <a:t>How much compute to add? How to estimate?</a:t>
            </a:r>
            <a:endParaRPr/>
          </a:p>
          <a:p>
            <a:pPr indent="-298450" lvl="1" marL="914400" rtl="0" algn="l">
              <a:spcBef>
                <a:spcPts val="0"/>
              </a:spcBef>
              <a:spcAft>
                <a:spcPts val="0"/>
              </a:spcAft>
              <a:buSzPts val="1100"/>
              <a:buChar char="-"/>
            </a:pPr>
            <a:r>
              <a:rPr lang="el"/>
              <a:t>Together with extra centers, more expenses are added (maintenance, security, cooling systems)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9da79e9e51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9da79e9e51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as we said, the opted for Virtual machines to optimize the use of resources</a:t>
            </a:r>
            <a:endParaRPr/>
          </a:p>
          <a:p>
            <a:pPr indent="-298450" lvl="0" marL="457200" rtl="0" algn="l">
              <a:spcBef>
                <a:spcPts val="0"/>
              </a:spcBef>
              <a:spcAft>
                <a:spcPts val="0"/>
              </a:spcAft>
              <a:buSzPts val="1100"/>
              <a:buChar char="-"/>
            </a:pPr>
            <a:r>
              <a:rPr lang="el"/>
              <a:t>They had multiple instances on the same computer that shared CPUs </a:t>
            </a:r>
            <a:r>
              <a:rPr lang="el"/>
              <a:t>storage and network</a:t>
            </a:r>
            <a:endParaRPr/>
          </a:p>
          <a:p>
            <a:pPr indent="-298450" lvl="0" marL="457200" rtl="0" algn="l">
              <a:spcBef>
                <a:spcPts val="0"/>
              </a:spcBef>
              <a:spcAft>
                <a:spcPts val="0"/>
              </a:spcAft>
              <a:buSzPts val="1100"/>
              <a:buChar char="-"/>
            </a:pPr>
            <a:r>
              <a:rPr lang="el"/>
              <a:t>This way the could run multiple applications in the same server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9da79e9e51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9da79e9e51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However, as mentioned, VMs carry their back of problems.</a:t>
            </a:r>
            <a:endParaRPr/>
          </a:p>
          <a:p>
            <a:pPr indent="-298450" lvl="0" marL="457200" rtl="0" algn="l">
              <a:spcBef>
                <a:spcPts val="0"/>
              </a:spcBef>
              <a:spcAft>
                <a:spcPts val="0"/>
              </a:spcAft>
              <a:buSzPts val="1100"/>
              <a:buChar char="-"/>
            </a:pPr>
            <a:r>
              <a:rPr lang="el"/>
              <a:t>First there still a limit on how much they can scale. After a point they would need extra resources again.</a:t>
            </a:r>
            <a:endParaRPr/>
          </a:p>
          <a:p>
            <a:pPr indent="-298450" lvl="0" marL="457200" rtl="0" algn="l">
              <a:spcBef>
                <a:spcPts val="0"/>
              </a:spcBef>
              <a:spcAft>
                <a:spcPts val="0"/>
              </a:spcAft>
              <a:buSzPts val="1100"/>
              <a:buChar char="-"/>
            </a:pPr>
            <a:r>
              <a:rPr lang="el"/>
              <a:t>Second, they still have to make a big invesemtns to some data center up front.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9da79e9e51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9da79e9e51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whats the situation? We have big companies that have huge demand and want to expand across the globe.</a:t>
            </a:r>
            <a:endParaRPr/>
          </a:p>
          <a:p>
            <a:pPr indent="0" lvl="0" marL="0" rtl="0" algn="l">
              <a:spcBef>
                <a:spcPts val="0"/>
              </a:spcBef>
              <a:spcAft>
                <a:spcPts val="0"/>
              </a:spcAft>
              <a:buNone/>
            </a:pPr>
            <a:r>
              <a:rPr lang="el"/>
              <a:t>They want to scale quickly and they know that data centers costs a lot of money to build and maintain.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da79e9e51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da79e9e51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what they do?</a:t>
            </a:r>
            <a:endParaRPr/>
          </a:p>
          <a:p>
            <a:pPr indent="0" lvl="0" marL="0" rtl="0" algn="l">
              <a:spcBef>
                <a:spcPts val="0"/>
              </a:spcBef>
              <a:spcAft>
                <a:spcPts val="0"/>
              </a:spcAft>
              <a:buNone/>
            </a:pPr>
            <a:r>
              <a:rPr lang="el"/>
              <a:t>They move their infrastructures from their physical data centers in the cloud!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da79e9e51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da79e9e51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how google describes the costs </a:t>
            </a:r>
            <a:r>
              <a:rPr lang="el"/>
              <a:t>associated</a:t>
            </a:r>
            <a:r>
              <a:rPr lang="el"/>
              <a:t> with IT on cloud and </a:t>
            </a:r>
            <a:r>
              <a:rPr lang="el"/>
              <a:t>locally</a:t>
            </a:r>
            <a:r>
              <a:rPr lang="el"/>
              <a:t>.</a:t>
            </a:r>
            <a:endParaRPr/>
          </a:p>
          <a:p>
            <a:pPr indent="0" lvl="0" marL="0" rtl="0" algn="l">
              <a:spcBef>
                <a:spcPts val="0"/>
              </a:spcBef>
              <a:spcAft>
                <a:spcPts val="0"/>
              </a:spcAft>
              <a:buNone/>
            </a:pPr>
            <a:r>
              <a:rPr lang="el"/>
              <a:t>I dont agree 100% but this is the general idea.</a:t>
            </a:r>
            <a:endParaRPr/>
          </a:p>
          <a:p>
            <a:pPr indent="0" lvl="0" marL="0" rtl="0" algn="l">
              <a:spcBef>
                <a:spcPts val="0"/>
              </a:spcBef>
              <a:spcAft>
                <a:spcPts val="0"/>
              </a:spcAft>
              <a:buNone/>
            </a:pPr>
            <a:r>
              <a:rPr lang="el"/>
              <a:t>Leveraging cloud solutions allows you to spend most of your budget on operational issues and not on capital which was the case with local IT infrastructures.</a:t>
            </a:r>
            <a:endParaRPr/>
          </a:p>
          <a:p>
            <a:pPr indent="0" lvl="0" marL="0" rtl="0" algn="l">
              <a:spcBef>
                <a:spcPts val="0"/>
              </a:spcBef>
              <a:spcAft>
                <a:spcPts val="0"/>
              </a:spcAft>
              <a:buNone/>
            </a:pPr>
            <a:r>
              <a:rPr lang="el"/>
              <a:t>That means more money for your application and less </a:t>
            </a:r>
            <a:r>
              <a:rPr lang="el"/>
              <a:t>worries</a:t>
            </a:r>
            <a:r>
              <a:rPr lang="el"/>
              <a:t> on your head about failing hardware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9da79e9e51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9da79e9e51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These are the properties of the cloud and what do they offer</a:t>
            </a:r>
            <a:endParaRPr/>
          </a:p>
          <a:p>
            <a:pPr indent="-298450" lvl="0" marL="457200" rtl="0" algn="l">
              <a:spcBef>
                <a:spcPts val="0"/>
              </a:spcBef>
              <a:spcAft>
                <a:spcPts val="0"/>
              </a:spcAft>
              <a:buSzPts val="1100"/>
              <a:buAutoNum type="arabicParenR"/>
            </a:pPr>
            <a:r>
              <a:rPr lang="el"/>
              <a:t>You pay whatever you need. As we said, you can pick your preferences, your limits or let it scale uatomaticmaly. They support all options. You only pay for whatever you ned.Carefull, the problem is to be certain on what you need as costs can increase super fast</a:t>
            </a:r>
            <a:endParaRPr/>
          </a:p>
          <a:p>
            <a:pPr indent="-298450" lvl="0" marL="457200" rtl="0" algn="l">
              <a:spcBef>
                <a:spcPts val="0"/>
              </a:spcBef>
              <a:spcAft>
                <a:spcPts val="0"/>
              </a:spcAft>
              <a:buSzPts val="1100"/>
              <a:buAutoNum type="arabicParenR"/>
            </a:pPr>
            <a:r>
              <a:rPr lang="el"/>
              <a:t>They offer additional services like integrated ML solutions, data engineering pipelines, dashboards etc</a:t>
            </a:r>
            <a:endParaRPr/>
          </a:p>
          <a:p>
            <a:pPr indent="-298450" lvl="0" marL="457200" rtl="0" algn="l">
              <a:spcBef>
                <a:spcPts val="0"/>
              </a:spcBef>
              <a:spcAft>
                <a:spcPts val="0"/>
              </a:spcAft>
              <a:buSzPts val="1100"/>
              <a:buAutoNum type="arabicParenR"/>
            </a:pPr>
            <a:r>
              <a:rPr lang="el"/>
              <a:t>You dont have to worry about failing hardware. They take care of it. You only </a:t>
            </a:r>
            <a:r>
              <a:rPr lang="el"/>
              <a:t>focus</a:t>
            </a:r>
            <a:r>
              <a:rPr lang="el"/>
              <a:t> on your application.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9da79e9e5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9da79e9e5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based on these services, these are the benefits they offer.</a:t>
            </a:r>
            <a:endParaRPr/>
          </a:p>
          <a:p>
            <a:pPr indent="-298450" lvl="0" marL="457200" rtl="0" algn="l">
              <a:spcBef>
                <a:spcPts val="0"/>
              </a:spcBef>
              <a:spcAft>
                <a:spcPts val="0"/>
              </a:spcAft>
              <a:buSzPts val="1100"/>
              <a:buChar char="-"/>
            </a:pPr>
            <a:r>
              <a:rPr lang="el"/>
              <a:t>You can easily pick any services you want</a:t>
            </a:r>
            <a:endParaRPr/>
          </a:p>
          <a:p>
            <a:pPr indent="-298450" lvl="0" marL="457200" rtl="0" algn="l">
              <a:spcBef>
                <a:spcPts val="0"/>
              </a:spcBef>
              <a:spcAft>
                <a:spcPts val="0"/>
              </a:spcAft>
              <a:buSzPts val="1100"/>
              <a:buChar char="-"/>
            </a:pPr>
            <a:r>
              <a:rPr lang="el"/>
              <a:t>You can access your services anywhere you are on the planet</a:t>
            </a:r>
            <a:endParaRPr/>
          </a:p>
          <a:p>
            <a:pPr indent="-298450" lvl="0" marL="457200" rtl="0" algn="l">
              <a:spcBef>
                <a:spcPts val="0"/>
              </a:spcBef>
              <a:spcAft>
                <a:spcPts val="0"/>
              </a:spcAft>
              <a:buSzPts val="1100"/>
              <a:buChar char="-"/>
            </a:pPr>
            <a:r>
              <a:rPr lang="el"/>
              <a:t>You can easily  pick any GPU, CPU and scale it accordingly</a:t>
            </a:r>
            <a:endParaRPr/>
          </a:p>
          <a:p>
            <a:pPr indent="-298450" lvl="0" marL="457200" rtl="0" algn="l">
              <a:spcBef>
                <a:spcPts val="0"/>
              </a:spcBef>
              <a:spcAft>
                <a:spcPts val="0"/>
              </a:spcAft>
              <a:buSzPts val="1100"/>
              <a:buChar char="-"/>
            </a:pPr>
            <a:r>
              <a:rPr lang="el"/>
              <a:t>You can scale up and down given the demand</a:t>
            </a:r>
            <a:endParaRPr/>
          </a:p>
          <a:p>
            <a:pPr indent="0" lvl="0" marL="0" rtl="0" algn="l">
              <a:spcBef>
                <a:spcPts val="0"/>
              </a:spcBef>
              <a:spcAft>
                <a:spcPts val="0"/>
              </a:spcAft>
              <a:buNone/>
            </a:pPr>
            <a:r>
              <a:rPr lang="el"/>
              <a:t>And on the right you have the use cases of cloud</a:t>
            </a:r>
            <a:endParaRPr/>
          </a:p>
          <a:p>
            <a:pPr indent="-298450" lvl="0" marL="457200" rtl="0" algn="l">
              <a:spcBef>
                <a:spcPts val="0"/>
              </a:spcBef>
              <a:spcAft>
                <a:spcPts val="0"/>
              </a:spcAft>
              <a:buSzPts val="1100"/>
              <a:buChar char="-"/>
            </a:pPr>
            <a:r>
              <a:rPr lang="el"/>
              <a:t>(just read them)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9da79e9e5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9da79e9e5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Just remind them here what is going 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da79e9e51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9da79e9e51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talked about the </a:t>
            </a:r>
            <a:r>
              <a:rPr lang="el"/>
              <a:t>benefits</a:t>
            </a:r>
            <a:r>
              <a:rPr lang="el"/>
              <a:t> of </a:t>
            </a:r>
            <a:r>
              <a:rPr lang="el"/>
              <a:t>containerization and why prefer them</a:t>
            </a:r>
            <a:endParaRPr/>
          </a:p>
          <a:p>
            <a:pPr indent="0" lvl="0" marL="0" rtl="0" algn="l">
              <a:spcBef>
                <a:spcPts val="0"/>
              </a:spcBef>
              <a:spcAft>
                <a:spcPts val="0"/>
              </a:spcAft>
              <a:buNone/>
            </a:pPr>
            <a:r>
              <a:rPr lang="el"/>
              <a:t>These benefits are alos transferred to cloud services too!</a:t>
            </a:r>
            <a:endParaRPr/>
          </a:p>
          <a:p>
            <a:pPr indent="-298450" lvl="0" marL="457200" rtl="0" algn="l">
              <a:spcBef>
                <a:spcPts val="0"/>
              </a:spcBef>
              <a:spcAft>
                <a:spcPts val="0"/>
              </a:spcAft>
              <a:buSzPts val="1100"/>
              <a:buChar char="-"/>
            </a:pPr>
            <a:r>
              <a:rPr lang="el"/>
              <a:t>They carry all the requirements and dependencies</a:t>
            </a:r>
            <a:endParaRPr/>
          </a:p>
          <a:p>
            <a:pPr indent="-298450" lvl="0" marL="457200" rtl="0" algn="l">
              <a:spcBef>
                <a:spcPts val="0"/>
              </a:spcBef>
              <a:spcAft>
                <a:spcPts val="0"/>
              </a:spcAft>
              <a:buSzPts val="1100"/>
              <a:buChar char="-"/>
            </a:pPr>
            <a:r>
              <a:rPr lang="el"/>
              <a:t>They start much faster because they have much less memory </a:t>
            </a:r>
            <a:endParaRPr/>
          </a:p>
          <a:p>
            <a:pPr indent="-298450" lvl="0" marL="457200" rtl="0" algn="l">
              <a:spcBef>
                <a:spcPts val="0"/>
              </a:spcBef>
              <a:spcAft>
                <a:spcPts val="0"/>
              </a:spcAft>
              <a:buSzPts val="1100"/>
              <a:buChar char="-"/>
            </a:pPr>
            <a:r>
              <a:rPr lang="el"/>
              <a:t>And finally they can be used to recreate environments as they were originaly</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9da79e9e51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9da79e9e51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 issue for companies is when they have a very big number of containers</a:t>
            </a:r>
            <a:endParaRPr/>
          </a:p>
          <a:p>
            <a:pPr indent="-298450" lvl="0" marL="457200" rtl="0" algn="l">
              <a:spcBef>
                <a:spcPts val="0"/>
              </a:spcBef>
              <a:spcAft>
                <a:spcPts val="0"/>
              </a:spcAft>
              <a:buSzPts val="1100"/>
              <a:buChar char="-"/>
            </a:pPr>
            <a:r>
              <a:rPr lang="el"/>
              <a:t>Maintaining and oversighting becomes tricky</a:t>
            </a:r>
            <a:endParaRPr/>
          </a:p>
          <a:p>
            <a:pPr indent="0" lvl="0" marL="0" rtl="0" algn="l">
              <a:spcBef>
                <a:spcPts val="0"/>
              </a:spcBef>
              <a:spcAft>
                <a:spcPts val="0"/>
              </a:spcAft>
              <a:buNone/>
            </a:pPr>
            <a:r>
              <a:rPr lang="el"/>
              <a:t>This is where kubernetes is used.</a:t>
            </a:r>
            <a:endParaRPr/>
          </a:p>
          <a:p>
            <a:pPr indent="0" lvl="0" marL="0" rtl="0" algn="l">
              <a:spcBef>
                <a:spcPts val="0"/>
              </a:spcBef>
              <a:spcAft>
                <a:spcPts val="0"/>
              </a:spcAft>
              <a:buNone/>
            </a:pPr>
            <a:r>
              <a:rPr lang="el"/>
              <a:t>Its developed by google and its an application that does clusters management of your containers. It takes care that everything works accordigly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9da79e9e5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9da79e9e5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finally the last benefit is serverless computing. In my opinion this is the best way to use the cloud</a:t>
            </a:r>
            <a:endParaRPr/>
          </a:p>
          <a:p>
            <a:pPr indent="-298450" lvl="0" marL="457200" rtl="0" algn="l">
              <a:spcBef>
                <a:spcPts val="0"/>
              </a:spcBef>
              <a:spcAft>
                <a:spcPts val="0"/>
              </a:spcAft>
              <a:buSzPts val="1100"/>
              <a:buChar char="-"/>
            </a:pPr>
            <a:r>
              <a:rPr lang="el"/>
              <a:t>So the idea is that you keep your data somewhere stored. If you want to make an action you only pay for that action the time you make it. </a:t>
            </a:r>
            <a:endParaRPr/>
          </a:p>
          <a:p>
            <a:pPr indent="-298450" lvl="0" marL="457200" rtl="0" algn="l">
              <a:spcBef>
                <a:spcPts val="0"/>
              </a:spcBef>
              <a:spcAft>
                <a:spcPts val="0"/>
              </a:spcAft>
              <a:buSzPts val="1100"/>
              <a:buChar char="-"/>
            </a:pPr>
            <a:r>
              <a:rPr lang="el"/>
              <a:t>That mens you dont pay for computer per month but everytime you make a batch-prediction</a:t>
            </a:r>
            <a:endParaRPr/>
          </a:p>
          <a:p>
            <a:pPr indent="-298450" lvl="0" marL="457200" rtl="0" algn="l">
              <a:spcBef>
                <a:spcPts val="0"/>
              </a:spcBef>
              <a:spcAft>
                <a:spcPts val="0"/>
              </a:spcAft>
              <a:buSzPts val="1100"/>
              <a:buChar char="-"/>
            </a:pPr>
            <a:r>
              <a:rPr lang="el"/>
              <a:t>There are options that allow you to make predictions on a date that you have </a:t>
            </a:r>
            <a:r>
              <a:rPr lang="el"/>
              <a:t>picked</a:t>
            </a:r>
            <a:endParaRPr/>
          </a:p>
          <a:p>
            <a:pPr indent="0" lvl="0" marL="0" rtl="0" algn="l">
              <a:spcBef>
                <a:spcPts val="0"/>
              </a:spcBef>
              <a:spcAft>
                <a:spcPts val="0"/>
              </a:spcAft>
              <a:buNone/>
            </a:pPr>
            <a:r>
              <a:rPr lang="el"/>
              <a:t>Remember the example with batch inference on a super market. You make the predictions on a Sunday night and </a:t>
            </a:r>
            <a:r>
              <a:rPr lang="el"/>
              <a:t>you</a:t>
            </a:r>
            <a:r>
              <a:rPr lang="el"/>
              <a:t> have them ready on /Monnday </a:t>
            </a:r>
            <a:r>
              <a:rPr lang="el"/>
              <a:t>morning</a:t>
            </a:r>
            <a:r>
              <a:rPr lang="el"/>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9da79e9e5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9da79e9e5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These are some of the many functons that google offers. </a:t>
            </a:r>
            <a:endParaRPr/>
          </a:p>
          <a:p>
            <a:pPr indent="0" lvl="0" marL="0" rtl="0" algn="l">
              <a:spcBef>
                <a:spcPts val="0"/>
              </a:spcBef>
              <a:spcAft>
                <a:spcPts val="0"/>
              </a:spcAft>
              <a:buNone/>
            </a:pPr>
            <a:r>
              <a:rPr lang="el"/>
              <a:t>(read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depending on your case and what you want to achieve you can pick what suits you</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9da79e9e51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9da79e9e51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good. Any questions? Now that we talked about infrastructures lets move to applications and why you want to consider deploying them on cloud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9da79e9e51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9da79e9e51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start by deployment.</a:t>
            </a:r>
            <a:endParaRPr/>
          </a:p>
          <a:p>
            <a:pPr indent="-298450" lvl="0" marL="457200" rtl="0" algn="l">
              <a:spcBef>
                <a:spcPts val="0"/>
              </a:spcBef>
              <a:spcAft>
                <a:spcPts val="0"/>
              </a:spcAft>
              <a:buSzPts val="1100"/>
              <a:buChar char="-"/>
            </a:pPr>
            <a:r>
              <a:rPr lang="el"/>
              <a:t>If you develop an application in-house and you ran it in-house you might lose a lot of time when you set up IT infrastucutres. Remember your time is valuable </a:t>
            </a:r>
            <a:endParaRPr/>
          </a:p>
          <a:p>
            <a:pPr indent="-298450" lvl="0" marL="457200" rtl="0" algn="l">
              <a:spcBef>
                <a:spcPts val="0"/>
              </a:spcBef>
              <a:spcAft>
                <a:spcPts val="0"/>
              </a:spcAft>
              <a:buSzPts val="1100"/>
              <a:buChar char="-"/>
            </a:pPr>
            <a:r>
              <a:rPr lang="el"/>
              <a:t>If you want to move your application fast from prototype to production you need to consider cloud </a:t>
            </a:r>
            <a:r>
              <a:rPr lang="el"/>
              <a:t>platforms</a:t>
            </a:r>
            <a:r>
              <a:rPr lang="el"/>
              <a:t>. You saw the example with streamlit, how easy it was to deploy the application. The same is true for the cloud but on bigger scales</a:t>
            </a:r>
            <a:endParaRPr/>
          </a:p>
          <a:p>
            <a:pPr indent="-298450" lvl="0" marL="457200" rtl="0" algn="l">
              <a:spcBef>
                <a:spcPts val="0"/>
              </a:spcBef>
              <a:spcAft>
                <a:spcPts val="0"/>
              </a:spcAft>
              <a:buSzPts val="1100"/>
              <a:buChar char="-"/>
            </a:pPr>
            <a:r>
              <a:rPr lang="el"/>
              <a:t>It makes deployment much faster and easier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9da79e9e51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9da79e9e51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There are 3 ways, according to Google to move t a cloud platform.</a:t>
            </a:r>
            <a:endParaRPr/>
          </a:p>
          <a:p>
            <a:pPr indent="-298450" lvl="0" marL="457200" rtl="0" algn="l">
              <a:spcBef>
                <a:spcPts val="0"/>
              </a:spcBef>
              <a:spcAft>
                <a:spcPts val="0"/>
              </a:spcAft>
              <a:buSzPts val="1100"/>
              <a:buAutoNum type="arabicParenR"/>
            </a:pPr>
            <a:r>
              <a:rPr lang="el"/>
              <a:t>Just take your app and upload it to the cloud. This is fast but might not run or might have additional costs</a:t>
            </a:r>
            <a:endParaRPr/>
          </a:p>
          <a:p>
            <a:pPr indent="-298450" lvl="0" marL="457200" rtl="0" algn="l">
              <a:spcBef>
                <a:spcPts val="0"/>
              </a:spcBef>
              <a:spcAft>
                <a:spcPts val="0"/>
              </a:spcAft>
              <a:buSzPts val="1100"/>
              <a:buAutoNum type="arabicParenR"/>
            </a:pPr>
            <a:r>
              <a:rPr lang="el"/>
              <a:t>Next you adjust your application and then you migrate. This is a bit more time consuming but ensure good compactibility and performance</a:t>
            </a:r>
            <a:endParaRPr/>
          </a:p>
          <a:p>
            <a:pPr indent="-298450" lvl="0" marL="457200" rtl="0" algn="l">
              <a:spcBef>
                <a:spcPts val="0"/>
              </a:spcBef>
              <a:spcAft>
                <a:spcPts val="0"/>
              </a:spcAft>
              <a:buSzPts val="1100"/>
              <a:buAutoNum type="arabicParenR"/>
            </a:pPr>
            <a:r>
              <a:rPr lang="el"/>
              <a:t>Third develop a new application from scratch to replace your old on. This is the most time consuming but most optimal in terms of costs and performance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9da79e9e51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9da79e9e51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if we move a bit back to what we learnt from the ML circle, its very important before building an application to have everything pre-defined.</a:t>
            </a:r>
            <a:endParaRPr/>
          </a:p>
          <a:p>
            <a:pPr indent="-298450" lvl="0" marL="457200" rtl="0" algn="l">
              <a:spcBef>
                <a:spcPts val="0"/>
              </a:spcBef>
              <a:spcAft>
                <a:spcPts val="0"/>
              </a:spcAft>
              <a:buSzPts val="1100"/>
              <a:buChar char="-"/>
            </a:pPr>
            <a:r>
              <a:rPr lang="el"/>
              <a:t>Read them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9da79e9e51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9da79e9e51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It should be noted here that most of the times </a:t>
            </a:r>
            <a:r>
              <a:rPr lang="el"/>
              <a:t>actually</a:t>
            </a:r>
            <a:r>
              <a:rPr lang="el"/>
              <a:t> coming up with a good project plan is much more time-consuming that </a:t>
            </a:r>
            <a:r>
              <a:rPr lang="el"/>
              <a:t>building</a:t>
            </a:r>
            <a:r>
              <a:rPr lang="el"/>
              <a:t> the actual application.</a:t>
            </a:r>
            <a:endParaRPr/>
          </a:p>
          <a:p>
            <a:pPr indent="0" lvl="0" marL="0" rtl="0" algn="l">
              <a:spcBef>
                <a:spcPts val="0"/>
              </a:spcBef>
              <a:spcAft>
                <a:spcPts val="0"/>
              </a:spcAft>
              <a:buNone/>
            </a:pPr>
            <a:r>
              <a:rPr lang="el"/>
              <a:t>Thats why its a very important step!</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9da79e9e51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9da79e9e51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 summarize the part for the applications. </a:t>
            </a:r>
            <a:endParaRPr/>
          </a:p>
          <a:p>
            <a:pPr indent="0" lvl="0" marL="0" rtl="0" algn="l">
              <a:spcBef>
                <a:spcPts val="0"/>
              </a:spcBef>
              <a:spcAft>
                <a:spcPts val="0"/>
              </a:spcAft>
              <a:buNone/>
            </a:pPr>
            <a:r>
              <a:rPr lang="el"/>
              <a:t>Cloud offers flexibility. You focus on developing the application and not building and </a:t>
            </a:r>
            <a:r>
              <a:rPr lang="el"/>
              <a:t>maintaining</a:t>
            </a:r>
            <a:r>
              <a:rPr lang="el"/>
              <a:t> data centers</a:t>
            </a:r>
            <a:endParaRPr/>
          </a:p>
          <a:p>
            <a:pPr indent="-298450" lvl="0" marL="457200" rtl="0" algn="l">
              <a:spcBef>
                <a:spcPts val="0"/>
              </a:spcBef>
              <a:spcAft>
                <a:spcPts val="0"/>
              </a:spcAft>
              <a:buSzPts val="1100"/>
              <a:buChar char="-"/>
            </a:pPr>
            <a:r>
              <a:rPr lang="el"/>
              <a:t>You can scale and pick your thresholds and adjust them at any time</a:t>
            </a:r>
            <a:endParaRPr/>
          </a:p>
          <a:p>
            <a:pPr indent="-298450" lvl="0" marL="457200" rtl="0" algn="l">
              <a:spcBef>
                <a:spcPts val="0"/>
              </a:spcBef>
              <a:spcAft>
                <a:spcPts val="0"/>
              </a:spcAft>
              <a:buSzPts val="1100"/>
              <a:buChar char="-"/>
            </a:pPr>
            <a:r>
              <a:rPr lang="el"/>
              <a:t>You can also very easily take and deploy your application without having to optimize for IT!!</a:t>
            </a:r>
            <a:endParaRPr/>
          </a:p>
          <a:p>
            <a:pPr indent="0" lvl="0" marL="0" rtl="0" algn="l">
              <a:spcBef>
                <a:spcPts val="0"/>
              </a:spcBef>
              <a:spcAft>
                <a:spcPts val="0"/>
              </a:spcAft>
              <a:buNone/>
            </a:pPr>
            <a:r>
              <a:rPr lang="el"/>
              <a:t>Its a good solutions for all company sizes depending on what the company wants to achieve!!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9da79e9e51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9da79e9e51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a:t>
            </a:r>
            <a:r>
              <a:rPr lang="el"/>
              <a:t>remember</a:t>
            </a:r>
            <a:r>
              <a:rPr lang="el"/>
              <a:t> what an API and how it is extremely important for cloud operations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9da79e9e51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9da79e9e51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In short, an API is what connects different systems and allows the flow of information. We </a:t>
            </a:r>
            <a:r>
              <a:rPr lang="el"/>
              <a:t>have talked about it in our previous lectures. </a:t>
            </a:r>
            <a:endParaRPr/>
          </a:p>
          <a:p>
            <a:pPr indent="0" lvl="0" marL="0" rtl="0" algn="l">
              <a:spcBef>
                <a:spcPts val="0"/>
              </a:spcBef>
              <a:spcAft>
                <a:spcPts val="0"/>
              </a:spcAft>
              <a:buNone/>
            </a:pPr>
            <a:r>
              <a:rPr lang="el"/>
              <a:t>Very important for the AI world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9da79e9e51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9da79e9e51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in the cloud world, an API allows for devices to connect to the central data center (say of google) and manage their applications. </a:t>
            </a:r>
            <a:endParaRPr/>
          </a:p>
          <a:p>
            <a:pPr indent="0" lvl="0" marL="0" rtl="0" algn="l">
              <a:spcBef>
                <a:spcPts val="0"/>
              </a:spcBef>
              <a:spcAft>
                <a:spcPts val="0"/>
              </a:spcAft>
              <a:buNone/>
            </a:pPr>
            <a:r>
              <a:rPr lang="el"/>
              <a:t>Its a necessitiy in todays world!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9da79e9e51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9da79e9e51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Say for example you have a bank that holds all the bank details, transactions, etc</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da79e9e51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da79e9e51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you want to access your internet banking to make a transactions. </a:t>
            </a:r>
            <a:endParaRPr/>
          </a:p>
          <a:p>
            <a:pPr indent="0" lvl="0" marL="0" rtl="0" algn="l">
              <a:spcBef>
                <a:spcPts val="0"/>
              </a:spcBef>
              <a:spcAft>
                <a:spcPts val="0"/>
              </a:spcAft>
              <a:buNone/>
            </a:pPr>
            <a:r>
              <a:rPr lang="el"/>
              <a:t>You want </a:t>
            </a:r>
            <a:r>
              <a:rPr lang="el"/>
              <a:t>immediate</a:t>
            </a:r>
            <a:r>
              <a:rPr lang="el"/>
              <a:t> access to the banks details.</a:t>
            </a:r>
            <a:endParaRPr/>
          </a:p>
          <a:p>
            <a:pPr indent="0" lvl="0" marL="0" rtl="0" algn="l">
              <a:spcBef>
                <a:spcPts val="0"/>
              </a:spcBef>
              <a:spcAft>
                <a:spcPts val="0"/>
              </a:spcAft>
              <a:buNone/>
            </a:pPr>
            <a:r>
              <a:rPr lang="el"/>
              <a:t>This was not possible 4-5 years ago!</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da79e9e51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da79e9e51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but witha well-established API you can easily access the banks database in seconds and make any actions you want!</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This is what happenes with cloud platforms too.</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The rapid development of API unlocked the usage of cloud-platforms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9da79e9e5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9da79e9e5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As with any new technology there are some </a:t>
            </a:r>
            <a:r>
              <a:rPr lang="el"/>
              <a:t>challenges</a:t>
            </a:r>
            <a:r>
              <a:rPr lang="el"/>
              <a:t> when using multiple APIs for a cloud </a:t>
            </a:r>
            <a:r>
              <a:rPr lang="el"/>
              <a:t>platform</a:t>
            </a:r>
            <a:r>
              <a:rPr lang="el"/>
              <a:t>. </a:t>
            </a:r>
            <a:endParaRPr/>
          </a:p>
          <a:p>
            <a:pPr indent="0" lvl="0" marL="0" rtl="0" algn="l">
              <a:spcBef>
                <a:spcPts val="0"/>
              </a:spcBef>
              <a:spcAft>
                <a:spcPts val="0"/>
              </a:spcAft>
              <a:buNone/>
            </a:pPr>
            <a:r>
              <a:rPr lang="el"/>
              <a:t>the most obvious is how </a:t>
            </a:r>
            <a:r>
              <a:rPr lang="el"/>
              <a:t>you</a:t>
            </a:r>
            <a:r>
              <a:rPr lang="el"/>
              <a:t> manage this ecosystem of API. Who is responsible for making sure everything works accordingly?</a:t>
            </a:r>
            <a:endParaRPr/>
          </a:p>
          <a:p>
            <a:pPr indent="0" lvl="0" marL="0" rtl="0" algn="l">
              <a:spcBef>
                <a:spcPts val="0"/>
              </a:spcBef>
              <a:spcAft>
                <a:spcPts val="0"/>
              </a:spcAft>
              <a:buNone/>
            </a:pPr>
            <a:r>
              <a:rPr lang="el"/>
              <a:t>Cloud providers </a:t>
            </a:r>
            <a:r>
              <a:rPr lang="el"/>
              <a:t>have</a:t>
            </a:r>
            <a:r>
              <a:rPr lang="el"/>
              <a:t> services that handle APIs. However they should only be utilized when you have a </a:t>
            </a:r>
            <a:r>
              <a:rPr lang="el"/>
              <a:t>truly</a:t>
            </a:r>
            <a:r>
              <a:rPr lang="el"/>
              <a:t> big number of APIs</a:t>
            </a:r>
            <a:endParaRPr/>
          </a:p>
          <a:p>
            <a:pPr indent="0" lvl="0" marL="0" rtl="0" algn="l">
              <a:spcBef>
                <a:spcPts val="0"/>
              </a:spcBef>
              <a:spcAft>
                <a:spcPts val="0"/>
              </a:spcAft>
              <a:buNone/>
            </a:pPr>
            <a:r>
              <a:rPr lang="el"/>
              <a:t>Otherwise it will complicated your tasks even more.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9da79e9e51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9da79e9e51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enough with general </a:t>
            </a:r>
            <a:r>
              <a:rPr lang="el"/>
              <a:t>information</a:t>
            </a:r>
            <a:r>
              <a:rPr lang="el"/>
              <a:t>. Lets do so ML in the cloud.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9da79e9e51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9da79e9e51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Example from Google.</a:t>
            </a:r>
            <a:endParaRPr/>
          </a:p>
          <a:p>
            <a:pPr indent="0" lvl="0" marL="0" rtl="0" algn="l">
              <a:spcBef>
                <a:spcPts val="0"/>
              </a:spcBef>
              <a:spcAft>
                <a:spcPts val="0"/>
              </a:spcAft>
              <a:buNone/>
            </a:pPr>
            <a:r>
              <a:rPr lang="el"/>
              <a:t>Most cloud platforms (google included) offers pretty of pre-build services to easily apply ML models with just a few clicks. </a:t>
            </a:r>
            <a:endParaRPr/>
          </a:p>
          <a:p>
            <a:pPr indent="0" lvl="0" marL="0" rtl="0" algn="l">
              <a:spcBef>
                <a:spcPts val="0"/>
              </a:spcBef>
              <a:spcAft>
                <a:spcPts val="0"/>
              </a:spcAft>
              <a:buNone/>
            </a:pPr>
            <a:r>
              <a:rPr lang="el"/>
              <a:t>Some include pre-trained models where you can easily select what you want to achieve without having to code anything.</a:t>
            </a:r>
            <a:endParaRPr/>
          </a:p>
          <a:p>
            <a:pPr indent="0" lvl="0" marL="0" rtl="0" algn="l">
              <a:spcBef>
                <a:spcPts val="0"/>
              </a:spcBef>
              <a:spcAft>
                <a:spcPts val="0"/>
              </a:spcAft>
              <a:buNone/>
            </a:pPr>
            <a:r>
              <a:rPr lang="el"/>
              <a:t>Just with a few clicks you take a model and throw it in your dataset. They also handle hyperparameter optimization and model selection if you want</a:t>
            </a:r>
            <a:endParaRPr/>
          </a:p>
          <a:p>
            <a:pPr indent="0" lvl="0" marL="0" rtl="0" algn="l">
              <a:spcBef>
                <a:spcPts val="0"/>
              </a:spcBef>
              <a:spcAft>
                <a:spcPts val="0"/>
              </a:spcAft>
              <a:buNone/>
            </a:pPr>
            <a:r>
              <a:rPr lang="el"/>
              <a:t>Here are some examples!</a:t>
            </a:r>
            <a:endParaRPr/>
          </a:p>
          <a:p>
            <a:pPr indent="0" lvl="0" marL="0" rtl="0" algn="l">
              <a:spcBef>
                <a:spcPts val="0"/>
              </a:spcBef>
              <a:spcAft>
                <a:spcPts val="0"/>
              </a:spcAft>
              <a:buNone/>
            </a:pPr>
            <a:r>
              <a:rPr lang="el"/>
              <a:t>(read them and explain what each does)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9da79e9e51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9da79e9e51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that takes us to a data scientists </a:t>
            </a:r>
            <a:r>
              <a:rPr lang="el"/>
              <a:t>worst</a:t>
            </a:r>
            <a:r>
              <a:rPr lang="el"/>
              <a:t> nightmare.</a:t>
            </a:r>
            <a:endParaRPr/>
          </a:p>
          <a:p>
            <a:pPr indent="0" lvl="0" marL="0" rtl="0" algn="l">
              <a:spcBef>
                <a:spcPts val="0"/>
              </a:spcBef>
              <a:spcAft>
                <a:spcPts val="0"/>
              </a:spcAft>
              <a:buNone/>
            </a:pPr>
            <a:r>
              <a:rPr lang="el"/>
              <a:t>AutoML.</a:t>
            </a:r>
            <a:endParaRPr/>
          </a:p>
          <a:p>
            <a:pPr indent="0" lvl="0" marL="0" rtl="0" algn="l">
              <a:spcBef>
                <a:spcPts val="0"/>
              </a:spcBef>
              <a:spcAft>
                <a:spcPts val="0"/>
              </a:spcAft>
              <a:buNone/>
            </a:pPr>
            <a:r>
              <a:rPr lang="el"/>
              <a:t>With automl one can simply give a task and the </a:t>
            </a:r>
            <a:r>
              <a:rPr lang="el"/>
              <a:t>platform</a:t>
            </a:r>
            <a:r>
              <a:rPr lang="el"/>
              <a:t> would handle the rest.</a:t>
            </a:r>
            <a:endParaRPr/>
          </a:p>
          <a:p>
            <a:pPr indent="0" lvl="0" marL="0" rtl="0" algn="l">
              <a:spcBef>
                <a:spcPts val="0"/>
              </a:spcBef>
              <a:spcAft>
                <a:spcPts val="0"/>
              </a:spcAft>
              <a:buNone/>
            </a:pPr>
            <a:r>
              <a:rPr lang="el"/>
              <a:t>IT does automatimatc model selection and paramtero </a:t>
            </a:r>
            <a:r>
              <a:rPr lang="el"/>
              <a:t>optimization</a:t>
            </a:r>
            <a:r>
              <a:rPr lang="el"/>
              <a:t> based on your picked criteria and the size of your training set.</a:t>
            </a:r>
            <a:endParaRPr/>
          </a:p>
          <a:p>
            <a:pPr indent="0" lvl="0" marL="0" rtl="0" algn="l">
              <a:spcBef>
                <a:spcPts val="0"/>
              </a:spcBef>
              <a:spcAft>
                <a:spcPts val="0"/>
              </a:spcAft>
              <a:buNone/>
            </a:pPr>
            <a:r>
              <a:rPr lang="el"/>
              <a:t>A very good solution for quick implementations. Also you will be impressed by how good these guys are!</a:t>
            </a:r>
            <a:endParaRPr/>
          </a:p>
          <a:p>
            <a:pPr indent="0" lvl="0" marL="0" rtl="0" algn="l">
              <a:spcBef>
                <a:spcPts val="0"/>
              </a:spcBef>
              <a:spcAft>
                <a:spcPts val="0"/>
              </a:spcAft>
              <a:buNone/>
            </a:pPr>
            <a:r>
              <a:rPr lang="el"/>
              <a:t>They are a tough to bit benchmarks for an inexperienced data scientists.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9da79e9e51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9da79e9e51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 leads us to two </a:t>
            </a:r>
            <a:r>
              <a:rPr lang="el"/>
              <a:t>different</a:t>
            </a:r>
            <a:r>
              <a:rPr lang="el"/>
              <a:t> functionalities</a:t>
            </a:r>
            <a:endParaRPr/>
          </a:p>
          <a:p>
            <a:pPr indent="-298450" lvl="0" marL="457200" rtl="0" algn="l">
              <a:spcBef>
                <a:spcPts val="0"/>
              </a:spcBef>
              <a:spcAft>
                <a:spcPts val="0"/>
              </a:spcAft>
              <a:buSzPts val="1100"/>
              <a:buAutoNum type="arabicParenR"/>
            </a:pPr>
            <a:r>
              <a:rPr lang="el"/>
              <a:t>Pretrained models from google trained on google datasets. PAy </a:t>
            </a:r>
            <a:r>
              <a:rPr lang="el"/>
              <a:t>attention, some times the data used for training might not make sense for your application</a:t>
            </a:r>
            <a:endParaRPr/>
          </a:p>
          <a:p>
            <a:pPr indent="-298450" lvl="0" marL="457200" rtl="0" algn="l">
              <a:spcBef>
                <a:spcPts val="0"/>
              </a:spcBef>
              <a:spcAft>
                <a:spcPts val="0"/>
              </a:spcAft>
              <a:buSzPts val="1100"/>
              <a:buAutoNum type="arabicParenR"/>
            </a:pPr>
            <a:r>
              <a:rPr lang="el"/>
              <a:t>In that case you go to AutoML. You provide your dataset and google handles model selection and training for you</a:t>
            </a:r>
            <a:endParaRPr/>
          </a:p>
          <a:p>
            <a:pPr indent="0" lvl="0" marL="0" rtl="0" algn="l">
              <a:spcBef>
                <a:spcPts val="0"/>
              </a:spcBef>
              <a:spcAft>
                <a:spcPts val="0"/>
              </a:spcAft>
              <a:buNone/>
            </a:pPr>
            <a:r>
              <a:rPr lang="el"/>
              <a:t>So attention. One has pre-trainedm models and the other allows you to traine them on your task-specific data!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9da79e9e51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9da79e9e51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how easy it is.</a:t>
            </a:r>
            <a:endParaRPr/>
          </a:p>
          <a:p>
            <a:pPr indent="0" lvl="0" marL="0" rtl="0" algn="l">
              <a:spcBef>
                <a:spcPts val="0"/>
              </a:spcBef>
              <a:spcAft>
                <a:spcPts val="0"/>
              </a:spcAft>
              <a:buNone/>
            </a:pPr>
            <a:r>
              <a:rPr lang="el"/>
              <a:t>You go to Vision API for google, you </a:t>
            </a:r>
            <a:r>
              <a:rPr lang="el"/>
              <a:t>upload an image and you get the result back.</a:t>
            </a:r>
            <a:endParaRPr/>
          </a:p>
          <a:p>
            <a:pPr indent="0" lvl="0" marL="0" rtl="0" algn="l">
              <a:spcBef>
                <a:spcPts val="0"/>
              </a:spcBef>
              <a:spcAft>
                <a:spcPts val="0"/>
              </a:spcAft>
              <a:buNone/>
            </a:pPr>
            <a:r>
              <a:rPr lang="el"/>
              <a:t>A problem is that the model might not have the labels you want. Then you consider automl </a:t>
            </a:r>
            <a:endParaRPr/>
          </a:p>
          <a:p>
            <a:pPr indent="0" lvl="0" marL="0" rtl="0" algn="l">
              <a:spcBef>
                <a:spcPts val="0"/>
              </a:spcBef>
              <a:spcAft>
                <a:spcPts val="0"/>
              </a:spcAft>
              <a:buNone/>
            </a:pPr>
            <a:r>
              <a:rPr lang="el"/>
              <a:t>Or training your own model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9da79e9e51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9da79e9e51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now lets see how easy it is to use the AutoML PAI</a:t>
            </a:r>
            <a:endParaRPr/>
          </a:p>
          <a:p>
            <a:pPr indent="0" lvl="0" marL="0" rtl="0" algn="l">
              <a:spcBef>
                <a:spcPts val="0"/>
              </a:spcBef>
              <a:spcAft>
                <a:spcPts val="0"/>
              </a:spcAft>
              <a:buNone/>
            </a:pPr>
            <a:r>
              <a:rPr lang="el"/>
              <a:t>You take your csv and you </a:t>
            </a:r>
            <a:r>
              <a:rPr lang="el"/>
              <a:t>upload</a:t>
            </a:r>
            <a:r>
              <a:rPr lang="el"/>
              <a:t> it to the storage of google. This is a </a:t>
            </a:r>
            <a:r>
              <a:rPr lang="el"/>
              <a:t>separate</a:t>
            </a:r>
            <a:r>
              <a:rPr lang="el"/>
              <a:t> service which you pay monthly per gb</a:t>
            </a:r>
            <a:endParaRPr/>
          </a:p>
          <a:p>
            <a:pPr indent="0" lvl="0" marL="0" rtl="0" algn="l">
              <a:spcBef>
                <a:spcPts val="0"/>
              </a:spcBef>
              <a:spcAft>
                <a:spcPts val="0"/>
              </a:spcAft>
              <a:buNone/>
            </a:pPr>
            <a:r>
              <a:rPr lang="el"/>
              <a:t>Then you go to the Vision API</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9da79e9e51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9da79e9e51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simply go to vision API and choose the AutoML vision</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9da79e9e51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9da79e9e51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crate a new instance of your upload dataset by picking the properties you want. </a:t>
            </a:r>
            <a:endParaRPr/>
          </a:p>
          <a:p>
            <a:pPr indent="0" lvl="0" marL="0" rtl="0" algn="l">
              <a:spcBef>
                <a:spcPts val="0"/>
              </a:spcBef>
              <a:spcAft>
                <a:spcPts val="0"/>
              </a:spcAft>
              <a:buNone/>
            </a:pPr>
            <a:r>
              <a:rPr lang="el"/>
              <a:t>And then you simply </a:t>
            </a:r>
            <a:r>
              <a:rPr lang="el"/>
              <a:t>click</a:t>
            </a:r>
            <a:r>
              <a:rPr lang="el"/>
              <a:t> train!</a:t>
            </a:r>
            <a:endParaRPr/>
          </a:p>
          <a:p>
            <a:pPr indent="0" lvl="0" marL="0" rtl="0" algn="l">
              <a:spcBef>
                <a:spcPts val="0"/>
              </a:spcBef>
              <a:spcAft>
                <a:spcPts val="0"/>
              </a:spcAft>
              <a:buNone/>
            </a:pPr>
            <a:r>
              <a:rPr lang="el"/>
              <a:t>AutoML takes cares of the rest!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9de1b3fac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9de1b3fac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When the model is trained you can just its evaluation and decide if its allright or you want to furtherly improve it.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9de1b3fac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9de1b3fac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When the model is fine for you, you just click deploy!</a:t>
            </a:r>
            <a:endParaRPr/>
          </a:p>
          <a:p>
            <a:pPr indent="0" lvl="0" marL="0" rtl="0" algn="l">
              <a:spcBef>
                <a:spcPts val="0"/>
              </a:spcBef>
              <a:spcAft>
                <a:spcPts val="0"/>
              </a:spcAft>
              <a:buNone/>
            </a:pPr>
            <a:r>
              <a:rPr lang="el"/>
              <a:t>And then you make new predictions or create an API call that will be wrapped up in another part of your application.</a:t>
            </a:r>
            <a:endParaRPr/>
          </a:p>
          <a:p>
            <a:pPr indent="0" lvl="0" marL="0" rtl="0" algn="l">
              <a:spcBef>
                <a:spcPts val="0"/>
              </a:spcBef>
              <a:spcAft>
                <a:spcPts val="0"/>
              </a:spcAft>
              <a:buNone/>
            </a:pPr>
            <a:r>
              <a:rPr lang="el"/>
              <a:t>Its that simple to train and deploy a model.</a:t>
            </a:r>
            <a:endParaRPr/>
          </a:p>
          <a:p>
            <a:pPr indent="0" lvl="0" marL="0" rtl="0" algn="l">
              <a:spcBef>
                <a:spcPts val="0"/>
              </a:spcBef>
              <a:spcAft>
                <a:spcPts val="0"/>
              </a:spcAft>
              <a:buNone/>
            </a:pPr>
            <a:r>
              <a:rPr lang="el"/>
              <a:t>Please before trying it! Pay clouse attention to billing services. You might be charged out of nowhere. I am serious about this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9de1b3fac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9de1b3fac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good with AutoML and pre-trained models.</a:t>
            </a:r>
            <a:endParaRPr/>
          </a:p>
          <a:p>
            <a:pPr indent="0" lvl="0" marL="0" rtl="0" algn="l">
              <a:spcBef>
                <a:spcPts val="0"/>
              </a:spcBef>
              <a:spcAft>
                <a:spcPts val="0"/>
              </a:spcAft>
              <a:buNone/>
            </a:pPr>
            <a:r>
              <a:rPr lang="el"/>
              <a:t>What if I want to train my own model?</a:t>
            </a:r>
            <a:endParaRPr/>
          </a:p>
          <a:p>
            <a:pPr indent="0" lvl="0" marL="0" rtl="0" algn="l">
              <a:spcBef>
                <a:spcPts val="0"/>
              </a:spcBef>
              <a:spcAft>
                <a:spcPts val="0"/>
              </a:spcAft>
              <a:buNone/>
            </a:pPr>
            <a:r>
              <a:rPr lang="el"/>
              <a:t>Lets see how we can do this.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6207508b6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6207508b6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Say you have finished developing a prototype offline ina a jupyter notebook. </a:t>
            </a:r>
            <a:endParaRPr/>
          </a:p>
          <a:p>
            <a:pPr indent="0" lvl="0" marL="0" rtl="0" algn="l">
              <a:spcBef>
                <a:spcPts val="0"/>
              </a:spcBef>
              <a:spcAft>
                <a:spcPts val="0"/>
              </a:spcAft>
              <a:buNone/>
            </a:pPr>
            <a:r>
              <a:rPr lang="el"/>
              <a:t>You are good with your evaluation and your ready to deploy it in cloud.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9da79e9e51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9da79e9e51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Google has a service ready for you, Vertex AI. </a:t>
            </a:r>
            <a:endParaRPr/>
          </a:p>
          <a:p>
            <a:pPr indent="0" lvl="0" marL="0" rtl="0" algn="l">
              <a:spcBef>
                <a:spcPts val="0"/>
              </a:spcBef>
              <a:spcAft>
                <a:spcPts val="0"/>
              </a:spcAft>
              <a:buNone/>
            </a:pPr>
            <a:r>
              <a:rPr lang="el"/>
              <a:t>It takes your model and your data, trains it and deploys it.</a:t>
            </a:r>
            <a:endParaRPr/>
          </a:p>
          <a:p>
            <a:pPr indent="0" lvl="0" marL="0" rtl="0" algn="l">
              <a:spcBef>
                <a:spcPts val="0"/>
              </a:spcBef>
              <a:spcAft>
                <a:spcPts val="0"/>
              </a:spcAft>
              <a:buNone/>
            </a:pPr>
            <a:r>
              <a:rPr lang="el"/>
              <a:t>It </a:t>
            </a:r>
            <a:r>
              <a:rPr lang="el"/>
              <a:t>allows</a:t>
            </a:r>
            <a:r>
              <a:rPr lang="el"/>
              <a:t> the creation of the entire ml workflow.</a:t>
            </a:r>
            <a:endParaRPr/>
          </a:p>
          <a:p>
            <a:pPr indent="0" lvl="0" marL="0" rtl="0" algn="l">
              <a:spcBef>
                <a:spcPts val="0"/>
              </a:spcBef>
              <a:spcAft>
                <a:spcPts val="0"/>
              </a:spcAft>
              <a:buNone/>
            </a:pPr>
            <a:r>
              <a:rPr lang="el"/>
              <a:t>You can also select if you want to choose AutoML or you want to apply a custom training process like the one on your prototype.</a:t>
            </a:r>
            <a:endParaRPr/>
          </a:p>
          <a:p>
            <a:pPr indent="0" lvl="0" marL="0" rtl="0" algn="l">
              <a:spcBef>
                <a:spcPts val="0"/>
              </a:spcBef>
              <a:spcAft>
                <a:spcPts val="0"/>
              </a:spcAft>
              <a:buNone/>
            </a:pPr>
            <a:r>
              <a:rPr lang="el"/>
              <a:t>The biggest advantage though is that it scales </a:t>
            </a:r>
            <a:r>
              <a:rPr lang="el"/>
              <a:t>automatically</a:t>
            </a:r>
            <a:r>
              <a:rPr lang="el"/>
              <a:t>. That means you dont have to worry about how </a:t>
            </a:r>
            <a:r>
              <a:rPr lang="el"/>
              <a:t>many</a:t>
            </a:r>
            <a:r>
              <a:rPr lang="el"/>
              <a:t> users will interact with it.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6207508b6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6207508b6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can even work with Notebooks as you did when you were prototyping.</a:t>
            </a:r>
            <a:endParaRPr/>
          </a:p>
          <a:p>
            <a:pPr indent="0" lvl="0" marL="0" rtl="0" algn="l">
              <a:spcBef>
                <a:spcPts val="0"/>
              </a:spcBef>
              <a:spcAft>
                <a:spcPts val="0"/>
              </a:spcAft>
              <a:buNone/>
            </a:pPr>
            <a:r>
              <a:rPr lang="el"/>
              <a:t>Vertex AI allows you to create a new notebook instance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6207508b6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6207508b6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you work as you would do in your offline IDE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6207508b6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6207508b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can upload your colab notebook or write it from </a:t>
            </a:r>
            <a:r>
              <a:rPr lang="el"/>
              <a:t>scratch</a:t>
            </a:r>
            <a:r>
              <a:rPr lang="el"/>
              <a:t>.</a:t>
            </a:r>
            <a:endParaRPr/>
          </a:p>
          <a:p>
            <a:pPr indent="0" lvl="0" marL="0" rtl="0" algn="l">
              <a:spcBef>
                <a:spcPts val="0"/>
              </a:spcBef>
              <a:spcAft>
                <a:spcPts val="0"/>
              </a:spcAft>
              <a:buNone/>
            </a:pPr>
            <a:r>
              <a:rPr lang="el"/>
              <a:t>The difference is that you set the path from google storage to load and save your data</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6207508b6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6207508b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When you finish training your model you dump the model to google storage so you can easily retrieve it later for improving it or for making predictions.</a:t>
            </a:r>
            <a:endParaRPr/>
          </a:p>
          <a:p>
            <a:pPr indent="0" lvl="0" marL="0" rtl="0" algn="l">
              <a:spcBef>
                <a:spcPts val="0"/>
              </a:spcBef>
              <a:spcAft>
                <a:spcPts val="0"/>
              </a:spcAft>
              <a:buNone/>
            </a:pPr>
            <a:r>
              <a:rPr lang="el"/>
              <a:t>Again be </a:t>
            </a:r>
            <a:r>
              <a:rPr lang="el"/>
              <a:t>careful</a:t>
            </a:r>
            <a:r>
              <a:rPr lang="el"/>
              <a:t> with teh costs!! They can rise realy fast!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207508b6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6207508b6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if we want to work properly, as we said, in production we have .py scripts not notebooks.</a:t>
            </a:r>
            <a:endParaRPr/>
          </a:p>
          <a:p>
            <a:pPr indent="0" lvl="0" marL="0" rtl="0" algn="l">
              <a:spcBef>
                <a:spcPts val="0"/>
              </a:spcBef>
              <a:spcAft>
                <a:spcPts val="0"/>
              </a:spcAft>
              <a:buNone/>
            </a:pPr>
            <a:r>
              <a:rPr lang="el"/>
              <a:t>So when we finished prototyping, we take our code and convert it into a .py script.</a:t>
            </a:r>
            <a:endParaRPr/>
          </a:p>
          <a:p>
            <a:pPr indent="0" lvl="0" marL="0" rtl="0" algn="l">
              <a:spcBef>
                <a:spcPts val="0"/>
              </a:spcBef>
              <a:spcAft>
                <a:spcPts val="0"/>
              </a:spcAft>
              <a:buNone/>
            </a:pPr>
            <a:r>
              <a:rPr lang="el"/>
              <a:t>You can either do it </a:t>
            </a:r>
            <a:r>
              <a:rPr lang="el"/>
              <a:t>manually</a:t>
            </a:r>
            <a:r>
              <a:rPr lang="el"/>
              <a:t> or automaticaly using nbconvert.</a:t>
            </a:r>
            <a:endParaRPr/>
          </a:p>
          <a:p>
            <a:pPr indent="0" lvl="0" marL="0" rtl="0" algn="l">
              <a:spcBef>
                <a:spcPts val="0"/>
              </a:spcBef>
              <a:spcAft>
                <a:spcPts val="0"/>
              </a:spcAft>
              <a:buNone/>
            </a:pPr>
            <a:r>
              <a:rPr lang="el"/>
              <a:t>I suggest you doing it manualy </a:t>
            </a:r>
            <a:r>
              <a:rPr lang="el"/>
              <a:t>because</a:t>
            </a:r>
            <a:r>
              <a:rPr lang="el"/>
              <a:t> in my experience nbconvert did not work so well.</a:t>
            </a:r>
            <a:endParaRPr/>
          </a:p>
          <a:p>
            <a:pPr indent="0" lvl="0" marL="0" rtl="0" algn="l">
              <a:spcBef>
                <a:spcPts val="0"/>
              </a:spcBef>
              <a:spcAft>
                <a:spcPts val="0"/>
              </a:spcAft>
              <a:buNone/>
            </a:pPr>
            <a:r>
              <a:rPr lang="el"/>
              <a:t>Also we said its very </a:t>
            </a:r>
            <a:r>
              <a:rPr lang="el"/>
              <a:t>important</a:t>
            </a:r>
            <a:r>
              <a:rPr lang="el"/>
              <a:t> to structure your repo nicely. So dont have your full code in a single repo but split it accordingly.</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6207508b6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6207508b6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as we have said in the previous lecture. We always dockerize!!</a:t>
            </a:r>
            <a:endParaRPr/>
          </a:p>
          <a:p>
            <a:pPr indent="0" lvl="0" marL="0" rtl="0" algn="l">
              <a:spcBef>
                <a:spcPts val="0"/>
              </a:spcBef>
              <a:spcAft>
                <a:spcPts val="0"/>
              </a:spcAft>
              <a:buNone/>
            </a:pPr>
            <a:r>
              <a:rPr lang="el"/>
              <a:t>We create a nice repo, we create the dockerfile. You cna find details for that on the docker course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6207508b6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6207508b6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finaly you simply build the image by creating a terminal.</a:t>
            </a:r>
            <a:endParaRPr/>
          </a:p>
          <a:p>
            <a:pPr indent="0" lvl="0" marL="0" rtl="0" algn="l">
              <a:spcBef>
                <a:spcPts val="0"/>
              </a:spcBef>
              <a:spcAft>
                <a:spcPts val="0"/>
              </a:spcAft>
              <a:buNone/>
            </a:pPr>
            <a:r>
              <a:rPr lang="el"/>
              <a:t>As you would in your Visual studio code</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6207508b6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6207508b6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When you dockerize your application an artifact is created on the artifacts registry with your model.</a:t>
            </a:r>
            <a:endParaRPr/>
          </a:p>
          <a:p>
            <a:pPr indent="0" lvl="0" marL="0" rtl="0" algn="l">
              <a:spcBef>
                <a:spcPts val="0"/>
              </a:spcBef>
              <a:spcAft>
                <a:spcPts val="0"/>
              </a:spcAft>
              <a:buNone/>
            </a:pPr>
            <a:r>
              <a:rPr lang="el"/>
              <a:t>You can access it by doing a simple search</a:t>
            </a:r>
            <a:endParaRPr/>
          </a:p>
          <a:p>
            <a:pPr indent="0" lvl="0" marL="0" rtl="0" algn="l">
              <a:spcBef>
                <a:spcPts val="0"/>
              </a:spcBef>
              <a:spcAft>
                <a:spcPts val="0"/>
              </a:spcAft>
              <a:buNone/>
            </a:pPr>
            <a:r>
              <a:rPr lang="el"/>
              <a:t>You will see a registry with the application with your model</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6207508b6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6207508b6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good. We have dockerized our application, we have seen our artificat. Time to train.</a:t>
            </a:r>
            <a:endParaRPr/>
          </a:p>
          <a:p>
            <a:pPr indent="0" lvl="0" marL="0" rtl="0" algn="l">
              <a:spcBef>
                <a:spcPts val="0"/>
              </a:spcBef>
              <a:spcAft>
                <a:spcPts val="0"/>
              </a:spcAft>
              <a:buNone/>
            </a:pPr>
            <a:r>
              <a:rPr lang="el"/>
              <a:t>From the VertexAI menu you go to training and you create a new training instance.</a:t>
            </a:r>
            <a:endParaRPr/>
          </a:p>
          <a:p>
            <a:pPr indent="0" lvl="0" marL="0" rtl="0" algn="l">
              <a:spcBef>
                <a:spcPts val="0"/>
              </a:spcBef>
              <a:spcAft>
                <a:spcPts val="0"/>
              </a:spcAft>
              <a:buNone/>
            </a:pPr>
            <a:r>
              <a:rPr lang="el"/>
              <a:t>You pick the container (its </a:t>
            </a:r>
            <a:r>
              <a:rPr lang="el"/>
              <a:t>important</a:t>
            </a:r>
            <a:r>
              <a:rPr lang="el"/>
              <a:t> to contenairze your application)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6207508b6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6207508b6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you start training your model. The menu is </a:t>
            </a:r>
            <a:r>
              <a:rPr lang="el"/>
              <a:t>actually</a:t>
            </a:r>
            <a:r>
              <a:rPr lang="el"/>
              <a:t> very simple and you can easily use it to train any models.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6207508b6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6207508b6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once we finished training, we go to the models tab and we want to import our pretrained model.</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6207508b6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6207508b6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choose a framework (Say tensorflow or anything but tensorflow works most of the time) and you go and find the artifact of your pretrained model.</a:t>
            </a:r>
            <a:endParaRPr/>
          </a:p>
          <a:p>
            <a:pPr indent="0" lvl="0" marL="0" rtl="0" algn="l">
              <a:spcBef>
                <a:spcPts val="0"/>
              </a:spcBef>
              <a:spcAft>
                <a:spcPts val="0"/>
              </a:spcAft>
              <a:buNone/>
            </a:pPr>
            <a:r>
              <a:rPr lang="el"/>
              <a:t>VertexAI will </a:t>
            </a:r>
            <a:r>
              <a:rPr lang="el"/>
              <a:t>automatically</a:t>
            </a:r>
            <a:r>
              <a:rPr lang="el"/>
              <a:t> create a new container for your trained model</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6207508b6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6207508b6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when you import you want to deploy in order to create an endpoint to use for your predictions. </a:t>
            </a:r>
            <a:endParaRPr/>
          </a:p>
          <a:p>
            <a:pPr indent="0" lvl="0" marL="0" rtl="0" algn="l">
              <a:spcBef>
                <a:spcPts val="0"/>
              </a:spcBef>
              <a:spcAft>
                <a:spcPts val="0"/>
              </a:spcAft>
              <a:buNone/>
            </a:pPr>
            <a:r>
              <a:rPr lang="el"/>
              <a:t>You go deploy to endpoint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6207508b6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6207508b6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then </a:t>
            </a:r>
            <a:r>
              <a:rPr lang="el"/>
              <a:t>specify</a:t>
            </a:r>
            <a:r>
              <a:rPr lang="el"/>
              <a:t> some settings. Pretty </a:t>
            </a:r>
            <a:r>
              <a:rPr lang="el"/>
              <a:t>straightforward</a:t>
            </a:r>
            <a:endParaRPr/>
          </a:p>
          <a:p>
            <a:pPr indent="-298450" lvl="0" marL="457200" rtl="0" algn="l">
              <a:spcBef>
                <a:spcPts val="0"/>
              </a:spcBef>
              <a:spcAft>
                <a:spcPts val="0"/>
              </a:spcAft>
              <a:buSzPts val="1100"/>
              <a:buChar char="-"/>
            </a:pPr>
            <a:r>
              <a:rPr lang="el"/>
              <a:t>You add the name, what resources you want to use (scale </a:t>
            </a:r>
            <a:r>
              <a:rPr lang="el"/>
              <a:t>automatically</a:t>
            </a:r>
            <a:r>
              <a:rPr lang="el"/>
              <a:t> or not), if you want to forbit </a:t>
            </a:r>
            <a:r>
              <a:rPr lang="el"/>
              <a:t>access</a:t>
            </a:r>
            <a:r>
              <a:rPr lang="el"/>
              <a:t> to users, how you monitor and stuff like that.</a:t>
            </a:r>
            <a:endParaRPr/>
          </a:p>
          <a:p>
            <a:pPr indent="-298450" lvl="0" marL="457200" rtl="0" algn="l">
              <a:spcBef>
                <a:spcPts val="0"/>
              </a:spcBef>
              <a:spcAft>
                <a:spcPts val="0"/>
              </a:spcAft>
              <a:buSzPts val="1100"/>
              <a:buChar char="-"/>
            </a:pPr>
            <a:r>
              <a:rPr lang="el"/>
              <a:t>Everything is ready for you with just a few clicks</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6207508b6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6207508b6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When you specify everything you wait for the model to be deployed and voila!</a:t>
            </a:r>
            <a:endParaRPr/>
          </a:p>
          <a:p>
            <a:pPr indent="0" lvl="0" marL="0" rtl="0" algn="l">
              <a:spcBef>
                <a:spcPts val="0"/>
              </a:spcBef>
              <a:spcAft>
                <a:spcPts val="0"/>
              </a:spcAft>
              <a:buNone/>
            </a:pPr>
            <a:r>
              <a:rPr lang="el"/>
              <a:t>Its ready to be used</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6207508b6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6207508b6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Next we take the ID of the enpdoint from your trained model</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6207508b69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6207508b6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You go to your repo (or a new one)</a:t>
            </a:r>
            <a:endParaRPr/>
          </a:p>
          <a:p>
            <a:pPr indent="-298450" lvl="0" marL="457200" rtl="0" algn="l">
              <a:spcBef>
                <a:spcPts val="0"/>
              </a:spcBef>
              <a:spcAft>
                <a:spcPts val="0"/>
              </a:spcAft>
              <a:buSzPts val="1100"/>
              <a:buChar char="-"/>
            </a:pPr>
            <a:r>
              <a:rPr lang="el"/>
              <a:t>create a new py script and add the ID of your endpoint</a:t>
            </a:r>
            <a:endParaRPr/>
          </a:p>
          <a:p>
            <a:pPr indent="-298450" lvl="0" marL="457200" rtl="0" algn="l">
              <a:spcBef>
                <a:spcPts val="0"/>
              </a:spcBef>
              <a:spcAft>
                <a:spcPts val="0"/>
              </a:spcAft>
              <a:buSzPts val="1100"/>
              <a:buChar char="-"/>
            </a:pPr>
            <a:r>
              <a:rPr lang="el"/>
              <a:t>Then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6207508b6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6207508b6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then you simply get your predictions!</a:t>
            </a:r>
            <a:endParaRPr/>
          </a:p>
          <a:p>
            <a:pPr indent="0" lvl="0" marL="0" rtl="0" algn="l">
              <a:spcBef>
                <a:spcPts val="0"/>
              </a:spcBef>
              <a:spcAft>
                <a:spcPts val="0"/>
              </a:spcAft>
              <a:buNone/>
            </a:pPr>
            <a:r>
              <a:rPr lang="el"/>
              <a:t>You can then dockerize the predictions phase and wrap it into another </a:t>
            </a:r>
            <a:r>
              <a:rPr lang="el"/>
              <a:t>application</a:t>
            </a:r>
            <a:r>
              <a:rPr lang="el"/>
              <a:t> for mobile or </a:t>
            </a:r>
            <a:r>
              <a:rPr lang="el"/>
              <a:t>browser</a:t>
            </a:r>
            <a:r>
              <a:rPr lang="el"/>
              <a:t> or whatever!</a:t>
            </a:r>
            <a:endParaRPr/>
          </a:p>
          <a:p>
            <a:pPr indent="0" lvl="0" marL="0" rtl="0" algn="l">
              <a:spcBef>
                <a:spcPts val="0"/>
              </a:spcBef>
              <a:spcAft>
                <a:spcPts val="0"/>
              </a:spcAft>
              <a:buNone/>
            </a:pPr>
            <a:r>
              <a:rPr lang="el"/>
              <a:t>Thats how you take a model and put it in hte cloud in case some of you will ever try it.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6207508b69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6207508b69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There are some extra features here that are provided by Google cloud for handling some of the concepts that might pop during deploying your model.</a:t>
            </a:r>
            <a:endParaRPr/>
          </a:p>
          <a:p>
            <a:pPr indent="0" lvl="0" marL="0" rtl="0" algn="l">
              <a:spcBef>
                <a:spcPts val="0"/>
              </a:spcBef>
              <a:spcAft>
                <a:spcPts val="0"/>
              </a:spcAft>
              <a:buNone/>
            </a:pPr>
            <a:r>
              <a:rPr lang="el"/>
              <a:t>(read them)</a:t>
            </a:r>
            <a:endParaRPr/>
          </a:p>
          <a:p>
            <a:pPr indent="0" lvl="0" marL="0" rtl="0" algn="l">
              <a:spcBef>
                <a:spcPts val="0"/>
              </a:spcBef>
              <a:spcAft>
                <a:spcPts val="0"/>
              </a:spcAft>
              <a:buNone/>
            </a:pPr>
            <a:r>
              <a:rPr lang="el"/>
              <a:t>Please pay a lot of attention to your billings if you try it. Take your time to understand everything before jumping into deploying a model to production!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coursera.org/specializations/digital-transformation-using-ai-ml-with-google-clou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2.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0.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3.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5.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8.png"/><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3.png"/><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6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6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Cloud for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Course 11: </a:t>
            </a:r>
            <a:r>
              <a:rPr lang="el">
                <a:solidFill>
                  <a:srgbClr val="FF00FF"/>
                </a:solidFill>
              </a:rPr>
              <a:t>Cloud Platforms</a:t>
            </a:r>
            <a:endParaRPr>
              <a:solidFill>
                <a:srgbClr val="FF00FF"/>
              </a:solidFill>
            </a:endParaRPr>
          </a:p>
        </p:txBody>
      </p:sp>
      <p:pic>
        <p:nvPicPr>
          <p:cNvPr id="56" name="Google Shape;56;p13"/>
          <p:cNvPicPr preferRelativeResize="0"/>
          <p:nvPr/>
        </p:nvPicPr>
        <p:blipFill>
          <a:blip r:embed="rId3">
            <a:alphaModFix/>
          </a:blip>
          <a:stretch>
            <a:fillRect/>
          </a:stretch>
        </p:blipFill>
        <p:spPr>
          <a:xfrm>
            <a:off x="596375" y="4041963"/>
            <a:ext cx="8547614" cy="1211975"/>
          </a:xfrm>
          <a:prstGeom prst="rect">
            <a:avLst/>
          </a:prstGeom>
          <a:noFill/>
          <a:ln cap="flat" cmpd="sng" w="9525">
            <a:solidFill>
              <a:schemeClr val="lt1"/>
            </a:solidFill>
            <a:prstDash val="solid"/>
            <a:round/>
            <a:headEnd len="sm" w="sm" type="none"/>
            <a:tailEnd len="sm" w="sm" type="none"/>
          </a:ln>
        </p:spPr>
      </p:pic>
      <p:sp>
        <p:nvSpPr>
          <p:cNvPr id="57" name="Google Shape;57;p13"/>
          <p:cNvSpPr txBox="1"/>
          <p:nvPr>
            <p:ph idx="1" type="subTitle"/>
          </p:nvPr>
        </p:nvSpPr>
        <p:spPr>
          <a:xfrm>
            <a:off x="0" y="4435375"/>
            <a:ext cx="2750100" cy="6180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l" sz="1800">
                <a:solidFill>
                  <a:schemeClr val="dk1"/>
                </a:solidFill>
              </a:rPr>
              <a:t>Filotas Theodosiou</a:t>
            </a:r>
            <a:endParaRPr sz="1800">
              <a:solidFill>
                <a:schemeClr val="dk1"/>
              </a:solidFill>
            </a:endParaRPr>
          </a:p>
        </p:txBody>
      </p:sp>
      <p:pic>
        <p:nvPicPr>
          <p:cNvPr id="58" name="Google Shape;58;p13"/>
          <p:cNvPicPr preferRelativeResize="0"/>
          <p:nvPr/>
        </p:nvPicPr>
        <p:blipFill>
          <a:blip r:embed="rId4">
            <a:alphaModFix/>
          </a:blip>
          <a:stretch>
            <a:fillRect/>
          </a:stretch>
        </p:blipFill>
        <p:spPr>
          <a:xfrm>
            <a:off x="6447225" y="4152422"/>
            <a:ext cx="1101225" cy="9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Before we start!</a:t>
            </a:r>
            <a:endParaRPr/>
          </a:p>
        </p:txBody>
      </p:sp>
      <p:sp>
        <p:nvSpPr>
          <p:cNvPr id="64" name="Google Shape;64;p14"/>
          <p:cNvSpPr txBox="1"/>
          <p:nvPr/>
        </p:nvSpPr>
        <p:spPr>
          <a:xfrm>
            <a:off x="386400" y="1952850"/>
            <a:ext cx="8371200" cy="12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 quick reminder!</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The content of this course will not be included in the exam!</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It is designed just to give you an idea how to work with Cloud Platforms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What are we going to talk about today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Cloud Platforms</a:t>
            </a:r>
            <a:endParaRPr/>
          </a:p>
        </p:txBody>
      </p:sp>
      <p:pic>
        <p:nvPicPr>
          <p:cNvPr id="75" name="Google Shape;75;p16"/>
          <p:cNvPicPr preferRelativeResize="0"/>
          <p:nvPr/>
        </p:nvPicPr>
        <p:blipFill>
          <a:blip r:embed="rId3">
            <a:alphaModFix/>
          </a:blip>
          <a:stretch>
            <a:fillRect/>
          </a:stretch>
        </p:blipFill>
        <p:spPr>
          <a:xfrm>
            <a:off x="848325" y="1362225"/>
            <a:ext cx="7610475" cy="3305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Before we start!</a:t>
            </a:r>
            <a:endParaRPr/>
          </a:p>
        </p:txBody>
      </p:sp>
      <p:sp>
        <p:nvSpPr>
          <p:cNvPr id="81" name="Google Shape;81;p17"/>
          <p:cNvSpPr txBox="1"/>
          <p:nvPr/>
        </p:nvSpPr>
        <p:spPr>
          <a:xfrm>
            <a:off x="436950" y="1487575"/>
            <a:ext cx="8270100" cy="23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rgbClr val="FF00FF"/>
                </a:solidFill>
              </a:rPr>
              <a:t>Attention!</a:t>
            </a:r>
            <a:endParaRPr b="1" sz="1800">
              <a:solidFill>
                <a:srgbClr val="FF00FF"/>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Please, please</a:t>
            </a:r>
            <a:r>
              <a:rPr lang="el" sz="1800">
                <a:solidFill>
                  <a:schemeClr val="dk2"/>
                </a:solidFill>
              </a:rPr>
              <a:t> be careful when trying one of these platforms.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Be very cautious as your monthly bill can skyrock really fast.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Leaving any digital </a:t>
            </a:r>
            <a:r>
              <a:rPr lang="el" sz="1800">
                <a:solidFill>
                  <a:schemeClr val="dk2"/>
                </a:solidFill>
              </a:rPr>
              <a:t>prints</a:t>
            </a:r>
            <a:r>
              <a:rPr lang="el" sz="1800">
                <a:solidFill>
                  <a:schemeClr val="dk2"/>
                </a:solidFill>
              </a:rPr>
              <a:t> or doing any actions costs some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Overview</a:t>
            </a:r>
            <a:endParaRPr/>
          </a:p>
        </p:txBody>
      </p:sp>
      <p:sp>
        <p:nvSpPr>
          <p:cNvPr id="87" name="Google Shape;87;p18"/>
          <p:cNvSpPr txBox="1"/>
          <p:nvPr/>
        </p:nvSpPr>
        <p:spPr>
          <a:xfrm>
            <a:off x="493000" y="1156725"/>
            <a:ext cx="8035500" cy="3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Basic cloud </a:t>
            </a:r>
            <a:r>
              <a:rPr lang="el" sz="1800">
                <a:solidFill>
                  <a:srgbClr val="FF00FF"/>
                </a:solidFill>
              </a:rPr>
              <a:t>components</a:t>
            </a:r>
            <a:endParaRPr sz="1800">
              <a:solidFill>
                <a:srgbClr val="FF00FF"/>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IT </a:t>
            </a:r>
            <a:r>
              <a:rPr lang="el" sz="1800">
                <a:solidFill>
                  <a:schemeClr val="dk2"/>
                </a:solidFill>
              </a:rPr>
              <a:t>Infrastructures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Applications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APIs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rgbClr val="FF00FF"/>
                </a:solidFill>
              </a:rPr>
              <a:t>Practical examples</a:t>
            </a:r>
            <a:endParaRPr sz="1800">
              <a:solidFill>
                <a:srgbClr val="FF00FF"/>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Prebuild APIs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Your own models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a:solidFill>
                  <a:schemeClr val="dk2"/>
                </a:solidFill>
              </a:rPr>
              <a:t>Reference: The lecture is based on the “Digital Transformation Using AI/ML with Google Cloud Specialization” on Coursera (</a:t>
            </a:r>
            <a:r>
              <a:rPr lang="el" u="sng">
                <a:solidFill>
                  <a:schemeClr val="hlink"/>
                </a:solidFill>
                <a:hlinkClick r:id="rId3"/>
              </a:rPr>
              <a:t>link</a:t>
            </a:r>
            <a:r>
              <a:rPr lang="el">
                <a:solidFill>
                  <a:schemeClr val="dk2"/>
                </a:solidFill>
              </a:rPr>
              <a:t>)</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Google Cloud</a:t>
            </a:r>
            <a:endParaRPr/>
          </a:p>
        </p:txBody>
      </p:sp>
      <p:pic>
        <p:nvPicPr>
          <p:cNvPr id="93" name="Google Shape;93;p19"/>
          <p:cNvPicPr preferRelativeResize="0"/>
          <p:nvPr/>
        </p:nvPicPr>
        <p:blipFill rotWithShape="1">
          <a:blip r:embed="rId3">
            <a:alphaModFix/>
          </a:blip>
          <a:srcRect b="27363" l="0" r="0" t="28860"/>
          <a:stretch/>
        </p:blipFill>
        <p:spPr>
          <a:xfrm>
            <a:off x="5252400" y="2176863"/>
            <a:ext cx="3729850" cy="1632774"/>
          </a:xfrm>
          <a:prstGeom prst="rect">
            <a:avLst/>
          </a:prstGeom>
          <a:noFill/>
          <a:ln>
            <a:noFill/>
          </a:ln>
        </p:spPr>
      </p:pic>
      <p:sp>
        <p:nvSpPr>
          <p:cNvPr id="94" name="Google Shape;94;p19"/>
          <p:cNvSpPr txBox="1"/>
          <p:nvPr/>
        </p:nvSpPr>
        <p:spPr>
          <a:xfrm>
            <a:off x="311700" y="1754250"/>
            <a:ext cx="5015400" cy="26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Why Google Cloud over AWS and Azure: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User-Friendly Interface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Strong AI and ML Capabilities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Commitment to Open Source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Cost-Effective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Extensive documentation</a:t>
            </a:r>
            <a:endParaRPr sz="1800">
              <a:solidFill>
                <a:schemeClr val="dk2"/>
              </a:solidFill>
            </a:endParaRPr>
          </a:p>
          <a:p>
            <a:pPr indent="-342900" lvl="0" marL="457200" rtl="0" algn="l">
              <a:spcBef>
                <a:spcPts val="0"/>
              </a:spcBef>
              <a:spcAft>
                <a:spcPts val="0"/>
              </a:spcAft>
              <a:buClr>
                <a:srgbClr val="FF00FF"/>
              </a:buClr>
              <a:buSzPts val="1800"/>
              <a:buAutoNum type="arabicPeriod"/>
            </a:pPr>
            <a:r>
              <a:rPr lang="el" sz="1800">
                <a:solidFill>
                  <a:srgbClr val="FF00FF"/>
                </a:solidFill>
              </a:rPr>
              <a:t>Beginner’s Friendly</a:t>
            </a:r>
            <a:endParaRPr sz="1800">
              <a:solidFill>
                <a:srgbClr val="FF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IT </a:t>
            </a:r>
            <a:r>
              <a:rPr lang="el">
                <a:solidFill>
                  <a:srgbClr val="000000"/>
                </a:solidFill>
              </a:rPr>
              <a:t>Infrastructures</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New Business Model</a:t>
            </a:r>
            <a:endParaRPr/>
          </a:p>
        </p:txBody>
      </p:sp>
      <p:sp>
        <p:nvSpPr>
          <p:cNvPr id="105" name="Google Shape;105;p21"/>
          <p:cNvSpPr txBox="1"/>
          <p:nvPr/>
        </p:nvSpPr>
        <p:spPr>
          <a:xfrm>
            <a:off x="101750" y="1217175"/>
            <a:ext cx="5138400" cy="3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Scaling</a:t>
            </a:r>
            <a:r>
              <a:rPr lang="el" sz="1600"/>
              <a:t> applications used to be a competitive advantage for big companies</a:t>
            </a:r>
            <a:endParaRPr sz="1600"/>
          </a:p>
          <a:p>
            <a:pPr indent="0" lvl="0" marL="0" rtl="0" algn="l">
              <a:spcBef>
                <a:spcPts val="0"/>
              </a:spcBef>
              <a:spcAft>
                <a:spcPts val="0"/>
              </a:spcAft>
              <a:buNone/>
            </a:pPr>
            <a:r>
              <a:rPr lang="el" sz="1600"/>
              <a:t>Now its the norm for </a:t>
            </a:r>
            <a:r>
              <a:rPr lang="el" sz="1600"/>
              <a:t>successful enterprises!</a:t>
            </a:r>
            <a:r>
              <a:rPr lang="el" sz="1600"/>
              <a: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What does that mean to IT Resources:</a:t>
            </a:r>
            <a:endParaRPr sz="1600">
              <a:solidFill>
                <a:srgbClr val="FF00FF"/>
              </a:solidFill>
            </a:endParaRPr>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Big organizations do not want to spend budget on IT resources</a:t>
            </a:r>
            <a:endParaRPr sz="1600"/>
          </a:p>
          <a:p>
            <a:pPr indent="-330200" lvl="0" marL="457200" rtl="0" algn="l">
              <a:spcBef>
                <a:spcPts val="0"/>
              </a:spcBef>
              <a:spcAft>
                <a:spcPts val="0"/>
              </a:spcAft>
              <a:buSzPts val="1600"/>
              <a:buChar char="●"/>
            </a:pPr>
            <a:r>
              <a:rPr lang="el" sz="1600"/>
              <a:t>They want to create high value products</a:t>
            </a:r>
            <a:endParaRPr sz="1600"/>
          </a:p>
          <a:p>
            <a:pPr indent="-330200" lvl="0" marL="457200" rtl="0" algn="l">
              <a:spcBef>
                <a:spcPts val="0"/>
              </a:spcBef>
              <a:spcAft>
                <a:spcPts val="0"/>
              </a:spcAft>
              <a:buSzPts val="1600"/>
              <a:buChar char="●"/>
            </a:pPr>
            <a:r>
              <a:rPr lang="el" sz="1600"/>
              <a:t>Small organizations and startups have great ideas but no expertise in IT</a:t>
            </a:r>
            <a:endParaRPr sz="1600"/>
          </a:p>
        </p:txBody>
      </p:sp>
      <p:pic>
        <p:nvPicPr>
          <p:cNvPr id="106" name="Google Shape;106;p21"/>
          <p:cNvPicPr preferRelativeResize="0"/>
          <p:nvPr/>
        </p:nvPicPr>
        <p:blipFill>
          <a:blip r:embed="rId3">
            <a:alphaModFix/>
          </a:blip>
          <a:stretch>
            <a:fillRect/>
          </a:stretch>
        </p:blipFill>
        <p:spPr>
          <a:xfrm>
            <a:off x="5070900" y="945900"/>
            <a:ext cx="4070900" cy="3665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New Business Model</a:t>
            </a:r>
            <a:endParaRPr/>
          </a:p>
        </p:txBody>
      </p:sp>
      <p:sp>
        <p:nvSpPr>
          <p:cNvPr id="112" name="Google Shape;112;p22"/>
          <p:cNvSpPr txBox="1"/>
          <p:nvPr/>
        </p:nvSpPr>
        <p:spPr>
          <a:xfrm>
            <a:off x="396975" y="1167425"/>
            <a:ext cx="7651200" cy="20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Enterprises have financial benefits from Cloud technologies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rgbClr val="FF00FF"/>
                </a:solidFill>
              </a:rPr>
              <a:t>The new IT strategy:</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From buying fixed capacity</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To paying only for what they use</a:t>
            </a:r>
            <a:endParaRPr sz="1800">
              <a:solidFill>
                <a:schemeClr val="dk2"/>
              </a:solidFill>
            </a:endParaRPr>
          </a:p>
        </p:txBody>
      </p:sp>
      <p:pic>
        <p:nvPicPr>
          <p:cNvPr id="113" name="Google Shape;113;p22"/>
          <p:cNvPicPr preferRelativeResize="0"/>
          <p:nvPr/>
        </p:nvPicPr>
        <p:blipFill>
          <a:blip r:embed="rId3">
            <a:alphaModFix/>
          </a:blip>
          <a:stretch>
            <a:fillRect/>
          </a:stretch>
        </p:blipFill>
        <p:spPr>
          <a:xfrm>
            <a:off x="910050" y="3323225"/>
            <a:ext cx="2366956" cy="1665175"/>
          </a:xfrm>
          <a:prstGeom prst="rect">
            <a:avLst/>
          </a:prstGeom>
          <a:noFill/>
          <a:ln>
            <a:noFill/>
          </a:ln>
        </p:spPr>
      </p:pic>
      <p:pic>
        <p:nvPicPr>
          <p:cNvPr id="114" name="Google Shape;114;p22"/>
          <p:cNvPicPr preferRelativeResize="0"/>
          <p:nvPr/>
        </p:nvPicPr>
        <p:blipFill>
          <a:blip r:embed="rId4">
            <a:alphaModFix/>
          </a:blip>
          <a:stretch>
            <a:fillRect/>
          </a:stretch>
        </p:blipFill>
        <p:spPr>
          <a:xfrm>
            <a:off x="4637256" y="3419275"/>
            <a:ext cx="3410923" cy="1665175"/>
          </a:xfrm>
          <a:prstGeom prst="rect">
            <a:avLst/>
          </a:prstGeom>
          <a:noFill/>
          <a:ln>
            <a:noFill/>
          </a:ln>
        </p:spPr>
      </p:pic>
      <p:sp>
        <p:nvSpPr>
          <p:cNvPr id="115" name="Google Shape;115;p22"/>
          <p:cNvSpPr/>
          <p:nvPr/>
        </p:nvSpPr>
        <p:spPr>
          <a:xfrm>
            <a:off x="3544950" y="3824550"/>
            <a:ext cx="10923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Before the Cloud</a:t>
            </a:r>
            <a:endParaRPr/>
          </a:p>
        </p:txBody>
      </p:sp>
      <p:sp>
        <p:nvSpPr>
          <p:cNvPr id="121" name="Google Shape;121;p23"/>
          <p:cNvSpPr txBox="1"/>
          <p:nvPr/>
        </p:nvSpPr>
        <p:spPr>
          <a:xfrm>
            <a:off x="55500" y="1017725"/>
            <a:ext cx="4631400" cy="40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Employes within a Tech Company:</a:t>
            </a:r>
            <a:endParaRPr sz="1600">
              <a:solidFill>
                <a:srgbClr val="FF00FF"/>
              </a:solidFill>
            </a:endParaRPr>
          </a:p>
          <a:p>
            <a:pPr indent="-330200" lvl="0" marL="457200" rtl="0" algn="l">
              <a:spcBef>
                <a:spcPts val="0"/>
              </a:spcBef>
              <a:spcAft>
                <a:spcPts val="0"/>
              </a:spcAft>
              <a:buClr>
                <a:schemeClr val="dk2"/>
              </a:buClr>
              <a:buSzPts val="1600"/>
              <a:buChar char="●"/>
            </a:pPr>
            <a:r>
              <a:rPr lang="el" sz="1600">
                <a:solidFill>
                  <a:schemeClr val="dk2"/>
                </a:solidFill>
              </a:rPr>
              <a:t>Store data</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Connect with each other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rgbClr val="FF00FF"/>
                </a:solidFill>
              </a:rPr>
              <a:t>As the company grows:</a:t>
            </a:r>
            <a:endParaRPr sz="1600">
              <a:solidFill>
                <a:srgbClr val="FF00FF"/>
              </a:solidFill>
            </a:endParaRPr>
          </a:p>
          <a:p>
            <a:pPr indent="-330200" lvl="0" marL="457200" rtl="0" algn="l">
              <a:spcBef>
                <a:spcPts val="0"/>
              </a:spcBef>
              <a:spcAft>
                <a:spcPts val="0"/>
              </a:spcAft>
              <a:buClr>
                <a:schemeClr val="dk2"/>
              </a:buClr>
              <a:buSzPts val="1600"/>
              <a:buChar char="●"/>
            </a:pPr>
            <a:r>
              <a:rPr lang="el" sz="1600">
                <a:solidFill>
                  <a:schemeClr val="dk2"/>
                </a:solidFill>
              </a:rPr>
              <a:t>They need more compute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They build Servers &amp;  Data Center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rgbClr val="FF00FF"/>
                </a:solidFill>
              </a:rPr>
              <a:t>The Problem with Data Centers: </a:t>
            </a:r>
            <a:endParaRPr sz="1600">
              <a:solidFill>
                <a:srgbClr val="FF00FF"/>
              </a:solidFill>
            </a:endParaRPr>
          </a:p>
          <a:p>
            <a:pPr indent="0" lvl="0" marL="0" rtl="0" algn="l">
              <a:spcBef>
                <a:spcPts val="0"/>
              </a:spcBef>
              <a:spcAft>
                <a:spcPts val="0"/>
              </a:spcAft>
              <a:buNone/>
            </a:pPr>
            <a:r>
              <a:rPr b="1" lang="el" sz="1600">
                <a:solidFill>
                  <a:schemeClr val="dk2"/>
                </a:solidFill>
              </a:rPr>
              <a:t>Expenses</a:t>
            </a:r>
            <a:endParaRPr b="1"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How much more compute?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Cooling systems, physical security</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Maintenance</a:t>
            </a:r>
            <a:endParaRPr sz="1600">
              <a:solidFill>
                <a:schemeClr val="dk2"/>
              </a:solidFill>
            </a:endParaRPr>
          </a:p>
        </p:txBody>
      </p:sp>
      <p:pic>
        <p:nvPicPr>
          <p:cNvPr id="122" name="Google Shape;122;p23"/>
          <p:cNvPicPr preferRelativeResize="0"/>
          <p:nvPr/>
        </p:nvPicPr>
        <p:blipFill>
          <a:blip r:embed="rId3">
            <a:alphaModFix/>
          </a:blip>
          <a:stretch>
            <a:fillRect/>
          </a:stretch>
        </p:blipFill>
        <p:spPr>
          <a:xfrm>
            <a:off x="4395225" y="1285272"/>
            <a:ext cx="4631401" cy="22644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Solutions!</a:t>
            </a:r>
            <a:endParaRPr/>
          </a:p>
        </p:txBody>
      </p:sp>
      <p:sp>
        <p:nvSpPr>
          <p:cNvPr id="128" name="Google Shape;128;p24"/>
          <p:cNvSpPr txBox="1"/>
          <p:nvPr/>
        </p:nvSpPr>
        <p:spPr>
          <a:xfrm>
            <a:off x="311700" y="2142250"/>
            <a:ext cx="5570400" cy="18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Virtual Machines!</a:t>
            </a:r>
            <a:endParaRPr sz="1600">
              <a:solidFill>
                <a:srgbClr val="FF00FF"/>
              </a:solidFill>
            </a:endParaRPr>
          </a:p>
          <a:p>
            <a:pPr indent="0" lvl="0" marL="0" rtl="0" algn="l">
              <a:spcBef>
                <a:spcPts val="0"/>
              </a:spcBef>
              <a:spcAft>
                <a:spcPts val="0"/>
              </a:spcAft>
              <a:buNone/>
            </a:pPr>
            <a:r>
              <a:rPr lang="el" sz="1600">
                <a:solidFill>
                  <a:schemeClr val="dk2"/>
                </a:solidFill>
              </a:rPr>
              <a:t>They optimize the use of resources</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CPUs</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Storage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Networking resources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Have multiple applications at the same server</a:t>
            </a:r>
            <a:endParaRPr sz="1600">
              <a:solidFill>
                <a:schemeClr val="dk2"/>
              </a:solidFill>
            </a:endParaRPr>
          </a:p>
        </p:txBody>
      </p:sp>
      <p:pic>
        <p:nvPicPr>
          <p:cNvPr id="129" name="Google Shape;129;p24"/>
          <p:cNvPicPr preferRelativeResize="0"/>
          <p:nvPr/>
        </p:nvPicPr>
        <p:blipFill>
          <a:blip r:embed="rId3">
            <a:alphaModFix/>
          </a:blip>
          <a:stretch>
            <a:fillRect/>
          </a:stretch>
        </p:blipFill>
        <p:spPr>
          <a:xfrm>
            <a:off x="5618225" y="1017725"/>
            <a:ext cx="2914525" cy="2937414"/>
          </a:xfrm>
          <a:prstGeom prst="rect">
            <a:avLst/>
          </a:prstGeom>
          <a:noFill/>
          <a:ln>
            <a:noFill/>
          </a:ln>
        </p:spPr>
      </p:pic>
      <p:sp>
        <p:nvSpPr>
          <p:cNvPr id="130" name="Google Shape;130;p24"/>
          <p:cNvSpPr/>
          <p:nvPr/>
        </p:nvSpPr>
        <p:spPr>
          <a:xfrm>
            <a:off x="5455100" y="1989125"/>
            <a:ext cx="1141800" cy="140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a:t>
            </a:r>
            <a:r>
              <a:rPr lang="el"/>
              <a:t>Solution</a:t>
            </a:r>
            <a:endParaRPr/>
          </a:p>
        </p:txBody>
      </p:sp>
      <p:sp>
        <p:nvSpPr>
          <p:cNvPr id="136" name="Google Shape;136;p25"/>
          <p:cNvSpPr txBox="1"/>
          <p:nvPr/>
        </p:nvSpPr>
        <p:spPr>
          <a:xfrm>
            <a:off x="354275" y="1082050"/>
            <a:ext cx="5570400" cy="3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Virtual Machines!</a:t>
            </a:r>
            <a:endParaRPr sz="1600">
              <a:solidFill>
                <a:srgbClr val="FF00FF"/>
              </a:solidFill>
            </a:endParaRPr>
          </a:p>
          <a:p>
            <a:pPr indent="0" lvl="0" marL="0" rtl="0" algn="l">
              <a:spcBef>
                <a:spcPts val="0"/>
              </a:spcBef>
              <a:spcAft>
                <a:spcPts val="0"/>
              </a:spcAft>
              <a:buNone/>
            </a:pPr>
            <a:r>
              <a:rPr lang="el" sz="1600">
                <a:solidFill>
                  <a:schemeClr val="dk2"/>
                </a:solidFill>
              </a:rPr>
              <a:t>They optimize the use of resources</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CPUs</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Storage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Share Networking resources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Have multiple applications at the same server</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rgbClr val="FF00FF"/>
                </a:solidFill>
              </a:rPr>
              <a:t>The problem?</a:t>
            </a:r>
            <a:endParaRPr sz="1600">
              <a:solidFill>
                <a:srgbClr val="FF00FF"/>
              </a:solidFill>
            </a:endParaRPr>
          </a:p>
          <a:p>
            <a:pPr indent="-330200" lvl="0" marL="457200" rtl="0" algn="l">
              <a:spcBef>
                <a:spcPts val="0"/>
              </a:spcBef>
              <a:spcAft>
                <a:spcPts val="0"/>
              </a:spcAft>
              <a:buClr>
                <a:schemeClr val="dk2"/>
              </a:buClr>
              <a:buSzPts val="1600"/>
              <a:buChar char="●"/>
            </a:pPr>
            <a:r>
              <a:rPr lang="el" sz="1600">
                <a:solidFill>
                  <a:schemeClr val="dk2"/>
                </a:solidFill>
              </a:rPr>
              <a:t>There is still a cap to the physical capacity!</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They have to </a:t>
            </a:r>
            <a:r>
              <a:rPr lang="el" sz="1600">
                <a:solidFill>
                  <a:schemeClr val="dk2"/>
                </a:solidFill>
              </a:rPr>
              <a:t>invest</a:t>
            </a:r>
            <a:r>
              <a:rPr lang="el" sz="1600">
                <a:solidFill>
                  <a:schemeClr val="dk2"/>
                </a:solidFill>
              </a:rPr>
              <a:t> for Data Centers up front</a:t>
            </a:r>
            <a:endParaRPr sz="1600">
              <a:solidFill>
                <a:schemeClr val="dk2"/>
              </a:solidFill>
            </a:endParaRPr>
          </a:p>
        </p:txBody>
      </p:sp>
      <p:pic>
        <p:nvPicPr>
          <p:cNvPr id="137" name="Google Shape;137;p25"/>
          <p:cNvPicPr preferRelativeResize="0"/>
          <p:nvPr/>
        </p:nvPicPr>
        <p:blipFill>
          <a:blip r:embed="rId3">
            <a:alphaModFix/>
          </a:blip>
          <a:stretch>
            <a:fillRect/>
          </a:stretch>
        </p:blipFill>
        <p:spPr>
          <a:xfrm>
            <a:off x="5564850" y="1148775"/>
            <a:ext cx="2914525" cy="29942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Other Solutions</a:t>
            </a:r>
            <a:endParaRPr/>
          </a:p>
        </p:txBody>
      </p:sp>
      <p:pic>
        <p:nvPicPr>
          <p:cNvPr id="143" name="Google Shape;143;p26"/>
          <p:cNvPicPr preferRelativeResize="0"/>
          <p:nvPr/>
        </p:nvPicPr>
        <p:blipFill>
          <a:blip r:embed="rId3">
            <a:alphaModFix/>
          </a:blip>
          <a:stretch>
            <a:fillRect/>
          </a:stretch>
        </p:blipFill>
        <p:spPr>
          <a:xfrm>
            <a:off x="5657999" y="633862"/>
            <a:ext cx="2267725" cy="1937876"/>
          </a:xfrm>
          <a:prstGeom prst="rect">
            <a:avLst/>
          </a:prstGeom>
          <a:noFill/>
          <a:ln>
            <a:noFill/>
          </a:ln>
        </p:spPr>
      </p:pic>
      <p:sp>
        <p:nvSpPr>
          <p:cNvPr id="144" name="Google Shape;144;p26"/>
          <p:cNvSpPr txBox="1"/>
          <p:nvPr/>
        </p:nvSpPr>
        <p:spPr>
          <a:xfrm>
            <a:off x="0" y="1060700"/>
            <a:ext cx="5658000" cy="16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In summary:</a:t>
            </a:r>
            <a:endParaRPr sz="1700">
              <a:solidFill>
                <a:srgbClr val="FF00FF"/>
              </a:solidFill>
            </a:endParaRPr>
          </a:p>
          <a:p>
            <a:pPr indent="0" lvl="0" marL="0" rtl="0" algn="l">
              <a:spcBef>
                <a:spcPts val="0"/>
              </a:spcBef>
              <a:spcAft>
                <a:spcPts val="0"/>
              </a:spcAft>
              <a:buNone/>
            </a:pPr>
            <a:r>
              <a:rPr lang="el" sz="1700">
                <a:solidFill>
                  <a:schemeClr val="dk2"/>
                </a:solidFill>
              </a:rPr>
              <a:t>Growing companies need to deliver products &amp; customers </a:t>
            </a:r>
            <a:r>
              <a:rPr lang="el" sz="1700">
                <a:solidFill>
                  <a:schemeClr val="dk2"/>
                </a:solidFill>
              </a:rPr>
              <a:t>regionally</a:t>
            </a:r>
            <a:r>
              <a:rPr lang="el" sz="1700">
                <a:solidFill>
                  <a:schemeClr val="dk2"/>
                </a:solidFill>
              </a:rPr>
              <a:t> &amp; globally.</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They need to scale quickly!</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Maintaining data centers is expensive</a:t>
            </a:r>
            <a:endParaRPr sz="17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Other Solutions</a:t>
            </a:r>
            <a:endParaRPr/>
          </a:p>
        </p:txBody>
      </p:sp>
      <p:sp>
        <p:nvSpPr>
          <p:cNvPr id="150" name="Google Shape;150;p27"/>
          <p:cNvSpPr txBox="1"/>
          <p:nvPr/>
        </p:nvSpPr>
        <p:spPr>
          <a:xfrm>
            <a:off x="0" y="1060700"/>
            <a:ext cx="5658000" cy="16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In summary:</a:t>
            </a:r>
            <a:endParaRPr sz="1700">
              <a:solidFill>
                <a:srgbClr val="FF00FF"/>
              </a:solidFill>
            </a:endParaRPr>
          </a:p>
          <a:p>
            <a:pPr indent="0" lvl="0" marL="0" rtl="0" algn="l">
              <a:spcBef>
                <a:spcPts val="0"/>
              </a:spcBef>
              <a:spcAft>
                <a:spcPts val="0"/>
              </a:spcAft>
              <a:buNone/>
            </a:pPr>
            <a:r>
              <a:rPr lang="el" sz="1700">
                <a:solidFill>
                  <a:schemeClr val="dk2"/>
                </a:solidFill>
              </a:rPr>
              <a:t>G</a:t>
            </a:r>
            <a:r>
              <a:rPr lang="el" sz="1700">
                <a:solidFill>
                  <a:schemeClr val="dk2"/>
                </a:solidFill>
              </a:rPr>
              <a:t>rowing companies need to deliver products &amp; customers regiaonaly &amp; globally.</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They need to scale quickly!</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Maintaining data centers is expensive</a:t>
            </a:r>
            <a:endParaRPr sz="1700">
              <a:solidFill>
                <a:schemeClr val="dk2"/>
              </a:solidFill>
            </a:endParaRPr>
          </a:p>
        </p:txBody>
      </p:sp>
      <p:pic>
        <p:nvPicPr>
          <p:cNvPr id="151" name="Google Shape;151;p27"/>
          <p:cNvPicPr preferRelativeResize="0"/>
          <p:nvPr/>
        </p:nvPicPr>
        <p:blipFill>
          <a:blip r:embed="rId3">
            <a:alphaModFix/>
          </a:blip>
          <a:stretch>
            <a:fillRect/>
          </a:stretch>
        </p:blipFill>
        <p:spPr>
          <a:xfrm>
            <a:off x="5657999" y="633862"/>
            <a:ext cx="2267725" cy="1937876"/>
          </a:xfrm>
          <a:prstGeom prst="rect">
            <a:avLst/>
          </a:prstGeom>
          <a:noFill/>
          <a:ln>
            <a:noFill/>
          </a:ln>
        </p:spPr>
      </p:pic>
      <p:pic>
        <p:nvPicPr>
          <p:cNvPr id="152" name="Google Shape;152;p27"/>
          <p:cNvPicPr preferRelativeResize="0"/>
          <p:nvPr/>
        </p:nvPicPr>
        <p:blipFill>
          <a:blip r:embed="rId4">
            <a:alphaModFix/>
          </a:blip>
          <a:stretch>
            <a:fillRect/>
          </a:stretch>
        </p:blipFill>
        <p:spPr>
          <a:xfrm>
            <a:off x="5810400" y="2724138"/>
            <a:ext cx="2326015" cy="2266962"/>
          </a:xfrm>
          <a:prstGeom prst="rect">
            <a:avLst/>
          </a:prstGeom>
          <a:noFill/>
          <a:ln>
            <a:noFill/>
          </a:ln>
        </p:spPr>
      </p:pic>
      <p:sp>
        <p:nvSpPr>
          <p:cNvPr id="153" name="Google Shape;153;p27"/>
          <p:cNvSpPr txBox="1"/>
          <p:nvPr/>
        </p:nvSpPr>
        <p:spPr>
          <a:xfrm>
            <a:off x="0" y="3251275"/>
            <a:ext cx="5658000" cy="16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What do they do:</a:t>
            </a:r>
            <a:endParaRPr sz="1700">
              <a:solidFill>
                <a:srgbClr val="FF00FF"/>
              </a:solidFill>
            </a:endParaRPr>
          </a:p>
          <a:p>
            <a:pPr indent="0" lvl="0" marL="0" rtl="0" algn="l">
              <a:spcBef>
                <a:spcPts val="0"/>
              </a:spcBef>
              <a:spcAft>
                <a:spcPts val="0"/>
              </a:spcAft>
              <a:buNone/>
            </a:pPr>
            <a:r>
              <a:rPr lang="el" sz="1700">
                <a:solidFill>
                  <a:schemeClr val="dk2"/>
                </a:solidFill>
              </a:rPr>
              <a:t>They move (some or all) their infrastructure from physical data centers to virtualized data centers in the cloud </a:t>
            </a:r>
            <a:endParaRPr sz="17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Moving to Cloud Means:</a:t>
            </a:r>
            <a:endParaRPr/>
          </a:p>
        </p:txBody>
      </p:sp>
      <p:pic>
        <p:nvPicPr>
          <p:cNvPr id="159" name="Google Shape;159;p28"/>
          <p:cNvPicPr preferRelativeResize="0"/>
          <p:nvPr/>
        </p:nvPicPr>
        <p:blipFill>
          <a:blip r:embed="rId3">
            <a:alphaModFix/>
          </a:blip>
          <a:stretch>
            <a:fillRect/>
          </a:stretch>
        </p:blipFill>
        <p:spPr>
          <a:xfrm>
            <a:off x="567875" y="1508250"/>
            <a:ext cx="2311875" cy="1849500"/>
          </a:xfrm>
          <a:prstGeom prst="rect">
            <a:avLst/>
          </a:prstGeom>
          <a:noFill/>
          <a:ln>
            <a:noFill/>
          </a:ln>
        </p:spPr>
      </p:pic>
      <p:pic>
        <p:nvPicPr>
          <p:cNvPr id="160" name="Google Shape;160;p28"/>
          <p:cNvPicPr preferRelativeResize="0"/>
          <p:nvPr/>
        </p:nvPicPr>
        <p:blipFill>
          <a:blip r:embed="rId4">
            <a:alphaModFix/>
          </a:blip>
          <a:stretch>
            <a:fillRect/>
          </a:stretch>
        </p:blipFill>
        <p:spPr>
          <a:xfrm>
            <a:off x="5443900" y="1585007"/>
            <a:ext cx="2311875" cy="1772731"/>
          </a:xfrm>
          <a:prstGeom prst="rect">
            <a:avLst/>
          </a:prstGeom>
          <a:noFill/>
          <a:ln>
            <a:noFill/>
          </a:ln>
        </p:spPr>
      </p:pic>
      <p:sp>
        <p:nvSpPr>
          <p:cNvPr id="161" name="Google Shape;161;p28"/>
          <p:cNvSpPr/>
          <p:nvPr/>
        </p:nvSpPr>
        <p:spPr>
          <a:xfrm>
            <a:off x="3673025" y="2106475"/>
            <a:ext cx="992400" cy="683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8"/>
          <p:cNvSpPr txBox="1"/>
          <p:nvPr/>
        </p:nvSpPr>
        <p:spPr>
          <a:xfrm>
            <a:off x="107175" y="3579100"/>
            <a:ext cx="3469800" cy="14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From spending more for IT </a:t>
            </a:r>
            <a:endParaRPr sz="1800">
              <a:solidFill>
                <a:srgbClr val="FF00FF"/>
              </a:solidFill>
            </a:endParaRPr>
          </a:p>
        </p:txBody>
      </p:sp>
      <p:sp>
        <p:nvSpPr>
          <p:cNvPr id="163" name="Google Shape;163;p28"/>
          <p:cNvSpPr txBox="1"/>
          <p:nvPr/>
        </p:nvSpPr>
        <p:spPr>
          <a:xfrm>
            <a:off x="5125600" y="3525750"/>
            <a:ext cx="3808200" cy="14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To </a:t>
            </a:r>
            <a:r>
              <a:rPr lang="el" sz="1800">
                <a:solidFill>
                  <a:srgbClr val="FF00FF"/>
                </a:solidFill>
              </a:rPr>
              <a:t>spending more for Applications</a:t>
            </a:r>
            <a:endParaRPr sz="1800">
              <a:solidFill>
                <a:srgbClr val="FF00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Cloud Services</a:t>
            </a:r>
            <a:endParaRPr/>
          </a:p>
        </p:txBody>
      </p:sp>
      <p:sp>
        <p:nvSpPr>
          <p:cNvPr id="169" name="Google Shape;169;p29"/>
          <p:cNvSpPr txBox="1"/>
          <p:nvPr/>
        </p:nvSpPr>
        <p:spPr>
          <a:xfrm>
            <a:off x="546475" y="1773663"/>
            <a:ext cx="4321800" cy="572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F00FF"/>
              </a:buClr>
              <a:buSzPts val="1800"/>
              <a:buAutoNum type="arabicPeriod"/>
            </a:pPr>
            <a:r>
              <a:rPr b="1" lang="el" sz="1800">
                <a:solidFill>
                  <a:srgbClr val="FF00FF"/>
                </a:solidFill>
              </a:rPr>
              <a:t>Pay as you need infrastructures</a:t>
            </a:r>
            <a:endParaRPr b="1" sz="1800">
              <a:solidFill>
                <a:srgbClr val="FF00FF"/>
              </a:solidFill>
            </a:endParaRPr>
          </a:p>
        </p:txBody>
      </p:sp>
      <p:pic>
        <p:nvPicPr>
          <p:cNvPr id="170" name="Google Shape;170;p29"/>
          <p:cNvPicPr preferRelativeResize="0"/>
          <p:nvPr/>
        </p:nvPicPr>
        <p:blipFill>
          <a:blip r:embed="rId3">
            <a:alphaModFix/>
          </a:blip>
          <a:stretch>
            <a:fillRect/>
          </a:stretch>
        </p:blipFill>
        <p:spPr>
          <a:xfrm>
            <a:off x="5373724" y="1161875"/>
            <a:ext cx="2049750" cy="1334025"/>
          </a:xfrm>
          <a:prstGeom prst="rect">
            <a:avLst/>
          </a:prstGeom>
          <a:noFill/>
          <a:ln>
            <a:noFill/>
          </a:ln>
        </p:spPr>
      </p:pic>
      <p:sp>
        <p:nvSpPr>
          <p:cNvPr id="171" name="Google Shape;171;p29"/>
          <p:cNvSpPr txBox="1"/>
          <p:nvPr/>
        </p:nvSpPr>
        <p:spPr>
          <a:xfrm>
            <a:off x="546475" y="3102300"/>
            <a:ext cx="432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rgbClr val="FF00FF"/>
                </a:solidFill>
              </a:rPr>
              <a:t>2. 	Additional Services (eg ML tools)</a:t>
            </a:r>
            <a:endParaRPr b="1" sz="1800">
              <a:solidFill>
                <a:srgbClr val="FF00FF"/>
              </a:solidFill>
            </a:endParaRPr>
          </a:p>
        </p:txBody>
      </p:sp>
      <p:pic>
        <p:nvPicPr>
          <p:cNvPr id="172" name="Google Shape;172;p29"/>
          <p:cNvPicPr preferRelativeResize="0"/>
          <p:nvPr/>
        </p:nvPicPr>
        <p:blipFill>
          <a:blip r:embed="rId4">
            <a:alphaModFix/>
          </a:blip>
          <a:stretch>
            <a:fillRect/>
          </a:stretch>
        </p:blipFill>
        <p:spPr>
          <a:xfrm>
            <a:off x="5106098" y="2640050"/>
            <a:ext cx="2478300" cy="2351050"/>
          </a:xfrm>
          <a:prstGeom prst="rect">
            <a:avLst/>
          </a:prstGeom>
          <a:noFill/>
          <a:ln>
            <a:noFill/>
          </a:ln>
        </p:spPr>
      </p:pic>
      <p:sp>
        <p:nvSpPr>
          <p:cNvPr id="173" name="Google Shape;173;p29"/>
          <p:cNvSpPr txBox="1"/>
          <p:nvPr/>
        </p:nvSpPr>
        <p:spPr>
          <a:xfrm>
            <a:off x="546475" y="4300475"/>
            <a:ext cx="432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rgbClr val="FF00FF"/>
                </a:solidFill>
              </a:rPr>
              <a:t>3.</a:t>
            </a:r>
            <a:r>
              <a:rPr b="1" lang="el" sz="1800">
                <a:solidFill>
                  <a:srgbClr val="FF00FF"/>
                </a:solidFill>
              </a:rPr>
              <a:t> 	No </a:t>
            </a:r>
            <a:r>
              <a:rPr b="1" lang="el" sz="1800">
                <a:solidFill>
                  <a:srgbClr val="FF00FF"/>
                </a:solidFill>
              </a:rPr>
              <a:t>Maintenance costs</a:t>
            </a:r>
            <a:r>
              <a:rPr b="1" lang="el" sz="1800">
                <a:solidFill>
                  <a:srgbClr val="FF00FF"/>
                </a:solidFill>
              </a:rPr>
              <a:t> </a:t>
            </a:r>
            <a:endParaRPr b="1" sz="1800">
              <a:solidFill>
                <a:srgbClr val="FF00FF"/>
              </a:solidFill>
            </a:endParaRPr>
          </a:p>
        </p:txBody>
      </p:sp>
      <p:cxnSp>
        <p:nvCxnSpPr>
          <p:cNvPr id="174" name="Google Shape;174;p29"/>
          <p:cNvCxnSpPr/>
          <p:nvPr/>
        </p:nvCxnSpPr>
        <p:spPr>
          <a:xfrm flipH="1">
            <a:off x="6372799" y="2346375"/>
            <a:ext cx="6600" cy="4005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Benefits of Cloud Computing</a:t>
            </a:r>
            <a:endParaRPr/>
          </a:p>
        </p:txBody>
      </p:sp>
      <p:pic>
        <p:nvPicPr>
          <p:cNvPr id="180" name="Google Shape;180;p30"/>
          <p:cNvPicPr preferRelativeResize="0"/>
          <p:nvPr/>
        </p:nvPicPr>
        <p:blipFill>
          <a:blip r:embed="rId3">
            <a:alphaModFix/>
          </a:blip>
          <a:stretch>
            <a:fillRect/>
          </a:stretch>
        </p:blipFill>
        <p:spPr>
          <a:xfrm>
            <a:off x="525900" y="1077125"/>
            <a:ext cx="3654845" cy="3820975"/>
          </a:xfrm>
          <a:prstGeom prst="rect">
            <a:avLst/>
          </a:prstGeom>
          <a:noFill/>
          <a:ln>
            <a:noFill/>
          </a:ln>
        </p:spPr>
      </p:pic>
      <p:pic>
        <p:nvPicPr>
          <p:cNvPr id="181" name="Google Shape;181;p30"/>
          <p:cNvPicPr preferRelativeResize="0"/>
          <p:nvPr/>
        </p:nvPicPr>
        <p:blipFill>
          <a:blip r:embed="rId4">
            <a:alphaModFix/>
          </a:blip>
          <a:stretch>
            <a:fillRect/>
          </a:stretch>
        </p:blipFill>
        <p:spPr>
          <a:xfrm>
            <a:off x="5305723" y="906404"/>
            <a:ext cx="2864976" cy="2690825"/>
          </a:xfrm>
          <a:prstGeom prst="rect">
            <a:avLst/>
          </a:prstGeom>
          <a:noFill/>
          <a:ln>
            <a:noFill/>
          </a:ln>
        </p:spPr>
      </p:pic>
      <p:sp>
        <p:nvSpPr>
          <p:cNvPr id="182" name="Google Shape;182;p30"/>
          <p:cNvSpPr txBox="1"/>
          <p:nvPr/>
        </p:nvSpPr>
        <p:spPr>
          <a:xfrm>
            <a:off x="5327050" y="3739175"/>
            <a:ext cx="3105300" cy="1312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l">
                <a:solidFill>
                  <a:schemeClr val="dk2"/>
                </a:solidFill>
              </a:rPr>
              <a:t>Compute</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Store </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Retrieve</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Compare</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Analyze</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reminder</a:t>
            </a:r>
            <a:endParaRPr/>
          </a:p>
        </p:txBody>
      </p:sp>
      <p:sp>
        <p:nvSpPr>
          <p:cNvPr id="188" name="Google Shape;188;p31"/>
          <p:cNvSpPr txBox="1"/>
          <p:nvPr/>
        </p:nvSpPr>
        <p:spPr>
          <a:xfrm>
            <a:off x="375625" y="1135425"/>
            <a:ext cx="36708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Virtual Machines vs Containers</a:t>
            </a:r>
            <a:endParaRPr sz="1800">
              <a:solidFill>
                <a:srgbClr val="FF00FF"/>
              </a:solidFill>
            </a:endParaRPr>
          </a:p>
        </p:txBody>
      </p:sp>
      <p:pic>
        <p:nvPicPr>
          <p:cNvPr id="189" name="Google Shape;189;p31"/>
          <p:cNvPicPr preferRelativeResize="0"/>
          <p:nvPr/>
        </p:nvPicPr>
        <p:blipFill>
          <a:blip r:embed="rId3">
            <a:alphaModFix/>
          </a:blip>
          <a:stretch>
            <a:fillRect/>
          </a:stretch>
        </p:blipFill>
        <p:spPr>
          <a:xfrm>
            <a:off x="899350" y="1813825"/>
            <a:ext cx="7513345" cy="3222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idx="1" type="body"/>
          </p:nvPr>
        </p:nvSpPr>
        <p:spPr>
          <a:xfrm>
            <a:off x="215650" y="1018675"/>
            <a:ext cx="4898100" cy="1711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l">
                <a:solidFill>
                  <a:srgbClr val="FF00FF"/>
                </a:solidFill>
              </a:rPr>
              <a:t>Benefits of Containers:</a:t>
            </a:r>
            <a:endParaRPr>
              <a:solidFill>
                <a:srgbClr val="FF00FF"/>
              </a:solidFill>
            </a:endParaRPr>
          </a:p>
          <a:p>
            <a:pPr indent="-334327" lvl="0" marL="457200" rtl="0" algn="l">
              <a:spcBef>
                <a:spcPts val="1200"/>
              </a:spcBef>
              <a:spcAft>
                <a:spcPts val="0"/>
              </a:spcAft>
              <a:buSzPct val="100000"/>
              <a:buChar char="●"/>
            </a:pPr>
            <a:r>
              <a:rPr lang="el"/>
              <a:t>Hold exactly </a:t>
            </a:r>
            <a:r>
              <a:rPr lang="el"/>
              <a:t>what's</a:t>
            </a:r>
            <a:r>
              <a:rPr lang="el"/>
              <a:t> needed for an application</a:t>
            </a:r>
            <a:endParaRPr/>
          </a:p>
          <a:p>
            <a:pPr indent="-334327" lvl="0" marL="457200" rtl="0" algn="l">
              <a:spcBef>
                <a:spcPts val="0"/>
              </a:spcBef>
              <a:spcAft>
                <a:spcPts val="0"/>
              </a:spcAft>
              <a:buSzPct val="100000"/>
              <a:buChar char="●"/>
            </a:pPr>
            <a:r>
              <a:rPr lang="el"/>
              <a:t>Start faster</a:t>
            </a:r>
            <a:endParaRPr/>
          </a:p>
          <a:p>
            <a:pPr indent="-334327" lvl="0" marL="457200" rtl="0" algn="l">
              <a:spcBef>
                <a:spcPts val="0"/>
              </a:spcBef>
              <a:spcAft>
                <a:spcPts val="0"/>
              </a:spcAft>
              <a:buSzPct val="100000"/>
              <a:buChar char="●"/>
            </a:pPr>
            <a:r>
              <a:rPr lang="el"/>
              <a:t>Use less memory</a:t>
            </a:r>
            <a:endParaRPr/>
          </a:p>
          <a:p>
            <a:pPr indent="-334327" lvl="0" marL="457200" rtl="0" algn="l">
              <a:spcBef>
                <a:spcPts val="0"/>
              </a:spcBef>
              <a:spcAft>
                <a:spcPts val="0"/>
              </a:spcAft>
              <a:buSzPct val="100000"/>
              <a:buChar char="●"/>
            </a:pPr>
            <a:r>
              <a:rPr lang="el"/>
              <a:t>Make more predictable environments</a:t>
            </a:r>
            <a:endParaRPr/>
          </a:p>
        </p:txBody>
      </p:sp>
      <p:pic>
        <p:nvPicPr>
          <p:cNvPr id="195" name="Google Shape;195;p32"/>
          <p:cNvPicPr preferRelativeResize="0"/>
          <p:nvPr/>
        </p:nvPicPr>
        <p:blipFill>
          <a:blip r:embed="rId3">
            <a:alphaModFix/>
          </a:blip>
          <a:stretch>
            <a:fillRect/>
          </a:stretch>
        </p:blipFill>
        <p:spPr>
          <a:xfrm>
            <a:off x="5705775" y="729924"/>
            <a:ext cx="3048075" cy="2289300"/>
          </a:xfrm>
          <a:prstGeom prst="rect">
            <a:avLst/>
          </a:prstGeom>
          <a:noFill/>
          <a:ln>
            <a:noFill/>
          </a:ln>
        </p:spPr>
      </p:pic>
      <p:sp>
        <p:nvSpPr>
          <p:cNvPr id="196" name="Google Shape;19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Cloud &amp; Containers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Cloud &amp; Containers</a:t>
            </a:r>
            <a:endParaRPr/>
          </a:p>
        </p:txBody>
      </p:sp>
      <p:sp>
        <p:nvSpPr>
          <p:cNvPr id="202" name="Google Shape;202;p33"/>
          <p:cNvSpPr txBox="1"/>
          <p:nvPr>
            <p:ph idx="1" type="body"/>
          </p:nvPr>
        </p:nvSpPr>
        <p:spPr>
          <a:xfrm>
            <a:off x="215650" y="1018675"/>
            <a:ext cx="4898100" cy="1711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l">
                <a:solidFill>
                  <a:srgbClr val="FF00FF"/>
                </a:solidFill>
              </a:rPr>
              <a:t>Benefits of Containers:</a:t>
            </a:r>
            <a:endParaRPr>
              <a:solidFill>
                <a:srgbClr val="FF00FF"/>
              </a:solidFill>
            </a:endParaRPr>
          </a:p>
          <a:p>
            <a:pPr indent="-334327" lvl="0" marL="457200" rtl="0" algn="l">
              <a:spcBef>
                <a:spcPts val="1200"/>
              </a:spcBef>
              <a:spcAft>
                <a:spcPts val="0"/>
              </a:spcAft>
              <a:buSzPct val="100000"/>
              <a:buChar char="●"/>
            </a:pPr>
            <a:r>
              <a:rPr lang="el"/>
              <a:t>Hold exactly what's needed for an application</a:t>
            </a:r>
            <a:endParaRPr/>
          </a:p>
          <a:p>
            <a:pPr indent="-334327" lvl="0" marL="457200" rtl="0" algn="l">
              <a:spcBef>
                <a:spcPts val="0"/>
              </a:spcBef>
              <a:spcAft>
                <a:spcPts val="0"/>
              </a:spcAft>
              <a:buSzPct val="100000"/>
              <a:buChar char="●"/>
            </a:pPr>
            <a:r>
              <a:rPr lang="el"/>
              <a:t>Start faster</a:t>
            </a:r>
            <a:endParaRPr/>
          </a:p>
          <a:p>
            <a:pPr indent="-334327" lvl="0" marL="457200" rtl="0" algn="l">
              <a:spcBef>
                <a:spcPts val="0"/>
              </a:spcBef>
              <a:spcAft>
                <a:spcPts val="0"/>
              </a:spcAft>
              <a:buSzPct val="100000"/>
              <a:buChar char="●"/>
            </a:pPr>
            <a:r>
              <a:rPr lang="el"/>
              <a:t>Use less memory</a:t>
            </a:r>
            <a:endParaRPr/>
          </a:p>
          <a:p>
            <a:pPr indent="-334327" lvl="0" marL="457200" rtl="0" algn="l">
              <a:spcBef>
                <a:spcPts val="0"/>
              </a:spcBef>
              <a:spcAft>
                <a:spcPts val="0"/>
              </a:spcAft>
              <a:buSzPct val="100000"/>
              <a:buChar char="●"/>
            </a:pPr>
            <a:r>
              <a:rPr lang="el"/>
              <a:t>Make more predictable environments</a:t>
            </a:r>
            <a:endParaRPr/>
          </a:p>
        </p:txBody>
      </p:sp>
      <p:pic>
        <p:nvPicPr>
          <p:cNvPr id="203" name="Google Shape;203;p33"/>
          <p:cNvPicPr preferRelativeResize="0"/>
          <p:nvPr/>
        </p:nvPicPr>
        <p:blipFill>
          <a:blip r:embed="rId3">
            <a:alphaModFix/>
          </a:blip>
          <a:stretch>
            <a:fillRect/>
          </a:stretch>
        </p:blipFill>
        <p:spPr>
          <a:xfrm>
            <a:off x="5705775" y="729924"/>
            <a:ext cx="3048075" cy="2289300"/>
          </a:xfrm>
          <a:prstGeom prst="rect">
            <a:avLst/>
          </a:prstGeom>
          <a:noFill/>
          <a:ln>
            <a:noFill/>
          </a:ln>
        </p:spPr>
      </p:pic>
      <p:sp>
        <p:nvSpPr>
          <p:cNvPr id="204" name="Google Shape;204;p33"/>
          <p:cNvSpPr txBox="1"/>
          <p:nvPr/>
        </p:nvSpPr>
        <p:spPr>
          <a:xfrm>
            <a:off x="215650" y="3264650"/>
            <a:ext cx="4748700" cy="15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Companies might have thousands of containers</a:t>
            </a:r>
            <a:endParaRPr sz="1700">
              <a:solidFill>
                <a:srgbClr val="FF00FF"/>
              </a:solidFill>
            </a:endParaRPr>
          </a:p>
          <a:p>
            <a:pPr indent="0" lvl="0" marL="0" rtl="0" algn="l">
              <a:spcBef>
                <a:spcPts val="0"/>
              </a:spcBef>
              <a:spcAft>
                <a:spcPts val="0"/>
              </a:spcAft>
              <a:buNone/>
            </a:pPr>
            <a:r>
              <a:rPr lang="el" sz="1700">
                <a:solidFill>
                  <a:schemeClr val="dk2"/>
                </a:solidFill>
              </a:rPr>
              <a:t>Keeping them secure is hard!</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Oversight</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Management</a:t>
            </a:r>
            <a:endParaRPr sz="1700">
              <a:solidFill>
                <a:schemeClr val="dk2"/>
              </a:solidFill>
            </a:endParaRPr>
          </a:p>
        </p:txBody>
      </p:sp>
      <p:pic>
        <p:nvPicPr>
          <p:cNvPr id="205" name="Google Shape;205;p33"/>
          <p:cNvPicPr preferRelativeResize="0"/>
          <p:nvPr/>
        </p:nvPicPr>
        <p:blipFill>
          <a:blip r:embed="rId4">
            <a:alphaModFix/>
          </a:blip>
          <a:stretch>
            <a:fillRect/>
          </a:stretch>
        </p:blipFill>
        <p:spPr>
          <a:xfrm>
            <a:off x="5312850" y="3374600"/>
            <a:ext cx="3519450" cy="1375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Serverless Computing</a:t>
            </a:r>
            <a:endParaRPr/>
          </a:p>
        </p:txBody>
      </p:sp>
      <p:pic>
        <p:nvPicPr>
          <p:cNvPr id="211" name="Google Shape;211;p34"/>
          <p:cNvPicPr preferRelativeResize="0"/>
          <p:nvPr/>
        </p:nvPicPr>
        <p:blipFill>
          <a:blip r:embed="rId3">
            <a:alphaModFix/>
          </a:blip>
          <a:stretch>
            <a:fillRect/>
          </a:stretch>
        </p:blipFill>
        <p:spPr>
          <a:xfrm>
            <a:off x="5054775" y="1173125"/>
            <a:ext cx="3841545" cy="3820974"/>
          </a:xfrm>
          <a:prstGeom prst="rect">
            <a:avLst/>
          </a:prstGeom>
          <a:noFill/>
          <a:ln>
            <a:noFill/>
          </a:ln>
        </p:spPr>
      </p:pic>
      <p:sp>
        <p:nvSpPr>
          <p:cNvPr id="212" name="Google Shape;212;p34"/>
          <p:cNvSpPr txBox="1"/>
          <p:nvPr/>
        </p:nvSpPr>
        <p:spPr>
          <a:xfrm>
            <a:off x="226325" y="1173125"/>
            <a:ext cx="4524600" cy="36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Another benefit of the Cloud</a:t>
            </a:r>
            <a:endParaRPr sz="1700">
              <a:solidFill>
                <a:srgbClr val="FF00FF"/>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Resources (eg computer power) are automatically provisioned behind the scenes as needed</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Businesses do not pay for compute power unless they are </a:t>
            </a:r>
            <a:r>
              <a:rPr lang="el" sz="1700">
                <a:solidFill>
                  <a:schemeClr val="dk2"/>
                </a:solidFill>
              </a:rPr>
              <a:t>actually</a:t>
            </a:r>
            <a:r>
              <a:rPr lang="el" sz="1700">
                <a:solidFill>
                  <a:schemeClr val="dk2"/>
                </a:solidFill>
              </a:rPr>
              <a:t> running a query or application</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Business provide code for whatever they want and the cloud provider does everything else</a:t>
            </a:r>
            <a:endParaRPr sz="17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Some Cloud Services</a:t>
            </a:r>
            <a:endParaRPr/>
          </a:p>
        </p:txBody>
      </p:sp>
      <p:sp>
        <p:nvSpPr>
          <p:cNvPr id="218" name="Google Shape;218;p35"/>
          <p:cNvSpPr txBox="1"/>
          <p:nvPr/>
        </p:nvSpPr>
        <p:spPr>
          <a:xfrm>
            <a:off x="311700" y="1017725"/>
            <a:ext cx="7779300" cy="4125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FF00FF"/>
              </a:buClr>
              <a:buSzPts val="1500"/>
              <a:buChar char="●"/>
            </a:pPr>
            <a:r>
              <a:rPr lang="el" sz="1500">
                <a:solidFill>
                  <a:srgbClr val="FF00FF"/>
                </a:solidFill>
              </a:rPr>
              <a:t>Compute Engine</a:t>
            </a:r>
            <a:endParaRPr sz="1500">
              <a:solidFill>
                <a:srgbClr val="FF00FF"/>
              </a:solidFill>
            </a:endParaRPr>
          </a:p>
          <a:p>
            <a:pPr indent="0" lvl="0" marL="0" rtl="0" algn="l">
              <a:spcBef>
                <a:spcPts val="0"/>
              </a:spcBef>
              <a:spcAft>
                <a:spcPts val="0"/>
              </a:spcAft>
              <a:buNone/>
            </a:pPr>
            <a:r>
              <a:rPr lang="el" sz="1500">
                <a:solidFill>
                  <a:schemeClr val="dk2"/>
                </a:solidFill>
              </a:rPr>
              <a:t>A computing service that lets you create and run Virtual Machines on Google Infrastructure.</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323850" lvl="0" marL="457200" rtl="0" algn="l">
              <a:spcBef>
                <a:spcPts val="0"/>
              </a:spcBef>
              <a:spcAft>
                <a:spcPts val="0"/>
              </a:spcAft>
              <a:buClr>
                <a:srgbClr val="FF00FF"/>
              </a:buClr>
              <a:buSzPts val="1500"/>
              <a:buChar char="●"/>
            </a:pPr>
            <a:r>
              <a:rPr lang="el" sz="1500">
                <a:solidFill>
                  <a:srgbClr val="FF00FF"/>
                </a:solidFill>
              </a:rPr>
              <a:t>Kubernetes</a:t>
            </a:r>
            <a:endParaRPr sz="1500">
              <a:solidFill>
                <a:srgbClr val="FF00FF"/>
              </a:solidFill>
            </a:endParaRPr>
          </a:p>
          <a:p>
            <a:pPr indent="0" lvl="0" marL="0" rtl="0" algn="l">
              <a:spcBef>
                <a:spcPts val="0"/>
              </a:spcBef>
              <a:spcAft>
                <a:spcPts val="0"/>
              </a:spcAft>
              <a:buNone/>
            </a:pPr>
            <a:r>
              <a:rPr lang="el" sz="1500">
                <a:solidFill>
                  <a:schemeClr val="dk2"/>
                </a:solidFill>
              </a:rPr>
              <a:t>A managed </a:t>
            </a:r>
            <a:r>
              <a:rPr lang="el" sz="1500">
                <a:solidFill>
                  <a:schemeClr val="dk2"/>
                </a:solidFill>
              </a:rPr>
              <a:t>environment</a:t>
            </a:r>
            <a:r>
              <a:rPr lang="el" sz="1500">
                <a:solidFill>
                  <a:schemeClr val="dk2"/>
                </a:solidFill>
              </a:rPr>
              <a:t> for deploying, managing and scaling containerized applications</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323850" lvl="0" marL="457200" rtl="0" algn="l">
              <a:spcBef>
                <a:spcPts val="0"/>
              </a:spcBef>
              <a:spcAft>
                <a:spcPts val="0"/>
              </a:spcAft>
              <a:buClr>
                <a:srgbClr val="FF00FF"/>
              </a:buClr>
              <a:buSzPts val="1500"/>
              <a:buChar char="●"/>
            </a:pPr>
            <a:r>
              <a:rPr lang="el" sz="1500">
                <a:solidFill>
                  <a:srgbClr val="FF00FF"/>
                </a:solidFill>
              </a:rPr>
              <a:t>Google App Engine</a:t>
            </a:r>
            <a:endParaRPr sz="1500">
              <a:solidFill>
                <a:srgbClr val="FF00FF"/>
              </a:solidFill>
            </a:endParaRPr>
          </a:p>
          <a:p>
            <a:pPr indent="0" lvl="0" marL="0" rtl="0" algn="l">
              <a:spcBef>
                <a:spcPts val="0"/>
              </a:spcBef>
              <a:spcAft>
                <a:spcPts val="0"/>
              </a:spcAft>
              <a:buNone/>
            </a:pPr>
            <a:r>
              <a:rPr lang="el" sz="1500">
                <a:solidFill>
                  <a:schemeClr val="dk2"/>
                </a:solidFill>
              </a:rPr>
              <a:t>Platform-as-a-Service for developing and hosting web applications</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323850" lvl="0" marL="457200" rtl="0" algn="l">
              <a:spcBef>
                <a:spcPts val="0"/>
              </a:spcBef>
              <a:spcAft>
                <a:spcPts val="0"/>
              </a:spcAft>
              <a:buClr>
                <a:srgbClr val="FF00FF"/>
              </a:buClr>
              <a:buSzPts val="1500"/>
              <a:buChar char="●"/>
            </a:pPr>
            <a:r>
              <a:rPr lang="el" sz="1500">
                <a:solidFill>
                  <a:srgbClr val="FF00FF"/>
                </a:solidFill>
              </a:rPr>
              <a:t>Cloud Run</a:t>
            </a:r>
            <a:endParaRPr sz="1500">
              <a:solidFill>
                <a:srgbClr val="FF00FF"/>
              </a:solidFill>
            </a:endParaRPr>
          </a:p>
          <a:p>
            <a:pPr indent="0" lvl="0" marL="0" rtl="0" algn="l">
              <a:spcBef>
                <a:spcPts val="0"/>
              </a:spcBef>
              <a:spcAft>
                <a:spcPts val="0"/>
              </a:spcAft>
              <a:buNone/>
            </a:pPr>
            <a:r>
              <a:rPr lang="el" sz="1500">
                <a:solidFill>
                  <a:schemeClr val="dk2"/>
                </a:solidFill>
              </a:rPr>
              <a:t>A platform for building applications in your favourite programming language without worrying for infrastructure management</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323850" lvl="0" marL="457200" rtl="0" algn="l">
              <a:spcBef>
                <a:spcPts val="0"/>
              </a:spcBef>
              <a:spcAft>
                <a:spcPts val="0"/>
              </a:spcAft>
              <a:buClr>
                <a:srgbClr val="FF00FF"/>
              </a:buClr>
              <a:buSzPts val="1500"/>
              <a:buChar char="●"/>
            </a:pPr>
            <a:r>
              <a:rPr lang="el" sz="1500">
                <a:solidFill>
                  <a:srgbClr val="FF00FF"/>
                </a:solidFill>
              </a:rPr>
              <a:t>Cloud Functions</a:t>
            </a:r>
            <a:endParaRPr sz="1500">
              <a:solidFill>
                <a:srgbClr val="FF00FF"/>
              </a:solidFill>
            </a:endParaRPr>
          </a:p>
          <a:p>
            <a:pPr indent="0" lvl="0" marL="0" rtl="0" algn="l">
              <a:spcBef>
                <a:spcPts val="0"/>
              </a:spcBef>
              <a:spcAft>
                <a:spcPts val="0"/>
              </a:spcAft>
              <a:buNone/>
            </a:pPr>
            <a:r>
              <a:rPr lang="el" sz="1500">
                <a:solidFill>
                  <a:schemeClr val="dk2"/>
                </a:solidFill>
              </a:rPr>
              <a:t>A serverless execution environment for connecting cloud services. Runs different code applications with zero server management </a:t>
            </a:r>
            <a:endParaRPr sz="1500">
              <a:solidFill>
                <a:schemeClr val="dk2"/>
              </a:solidFill>
            </a:endParaRPr>
          </a:p>
          <a:p>
            <a:pPr indent="0" lvl="0" marL="457200" rtl="0" algn="l">
              <a:spcBef>
                <a:spcPts val="0"/>
              </a:spcBef>
              <a:spcAft>
                <a:spcPts val="0"/>
              </a:spcAft>
              <a:buNone/>
            </a:pPr>
            <a:r>
              <a:t/>
            </a:r>
            <a:endParaRPr sz="15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Applications</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Applications on Cloud</a:t>
            </a:r>
            <a:endParaRPr/>
          </a:p>
        </p:txBody>
      </p:sp>
      <p:sp>
        <p:nvSpPr>
          <p:cNvPr id="229" name="Google Shape;229;p37"/>
          <p:cNvSpPr txBox="1"/>
          <p:nvPr/>
        </p:nvSpPr>
        <p:spPr>
          <a:xfrm>
            <a:off x="311700" y="1259100"/>
            <a:ext cx="5826600" cy="3884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l" sz="1800">
                <a:solidFill>
                  <a:schemeClr val="dk2"/>
                </a:solidFill>
              </a:rPr>
              <a:t>Sometimes developing applications on-premises can slow business down due to the time-consuming and IT requirements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Cloud Technology enables business to develop and manage applications in a more agile and responsive manner</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Move applications from prototype to production much faster</a:t>
            </a:r>
            <a:endParaRPr sz="1800">
              <a:solidFill>
                <a:schemeClr val="dk2"/>
              </a:solidFill>
            </a:endParaRPr>
          </a:p>
        </p:txBody>
      </p:sp>
      <p:pic>
        <p:nvPicPr>
          <p:cNvPr id="230" name="Google Shape;230;p37"/>
          <p:cNvPicPr preferRelativeResize="0"/>
          <p:nvPr/>
        </p:nvPicPr>
        <p:blipFill>
          <a:blip r:embed="rId3">
            <a:alphaModFix/>
          </a:blip>
          <a:stretch>
            <a:fillRect/>
          </a:stretch>
        </p:blipFill>
        <p:spPr>
          <a:xfrm>
            <a:off x="6290700" y="1170125"/>
            <a:ext cx="2315560" cy="38209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Different ways to migrate to Cloud</a:t>
            </a:r>
            <a:endParaRPr/>
          </a:p>
        </p:txBody>
      </p:sp>
      <p:sp>
        <p:nvSpPr>
          <p:cNvPr id="236" name="Google Shape;236;p38"/>
          <p:cNvSpPr txBox="1"/>
          <p:nvPr/>
        </p:nvSpPr>
        <p:spPr>
          <a:xfrm>
            <a:off x="88600" y="1220775"/>
            <a:ext cx="9144000" cy="37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According to Google Cloud there are 3 major ways to move an application to the Cloud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rgbClr val="FF00FF"/>
              </a:buClr>
              <a:buSzPts val="1800"/>
              <a:buAutoNum type="arabicPeriod"/>
            </a:pPr>
            <a:r>
              <a:rPr lang="el" sz="1800">
                <a:solidFill>
                  <a:srgbClr val="FF00FF"/>
                </a:solidFill>
              </a:rPr>
              <a:t>Move First and Change</a:t>
            </a:r>
            <a:endParaRPr sz="1800">
              <a:solidFill>
                <a:srgbClr val="FF00FF"/>
              </a:solidFill>
            </a:endParaRPr>
          </a:p>
          <a:p>
            <a:pPr indent="0" lvl="0" marL="0" rtl="0" algn="l">
              <a:spcBef>
                <a:spcPts val="0"/>
              </a:spcBef>
              <a:spcAft>
                <a:spcPts val="0"/>
              </a:spcAft>
              <a:buNone/>
            </a:pPr>
            <a:r>
              <a:rPr lang="el" sz="1800">
                <a:solidFill>
                  <a:schemeClr val="dk2"/>
                </a:solidFill>
              </a:rPr>
              <a:t>Just take your application and move it to the Cloud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rgbClr val="FF00FF"/>
              </a:buClr>
              <a:buSzPts val="1800"/>
              <a:buAutoNum type="arabicPeriod"/>
            </a:pPr>
            <a:r>
              <a:rPr lang="el" sz="1800">
                <a:solidFill>
                  <a:srgbClr val="FF00FF"/>
                </a:solidFill>
              </a:rPr>
              <a:t>Change before moving</a:t>
            </a:r>
            <a:endParaRPr sz="1800">
              <a:solidFill>
                <a:srgbClr val="FF00FF"/>
              </a:solidFill>
            </a:endParaRPr>
          </a:p>
          <a:p>
            <a:pPr indent="0" lvl="0" marL="0" rtl="0" algn="l">
              <a:spcBef>
                <a:spcPts val="0"/>
              </a:spcBef>
              <a:spcAft>
                <a:spcPts val="0"/>
              </a:spcAft>
              <a:buNone/>
            </a:pPr>
            <a:r>
              <a:rPr lang="el" sz="1800">
                <a:solidFill>
                  <a:schemeClr val="dk2"/>
                </a:solidFill>
              </a:rPr>
              <a:t>Re-architect the application first to be cloud-ready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rgbClr val="FF00FF"/>
              </a:buClr>
              <a:buSzPts val="1800"/>
              <a:buAutoNum type="arabicPeriod"/>
            </a:pPr>
            <a:r>
              <a:rPr lang="el" sz="1800">
                <a:solidFill>
                  <a:srgbClr val="FF00FF"/>
                </a:solidFill>
              </a:rPr>
              <a:t>Create-to-Replace</a:t>
            </a:r>
            <a:endParaRPr sz="1800">
              <a:solidFill>
                <a:srgbClr val="FF00FF"/>
              </a:solidFill>
            </a:endParaRPr>
          </a:p>
          <a:p>
            <a:pPr indent="0" lvl="0" marL="0" rtl="0" algn="l">
              <a:spcBef>
                <a:spcPts val="0"/>
              </a:spcBef>
              <a:spcAft>
                <a:spcPts val="0"/>
              </a:spcAft>
              <a:buNone/>
            </a:pPr>
            <a:r>
              <a:rPr lang="el" sz="1800">
                <a:solidFill>
                  <a:schemeClr val="dk2"/>
                </a:solidFill>
              </a:rPr>
              <a:t>Build a new application to replace your on-premise one</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Challenges for new Applications</a:t>
            </a:r>
            <a:endParaRPr/>
          </a:p>
        </p:txBody>
      </p:sp>
      <p:sp>
        <p:nvSpPr>
          <p:cNvPr id="242" name="Google Shape;242;p39"/>
          <p:cNvSpPr txBox="1"/>
          <p:nvPr/>
        </p:nvSpPr>
        <p:spPr>
          <a:xfrm>
            <a:off x="375725" y="1646725"/>
            <a:ext cx="5164800" cy="27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Before building a new application:</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Define Scope &amp; </a:t>
            </a:r>
            <a:r>
              <a:rPr lang="el" sz="1800">
                <a:solidFill>
                  <a:schemeClr val="dk2"/>
                </a:solidFill>
              </a:rPr>
              <a:t>Feasibility</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Identify Data Sources &amp; Build Features</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Estimate Capacity</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Define a Technical Architecture</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Consider Integration with the System</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Allocate Resources</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Challenges for new Applications</a:t>
            </a:r>
            <a:endParaRPr/>
          </a:p>
        </p:txBody>
      </p:sp>
      <p:sp>
        <p:nvSpPr>
          <p:cNvPr id="248" name="Google Shape;248;p40"/>
          <p:cNvSpPr txBox="1"/>
          <p:nvPr/>
        </p:nvSpPr>
        <p:spPr>
          <a:xfrm>
            <a:off x="439750" y="4125775"/>
            <a:ext cx="85206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900">
                <a:solidFill>
                  <a:schemeClr val="dk2"/>
                </a:solidFill>
              </a:rPr>
              <a:t>Sometimes, this is more time-consuming than actually building the application</a:t>
            </a:r>
            <a:endParaRPr sz="1900">
              <a:solidFill>
                <a:schemeClr val="dk2"/>
              </a:solidFill>
            </a:endParaRPr>
          </a:p>
        </p:txBody>
      </p:sp>
      <p:sp>
        <p:nvSpPr>
          <p:cNvPr id="249" name="Google Shape;249;p40"/>
          <p:cNvSpPr txBox="1"/>
          <p:nvPr/>
        </p:nvSpPr>
        <p:spPr>
          <a:xfrm>
            <a:off x="375725" y="1646725"/>
            <a:ext cx="5164800" cy="27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Before building a new application:</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Define Scope &amp; Feasibility</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Identify Data Sources &amp; Build Features</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Estimate Capacity</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Define a Technical Architecture</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Consider Integration with the System</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Allocate Resources</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Innovate Faster!</a:t>
            </a:r>
            <a:endParaRPr/>
          </a:p>
        </p:txBody>
      </p:sp>
      <p:sp>
        <p:nvSpPr>
          <p:cNvPr id="255" name="Google Shape;255;p41"/>
          <p:cNvSpPr txBox="1"/>
          <p:nvPr/>
        </p:nvSpPr>
        <p:spPr>
          <a:xfrm>
            <a:off x="311700" y="1295500"/>
            <a:ext cx="5026200" cy="34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With Cloud Computing:</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Focus</a:t>
            </a:r>
            <a:r>
              <a:rPr lang="el" sz="1800">
                <a:solidFill>
                  <a:schemeClr val="dk2"/>
                </a:solidFill>
              </a:rPr>
              <a:t> on application development over managing </a:t>
            </a:r>
            <a:r>
              <a:rPr lang="el" sz="1800">
                <a:solidFill>
                  <a:schemeClr val="dk2"/>
                </a:solidFill>
              </a:rPr>
              <a:t>infrastructure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Automatically</a:t>
            </a:r>
            <a:r>
              <a:rPr lang="el" sz="1800">
                <a:solidFill>
                  <a:schemeClr val="dk2"/>
                </a:solidFill>
              </a:rPr>
              <a:t> scale resources if there is a peak</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Deploy in Minutes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Move from prototype to production in minutes</a:t>
            </a:r>
            <a:endParaRPr sz="1800">
              <a:solidFill>
                <a:schemeClr val="dk2"/>
              </a:solidFill>
            </a:endParaRPr>
          </a:p>
        </p:txBody>
      </p:sp>
      <p:pic>
        <p:nvPicPr>
          <p:cNvPr id="256" name="Google Shape;256;p41"/>
          <p:cNvPicPr preferRelativeResize="0"/>
          <p:nvPr/>
        </p:nvPicPr>
        <p:blipFill>
          <a:blip r:embed="rId3">
            <a:alphaModFix/>
          </a:blip>
          <a:stretch>
            <a:fillRect/>
          </a:stretch>
        </p:blipFill>
        <p:spPr>
          <a:xfrm>
            <a:off x="5337850" y="1180625"/>
            <a:ext cx="3744556" cy="38209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APIs</a:t>
            </a:r>
            <a:endParaRPr>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reminder</a:t>
            </a:r>
            <a:endParaRPr/>
          </a:p>
        </p:txBody>
      </p:sp>
      <p:pic>
        <p:nvPicPr>
          <p:cNvPr id="267" name="Google Shape;267;p43"/>
          <p:cNvPicPr preferRelativeResize="0"/>
          <p:nvPr/>
        </p:nvPicPr>
        <p:blipFill>
          <a:blip r:embed="rId3">
            <a:alphaModFix/>
          </a:blip>
          <a:stretch>
            <a:fillRect/>
          </a:stretch>
        </p:blipFill>
        <p:spPr>
          <a:xfrm>
            <a:off x="2487825" y="1017725"/>
            <a:ext cx="4443625" cy="2265675"/>
          </a:xfrm>
          <a:prstGeom prst="rect">
            <a:avLst/>
          </a:prstGeom>
          <a:noFill/>
          <a:ln>
            <a:noFill/>
          </a:ln>
        </p:spPr>
      </p:pic>
      <p:sp>
        <p:nvSpPr>
          <p:cNvPr id="268" name="Google Shape;268;p43"/>
          <p:cNvSpPr txBox="1"/>
          <p:nvPr/>
        </p:nvSpPr>
        <p:spPr>
          <a:xfrm>
            <a:off x="364950" y="3461725"/>
            <a:ext cx="8520600" cy="1547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l" sz="1800">
                <a:solidFill>
                  <a:schemeClr val="dk2"/>
                </a:solidFill>
              </a:rPr>
              <a:t>An API is a piece of software that </a:t>
            </a:r>
            <a:r>
              <a:rPr lang="el" sz="1800">
                <a:solidFill>
                  <a:schemeClr val="dk2"/>
                </a:solidFill>
              </a:rPr>
              <a:t>connected</a:t>
            </a:r>
            <a:r>
              <a:rPr lang="el" sz="1800">
                <a:solidFill>
                  <a:schemeClr val="dk2"/>
                </a:solidFill>
              </a:rPr>
              <a:t> different applications and enables information to flow between systems.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reminder</a:t>
            </a:r>
            <a:endParaRPr/>
          </a:p>
        </p:txBody>
      </p:sp>
      <p:sp>
        <p:nvSpPr>
          <p:cNvPr id="274" name="Google Shape;274;p44"/>
          <p:cNvSpPr txBox="1"/>
          <p:nvPr/>
        </p:nvSpPr>
        <p:spPr>
          <a:xfrm>
            <a:off x="364950" y="3461725"/>
            <a:ext cx="8520600" cy="1547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l" sz="1800">
                <a:solidFill>
                  <a:schemeClr val="dk2"/>
                </a:solidFill>
              </a:rPr>
              <a:t>They enable integration between systems so businesses can unlock value and create new services</a:t>
            </a:r>
            <a:endParaRPr sz="1800">
              <a:solidFill>
                <a:schemeClr val="dk2"/>
              </a:solidFill>
            </a:endParaRPr>
          </a:p>
        </p:txBody>
      </p:sp>
      <p:pic>
        <p:nvPicPr>
          <p:cNvPr id="275" name="Google Shape;275;p44"/>
          <p:cNvPicPr preferRelativeResize="0"/>
          <p:nvPr/>
        </p:nvPicPr>
        <p:blipFill>
          <a:blip r:embed="rId3">
            <a:alphaModFix/>
          </a:blip>
          <a:stretch>
            <a:fillRect/>
          </a:stretch>
        </p:blipFill>
        <p:spPr>
          <a:xfrm>
            <a:off x="2660100" y="1170125"/>
            <a:ext cx="3654745" cy="2139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need for APIs</a:t>
            </a:r>
            <a:endParaRPr/>
          </a:p>
        </p:txBody>
      </p:sp>
      <p:pic>
        <p:nvPicPr>
          <p:cNvPr id="281" name="Google Shape;281;p45"/>
          <p:cNvPicPr preferRelativeResize="0"/>
          <p:nvPr/>
        </p:nvPicPr>
        <p:blipFill rotWithShape="1">
          <a:blip r:embed="rId3">
            <a:alphaModFix/>
          </a:blip>
          <a:srcRect b="0" l="0" r="38378" t="0"/>
          <a:stretch/>
        </p:blipFill>
        <p:spPr>
          <a:xfrm>
            <a:off x="4092225" y="1626150"/>
            <a:ext cx="3112951" cy="2031600"/>
          </a:xfrm>
          <a:prstGeom prst="rect">
            <a:avLst/>
          </a:prstGeom>
          <a:noFill/>
          <a:ln>
            <a:noFill/>
          </a:ln>
        </p:spPr>
      </p:pic>
      <p:sp>
        <p:nvSpPr>
          <p:cNvPr id="282" name="Google Shape;282;p45"/>
          <p:cNvSpPr txBox="1"/>
          <p:nvPr/>
        </p:nvSpPr>
        <p:spPr>
          <a:xfrm>
            <a:off x="378625" y="1405200"/>
            <a:ext cx="3866100" cy="35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chemeClr val="dk2"/>
                </a:solidFill>
              </a:rPr>
              <a:t>A bank holds the records of all bank accounts on their Data Centers</a:t>
            </a:r>
            <a:endParaRPr sz="17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need for APIs</a:t>
            </a:r>
            <a:endParaRPr/>
          </a:p>
        </p:txBody>
      </p:sp>
      <p:pic>
        <p:nvPicPr>
          <p:cNvPr id="288" name="Google Shape;288;p46"/>
          <p:cNvPicPr preferRelativeResize="0"/>
          <p:nvPr/>
        </p:nvPicPr>
        <p:blipFill>
          <a:blip r:embed="rId3">
            <a:alphaModFix/>
          </a:blip>
          <a:stretch>
            <a:fillRect/>
          </a:stretch>
        </p:blipFill>
        <p:spPr>
          <a:xfrm>
            <a:off x="4092225" y="1626151"/>
            <a:ext cx="5051774" cy="2031600"/>
          </a:xfrm>
          <a:prstGeom prst="rect">
            <a:avLst/>
          </a:prstGeom>
          <a:noFill/>
          <a:ln>
            <a:noFill/>
          </a:ln>
        </p:spPr>
      </p:pic>
      <p:sp>
        <p:nvSpPr>
          <p:cNvPr id="289" name="Google Shape;289;p46"/>
          <p:cNvSpPr txBox="1"/>
          <p:nvPr/>
        </p:nvSpPr>
        <p:spPr>
          <a:xfrm>
            <a:off x="378625" y="1405200"/>
            <a:ext cx="3866100" cy="35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chemeClr val="dk2"/>
                </a:solidFill>
              </a:rPr>
              <a:t>A bank holds the records of all bank accounts on their Data Centers</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chemeClr val="dk2"/>
                </a:solidFill>
              </a:rPr>
              <a:t>Nowadays</a:t>
            </a:r>
            <a:r>
              <a:rPr lang="el" sz="1700">
                <a:solidFill>
                  <a:schemeClr val="dk2"/>
                </a:solidFill>
              </a:rPr>
              <a:t> users make payments through their phones so they require </a:t>
            </a:r>
            <a:r>
              <a:rPr lang="el" sz="1700">
                <a:solidFill>
                  <a:schemeClr val="dk2"/>
                </a:solidFill>
              </a:rPr>
              <a:t>immediate</a:t>
            </a:r>
            <a:r>
              <a:rPr lang="el" sz="1700">
                <a:solidFill>
                  <a:schemeClr val="dk2"/>
                </a:solidFill>
              </a:rPr>
              <a:t> access to their data</a:t>
            </a:r>
            <a:endParaRPr sz="17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need for APIs</a:t>
            </a:r>
            <a:endParaRPr/>
          </a:p>
        </p:txBody>
      </p:sp>
      <p:sp>
        <p:nvSpPr>
          <p:cNvPr id="295" name="Google Shape;295;p47"/>
          <p:cNvSpPr txBox="1"/>
          <p:nvPr/>
        </p:nvSpPr>
        <p:spPr>
          <a:xfrm>
            <a:off x="378625" y="1405200"/>
            <a:ext cx="3866100" cy="35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chemeClr val="dk2"/>
                </a:solidFill>
              </a:rPr>
              <a:t>A bank holds the records of all bank accounts on their Data Centers</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chemeClr val="dk2"/>
                </a:solidFill>
              </a:rPr>
              <a:t>Nowadays users make payments through their phones so they require immediate access to their data</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chemeClr val="dk2"/>
                </a:solidFill>
              </a:rPr>
              <a:t>To connect the database to the end-user application the bank uses an API to allow information flow.</a:t>
            </a:r>
            <a:endParaRPr sz="1700">
              <a:solidFill>
                <a:schemeClr val="dk2"/>
              </a:solidFill>
            </a:endParaRPr>
          </a:p>
        </p:txBody>
      </p:sp>
      <p:pic>
        <p:nvPicPr>
          <p:cNvPr id="296" name="Google Shape;296;p47"/>
          <p:cNvPicPr preferRelativeResize="0"/>
          <p:nvPr/>
        </p:nvPicPr>
        <p:blipFill>
          <a:blip r:embed="rId3">
            <a:alphaModFix/>
          </a:blip>
          <a:stretch>
            <a:fillRect/>
          </a:stretch>
        </p:blipFill>
        <p:spPr>
          <a:xfrm>
            <a:off x="4397125" y="1405200"/>
            <a:ext cx="4594475" cy="220473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Modern Challenges</a:t>
            </a:r>
            <a:endParaRPr/>
          </a:p>
        </p:txBody>
      </p:sp>
      <p:sp>
        <p:nvSpPr>
          <p:cNvPr id="302" name="Google Shape;302;p48"/>
          <p:cNvSpPr txBox="1"/>
          <p:nvPr/>
        </p:nvSpPr>
        <p:spPr>
          <a:xfrm>
            <a:off x="247575" y="1210100"/>
            <a:ext cx="4780800" cy="36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chemeClr val="dk2"/>
                </a:solidFill>
              </a:rPr>
              <a:t>Its usual for companies to have an ecosystem of different APIs interconnected with users and services.</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chemeClr val="dk2"/>
                </a:solidFill>
              </a:rPr>
              <a:t>As the ecosystem grows, the time and effort to manage </a:t>
            </a:r>
            <a:r>
              <a:rPr lang="el" sz="1700">
                <a:solidFill>
                  <a:schemeClr val="dk2"/>
                </a:solidFill>
              </a:rPr>
              <a:t>hundreds</a:t>
            </a:r>
            <a:r>
              <a:rPr lang="el" sz="1700">
                <a:solidFill>
                  <a:schemeClr val="dk2"/>
                </a:solidFill>
              </a:rPr>
              <a:t> of APIs at scale becomes costly</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rgbClr val="FF00FF"/>
                </a:solidFill>
              </a:rPr>
              <a:t>Apigee:</a:t>
            </a:r>
            <a:endParaRPr sz="1700">
              <a:solidFill>
                <a:srgbClr val="FF00FF"/>
              </a:solidFill>
            </a:endParaRPr>
          </a:p>
          <a:p>
            <a:pPr indent="-336550" lvl="0" marL="457200" rtl="0" algn="l">
              <a:spcBef>
                <a:spcPts val="0"/>
              </a:spcBef>
              <a:spcAft>
                <a:spcPts val="0"/>
              </a:spcAft>
              <a:buClr>
                <a:schemeClr val="dk2"/>
              </a:buClr>
              <a:buSzPts val="1700"/>
              <a:buChar char="●"/>
            </a:pPr>
            <a:r>
              <a:rPr lang="el" sz="1700">
                <a:solidFill>
                  <a:schemeClr val="dk2"/>
                </a:solidFill>
              </a:rPr>
              <a:t>A Google Cloud service for easy API management system.</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Handles and scales APIs automaticaly</a:t>
            </a:r>
            <a:endParaRPr sz="1700">
              <a:solidFill>
                <a:schemeClr val="dk2"/>
              </a:solidFill>
            </a:endParaRPr>
          </a:p>
        </p:txBody>
      </p:sp>
      <p:pic>
        <p:nvPicPr>
          <p:cNvPr id="303" name="Google Shape;303;p48"/>
          <p:cNvPicPr preferRelativeResize="0"/>
          <p:nvPr/>
        </p:nvPicPr>
        <p:blipFill>
          <a:blip r:embed="rId3">
            <a:alphaModFix/>
          </a:blip>
          <a:stretch>
            <a:fillRect/>
          </a:stretch>
        </p:blipFill>
        <p:spPr>
          <a:xfrm>
            <a:off x="5028375" y="1564975"/>
            <a:ext cx="3810825" cy="26276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ML in the Cloud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0"/>
          <p:cNvSpPr txBox="1"/>
          <p:nvPr>
            <p:ph type="title"/>
          </p:nvPr>
        </p:nvSpPr>
        <p:spPr>
          <a:xfrm>
            <a:off x="311700" y="348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Cloud ML Services</a:t>
            </a:r>
            <a:endParaRPr/>
          </a:p>
        </p:txBody>
      </p:sp>
      <p:pic>
        <p:nvPicPr>
          <p:cNvPr id="314" name="Google Shape;314;p50"/>
          <p:cNvPicPr preferRelativeResize="0"/>
          <p:nvPr/>
        </p:nvPicPr>
        <p:blipFill>
          <a:blip r:embed="rId3">
            <a:alphaModFix/>
          </a:blip>
          <a:stretch>
            <a:fillRect/>
          </a:stretch>
        </p:blipFill>
        <p:spPr>
          <a:xfrm>
            <a:off x="202750" y="1074075"/>
            <a:ext cx="2368178" cy="3820975"/>
          </a:xfrm>
          <a:prstGeom prst="rect">
            <a:avLst/>
          </a:prstGeom>
          <a:noFill/>
          <a:ln>
            <a:noFill/>
          </a:ln>
        </p:spPr>
      </p:pic>
      <p:sp>
        <p:nvSpPr>
          <p:cNvPr id="315" name="Google Shape;315;p50"/>
          <p:cNvSpPr txBox="1"/>
          <p:nvPr/>
        </p:nvSpPr>
        <p:spPr>
          <a:xfrm>
            <a:off x="2936700" y="1074013"/>
            <a:ext cx="6061200" cy="38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Cloud Platforms offer plenty of pre-build services.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chemeClr val="dk2"/>
                </a:solidFill>
              </a:rPr>
              <a:t>In short, you do not need to use any code.</a:t>
            </a:r>
            <a:endParaRPr sz="1800">
              <a:solidFill>
                <a:schemeClr val="dk2"/>
              </a:solidFill>
            </a:endParaRPr>
          </a:p>
          <a:p>
            <a:pPr indent="0" lvl="0" marL="0" rtl="0" algn="l">
              <a:spcBef>
                <a:spcPts val="0"/>
              </a:spcBef>
              <a:spcAft>
                <a:spcPts val="0"/>
              </a:spcAft>
              <a:buNone/>
            </a:pPr>
            <a:r>
              <a:rPr lang="el" sz="1800">
                <a:solidFill>
                  <a:schemeClr val="dk2"/>
                </a:solidFill>
              </a:rPr>
              <a:t>Just upload your data and get predictions.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rgbClr val="FF00FF"/>
                </a:solidFill>
              </a:rPr>
              <a:t>Examples:</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NLP API</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Vision API</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Retail (Forecasting) API</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Vision API</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Speech API</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etc</a:t>
            </a:r>
            <a:endParaRPr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a:t>
            </a:r>
            <a:endParaRPr/>
          </a:p>
        </p:txBody>
      </p:sp>
      <p:sp>
        <p:nvSpPr>
          <p:cNvPr id="321" name="Google Shape;321;p51"/>
          <p:cNvSpPr txBox="1"/>
          <p:nvPr/>
        </p:nvSpPr>
        <p:spPr>
          <a:xfrm>
            <a:off x="130200" y="1112450"/>
            <a:ext cx="6861600" cy="25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chemeClr val="dk2"/>
                </a:solidFill>
              </a:rPr>
              <a:t>With AutoML you can train ML models without ML expertise</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l" sz="1700">
                <a:solidFill>
                  <a:srgbClr val="FF00FF"/>
                </a:solidFill>
              </a:rPr>
              <a:t>How?</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Upload your data (text, image, video speech) -&gt; properly labeled</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Select </a:t>
            </a:r>
            <a:r>
              <a:rPr lang="el" sz="1700">
                <a:solidFill>
                  <a:schemeClr val="dk2"/>
                </a:solidFill>
              </a:rPr>
              <a:t>training</a:t>
            </a:r>
            <a:r>
              <a:rPr lang="el" sz="1700">
                <a:solidFill>
                  <a:schemeClr val="dk2"/>
                </a:solidFill>
              </a:rPr>
              <a:t>/test splits</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Click train (Automatic model/hyperparameter selection)</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Review model metrics</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Deploy your model</a:t>
            </a:r>
            <a:endParaRPr sz="1700">
              <a:solidFill>
                <a:schemeClr val="dk2"/>
              </a:solidFill>
            </a:endParaRPr>
          </a:p>
        </p:txBody>
      </p:sp>
      <p:pic>
        <p:nvPicPr>
          <p:cNvPr id="322" name="Google Shape;322;p51"/>
          <p:cNvPicPr preferRelativeResize="0"/>
          <p:nvPr/>
        </p:nvPicPr>
        <p:blipFill rotWithShape="1">
          <a:blip r:embed="rId3">
            <a:alphaModFix/>
          </a:blip>
          <a:srcRect b="0" l="15167" r="0" t="0"/>
          <a:stretch/>
        </p:blipFill>
        <p:spPr>
          <a:xfrm>
            <a:off x="7141499" y="3502100"/>
            <a:ext cx="1420075" cy="1479525"/>
          </a:xfrm>
          <a:prstGeom prst="rect">
            <a:avLst/>
          </a:prstGeom>
          <a:noFill/>
          <a:ln>
            <a:noFill/>
          </a:ln>
        </p:spPr>
      </p:pic>
      <p:pic>
        <p:nvPicPr>
          <p:cNvPr id="323" name="Google Shape;323;p51"/>
          <p:cNvPicPr preferRelativeResize="0"/>
          <p:nvPr/>
        </p:nvPicPr>
        <p:blipFill>
          <a:blip r:embed="rId4">
            <a:alphaModFix/>
          </a:blip>
          <a:stretch>
            <a:fillRect/>
          </a:stretch>
        </p:blipFill>
        <p:spPr>
          <a:xfrm>
            <a:off x="130198" y="3502098"/>
            <a:ext cx="6323975" cy="1641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Two different APIs (for example on vision)</a:t>
            </a:r>
            <a:endParaRPr/>
          </a:p>
        </p:txBody>
      </p:sp>
      <p:pic>
        <p:nvPicPr>
          <p:cNvPr id="329" name="Google Shape;329;p52"/>
          <p:cNvPicPr preferRelativeResize="0"/>
          <p:nvPr/>
        </p:nvPicPr>
        <p:blipFill>
          <a:blip r:embed="rId3">
            <a:alphaModFix/>
          </a:blip>
          <a:stretch>
            <a:fillRect/>
          </a:stretch>
        </p:blipFill>
        <p:spPr>
          <a:xfrm>
            <a:off x="77000" y="2023175"/>
            <a:ext cx="5429324" cy="2403849"/>
          </a:xfrm>
          <a:prstGeom prst="rect">
            <a:avLst/>
          </a:prstGeom>
          <a:noFill/>
          <a:ln>
            <a:noFill/>
          </a:ln>
        </p:spPr>
      </p:pic>
      <p:pic>
        <p:nvPicPr>
          <p:cNvPr id="330" name="Google Shape;330;p52"/>
          <p:cNvPicPr preferRelativeResize="0"/>
          <p:nvPr/>
        </p:nvPicPr>
        <p:blipFill>
          <a:blip r:embed="rId4">
            <a:alphaModFix/>
          </a:blip>
          <a:stretch>
            <a:fillRect/>
          </a:stretch>
        </p:blipFill>
        <p:spPr>
          <a:xfrm>
            <a:off x="5658724" y="1170125"/>
            <a:ext cx="3332875" cy="38097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Vision API Example</a:t>
            </a:r>
            <a:endParaRPr/>
          </a:p>
        </p:txBody>
      </p:sp>
      <p:pic>
        <p:nvPicPr>
          <p:cNvPr id="336" name="Google Shape;336;p53"/>
          <p:cNvPicPr preferRelativeResize="0"/>
          <p:nvPr/>
        </p:nvPicPr>
        <p:blipFill>
          <a:blip r:embed="rId3">
            <a:alphaModFix/>
          </a:blip>
          <a:stretch>
            <a:fillRect/>
          </a:stretch>
        </p:blipFill>
        <p:spPr>
          <a:xfrm>
            <a:off x="3432325" y="825626"/>
            <a:ext cx="5636976" cy="2230650"/>
          </a:xfrm>
          <a:prstGeom prst="rect">
            <a:avLst/>
          </a:prstGeom>
          <a:noFill/>
          <a:ln>
            <a:noFill/>
          </a:ln>
        </p:spPr>
      </p:pic>
      <p:sp>
        <p:nvSpPr>
          <p:cNvPr id="337" name="Google Shape;337;p53"/>
          <p:cNvSpPr txBox="1"/>
          <p:nvPr/>
        </p:nvSpPr>
        <p:spPr>
          <a:xfrm>
            <a:off x="120575" y="1695550"/>
            <a:ext cx="26892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Upload an image!</a:t>
            </a:r>
            <a:endParaRPr sz="1800">
              <a:solidFill>
                <a:srgbClr val="FF00FF"/>
              </a:solidFill>
            </a:endParaRPr>
          </a:p>
        </p:txBody>
      </p:sp>
      <p:pic>
        <p:nvPicPr>
          <p:cNvPr id="338" name="Google Shape;338;p53"/>
          <p:cNvPicPr preferRelativeResize="0"/>
          <p:nvPr/>
        </p:nvPicPr>
        <p:blipFill>
          <a:blip r:embed="rId4">
            <a:alphaModFix/>
          </a:blip>
          <a:stretch>
            <a:fillRect/>
          </a:stretch>
        </p:blipFill>
        <p:spPr>
          <a:xfrm>
            <a:off x="3652963" y="3056275"/>
            <a:ext cx="4939600" cy="2030325"/>
          </a:xfrm>
          <a:prstGeom prst="rect">
            <a:avLst/>
          </a:prstGeom>
          <a:noFill/>
          <a:ln>
            <a:noFill/>
          </a:ln>
        </p:spPr>
      </p:pic>
      <p:sp>
        <p:nvSpPr>
          <p:cNvPr id="339" name="Google Shape;339;p53"/>
          <p:cNvSpPr txBox="1"/>
          <p:nvPr/>
        </p:nvSpPr>
        <p:spPr>
          <a:xfrm>
            <a:off x="0" y="3608700"/>
            <a:ext cx="44604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Get Results </a:t>
            </a:r>
            <a:endParaRPr sz="1600">
              <a:solidFill>
                <a:srgbClr val="FF00FF"/>
              </a:solidFill>
            </a:endParaRPr>
          </a:p>
          <a:p>
            <a:pPr indent="0" lvl="0" marL="0" rtl="0" algn="l">
              <a:spcBef>
                <a:spcPts val="0"/>
              </a:spcBef>
              <a:spcAft>
                <a:spcPts val="0"/>
              </a:spcAft>
              <a:buNone/>
            </a:pPr>
            <a:r>
              <a:rPr lang="el" sz="1600">
                <a:solidFill>
                  <a:schemeClr val="dk2"/>
                </a:solidFill>
              </a:rPr>
              <a:t>(classification, object </a:t>
            </a:r>
            <a:r>
              <a:rPr lang="el" sz="1600">
                <a:solidFill>
                  <a:schemeClr val="dk2"/>
                </a:solidFill>
              </a:rPr>
              <a:t>detection</a:t>
            </a:r>
            <a:r>
              <a:rPr lang="el" sz="1600">
                <a:solidFill>
                  <a:schemeClr val="dk2"/>
                </a:solidFill>
              </a:rPr>
              <a:t> and more)</a:t>
            </a:r>
            <a:endParaRPr sz="16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 API</a:t>
            </a:r>
            <a:endParaRPr/>
          </a:p>
        </p:txBody>
      </p:sp>
      <p:pic>
        <p:nvPicPr>
          <p:cNvPr id="345" name="Google Shape;345;p54"/>
          <p:cNvPicPr preferRelativeResize="0"/>
          <p:nvPr/>
        </p:nvPicPr>
        <p:blipFill>
          <a:blip r:embed="rId3">
            <a:alphaModFix/>
          </a:blip>
          <a:stretch>
            <a:fillRect/>
          </a:stretch>
        </p:blipFill>
        <p:spPr>
          <a:xfrm>
            <a:off x="470513" y="1170125"/>
            <a:ext cx="7989971" cy="3820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 API</a:t>
            </a:r>
            <a:endParaRPr/>
          </a:p>
        </p:txBody>
      </p:sp>
      <p:pic>
        <p:nvPicPr>
          <p:cNvPr id="351" name="Google Shape;351;p55"/>
          <p:cNvPicPr preferRelativeResize="0"/>
          <p:nvPr/>
        </p:nvPicPr>
        <p:blipFill>
          <a:blip r:embed="rId3">
            <a:alphaModFix/>
          </a:blip>
          <a:stretch>
            <a:fillRect/>
          </a:stretch>
        </p:blipFill>
        <p:spPr>
          <a:xfrm>
            <a:off x="138425" y="1017725"/>
            <a:ext cx="2038050" cy="2149300"/>
          </a:xfrm>
          <a:prstGeom prst="rect">
            <a:avLst/>
          </a:prstGeom>
          <a:noFill/>
          <a:ln>
            <a:noFill/>
          </a:ln>
        </p:spPr>
      </p:pic>
      <p:sp>
        <p:nvSpPr>
          <p:cNvPr id="352" name="Google Shape;352;p55"/>
          <p:cNvSpPr txBox="1"/>
          <p:nvPr/>
        </p:nvSpPr>
        <p:spPr>
          <a:xfrm>
            <a:off x="2344925" y="1708975"/>
            <a:ext cx="2917800" cy="7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Choose the vision API</a:t>
            </a:r>
            <a:endParaRPr sz="1800">
              <a:solidFill>
                <a:srgbClr val="FF00FF"/>
              </a:solidFill>
            </a:endParaRPr>
          </a:p>
        </p:txBody>
      </p:sp>
      <p:pic>
        <p:nvPicPr>
          <p:cNvPr id="353" name="Google Shape;353;p55"/>
          <p:cNvPicPr preferRelativeResize="0"/>
          <p:nvPr/>
        </p:nvPicPr>
        <p:blipFill>
          <a:blip r:embed="rId4">
            <a:alphaModFix/>
          </a:blip>
          <a:stretch>
            <a:fillRect/>
          </a:stretch>
        </p:blipFill>
        <p:spPr>
          <a:xfrm>
            <a:off x="2926800" y="2912325"/>
            <a:ext cx="5905500" cy="2390775"/>
          </a:xfrm>
          <a:prstGeom prst="rect">
            <a:avLst/>
          </a:prstGeom>
          <a:noFill/>
          <a:ln>
            <a:noFill/>
          </a:ln>
        </p:spPr>
      </p:pic>
      <p:sp>
        <p:nvSpPr>
          <p:cNvPr id="354" name="Google Shape;354;p55"/>
          <p:cNvSpPr txBox="1"/>
          <p:nvPr/>
        </p:nvSpPr>
        <p:spPr>
          <a:xfrm>
            <a:off x="138425" y="3543050"/>
            <a:ext cx="2917800" cy="7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Click AutoML Vision</a:t>
            </a:r>
            <a:endParaRPr sz="1800">
              <a:solidFill>
                <a:srgbClr val="FF00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 API</a:t>
            </a:r>
            <a:endParaRPr/>
          </a:p>
        </p:txBody>
      </p:sp>
      <p:pic>
        <p:nvPicPr>
          <p:cNvPr id="360" name="Google Shape;360;p56"/>
          <p:cNvPicPr preferRelativeResize="0"/>
          <p:nvPr/>
        </p:nvPicPr>
        <p:blipFill>
          <a:blip r:embed="rId3">
            <a:alphaModFix/>
          </a:blip>
          <a:stretch>
            <a:fillRect/>
          </a:stretch>
        </p:blipFill>
        <p:spPr>
          <a:xfrm>
            <a:off x="4051751" y="709113"/>
            <a:ext cx="5034201" cy="2313925"/>
          </a:xfrm>
          <a:prstGeom prst="rect">
            <a:avLst/>
          </a:prstGeom>
          <a:noFill/>
          <a:ln>
            <a:noFill/>
          </a:ln>
        </p:spPr>
      </p:pic>
      <p:sp>
        <p:nvSpPr>
          <p:cNvPr id="361" name="Google Shape;361;p56"/>
          <p:cNvSpPr txBox="1"/>
          <p:nvPr/>
        </p:nvSpPr>
        <p:spPr>
          <a:xfrm>
            <a:off x="51675" y="1253175"/>
            <a:ext cx="4669800" cy="12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Create a dataset using your uploaded data</a:t>
            </a:r>
            <a:endParaRPr sz="1600">
              <a:solidFill>
                <a:srgbClr val="FF00FF"/>
              </a:solidFill>
            </a:endParaRPr>
          </a:p>
        </p:txBody>
      </p:sp>
      <p:pic>
        <p:nvPicPr>
          <p:cNvPr id="362" name="Google Shape;362;p56"/>
          <p:cNvPicPr preferRelativeResize="0"/>
          <p:nvPr/>
        </p:nvPicPr>
        <p:blipFill>
          <a:blip r:embed="rId4">
            <a:alphaModFix/>
          </a:blip>
          <a:stretch>
            <a:fillRect/>
          </a:stretch>
        </p:blipFill>
        <p:spPr>
          <a:xfrm>
            <a:off x="3865100" y="3145650"/>
            <a:ext cx="5278901" cy="2089275"/>
          </a:xfrm>
          <a:prstGeom prst="rect">
            <a:avLst/>
          </a:prstGeom>
          <a:noFill/>
          <a:ln>
            <a:noFill/>
          </a:ln>
        </p:spPr>
      </p:pic>
      <p:sp>
        <p:nvSpPr>
          <p:cNvPr id="363" name="Google Shape;363;p56"/>
          <p:cNvSpPr txBox="1"/>
          <p:nvPr/>
        </p:nvSpPr>
        <p:spPr>
          <a:xfrm>
            <a:off x="770450" y="3685775"/>
            <a:ext cx="15579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Click Train</a:t>
            </a:r>
            <a:endParaRPr sz="1800">
              <a:solidFill>
                <a:srgbClr val="FF00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 API</a:t>
            </a:r>
            <a:endParaRPr/>
          </a:p>
        </p:txBody>
      </p:sp>
      <p:pic>
        <p:nvPicPr>
          <p:cNvPr id="369" name="Google Shape;369;p57"/>
          <p:cNvPicPr preferRelativeResize="0"/>
          <p:nvPr/>
        </p:nvPicPr>
        <p:blipFill>
          <a:blip r:embed="rId3">
            <a:alphaModFix/>
          </a:blip>
          <a:stretch>
            <a:fillRect/>
          </a:stretch>
        </p:blipFill>
        <p:spPr>
          <a:xfrm>
            <a:off x="3425377" y="1017725"/>
            <a:ext cx="5406924" cy="3933400"/>
          </a:xfrm>
          <a:prstGeom prst="rect">
            <a:avLst/>
          </a:prstGeom>
          <a:noFill/>
          <a:ln>
            <a:noFill/>
          </a:ln>
        </p:spPr>
      </p:pic>
      <p:sp>
        <p:nvSpPr>
          <p:cNvPr id="370" name="Google Shape;370;p57"/>
          <p:cNvSpPr txBox="1"/>
          <p:nvPr/>
        </p:nvSpPr>
        <p:spPr>
          <a:xfrm>
            <a:off x="172875" y="2159825"/>
            <a:ext cx="29025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Check the Evaluation</a:t>
            </a:r>
            <a:endParaRPr sz="1800">
              <a:solidFill>
                <a:srgbClr val="FF00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AutoML API</a:t>
            </a:r>
            <a:endParaRPr/>
          </a:p>
        </p:txBody>
      </p:sp>
      <p:sp>
        <p:nvSpPr>
          <p:cNvPr id="376" name="Google Shape;376;p58"/>
          <p:cNvSpPr txBox="1"/>
          <p:nvPr/>
        </p:nvSpPr>
        <p:spPr>
          <a:xfrm>
            <a:off x="236900" y="1199150"/>
            <a:ext cx="29025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Deploy the model!!</a:t>
            </a:r>
            <a:endParaRPr sz="1800">
              <a:solidFill>
                <a:srgbClr val="FF00FF"/>
              </a:solidFill>
            </a:endParaRPr>
          </a:p>
        </p:txBody>
      </p:sp>
      <p:pic>
        <p:nvPicPr>
          <p:cNvPr id="377" name="Google Shape;377;p58"/>
          <p:cNvPicPr preferRelativeResize="0"/>
          <p:nvPr/>
        </p:nvPicPr>
        <p:blipFill>
          <a:blip r:embed="rId3">
            <a:alphaModFix/>
          </a:blip>
          <a:stretch>
            <a:fillRect/>
          </a:stretch>
        </p:blipFill>
        <p:spPr>
          <a:xfrm>
            <a:off x="2588475" y="708575"/>
            <a:ext cx="6501824" cy="1863175"/>
          </a:xfrm>
          <a:prstGeom prst="rect">
            <a:avLst/>
          </a:prstGeom>
          <a:noFill/>
          <a:ln>
            <a:noFill/>
          </a:ln>
        </p:spPr>
      </p:pic>
      <p:pic>
        <p:nvPicPr>
          <p:cNvPr id="378" name="Google Shape;378;p58"/>
          <p:cNvPicPr preferRelativeResize="0"/>
          <p:nvPr/>
        </p:nvPicPr>
        <p:blipFill>
          <a:blip r:embed="rId4">
            <a:alphaModFix/>
          </a:blip>
          <a:stretch>
            <a:fillRect/>
          </a:stretch>
        </p:blipFill>
        <p:spPr>
          <a:xfrm>
            <a:off x="3747713" y="2571750"/>
            <a:ext cx="4681001" cy="2470525"/>
          </a:xfrm>
          <a:prstGeom prst="rect">
            <a:avLst/>
          </a:prstGeom>
          <a:noFill/>
          <a:ln>
            <a:noFill/>
          </a:ln>
        </p:spPr>
      </p:pic>
      <p:sp>
        <p:nvSpPr>
          <p:cNvPr id="379" name="Google Shape;379;p58"/>
          <p:cNvSpPr txBox="1"/>
          <p:nvPr/>
        </p:nvSpPr>
        <p:spPr>
          <a:xfrm>
            <a:off x="165200" y="3272350"/>
            <a:ext cx="2902500" cy="6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Make new predictions!</a:t>
            </a:r>
            <a:endParaRPr sz="1800">
              <a:solidFill>
                <a:srgbClr val="FF00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Train your own Model</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Deploy your Prototype</a:t>
            </a:r>
            <a:endParaRPr/>
          </a:p>
        </p:txBody>
      </p:sp>
      <p:pic>
        <p:nvPicPr>
          <p:cNvPr id="390" name="Google Shape;390;p60"/>
          <p:cNvPicPr preferRelativeResize="0"/>
          <p:nvPr/>
        </p:nvPicPr>
        <p:blipFill>
          <a:blip r:embed="rId3">
            <a:alphaModFix/>
          </a:blip>
          <a:stretch>
            <a:fillRect/>
          </a:stretch>
        </p:blipFill>
        <p:spPr>
          <a:xfrm>
            <a:off x="4681400" y="1017725"/>
            <a:ext cx="3772197" cy="3820975"/>
          </a:xfrm>
          <a:prstGeom prst="rect">
            <a:avLst/>
          </a:prstGeom>
          <a:noFill/>
          <a:ln>
            <a:noFill/>
          </a:ln>
        </p:spPr>
      </p:pic>
      <p:sp>
        <p:nvSpPr>
          <p:cNvPr id="391" name="Google Shape;391;p60"/>
          <p:cNvSpPr txBox="1"/>
          <p:nvPr/>
        </p:nvSpPr>
        <p:spPr>
          <a:xfrm>
            <a:off x="194325" y="1973170"/>
            <a:ext cx="4588500" cy="2064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l" sz="1800">
                <a:solidFill>
                  <a:schemeClr val="dk1"/>
                </a:solidFill>
              </a:rPr>
              <a:t>You have </a:t>
            </a:r>
            <a:r>
              <a:rPr lang="el" sz="1800">
                <a:solidFill>
                  <a:schemeClr val="dk1"/>
                </a:solidFill>
              </a:rPr>
              <a:t>finished the Modelling Stage</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You have done model selection and hyperparameter tuning</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You want to take your model to production</a:t>
            </a:r>
            <a:endParaRPr sz="18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From Prototype to Production</a:t>
            </a:r>
            <a:endParaRPr/>
          </a:p>
        </p:txBody>
      </p:sp>
      <p:sp>
        <p:nvSpPr>
          <p:cNvPr id="397" name="Google Shape;397;p61"/>
          <p:cNvSpPr txBox="1"/>
          <p:nvPr/>
        </p:nvSpPr>
        <p:spPr>
          <a:xfrm>
            <a:off x="98175" y="1562275"/>
            <a:ext cx="6007800" cy="24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1"/>
                </a:solidFill>
              </a:rPr>
              <a:t>Vertex AI is Google </a:t>
            </a:r>
            <a:r>
              <a:rPr lang="el" sz="1800">
                <a:solidFill>
                  <a:schemeClr val="dk1"/>
                </a:solidFill>
              </a:rPr>
              <a:t>Cloud</a:t>
            </a:r>
            <a:r>
              <a:rPr lang="el" sz="1800">
                <a:solidFill>
                  <a:schemeClr val="dk1"/>
                </a:solidFill>
              </a:rPr>
              <a:t> Machine Learning platform</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Train and Deploy ML models</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Design ML engineering workflows</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Use AutoML or custom training processes</a:t>
            </a:r>
            <a:endParaRPr sz="1800">
              <a:solidFill>
                <a:schemeClr val="dk1"/>
              </a:solidFill>
            </a:endParaRPr>
          </a:p>
          <a:p>
            <a:pPr indent="-342900" lvl="0" marL="457200" rtl="0" algn="l">
              <a:spcBef>
                <a:spcPts val="0"/>
              </a:spcBef>
              <a:spcAft>
                <a:spcPts val="0"/>
              </a:spcAft>
              <a:buClr>
                <a:schemeClr val="dk1"/>
              </a:buClr>
              <a:buSzPts val="1800"/>
              <a:buChar char="●"/>
            </a:pPr>
            <a:r>
              <a:rPr lang="el" sz="1800">
                <a:solidFill>
                  <a:schemeClr val="dk1"/>
                </a:solidFill>
              </a:rPr>
              <a:t>Evaluate &amp; Monitor your models</a:t>
            </a:r>
            <a:endParaRPr sz="1800">
              <a:solidFill>
                <a:schemeClr val="dk1"/>
              </a:solidFill>
            </a:endParaRPr>
          </a:p>
          <a:p>
            <a:pPr indent="-342900" lvl="0" marL="457200" rtl="0" algn="l">
              <a:spcBef>
                <a:spcPts val="0"/>
              </a:spcBef>
              <a:spcAft>
                <a:spcPts val="0"/>
              </a:spcAft>
              <a:buClr>
                <a:srgbClr val="FF00FF"/>
              </a:buClr>
              <a:buSzPts val="1800"/>
              <a:buChar char="●"/>
            </a:pPr>
            <a:r>
              <a:rPr lang="el" sz="1800">
                <a:solidFill>
                  <a:srgbClr val="FF00FF"/>
                </a:solidFill>
              </a:rPr>
              <a:t>Scales </a:t>
            </a:r>
            <a:r>
              <a:rPr lang="el" sz="1800">
                <a:solidFill>
                  <a:srgbClr val="FF00FF"/>
                </a:solidFill>
              </a:rPr>
              <a:t>automatically</a:t>
            </a:r>
            <a:r>
              <a:rPr lang="el" sz="1800">
                <a:solidFill>
                  <a:srgbClr val="FF00FF"/>
                </a:solidFill>
              </a:rPr>
              <a:t> </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398" name="Google Shape;398;p61"/>
          <p:cNvPicPr preferRelativeResize="0"/>
          <p:nvPr/>
        </p:nvPicPr>
        <p:blipFill rotWithShape="1">
          <a:blip r:embed="rId3">
            <a:alphaModFix/>
          </a:blip>
          <a:srcRect b="0" l="0" r="24477" t="0"/>
          <a:stretch/>
        </p:blipFill>
        <p:spPr>
          <a:xfrm>
            <a:off x="6243825" y="64663"/>
            <a:ext cx="1697675" cy="50141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Work with Notebooks</a:t>
            </a:r>
            <a:endParaRPr/>
          </a:p>
        </p:txBody>
      </p:sp>
      <p:pic>
        <p:nvPicPr>
          <p:cNvPr id="404" name="Google Shape;404;p62"/>
          <p:cNvPicPr preferRelativeResize="0"/>
          <p:nvPr/>
        </p:nvPicPr>
        <p:blipFill>
          <a:blip r:embed="rId3">
            <a:alphaModFix/>
          </a:blip>
          <a:stretch>
            <a:fillRect/>
          </a:stretch>
        </p:blipFill>
        <p:spPr>
          <a:xfrm>
            <a:off x="3594900" y="1287500"/>
            <a:ext cx="5631451" cy="3113275"/>
          </a:xfrm>
          <a:prstGeom prst="rect">
            <a:avLst/>
          </a:prstGeom>
          <a:noFill/>
          <a:ln>
            <a:noFill/>
          </a:ln>
        </p:spPr>
      </p:pic>
      <p:sp>
        <p:nvSpPr>
          <p:cNvPr id="405" name="Google Shape;405;p62"/>
          <p:cNvSpPr txBox="1"/>
          <p:nvPr/>
        </p:nvSpPr>
        <p:spPr>
          <a:xfrm>
            <a:off x="170725" y="2230350"/>
            <a:ext cx="31266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You can easily create jupyter notebooks</a:t>
            </a:r>
            <a:endParaRPr sz="1800">
              <a:solidFill>
                <a:srgbClr val="FF00FF"/>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Work with Notebooks</a:t>
            </a:r>
            <a:endParaRPr/>
          </a:p>
        </p:txBody>
      </p:sp>
      <p:sp>
        <p:nvSpPr>
          <p:cNvPr id="411" name="Google Shape;411;p63"/>
          <p:cNvSpPr txBox="1"/>
          <p:nvPr/>
        </p:nvSpPr>
        <p:spPr>
          <a:xfrm>
            <a:off x="170725" y="2230350"/>
            <a:ext cx="31266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Same as you would with your IDE</a:t>
            </a:r>
            <a:endParaRPr sz="1800">
              <a:solidFill>
                <a:srgbClr val="FF00FF"/>
              </a:solidFill>
            </a:endParaRPr>
          </a:p>
        </p:txBody>
      </p:sp>
      <p:pic>
        <p:nvPicPr>
          <p:cNvPr id="412" name="Google Shape;412;p63"/>
          <p:cNvPicPr preferRelativeResize="0"/>
          <p:nvPr/>
        </p:nvPicPr>
        <p:blipFill>
          <a:blip r:embed="rId3">
            <a:alphaModFix/>
          </a:blip>
          <a:stretch>
            <a:fillRect/>
          </a:stretch>
        </p:blipFill>
        <p:spPr>
          <a:xfrm>
            <a:off x="3297325" y="1355040"/>
            <a:ext cx="5747625" cy="323783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Notebook Example</a:t>
            </a:r>
            <a:endParaRPr/>
          </a:p>
        </p:txBody>
      </p:sp>
      <p:pic>
        <p:nvPicPr>
          <p:cNvPr id="418" name="Google Shape;418;p64"/>
          <p:cNvPicPr preferRelativeResize="0"/>
          <p:nvPr/>
        </p:nvPicPr>
        <p:blipFill>
          <a:blip r:embed="rId3">
            <a:alphaModFix/>
          </a:blip>
          <a:stretch>
            <a:fillRect/>
          </a:stretch>
        </p:blipFill>
        <p:spPr>
          <a:xfrm>
            <a:off x="0" y="1398026"/>
            <a:ext cx="3840749" cy="3219449"/>
          </a:xfrm>
          <a:prstGeom prst="rect">
            <a:avLst/>
          </a:prstGeom>
          <a:noFill/>
          <a:ln>
            <a:noFill/>
          </a:ln>
        </p:spPr>
      </p:pic>
      <p:pic>
        <p:nvPicPr>
          <p:cNvPr id="419" name="Google Shape;419;p64"/>
          <p:cNvPicPr preferRelativeResize="0"/>
          <p:nvPr/>
        </p:nvPicPr>
        <p:blipFill>
          <a:blip r:embed="rId4">
            <a:alphaModFix/>
          </a:blip>
          <a:stretch>
            <a:fillRect/>
          </a:stretch>
        </p:blipFill>
        <p:spPr>
          <a:xfrm>
            <a:off x="4299300" y="1586300"/>
            <a:ext cx="4844701" cy="2740647"/>
          </a:xfrm>
          <a:prstGeom prst="rect">
            <a:avLst/>
          </a:prstGeom>
          <a:noFill/>
          <a:ln>
            <a:noFill/>
          </a:ln>
        </p:spPr>
      </p:pic>
      <p:sp>
        <p:nvSpPr>
          <p:cNvPr id="420" name="Google Shape;420;p64"/>
          <p:cNvSpPr/>
          <p:nvPr/>
        </p:nvSpPr>
        <p:spPr>
          <a:xfrm>
            <a:off x="3936600" y="2571750"/>
            <a:ext cx="362700" cy="43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Notebook Example</a:t>
            </a:r>
            <a:endParaRPr/>
          </a:p>
        </p:txBody>
      </p:sp>
      <p:pic>
        <p:nvPicPr>
          <p:cNvPr id="426" name="Google Shape;426;p65"/>
          <p:cNvPicPr preferRelativeResize="0"/>
          <p:nvPr/>
        </p:nvPicPr>
        <p:blipFill>
          <a:blip r:embed="rId3">
            <a:alphaModFix/>
          </a:blip>
          <a:stretch>
            <a:fillRect/>
          </a:stretch>
        </p:blipFill>
        <p:spPr>
          <a:xfrm>
            <a:off x="927275" y="1188775"/>
            <a:ext cx="7192301" cy="2988800"/>
          </a:xfrm>
          <a:prstGeom prst="rect">
            <a:avLst/>
          </a:prstGeom>
          <a:noFill/>
          <a:ln>
            <a:noFill/>
          </a:ln>
        </p:spPr>
      </p:pic>
      <p:sp>
        <p:nvSpPr>
          <p:cNvPr id="427" name="Google Shape;427;p65"/>
          <p:cNvSpPr txBox="1"/>
          <p:nvPr/>
        </p:nvSpPr>
        <p:spPr>
          <a:xfrm>
            <a:off x="1442750" y="4348625"/>
            <a:ext cx="5751900" cy="7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After training you save the model to Google Storage</a:t>
            </a:r>
            <a:endParaRPr sz="1800">
              <a:solidFill>
                <a:srgbClr val="FF00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From Notebooks to Scripts</a:t>
            </a:r>
            <a:endParaRPr/>
          </a:p>
        </p:txBody>
      </p:sp>
      <p:pic>
        <p:nvPicPr>
          <p:cNvPr id="433" name="Google Shape;433;p66"/>
          <p:cNvPicPr preferRelativeResize="0"/>
          <p:nvPr/>
        </p:nvPicPr>
        <p:blipFill>
          <a:blip r:embed="rId3">
            <a:alphaModFix/>
          </a:blip>
          <a:stretch>
            <a:fillRect/>
          </a:stretch>
        </p:blipFill>
        <p:spPr>
          <a:xfrm>
            <a:off x="3056026" y="1167425"/>
            <a:ext cx="6153475" cy="3482201"/>
          </a:xfrm>
          <a:prstGeom prst="rect">
            <a:avLst/>
          </a:prstGeom>
          <a:noFill/>
          <a:ln>
            <a:noFill/>
          </a:ln>
        </p:spPr>
      </p:pic>
      <p:sp>
        <p:nvSpPr>
          <p:cNvPr id="434" name="Google Shape;434;p66"/>
          <p:cNvSpPr txBox="1"/>
          <p:nvPr/>
        </p:nvSpPr>
        <p:spPr>
          <a:xfrm>
            <a:off x="55500" y="1103375"/>
            <a:ext cx="2817300" cy="3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Remember:</a:t>
            </a:r>
            <a:endParaRPr sz="1600">
              <a:solidFill>
                <a:srgbClr val="FF00FF"/>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In production we have scripts not notebooks!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We need to convert the .ipynb to .py</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Either Manually</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Or automatically</a:t>
            </a:r>
            <a:endParaRPr sz="1600">
              <a:solidFill>
                <a:schemeClr val="dk2"/>
              </a:solidFill>
            </a:endParaRPr>
          </a:p>
          <a:p>
            <a:pPr indent="0" lvl="0" marL="0" rtl="0" algn="l">
              <a:spcBef>
                <a:spcPts val="0"/>
              </a:spcBef>
              <a:spcAft>
                <a:spcPts val="0"/>
              </a:spcAft>
              <a:buNone/>
            </a:pPr>
            <a:r>
              <a:rPr lang="el" sz="1600">
                <a:solidFill>
                  <a:schemeClr val="dk2"/>
                </a:solidFill>
              </a:rPr>
              <a:t>(using nbconvert on terminal)</a:t>
            </a:r>
            <a:endParaRPr sz="1600">
              <a:solidFill>
                <a:schemeClr val="dk2"/>
              </a:solidFill>
            </a:endParaRPr>
          </a:p>
        </p:txBody>
      </p:sp>
      <p:cxnSp>
        <p:nvCxnSpPr>
          <p:cNvPr id="435" name="Google Shape;435;p66"/>
          <p:cNvCxnSpPr/>
          <p:nvPr/>
        </p:nvCxnSpPr>
        <p:spPr>
          <a:xfrm flipH="1" rot="10800000">
            <a:off x="2830000" y="2874875"/>
            <a:ext cx="4716600" cy="864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Remember Docker?</a:t>
            </a:r>
            <a:endParaRPr/>
          </a:p>
        </p:txBody>
      </p:sp>
      <p:pic>
        <p:nvPicPr>
          <p:cNvPr id="441" name="Google Shape;441;p67"/>
          <p:cNvPicPr preferRelativeResize="0"/>
          <p:nvPr/>
        </p:nvPicPr>
        <p:blipFill>
          <a:blip r:embed="rId3">
            <a:alphaModFix/>
          </a:blip>
          <a:stretch>
            <a:fillRect/>
          </a:stretch>
        </p:blipFill>
        <p:spPr>
          <a:xfrm>
            <a:off x="237000" y="1181375"/>
            <a:ext cx="1623250" cy="1289350"/>
          </a:xfrm>
          <a:prstGeom prst="rect">
            <a:avLst/>
          </a:prstGeom>
          <a:noFill/>
          <a:ln>
            <a:noFill/>
          </a:ln>
        </p:spPr>
      </p:pic>
      <p:sp>
        <p:nvSpPr>
          <p:cNvPr id="442" name="Google Shape;442;p67"/>
          <p:cNvSpPr txBox="1"/>
          <p:nvPr/>
        </p:nvSpPr>
        <p:spPr>
          <a:xfrm>
            <a:off x="2083025" y="1530225"/>
            <a:ext cx="6616200" cy="8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After training we Dockerize our file by creating the Dockerfile!</a:t>
            </a:r>
            <a:endParaRPr sz="1800">
              <a:solidFill>
                <a:srgbClr val="FF00FF"/>
              </a:solidFill>
            </a:endParaRPr>
          </a:p>
        </p:txBody>
      </p:sp>
      <p:pic>
        <p:nvPicPr>
          <p:cNvPr id="443" name="Google Shape;443;p67"/>
          <p:cNvPicPr preferRelativeResize="0"/>
          <p:nvPr/>
        </p:nvPicPr>
        <p:blipFill>
          <a:blip r:embed="rId4">
            <a:alphaModFix/>
          </a:blip>
          <a:stretch>
            <a:fillRect/>
          </a:stretch>
        </p:blipFill>
        <p:spPr>
          <a:xfrm>
            <a:off x="237000" y="3179625"/>
            <a:ext cx="3709300" cy="1747450"/>
          </a:xfrm>
          <a:prstGeom prst="rect">
            <a:avLst/>
          </a:prstGeom>
          <a:noFill/>
          <a:ln>
            <a:noFill/>
          </a:ln>
        </p:spPr>
      </p:pic>
      <p:sp>
        <p:nvSpPr>
          <p:cNvPr id="444" name="Google Shape;444;p67"/>
          <p:cNvSpPr txBox="1"/>
          <p:nvPr/>
        </p:nvSpPr>
        <p:spPr>
          <a:xfrm>
            <a:off x="4252275" y="3621200"/>
            <a:ext cx="3347700" cy="8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Format of the Dockerfile</a:t>
            </a:r>
            <a:endParaRPr sz="1800">
              <a:solidFill>
                <a:srgbClr val="FF00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Building the Image</a:t>
            </a:r>
            <a:endParaRPr/>
          </a:p>
        </p:txBody>
      </p:sp>
      <p:pic>
        <p:nvPicPr>
          <p:cNvPr id="450" name="Google Shape;450;p68"/>
          <p:cNvPicPr preferRelativeResize="0"/>
          <p:nvPr/>
        </p:nvPicPr>
        <p:blipFill>
          <a:blip r:embed="rId3">
            <a:alphaModFix/>
          </a:blip>
          <a:stretch>
            <a:fillRect/>
          </a:stretch>
        </p:blipFill>
        <p:spPr>
          <a:xfrm>
            <a:off x="4078525" y="1510625"/>
            <a:ext cx="4700426" cy="2669499"/>
          </a:xfrm>
          <a:prstGeom prst="rect">
            <a:avLst/>
          </a:prstGeom>
          <a:noFill/>
          <a:ln>
            <a:noFill/>
          </a:ln>
        </p:spPr>
      </p:pic>
      <p:sp>
        <p:nvSpPr>
          <p:cNvPr id="451" name="Google Shape;451;p68"/>
          <p:cNvSpPr txBox="1"/>
          <p:nvPr/>
        </p:nvSpPr>
        <p:spPr>
          <a:xfrm>
            <a:off x="226250" y="2629375"/>
            <a:ext cx="3436200" cy="8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Then we build an Image for the Dockerfile!</a:t>
            </a:r>
            <a:endParaRPr sz="1800">
              <a:solidFill>
                <a:srgbClr val="FF00FF"/>
              </a:solidFill>
            </a:endParaRPr>
          </a:p>
        </p:txBody>
      </p:sp>
      <p:sp>
        <p:nvSpPr>
          <p:cNvPr id="452" name="Google Shape;452;p68"/>
          <p:cNvSpPr/>
          <p:nvPr/>
        </p:nvSpPr>
        <p:spPr>
          <a:xfrm>
            <a:off x="4932200" y="2938850"/>
            <a:ext cx="3585600" cy="3306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Dockerized App</a:t>
            </a:r>
            <a:endParaRPr/>
          </a:p>
        </p:txBody>
      </p:sp>
      <p:pic>
        <p:nvPicPr>
          <p:cNvPr id="458" name="Google Shape;458;p69"/>
          <p:cNvPicPr preferRelativeResize="0"/>
          <p:nvPr/>
        </p:nvPicPr>
        <p:blipFill>
          <a:blip r:embed="rId3">
            <a:alphaModFix/>
          </a:blip>
          <a:stretch>
            <a:fillRect/>
          </a:stretch>
        </p:blipFill>
        <p:spPr>
          <a:xfrm>
            <a:off x="3210176" y="1402175"/>
            <a:ext cx="5782725" cy="3268775"/>
          </a:xfrm>
          <a:prstGeom prst="rect">
            <a:avLst/>
          </a:prstGeom>
          <a:noFill/>
          <a:ln>
            <a:noFill/>
          </a:ln>
        </p:spPr>
      </p:pic>
      <p:sp>
        <p:nvSpPr>
          <p:cNvPr id="459" name="Google Shape;459;p69"/>
          <p:cNvSpPr txBox="1"/>
          <p:nvPr/>
        </p:nvSpPr>
        <p:spPr>
          <a:xfrm>
            <a:off x="151375" y="1829025"/>
            <a:ext cx="3058800" cy="21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We can view our Dockerized training app on Artifacts Registry!</a:t>
            </a:r>
            <a:endParaRPr sz="1800">
              <a:solidFill>
                <a:srgbClr val="FF00FF"/>
              </a:solidFill>
            </a:endParaRPr>
          </a:p>
          <a:p>
            <a:pPr indent="0" lvl="0" marL="0" rtl="0" algn="l">
              <a:spcBef>
                <a:spcPts val="0"/>
              </a:spcBef>
              <a:spcAft>
                <a:spcPts val="0"/>
              </a:spcAft>
              <a:buNone/>
            </a:pPr>
            <a:r>
              <a:t/>
            </a:r>
            <a:endParaRPr sz="1800">
              <a:solidFill>
                <a:srgbClr val="FF00FF"/>
              </a:solidFill>
            </a:endParaRPr>
          </a:p>
          <a:p>
            <a:pPr indent="0" lvl="0" marL="0" rtl="0" algn="l">
              <a:spcBef>
                <a:spcPts val="0"/>
              </a:spcBef>
              <a:spcAft>
                <a:spcPts val="0"/>
              </a:spcAft>
              <a:buNone/>
            </a:pPr>
            <a:r>
              <a:rPr lang="el" sz="1800">
                <a:solidFill>
                  <a:srgbClr val="FF00FF"/>
                </a:solidFill>
              </a:rPr>
              <a:t>To access Artifacts registry just type on search</a:t>
            </a:r>
            <a:endParaRPr sz="1800">
              <a:solidFill>
                <a:srgbClr val="FF00FF"/>
              </a:solidFill>
            </a:endParaRPr>
          </a:p>
        </p:txBody>
      </p:sp>
      <p:cxnSp>
        <p:nvCxnSpPr>
          <p:cNvPr id="460" name="Google Shape;460;p69"/>
          <p:cNvCxnSpPr/>
          <p:nvPr/>
        </p:nvCxnSpPr>
        <p:spPr>
          <a:xfrm flipH="1" rot="10800000">
            <a:off x="3022075" y="1636875"/>
            <a:ext cx="2326200" cy="1472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Train from a Container</a:t>
            </a:r>
            <a:endParaRPr/>
          </a:p>
        </p:txBody>
      </p:sp>
      <p:pic>
        <p:nvPicPr>
          <p:cNvPr id="466" name="Google Shape;466;p70"/>
          <p:cNvPicPr preferRelativeResize="0"/>
          <p:nvPr/>
        </p:nvPicPr>
        <p:blipFill>
          <a:blip r:embed="rId3">
            <a:alphaModFix/>
          </a:blip>
          <a:stretch>
            <a:fillRect/>
          </a:stretch>
        </p:blipFill>
        <p:spPr>
          <a:xfrm>
            <a:off x="246700" y="1614925"/>
            <a:ext cx="3159550" cy="3357850"/>
          </a:xfrm>
          <a:prstGeom prst="rect">
            <a:avLst/>
          </a:prstGeom>
          <a:noFill/>
          <a:ln>
            <a:noFill/>
          </a:ln>
        </p:spPr>
      </p:pic>
      <p:pic>
        <p:nvPicPr>
          <p:cNvPr id="467" name="Google Shape;467;p70"/>
          <p:cNvPicPr preferRelativeResize="0"/>
          <p:nvPr/>
        </p:nvPicPr>
        <p:blipFill>
          <a:blip r:embed="rId4">
            <a:alphaModFix/>
          </a:blip>
          <a:stretch>
            <a:fillRect/>
          </a:stretch>
        </p:blipFill>
        <p:spPr>
          <a:xfrm>
            <a:off x="4521944" y="1701213"/>
            <a:ext cx="4238681" cy="3185276"/>
          </a:xfrm>
          <a:prstGeom prst="rect">
            <a:avLst/>
          </a:prstGeom>
          <a:noFill/>
          <a:ln>
            <a:noFill/>
          </a:ln>
        </p:spPr>
      </p:pic>
      <p:sp>
        <p:nvSpPr>
          <p:cNvPr id="468" name="Google Shape;468;p70"/>
          <p:cNvSpPr txBox="1"/>
          <p:nvPr/>
        </p:nvSpPr>
        <p:spPr>
          <a:xfrm>
            <a:off x="311700" y="1017725"/>
            <a:ext cx="3159600" cy="6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Start a new training instance from the main menu</a:t>
            </a:r>
            <a:endParaRPr sz="1600">
              <a:solidFill>
                <a:srgbClr val="FF00FF"/>
              </a:solidFill>
            </a:endParaRPr>
          </a:p>
        </p:txBody>
      </p:sp>
      <p:sp>
        <p:nvSpPr>
          <p:cNvPr id="469" name="Google Shape;469;p70"/>
          <p:cNvSpPr txBox="1"/>
          <p:nvPr/>
        </p:nvSpPr>
        <p:spPr>
          <a:xfrm>
            <a:off x="4807250" y="1050025"/>
            <a:ext cx="3159600" cy="6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Chose your custom container</a:t>
            </a:r>
            <a:endParaRPr sz="1600">
              <a:solidFill>
                <a:srgbClr val="FF00F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Train from a Container</a:t>
            </a:r>
            <a:endParaRPr/>
          </a:p>
        </p:txBody>
      </p:sp>
      <p:pic>
        <p:nvPicPr>
          <p:cNvPr id="475" name="Google Shape;475;p71"/>
          <p:cNvPicPr preferRelativeResize="0"/>
          <p:nvPr/>
        </p:nvPicPr>
        <p:blipFill>
          <a:blip r:embed="rId3">
            <a:alphaModFix/>
          </a:blip>
          <a:stretch>
            <a:fillRect/>
          </a:stretch>
        </p:blipFill>
        <p:spPr>
          <a:xfrm>
            <a:off x="3256851" y="1381825"/>
            <a:ext cx="5794349" cy="3267775"/>
          </a:xfrm>
          <a:prstGeom prst="rect">
            <a:avLst/>
          </a:prstGeom>
          <a:noFill/>
          <a:ln>
            <a:noFill/>
          </a:ln>
        </p:spPr>
      </p:pic>
      <p:sp>
        <p:nvSpPr>
          <p:cNvPr id="476" name="Google Shape;476;p71"/>
          <p:cNvSpPr txBox="1"/>
          <p:nvPr/>
        </p:nvSpPr>
        <p:spPr>
          <a:xfrm>
            <a:off x="418325" y="2394600"/>
            <a:ext cx="1974000" cy="6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Monitor training!</a:t>
            </a:r>
            <a:endParaRPr sz="1800">
              <a:solidFill>
                <a:srgbClr val="FF00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Importing</a:t>
            </a:r>
            <a:endParaRPr/>
          </a:p>
        </p:txBody>
      </p:sp>
      <p:sp>
        <p:nvSpPr>
          <p:cNvPr id="482" name="Google Shape;482;p72"/>
          <p:cNvSpPr txBox="1"/>
          <p:nvPr/>
        </p:nvSpPr>
        <p:spPr>
          <a:xfrm>
            <a:off x="5913950" y="3984600"/>
            <a:ext cx="325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483" name="Google Shape;483;p72"/>
          <p:cNvPicPr preferRelativeResize="0"/>
          <p:nvPr/>
        </p:nvPicPr>
        <p:blipFill>
          <a:blip r:embed="rId3">
            <a:alphaModFix/>
          </a:blip>
          <a:stretch>
            <a:fillRect/>
          </a:stretch>
        </p:blipFill>
        <p:spPr>
          <a:xfrm>
            <a:off x="3534850" y="1308825"/>
            <a:ext cx="5609150" cy="3182895"/>
          </a:xfrm>
          <a:prstGeom prst="rect">
            <a:avLst/>
          </a:prstGeom>
          <a:noFill/>
          <a:ln>
            <a:noFill/>
          </a:ln>
        </p:spPr>
      </p:pic>
      <p:sp>
        <p:nvSpPr>
          <p:cNvPr id="484" name="Google Shape;484;p72"/>
          <p:cNvSpPr txBox="1"/>
          <p:nvPr/>
        </p:nvSpPr>
        <p:spPr>
          <a:xfrm>
            <a:off x="183525" y="2351925"/>
            <a:ext cx="3169200" cy="7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We first want to import our trained model</a:t>
            </a:r>
            <a:endParaRPr sz="1800">
              <a:solidFill>
                <a:srgbClr val="FF00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Importing</a:t>
            </a:r>
            <a:endParaRPr/>
          </a:p>
        </p:txBody>
      </p:sp>
      <p:pic>
        <p:nvPicPr>
          <p:cNvPr id="490" name="Google Shape;490;p73"/>
          <p:cNvPicPr preferRelativeResize="0"/>
          <p:nvPr/>
        </p:nvPicPr>
        <p:blipFill>
          <a:blip r:embed="rId3">
            <a:alphaModFix/>
          </a:blip>
          <a:stretch>
            <a:fillRect/>
          </a:stretch>
        </p:blipFill>
        <p:spPr>
          <a:xfrm>
            <a:off x="3944125" y="1017725"/>
            <a:ext cx="5069562" cy="3820975"/>
          </a:xfrm>
          <a:prstGeom prst="rect">
            <a:avLst/>
          </a:prstGeom>
          <a:noFill/>
          <a:ln>
            <a:noFill/>
          </a:ln>
        </p:spPr>
      </p:pic>
      <p:sp>
        <p:nvSpPr>
          <p:cNvPr id="491" name="Google Shape;491;p73"/>
          <p:cNvSpPr txBox="1"/>
          <p:nvPr/>
        </p:nvSpPr>
        <p:spPr>
          <a:xfrm>
            <a:off x="205225" y="1281500"/>
            <a:ext cx="3372000" cy="36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FF"/>
              </a:solidFill>
            </a:endParaRPr>
          </a:p>
          <a:p>
            <a:pPr indent="0" lvl="0" marL="0" rtl="0" algn="l">
              <a:spcBef>
                <a:spcPts val="0"/>
              </a:spcBef>
              <a:spcAft>
                <a:spcPts val="0"/>
              </a:spcAft>
              <a:buNone/>
            </a:pPr>
            <a:r>
              <a:rPr lang="el" sz="1800">
                <a:solidFill>
                  <a:srgbClr val="FF00FF"/>
                </a:solidFill>
              </a:rPr>
              <a:t>We choose a Default Framework and browse to our model artifact location.</a:t>
            </a:r>
            <a:endParaRPr sz="1800">
              <a:solidFill>
                <a:srgbClr val="FF00FF"/>
              </a:solidFill>
            </a:endParaRPr>
          </a:p>
          <a:p>
            <a:pPr indent="0" lvl="0" marL="0" rtl="0" algn="l">
              <a:spcBef>
                <a:spcPts val="0"/>
              </a:spcBef>
              <a:spcAft>
                <a:spcPts val="0"/>
              </a:spcAft>
              <a:buNone/>
            </a:pPr>
            <a:r>
              <a:t/>
            </a:r>
            <a:endParaRPr sz="1800">
              <a:solidFill>
                <a:srgbClr val="FF00FF"/>
              </a:solidFill>
            </a:endParaRPr>
          </a:p>
          <a:p>
            <a:pPr indent="0" lvl="0" marL="0" rtl="0" algn="l">
              <a:spcBef>
                <a:spcPts val="0"/>
              </a:spcBef>
              <a:spcAft>
                <a:spcPts val="0"/>
              </a:spcAft>
              <a:buNone/>
            </a:pPr>
            <a:r>
              <a:rPr lang="el" sz="1800">
                <a:solidFill>
                  <a:srgbClr val="FF00FF"/>
                </a:solidFill>
              </a:rPr>
              <a:t>You can find its location using the Artifacts registry</a:t>
            </a:r>
            <a:endParaRPr sz="1800">
              <a:solidFill>
                <a:srgbClr val="FF00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Deploying</a:t>
            </a:r>
            <a:endParaRPr/>
          </a:p>
        </p:txBody>
      </p:sp>
      <p:pic>
        <p:nvPicPr>
          <p:cNvPr id="497" name="Google Shape;497;p74"/>
          <p:cNvPicPr preferRelativeResize="0"/>
          <p:nvPr/>
        </p:nvPicPr>
        <p:blipFill>
          <a:blip r:embed="rId3">
            <a:alphaModFix/>
          </a:blip>
          <a:stretch>
            <a:fillRect/>
          </a:stretch>
        </p:blipFill>
        <p:spPr>
          <a:xfrm>
            <a:off x="3351900" y="1391525"/>
            <a:ext cx="5638450" cy="3183400"/>
          </a:xfrm>
          <a:prstGeom prst="rect">
            <a:avLst/>
          </a:prstGeom>
          <a:noFill/>
          <a:ln>
            <a:noFill/>
          </a:ln>
        </p:spPr>
      </p:pic>
      <p:sp>
        <p:nvSpPr>
          <p:cNvPr id="498" name="Google Shape;498;p74"/>
          <p:cNvSpPr txBox="1"/>
          <p:nvPr/>
        </p:nvSpPr>
        <p:spPr>
          <a:xfrm>
            <a:off x="151550" y="2255875"/>
            <a:ext cx="2955900" cy="12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After importing, we want to deploy the model to an endpoint (Create an API)</a:t>
            </a:r>
            <a:endParaRPr sz="1800">
              <a:solidFill>
                <a:srgbClr val="FF00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Deploying</a:t>
            </a:r>
            <a:endParaRPr/>
          </a:p>
        </p:txBody>
      </p:sp>
      <p:pic>
        <p:nvPicPr>
          <p:cNvPr id="504" name="Google Shape;504;p75"/>
          <p:cNvPicPr preferRelativeResize="0"/>
          <p:nvPr/>
        </p:nvPicPr>
        <p:blipFill>
          <a:blip r:embed="rId3">
            <a:alphaModFix/>
          </a:blip>
          <a:stretch>
            <a:fillRect/>
          </a:stretch>
        </p:blipFill>
        <p:spPr>
          <a:xfrm>
            <a:off x="3652525" y="1159425"/>
            <a:ext cx="5107320" cy="3820976"/>
          </a:xfrm>
          <a:prstGeom prst="rect">
            <a:avLst/>
          </a:prstGeom>
          <a:noFill/>
          <a:ln>
            <a:noFill/>
          </a:ln>
        </p:spPr>
      </p:pic>
      <p:sp>
        <p:nvSpPr>
          <p:cNvPr id="505" name="Google Shape;505;p75"/>
          <p:cNvSpPr txBox="1"/>
          <p:nvPr/>
        </p:nvSpPr>
        <p:spPr>
          <a:xfrm>
            <a:off x="258250" y="1992063"/>
            <a:ext cx="3126600" cy="18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00FF"/>
                </a:solidFill>
              </a:rPr>
              <a:t>Specify some settings:</a:t>
            </a:r>
            <a:endParaRPr sz="1700">
              <a:solidFill>
                <a:srgbClr val="FF00FF"/>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Name</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Resources to use</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Possible </a:t>
            </a:r>
            <a:r>
              <a:rPr lang="el" sz="1700">
                <a:solidFill>
                  <a:schemeClr val="dk2"/>
                </a:solidFill>
              </a:rPr>
              <a:t>scaling</a:t>
            </a:r>
            <a:endParaRPr sz="1700">
              <a:solidFill>
                <a:schemeClr val="dk2"/>
              </a:solidFill>
            </a:endParaRPr>
          </a:p>
          <a:p>
            <a:pPr indent="-336550" lvl="0" marL="457200" rtl="0" algn="l">
              <a:spcBef>
                <a:spcPts val="0"/>
              </a:spcBef>
              <a:spcAft>
                <a:spcPts val="0"/>
              </a:spcAft>
              <a:buClr>
                <a:schemeClr val="dk2"/>
              </a:buClr>
              <a:buSzPts val="1700"/>
              <a:buChar char="-"/>
            </a:pPr>
            <a:r>
              <a:rPr lang="el" sz="1700">
                <a:solidFill>
                  <a:schemeClr val="dk2"/>
                </a:solidFill>
              </a:rPr>
              <a:t>(More complex settings)</a:t>
            </a:r>
            <a:endParaRPr sz="1700">
              <a:solidFill>
                <a:schemeClr val="dk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Deploy</a:t>
            </a:r>
            <a:endParaRPr/>
          </a:p>
        </p:txBody>
      </p:sp>
      <p:pic>
        <p:nvPicPr>
          <p:cNvPr id="511" name="Google Shape;511;p76"/>
          <p:cNvPicPr preferRelativeResize="0"/>
          <p:nvPr/>
        </p:nvPicPr>
        <p:blipFill>
          <a:blip r:embed="rId3">
            <a:alphaModFix/>
          </a:blip>
          <a:stretch>
            <a:fillRect/>
          </a:stretch>
        </p:blipFill>
        <p:spPr>
          <a:xfrm>
            <a:off x="3275300" y="1188450"/>
            <a:ext cx="5702949" cy="3215425"/>
          </a:xfrm>
          <a:prstGeom prst="rect">
            <a:avLst/>
          </a:prstGeom>
          <a:noFill/>
          <a:ln>
            <a:noFill/>
          </a:ln>
        </p:spPr>
      </p:pic>
      <p:sp>
        <p:nvSpPr>
          <p:cNvPr id="512" name="Google Shape;512;p76"/>
          <p:cNvSpPr txBox="1"/>
          <p:nvPr/>
        </p:nvSpPr>
        <p:spPr>
          <a:xfrm>
            <a:off x="139975" y="1981650"/>
            <a:ext cx="2955900" cy="103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After waiting </a:t>
            </a:r>
            <a:r>
              <a:rPr lang="el" sz="1800">
                <a:solidFill>
                  <a:srgbClr val="FF00FF"/>
                </a:solidFill>
              </a:rPr>
              <a:t>some time</a:t>
            </a:r>
            <a:r>
              <a:rPr lang="el" sz="1800">
                <a:solidFill>
                  <a:srgbClr val="FF00FF"/>
                </a:solidFill>
              </a:rPr>
              <a:t> the model is deployed on Vertex AI</a:t>
            </a:r>
            <a:endParaRPr sz="1800">
              <a:solidFill>
                <a:srgbClr val="FF00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from the Endpoint</a:t>
            </a:r>
            <a:endParaRPr/>
          </a:p>
        </p:txBody>
      </p:sp>
      <p:pic>
        <p:nvPicPr>
          <p:cNvPr id="518" name="Google Shape;518;p77"/>
          <p:cNvPicPr preferRelativeResize="0"/>
          <p:nvPr/>
        </p:nvPicPr>
        <p:blipFill>
          <a:blip r:embed="rId3">
            <a:alphaModFix/>
          </a:blip>
          <a:stretch>
            <a:fillRect/>
          </a:stretch>
        </p:blipFill>
        <p:spPr>
          <a:xfrm>
            <a:off x="3078649" y="1412900"/>
            <a:ext cx="5873274" cy="3311450"/>
          </a:xfrm>
          <a:prstGeom prst="rect">
            <a:avLst/>
          </a:prstGeom>
          <a:noFill/>
          <a:ln>
            <a:noFill/>
          </a:ln>
        </p:spPr>
      </p:pic>
      <p:sp>
        <p:nvSpPr>
          <p:cNvPr id="519" name="Google Shape;519;p77"/>
          <p:cNvSpPr txBox="1"/>
          <p:nvPr/>
        </p:nvSpPr>
        <p:spPr>
          <a:xfrm>
            <a:off x="119525" y="2571750"/>
            <a:ext cx="2763900" cy="9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Take the ID of the endpoint with the model</a:t>
            </a:r>
            <a:endParaRPr sz="1800">
              <a:solidFill>
                <a:srgbClr val="FF00FF"/>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from the Endpoint</a:t>
            </a:r>
            <a:endParaRPr/>
          </a:p>
        </p:txBody>
      </p:sp>
      <p:pic>
        <p:nvPicPr>
          <p:cNvPr id="525" name="Google Shape;525;p78"/>
          <p:cNvPicPr preferRelativeResize="0"/>
          <p:nvPr/>
        </p:nvPicPr>
        <p:blipFill>
          <a:blip r:embed="rId3">
            <a:alphaModFix/>
          </a:blip>
          <a:stretch>
            <a:fillRect/>
          </a:stretch>
        </p:blipFill>
        <p:spPr>
          <a:xfrm>
            <a:off x="3238125" y="1338125"/>
            <a:ext cx="5959251" cy="3354150"/>
          </a:xfrm>
          <a:prstGeom prst="rect">
            <a:avLst/>
          </a:prstGeom>
          <a:noFill/>
          <a:ln>
            <a:noFill/>
          </a:ln>
        </p:spPr>
      </p:pic>
      <p:sp>
        <p:nvSpPr>
          <p:cNvPr id="526" name="Google Shape;526;p78"/>
          <p:cNvSpPr txBox="1"/>
          <p:nvPr/>
        </p:nvSpPr>
        <p:spPr>
          <a:xfrm>
            <a:off x="226250" y="2561750"/>
            <a:ext cx="2561100" cy="9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Specify the endpoint on a new script</a:t>
            </a:r>
            <a:endParaRPr sz="1800">
              <a:solidFill>
                <a:srgbClr val="FF00FF"/>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Make Predictions from the Endpoint</a:t>
            </a:r>
            <a:endParaRPr/>
          </a:p>
        </p:txBody>
      </p:sp>
      <p:pic>
        <p:nvPicPr>
          <p:cNvPr id="532" name="Google Shape;532;p79"/>
          <p:cNvPicPr preferRelativeResize="0"/>
          <p:nvPr/>
        </p:nvPicPr>
        <p:blipFill>
          <a:blip r:embed="rId3">
            <a:alphaModFix/>
          </a:blip>
          <a:stretch>
            <a:fillRect/>
          </a:stretch>
        </p:blipFill>
        <p:spPr>
          <a:xfrm>
            <a:off x="3159675" y="1252775"/>
            <a:ext cx="5984325" cy="3354149"/>
          </a:xfrm>
          <a:prstGeom prst="rect">
            <a:avLst/>
          </a:prstGeom>
          <a:noFill/>
          <a:ln>
            <a:noFill/>
          </a:ln>
        </p:spPr>
      </p:pic>
      <p:sp>
        <p:nvSpPr>
          <p:cNvPr id="533" name="Google Shape;533;p79"/>
          <p:cNvSpPr txBox="1"/>
          <p:nvPr/>
        </p:nvSpPr>
        <p:spPr>
          <a:xfrm>
            <a:off x="151525" y="2437275"/>
            <a:ext cx="2902500" cy="11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Run your predictions as you would with any model</a:t>
            </a:r>
            <a:endParaRPr sz="1800">
              <a:solidFill>
                <a:srgbClr val="FF00FF"/>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Extra Features</a:t>
            </a:r>
            <a:endParaRPr/>
          </a:p>
        </p:txBody>
      </p:sp>
      <p:sp>
        <p:nvSpPr>
          <p:cNvPr id="539" name="Google Shape;539;p80"/>
          <p:cNvSpPr txBox="1"/>
          <p:nvPr/>
        </p:nvSpPr>
        <p:spPr>
          <a:xfrm>
            <a:off x="322275" y="1156750"/>
            <a:ext cx="8520600" cy="37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We know the ML workflow is not that easy!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l" sz="1800">
                <a:solidFill>
                  <a:srgbClr val="FF00FF"/>
                </a:solidFill>
              </a:rPr>
              <a:t>Google Cloud offers the following:</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Automatic hyperparameter tuning on the training phase</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Distributed training for multiple workers</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Scaling</a:t>
            </a:r>
            <a:r>
              <a:rPr lang="el" sz="1800">
                <a:solidFill>
                  <a:schemeClr val="dk2"/>
                </a:solidFill>
              </a:rPr>
              <a:t> GPUs</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Monitor the experiment</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Create a ML lineage</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