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3" Type="http://schemas.openxmlformats.org/officeDocument/2006/relationships/slide" Target="slides/slide78.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98145e9bc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98145e9bc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298145e9bc1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298145e9bc1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fbefb2fd5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fbefb2fd5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9818024ea6_0_10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9818024ea6_0_10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 quick note here. This lecture has some important theoretical concepts that might be used for the Oral exams!</a:t>
            </a:r>
            <a:endParaRPr/>
          </a:p>
          <a:p>
            <a:pPr indent="0" lvl="0" marL="0" rtl="0" algn="l">
              <a:spcBef>
                <a:spcPts val="0"/>
              </a:spcBef>
              <a:spcAft>
                <a:spcPts val="0"/>
              </a:spcAft>
              <a:buNone/>
            </a:pPr>
            <a:r>
              <a:rPr lang="el"/>
              <a:t>Lets see what we are going to review</a:t>
            </a:r>
            <a:endParaRPr/>
          </a:p>
          <a:p>
            <a:pPr indent="-298450" lvl="0" marL="457200" rtl="0" algn="l">
              <a:spcBef>
                <a:spcPts val="0"/>
              </a:spcBef>
              <a:spcAft>
                <a:spcPts val="0"/>
              </a:spcAft>
              <a:buSzPts val="1100"/>
              <a:buChar char="-"/>
            </a:pPr>
            <a:r>
              <a:rPr lang="el"/>
              <a:t>We are going to see what is model serving</a:t>
            </a:r>
            <a:endParaRPr/>
          </a:p>
          <a:p>
            <a:pPr indent="-298450" lvl="0" marL="457200" rtl="0" algn="l">
              <a:spcBef>
                <a:spcPts val="0"/>
              </a:spcBef>
              <a:spcAft>
                <a:spcPts val="0"/>
              </a:spcAft>
              <a:buSzPts val="1100"/>
              <a:buChar char="-"/>
            </a:pPr>
            <a:r>
              <a:rPr lang="el"/>
              <a:t>The types of models serving</a:t>
            </a:r>
            <a:endParaRPr/>
          </a:p>
          <a:p>
            <a:pPr indent="-298450" lvl="0" marL="457200" rtl="0" algn="l">
              <a:spcBef>
                <a:spcPts val="0"/>
              </a:spcBef>
              <a:spcAft>
                <a:spcPts val="0"/>
              </a:spcAft>
              <a:buSzPts val="1100"/>
              <a:buChar char="-"/>
            </a:pPr>
            <a:r>
              <a:rPr lang="el"/>
              <a:t>We are going to make an introduction to cloud deployment</a:t>
            </a:r>
            <a:endParaRPr/>
          </a:p>
          <a:p>
            <a:pPr indent="-298450" lvl="0" marL="457200" rtl="0" algn="l">
              <a:spcBef>
                <a:spcPts val="0"/>
              </a:spcBef>
              <a:spcAft>
                <a:spcPts val="0"/>
              </a:spcAft>
              <a:buSzPts val="1100"/>
              <a:buChar char="-"/>
            </a:pPr>
            <a:r>
              <a:rPr lang="el"/>
              <a:t>How to scale our infrastructures and </a:t>
            </a:r>
            <a:r>
              <a:rPr lang="el"/>
              <a:t>finally</a:t>
            </a:r>
            <a:r>
              <a:rPr lang="el"/>
              <a:t> how to effectively apply inference!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98145e9bc1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98145e9bc1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Lets start with model serving</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fbefb2fd57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fbefb2fd57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fbefb2fd57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fbefb2fd57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fbefb2fd57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fbefb2fd57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fbefb2fd57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fbefb2fd57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fbefb2fd57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fbefb2fd57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fbefb2fd57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fbefb2fd57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We will talk about this later in more detail</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fbefb2fd57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fbefb2fd57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98145e9bc1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298145e9bc1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Good. Lets see what we need to serve a model. Which are the most important </a:t>
            </a:r>
            <a:r>
              <a:rPr lang="el"/>
              <a:t>components</a:t>
            </a:r>
            <a:r>
              <a:rPr lang="el"/>
              <a:t> here?</a:t>
            </a:r>
            <a:endParaRPr/>
          </a:p>
          <a:p>
            <a:pPr indent="-298450" lvl="0" marL="457200" rtl="0" algn="l">
              <a:spcBef>
                <a:spcPts val="0"/>
              </a:spcBef>
              <a:spcAft>
                <a:spcPts val="0"/>
              </a:spcAft>
              <a:buSzPts val="1100"/>
              <a:buChar char="-"/>
            </a:pPr>
            <a:r>
              <a:rPr lang="el"/>
              <a:t>We have a fitted model</a:t>
            </a:r>
            <a:endParaRPr/>
          </a:p>
          <a:p>
            <a:pPr indent="-298450" lvl="0" marL="457200" rtl="0" algn="l">
              <a:spcBef>
                <a:spcPts val="0"/>
              </a:spcBef>
              <a:spcAft>
                <a:spcPts val="0"/>
              </a:spcAft>
              <a:buSzPts val="1100"/>
              <a:buChar char="-"/>
            </a:pPr>
            <a:r>
              <a:rPr lang="el"/>
              <a:t>We have an interpreter </a:t>
            </a:r>
            <a:endParaRPr/>
          </a:p>
          <a:p>
            <a:pPr indent="-298450" lvl="0" marL="457200" rtl="0" algn="l">
              <a:spcBef>
                <a:spcPts val="0"/>
              </a:spcBef>
              <a:spcAft>
                <a:spcPts val="0"/>
              </a:spcAft>
              <a:buSzPts val="1100"/>
              <a:buChar char="-"/>
            </a:pPr>
            <a:r>
              <a:rPr lang="el"/>
              <a:t>And we have some input data</a:t>
            </a:r>
            <a:endParaRPr/>
          </a:p>
          <a:p>
            <a:pPr indent="0" lvl="0" marL="0" rtl="0" algn="l">
              <a:spcBef>
                <a:spcPts val="0"/>
              </a:spcBef>
              <a:spcAft>
                <a:spcPts val="0"/>
              </a:spcAft>
              <a:buNone/>
            </a:pPr>
            <a:r>
              <a:rPr lang="el"/>
              <a:t>Pay attention here. These are used only for the </a:t>
            </a:r>
            <a:r>
              <a:rPr lang="el"/>
              <a:t>inference</a:t>
            </a:r>
            <a:r>
              <a:rPr lang="el"/>
              <a:t> process. Model serving is a associated with inference in our case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98145e9bc1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98145e9bc1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To give you a reminder, there are two phases in a ML workflow</a:t>
            </a:r>
            <a:endParaRPr/>
          </a:p>
          <a:p>
            <a:pPr indent="-298450" lvl="0" marL="457200" rtl="0" algn="l">
              <a:spcBef>
                <a:spcPts val="0"/>
              </a:spcBef>
              <a:spcAft>
                <a:spcPts val="0"/>
              </a:spcAft>
              <a:buSzPts val="1100"/>
              <a:buChar char="-"/>
            </a:pPr>
            <a:r>
              <a:rPr lang="el"/>
              <a:t>There is the model training phase, which is taking </a:t>
            </a:r>
            <a:r>
              <a:rPr lang="el"/>
              <a:t>places</a:t>
            </a:r>
            <a:r>
              <a:rPr lang="el"/>
              <a:t> offline. Its what we talked about in the past, how to prepare and train a model</a:t>
            </a:r>
            <a:endParaRPr/>
          </a:p>
          <a:p>
            <a:pPr indent="-298450" lvl="0" marL="457200" rtl="0" algn="l">
              <a:spcBef>
                <a:spcPts val="0"/>
              </a:spcBef>
              <a:spcAft>
                <a:spcPts val="0"/>
              </a:spcAft>
              <a:buSzPts val="1100"/>
              <a:buChar char="-"/>
            </a:pPr>
            <a:r>
              <a:rPr lang="el"/>
              <a:t>Then we have the inference, where the fitted model is used to make predictions given some new input data</a:t>
            </a:r>
            <a:endParaRPr/>
          </a:p>
          <a:p>
            <a:pPr indent="0" lvl="0" marL="0" rtl="0" algn="l">
              <a:spcBef>
                <a:spcPts val="0"/>
              </a:spcBef>
              <a:spcAft>
                <a:spcPts val="0"/>
              </a:spcAft>
              <a:buNone/>
            </a:pPr>
            <a:r>
              <a:rPr lang="el"/>
              <a:t>Now lets see these two types of inference</a:t>
            </a:r>
            <a:endParaRPr/>
          </a:p>
          <a:p>
            <a:pPr indent="-298450" lvl="0" marL="457200" rtl="0" algn="l">
              <a:spcBef>
                <a:spcPts val="0"/>
              </a:spcBef>
              <a:spcAft>
                <a:spcPts val="0"/>
              </a:spcAft>
              <a:buSzPts val="1100"/>
              <a:buAutoNum type="arabicParenR"/>
            </a:pPr>
            <a:r>
              <a:rPr lang="el"/>
              <a:t>We have batch inference. In batch inference we provide our model with a batch of input data and we ask it to make predictions based on that. We apply this approach in occasions where we dont have data that is dependentant on time. We just want to make some predictions at some point. A good example is a supermarket that orders food every Monday and at Sunday night they make their model predict the demand for next week so on Monday they place their order</a:t>
            </a:r>
            <a:endParaRPr/>
          </a:p>
          <a:p>
            <a:pPr indent="-298450" lvl="0" marL="457200" rtl="0" algn="l">
              <a:spcBef>
                <a:spcPts val="0"/>
              </a:spcBef>
              <a:spcAft>
                <a:spcPts val="0"/>
              </a:spcAft>
              <a:buSzPts val="1100"/>
              <a:buAutoNum type="arabicParenR"/>
            </a:pPr>
            <a:r>
              <a:rPr lang="el"/>
              <a:t>Then we have the online inference. Predictions for online inference are generated in real time. We have some </a:t>
            </a:r>
            <a:r>
              <a:rPr lang="el"/>
              <a:t>sensor</a:t>
            </a:r>
            <a:r>
              <a:rPr lang="el"/>
              <a:t> that gathers data, feeds this data to the model and the model generates </a:t>
            </a:r>
            <a:r>
              <a:rPr lang="el"/>
              <a:t>predictions</a:t>
            </a:r>
            <a:r>
              <a:rPr lang="el"/>
              <a:t> at real time. You can picture it as streaming. Data comes constantly, the model makes predictions. A good example is a self-driving car!</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98145e9bc1_0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298145e9bc1_0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Good. To measure how good our serving is we use these 3 metrics we learnt before </a:t>
            </a:r>
            <a:endParaRPr/>
          </a:p>
          <a:p>
            <a:pPr indent="-298450" lvl="0" marL="457200" rtl="0" algn="l">
              <a:spcBef>
                <a:spcPts val="0"/>
              </a:spcBef>
              <a:spcAft>
                <a:spcPts val="0"/>
              </a:spcAft>
              <a:buSzPts val="1100"/>
              <a:buChar char="-"/>
            </a:pPr>
            <a:r>
              <a:rPr lang="el"/>
              <a:t>Latency: How fast does our model finish inference</a:t>
            </a:r>
            <a:endParaRPr/>
          </a:p>
          <a:p>
            <a:pPr indent="-298450" lvl="0" marL="457200" rtl="0" algn="l">
              <a:spcBef>
                <a:spcPts val="0"/>
              </a:spcBef>
              <a:spcAft>
                <a:spcPts val="0"/>
              </a:spcAft>
              <a:buSzPts val="1100"/>
              <a:buChar char="-"/>
            </a:pPr>
            <a:r>
              <a:rPr lang="el"/>
              <a:t>Cost: How expensive is for our </a:t>
            </a:r>
            <a:r>
              <a:rPr lang="el"/>
              <a:t>model</a:t>
            </a:r>
            <a:r>
              <a:rPr lang="el"/>
              <a:t> to make predictions</a:t>
            </a:r>
            <a:endParaRPr/>
          </a:p>
          <a:p>
            <a:pPr indent="-298450" lvl="0" marL="457200" rtl="0" algn="l">
              <a:spcBef>
                <a:spcPts val="0"/>
              </a:spcBef>
              <a:spcAft>
                <a:spcPts val="0"/>
              </a:spcAft>
              <a:buSzPts val="1100"/>
              <a:buChar char="-"/>
            </a:pPr>
            <a:r>
              <a:rPr lang="el"/>
              <a:t>Throughput: How many predictions in total does our model make in a specified time interval</a:t>
            </a:r>
            <a:endParaRPr/>
          </a:p>
          <a:p>
            <a:pPr indent="0" lvl="0" marL="0" rtl="0" algn="l">
              <a:spcBef>
                <a:spcPts val="0"/>
              </a:spcBef>
              <a:spcAft>
                <a:spcPts val="0"/>
              </a:spcAft>
              <a:buNone/>
            </a:pPr>
            <a:r>
              <a:rPr lang="el"/>
              <a:t>As we have said there is a tradeoff between all these metrics and users should </a:t>
            </a:r>
            <a:r>
              <a:rPr lang="el"/>
              <a:t>carefully</a:t>
            </a:r>
            <a:r>
              <a:rPr lang="el"/>
              <a:t> decide which of these they are going to focus more on depending on their application</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298145e9bc1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298145e9bc1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Lets take them on by one.</a:t>
            </a:r>
            <a:endParaRPr/>
          </a:p>
          <a:p>
            <a:pPr indent="-298450" lvl="0" marL="457200" rtl="0" algn="l">
              <a:spcBef>
                <a:spcPts val="0"/>
              </a:spcBef>
              <a:spcAft>
                <a:spcPts val="0"/>
              </a:spcAft>
              <a:buSzPts val="1100"/>
              <a:buChar char="-"/>
            </a:pPr>
            <a:r>
              <a:rPr lang="el"/>
              <a:t>So Latency is the time it takes for a user to make an action and get a result back.</a:t>
            </a:r>
            <a:endParaRPr/>
          </a:p>
          <a:p>
            <a:pPr indent="-298450" lvl="0" marL="457200" rtl="0" algn="l">
              <a:spcBef>
                <a:spcPts val="0"/>
              </a:spcBef>
              <a:spcAft>
                <a:spcPts val="0"/>
              </a:spcAft>
              <a:buSzPts val="1100"/>
              <a:buChar char="-"/>
            </a:pPr>
            <a:r>
              <a:rPr lang="el"/>
              <a:t>Its the whole process from when the user makes the first click, it sends data to the main </a:t>
            </a:r>
            <a:r>
              <a:rPr lang="el"/>
              <a:t>computer</a:t>
            </a:r>
            <a:r>
              <a:rPr lang="el"/>
              <a:t> and then gets the results back!</a:t>
            </a:r>
            <a:endParaRPr/>
          </a:p>
          <a:p>
            <a:pPr indent="-298450" lvl="0" marL="457200" rtl="0" algn="l">
              <a:spcBef>
                <a:spcPts val="0"/>
              </a:spcBef>
              <a:spcAft>
                <a:spcPts val="0"/>
              </a:spcAft>
              <a:buSzPts val="1100"/>
              <a:buChar char="-"/>
            </a:pPr>
            <a:r>
              <a:rPr lang="el"/>
              <a:t>It is very important that in cases where we have high latency a customer might decide to leave. We live in a </a:t>
            </a:r>
            <a:r>
              <a:rPr lang="el"/>
              <a:t>period where feedback and actions happen really fast. If something does not work for the user then we have a problem</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298145e9bc1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298145e9bc1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Throughput</a:t>
            </a:r>
            <a:r>
              <a:rPr lang="el"/>
              <a:t> as we said is the number of requests that we satisfy per unit in time. This is </a:t>
            </a:r>
            <a:r>
              <a:rPr lang="el"/>
              <a:t>usually</a:t>
            </a:r>
            <a:r>
              <a:rPr lang="el"/>
              <a:t> is 1 second.</a:t>
            </a:r>
            <a:endParaRPr/>
          </a:p>
          <a:p>
            <a:pPr indent="-298450" lvl="0" marL="457200" rtl="0" algn="l">
              <a:spcBef>
                <a:spcPts val="0"/>
              </a:spcBef>
              <a:spcAft>
                <a:spcPts val="0"/>
              </a:spcAft>
              <a:buSzPts val="1100"/>
              <a:buChar char="-"/>
            </a:pPr>
            <a:r>
              <a:rPr lang="el"/>
              <a:t>In some cases , throughput is much important important than latency.</a:t>
            </a:r>
            <a:endParaRPr/>
          </a:p>
          <a:p>
            <a:pPr indent="-298450" lvl="0" marL="457200" rtl="0" algn="l">
              <a:spcBef>
                <a:spcPts val="0"/>
              </a:spcBef>
              <a:spcAft>
                <a:spcPts val="0"/>
              </a:spcAft>
              <a:buSzPts val="1100"/>
              <a:buChar char="-"/>
            </a:pPr>
            <a:r>
              <a:rPr lang="el"/>
              <a:t>This is </a:t>
            </a:r>
            <a:r>
              <a:rPr lang="el"/>
              <a:t>usually</a:t>
            </a:r>
            <a:r>
              <a:rPr lang="el"/>
              <a:t> the case when we want to measure events. For example in a security camera event.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298145e9bc1_0_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298145e9bc1_0_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Finally</a:t>
            </a:r>
            <a:r>
              <a:rPr lang="el"/>
              <a:t> we have costs. </a:t>
            </a:r>
            <a:endParaRPr/>
          </a:p>
          <a:p>
            <a:pPr indent="-298450" lvl="0" marL="457200" rtl="0" algn="l">
              <a:spcBef>
                <a:spcPts val="0"/>
              </a:spcBef>
              <a:spcAft>
                <a:spcPts val="0"/>
              </a:spcAft>
              <a:buSzPts val="1100"/>
              <a:buChar char="-"/>
            </a:pPr>
            <a:r>
              <a:rPr lang="el"/>
              <a:t>To measure cost we measure it per request </a:t>
            </a:r>
            <a:r>
              <a:rPr lang="el"/>
              <a:t>benign</a:t>
            </a:r>
            <a:r>
              <a:rPr lang="el"/>
              <a:t> satisfied.</a:t>
            </a:r>
            <a:endParaRPr/>
          </a:p>
          <a:p>
            <a:pPr indent="-298450" lvl="0" marL="457200" rtl="0" algn="l">
              <a:spcBef>
                <a:spcPts val="0"/>
              </a:spcBef>
              <a:spcAft>
                <a:spcPts val="0"/>
              </a:spcAft>
              <a:buSzPts val="1100"/>
              <a:buChar char="-"/>
            </a:pPr>
            <a:r>
              <a:rPr lang="el"/>
              <a:t>We have to ensure that this remains </a:t>
            </a:r>
            <a:r>
              <a:rPr lang="el"/>
              <a:t>controlled</a:t>
            </a:r>
            <a:endParaRPr/>
          </a:p>
          <a:p>
            <a:pPr indent="-298450" lvl="0" marL="457200" rtl="0" algn="l">
              <a:spcBef>
                <a:spcPts val="0"/>
              </a:spcBef>
              <a:spcAft>
                <a:spcPts val="0"/>
              </a:spcAft>
              <a:buSzPts val="1100"/>
              <a:buChar char="-"/>
            </a:pPr>
            <a:r>
              <a:rPr lang="el"/>
              <a:t>To optimize inference we need to make sure what produces is </a:t>
            </a:r>
            <a:r>
              <a:rPr lang="el"/>
              <a:t>stable</a:t>
            </a:r>
            <a:endParaRPr/>
          </a:p>
          <a:p>
            <a:pPr indent="-298450" lvl="0" marL="457200" rtl="0" algn="l">
              <a:spcBef>
                <a:spcPts val="0"/>
              </a:spcBef>
              <a:spcAft>
                <a:spcPts val="0"/>
              </a:spcAft>
              <a:buSzPts val="1100"/>
              <a:buChar char="-"/>
            </a:pPr>
            <a:r>
              <a:rPr lang="el"/>
              <a:t>We have CPU, we have GPUs and we have </a:t>
            </a:r>
            <a:r>
              <a:rPr lang="el"/>
              <a:t>caching</a:t>
            </a:r>
            <a:r>
              <a:rPr lang="el"/>
              <a:t> for retrieving our data faster.</a:t>
            </a:r>
            <a:endParaRPr/>
          </a:p>
          <a:p>
            <a:pPr indent="-298450" lvl="0" marL="457200" rtl="0" algn="l">
              <a:spcBef>
                <a:spcPts val="0"/>
              </a:spcBef>
              <a:spcAft>
                <a:spcPts val="0"/>
              </a:spcAft>
              <a:buSzPts val="1100"/>
              <a:buChar char="-"/>
            </a:pPr>
            <a:r>
              <a:rPr lang="el"/>
              <a:t>These are some of the hardware and the pipelines we might have to optimize our costs!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98145e9bc1_0_4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98145e9bc1_0_4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l"/>
              <a:t>Remember, when we talk about Latency our goal is to minimize it. Our goal in an airline recommendation system is to have users get their results as fast as possible</a:t>
            </a:r>
            <a:endParaRPr/>
          </a:p>
          <a:p>
            <a:pPr indent="-298450" lvl="0" marL="457200" rtl="0" algn="l">
              <a:spcBef>
                <a:spcPts val="0"/>
              </a:spcBef>
              <a:spcAft>
                <a:spcPts val="0"/>
              </a:spcAft>
              <a:buSzPts val="1100"/>
              <a:buChar char="-"/>
            </a:pPr>
            <a:r>
              <a:rPr lang="el"/>
              <a:t>On the other hand with </a:t>
            </a:r>
            <a:r>
              <a:rPr lang="el"/>
              <a:t>throughput</a:t>
            </a:r>
            <a:r>
              <a:rPr lang="el"/>
              <a:t> the goal is to have satisfied as many requests as possible. For example when the server is pressaured we have to find a way to balance that so we get requests satisfied</a:t>
            </a:r>
            <a:endParaRPr/>
          </a:p>
          <a:p>
            <a:pPr indent="0" lvl="0" marL="0" rtl="0" algn="l">
              <a:spcBef>
                <a:spcPts val="0"/>
              </a:spcBef>
              <a:spcAft>
                <a:spcPts val="0"/>
              </a:spcAft>
              <a:buNone/>
            </a:pPr>
            <a:r>
              <a:rPr lang="el"/>
              <a:t>When we measure our benchmark performance for these, our goal is to scale our </a:t>
            </a:r>
            <a:r>
              <a:rPr lang="el"/>
              <a:t>infrastructures to meet our goals and requirements.</a:t>
            </a:r>
            <a:endParaRPr/>
          </a:p>
          <a:p>
            <a:pPr indent="0" lvl="0" marL="0" rtl="0" algn="l">
              <a:spcBef>
                <a:spcPts val="0"/>
              </a:spcBef>
              <a:spcAft>
                <a:spcPts val="0"/>
              </a:spcAft>
              <a:buNone/>
            </a:pPr>
            <a:r>
              <a:rPr lang="el"/>
              <a:t>Having good hardware is essential in having good performance and thus, user satisfcation!</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98145e9bc1_0_5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298145e9bc1_0_5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Allright as we said. Optimizing one, </a:t>
            </a:r>
            <a:r>
              <a:rPr lang="el"/>
              <a:t>usually</a:t>
            </a:r>
            <a:r>
              <a:rPr lang="el"/>
              <a:t> results in losing something from the other!</a:t>
            </a:r>
            <a:endParaRPr/>
          </a:p>
          <a:p>
            <a:pPr indent="0" lvl="0" marL="0" rtl="0" algn="l">
              <a:spcBef>
                <a:spcPts val="0"/>
              </a:spcBef>
              <a:spcAft>
                <a:spcPts val="0"/>
              </a:spcAft>
              <a:buNone/>
            </a:pPr>
            <a:r>
              <a:rPr lang="el"/>
              <a:t>The goal is to have a good balance here. Have </a:t>
            </a:r>
            <a:r>
              <a:rPr lang="el"/>
              <a:t>good</a:t>
            </a:r>
            <a:r>
              <a:rPr lang="el"/>
              <a:t> inference, while ensuring our </a:t>
            </a:r>
            <a:r>
              <a:rPr lang="el"/>
              <a:t>throughput</a:t>
            </a:r>
            <a:r>
              <a:rPr lang="el"/>
              <a:t> remains stable!</a:t>
            </a:r>
            <a:endParaRPr/>
          </a:p>
          <a:p>
            <a:pPr indent="-298450" lvl="0" marL="457200" rtl="0" algn="l">
              <a:spcBef>
                <a:spcPts val="0"/>
              </a:spcBef>
              <a:spcAft>
                <a:spcPts val="0"/>
              </a:spcAft>
              <a:buSzPts val="1100"/>
              <a:buChar char="-"/>
            </a:pPr>
            <a:r>
              <a:rPr lang="el"/>
              <a:t>Also always remember, when we scale our infrstarctures to host more users and requests the cost increases</a:t>
            </a:r>
            <a:endParaRPr/>
          </a:p>
          <a:p>
            <a:pPr indent="-298450" lvl="0" marL="457200" rtl="0" algn="l">
              <a:spcBef>
                <a:spcPts val="0"/>
              </a:spcBef>
              <a:spcAft>
                <a:spcPts val="0"/>
              </a:spcAft>
              <a:buSzPts val="1100"/>
              <a:buChar char="-"/>
            </a:pPr>
            <a:r>
              <a:rPr lang="el"/>
              <a:t>Its important to find a a cost-effective way to scale here!</a:t>
            </a:r>
            <a:endParaRPr/>
          </a:p>
          <a:p>
            <a:pPr indent="-298450" lvl="0" marL="457200" rtl="0" algn="l">
              <a:spcBef>
                <a:spcPts val="0"/>
              </a:spcBef>
              <a:spcAft>
                <a:spcPts val="0"/>
              </a:spcAft>
              <a:buSzPts val="1100"/>
              <a:buChar char="-"/>
            </a:pPr>
            <a:r>
              <a:rPr lang="el"/>
              <a:t>There are some tricks to save some money that we apply in practise</a:t>
            </a:r>
            <a:endParaRPr/>
          </a:p>
          <a:p>
            <a:pPr indent="-298450" lvl="0" marL="457200" rtl="0" algn="l">
              <a:spcBef>
                <a:spcPts val="0"/>
              </a:spcBef>
              <a:spcAft>
                <a:spcPts val="0"/>
              </a:spcAft>
              <a:buSzPts val="1100"/>
              <a:buChar char="-"/>
            </a:pPr>
            <a:r>
              <a:rPr lang="el"/>
              <a:t>For example we can share GPUs but parallelziing or we can serve multiple models in </a:t>
            </a:r>
            <a:r>
              <a:rPr lang="el"/>
              <a:t>parallels</a:t>
            </a:r>
            <a:r>
              <a:rPr lang="el"/>
              <a:t>. </a:t>
            </a:r>
            <a:endParaRPr/>
          </a:p>
          <a:p>
            <a:pPr indent="-298450" lvl="0" marL="457200" rtl="0" algn="l">
              <a:spcBef>
                <a:spcPts val="0"/>
              </a:spcBef>
              <a:spcAft>
                <a:spcPts val="0"/>
              </a:spcAft>
              <a:buSzPts val="1100"/>
              <a:buChar char="-"/>
            </a:pPr>
            <a:r>
              <a:rPr lang="el"/>
              <a:t>Finally</a:t>
            </a:r>
            <a:r>
              <a:rPr lang="el"/>
              <a:t>, we can even optimize our models for inference. For example a model like GPT-4 cannot be ran on my computer. It needs huge amounts of RAM to make a simple inference. Thats why I will stick with something lighter like a LLAMA-2 with only 7b parameters. Or if even this does not work, I use some techniques to make the model lighter. Prune weights, ditiliation, change weights to float8 and so on.</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98145e9bc1_0_5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98145e9bc1_0_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 good! Now lets move to the next sectio.</a:t>
            </a:r>
            <a:endParaRPr/>
          </a:p>
          <a:p>
            <a:pPr indent="0" lvl="0" marL="0" rtl="0" algn="l">
              <a:spcBef>
                <a:spcPts val="0"/>
              </a:spcBef>
              <a:spcAft>
                <a:spcPts val="0"/>
              </a:spcAft>
              <a:buNone/>
            </a:pPr>
            <a:r>
              <a:rPr lang="el"/>
              <a:t>What are the actual requirement to actual serve a model here?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98145e9bc1_0_7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98145e9bc1_0_7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Lets assume you want to increase your ML performance and you want to use a more </a:t>
            </a:r>
            <a:r>
              <a:rPr lang="el"/>
              <a:t>powerful</a:t>
            </a:r>
            <a:r>
              <a:rPr lang="el"/>
              <a:t> model like a complex NN.</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98145e9bc1_0_6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298145e9bc1_0_6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By increasing the model complexity you need to be aware that other things increase too!</a:t>
            </a:r>
            <a:endParaRPr/>
          </a:p>
          <a:p>
            <a:pPr indent="-298450" lvl="0" marL="457200" rtl="0" algn="l">
              <a:spcBef>
                <a:spcPts val="0"/>
              </a:spcBef>
              <a:spcAft>
                <a:spcPts val="0"/>
              </a:spcAft>
              <a:buSzPts val="1100"/>
              <a:buChar char="-"/>
            </a:pPr>
            <a:r>
              <a:rPr lang="el"/>
              <a:t>The model have more parameters, which </a:t>
            </a:r>
            <a:r>
              <a:rPr lang="el"/>
              <a:t>ideally</a:t>
            </a:r>
            <a:r>
              <a:rPr lang="el"/>
              <a:t> would lead to increase in its prediction accuracy</a:t>
            </a:r>
            <a:endParaRPr/>
          </a:p>
          <a:p>
            <a:pPr indent="-298450" lvl="0" marL="457200" rtl="0" algn="l">
              <a:spcBef>
                <a:spcPts val="0"/>
              </a:spcBef>
              <a:spcAft>
                <a:spcPts val="0"/>
              </a:spcAft>
              <a:buSzPts val="1100"/>
              <a:buChar char="-"/>
            </a:pPr>
            <a:r>
              <a:rPr lang="el"/>
              <a:t>More </a:t>
            </a:r>
            <a:r>
              <a:rPr lang="el"/>
              <a:t>importantly</a:t>
            </a:r>
            <a:r>
              <a:rPr lang="el"/>
              <a:t> the model will have increased latency! More parameters -&gt; slower model!</a:t>
            </a:r>
            <a:endParaRPr/>
          </a:p>
          <a:p>
            <a:pPr indent="0" lvl="0" marL="0" rtl="0" algn="l">
              <a:spcBef>
                <a:spcPts val="0"/>
              </a:spcBef>
              <a:spcAft>
                <a:spcPts val="0"/>
              </a:spcAft>
              <a:buNone/>
            </a:pPr>
            <a:r>
              <a:rPr lang="el"/>
              <a:t>You cannot have it all</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98145e9bc1_0_7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298145e9bc1_0_7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However this not only the case</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298145e9bc1_0_7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298145e9bc1_0_7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Together with complexity we can the cost increasing as well</a:t>
            </a:r>
            <a:endParaRPr/>
          </a:p>
          <a:p>
            <a:pPr indent="-298450" lvl="0" marL="457200" rtl="0" algn="l">
              <a:spcBef>
                <a:spcPts val="0"/>
              </a:spcBef>
              <a:spcAft>
                <a:spcPts val="0"/>
              </a:spcAft>
              <a:buSzPts val="1100"/>
              <a:buChar char="-"/>
            </a:pPr>
            <a:r>
              <a:rPr lang="el"/>
              <a:t>Training a more advanced model requires more resources.</a:t>
            </a:r>
            <a:endParaRPr/>
          </a:p>
          <a:p>
            <a:pPr indent="-298450" lvl="0" marL="457200" rtl="0" algn="l">
              <a:spcBef>
                <a:spcPts val="0"/>
              </a:spcBef>
              <a:spcAft>
                <a:spcPts val="0"/>
              </a:spcAft>
              <a:buSzPts val="1100"/>
              <a:buChar char="-"/>
            </a:pPr>
            <a:r>
              <a:rPr lang="el"/>
              <a:t>It requires a better GPU, a better TPU</a:t>
            </a:r>
            <a:endParaRPr/>
          </a:p>
          <a:p>
            <a:pPr indent="-298450" lvl="0" marL="457200" rtl="0" algn="l">
              <a:spcBef>
                <a:spcPts val="0"/>
              </a:spcBef>
              <a:spcAft>
                <a:spcPts val="0"/>
              </a:spcAft>
              <a:buSzPts val="1100"/>
              <a:buChar char="-"/>
            </a:pPr>
            <a:r>
              <a:rPr lang="el"/>
              <a:t>It requires better Maintenance and so on.</a:t>
            </a:r>
            <a:endParaRPr/>
          </a:p>
          <a:p>
            <a:pPr indent="0" lvl="0" marL="0" rtl="0" algn="l">
              <a:spcBef>
                <a:spcPts val="0"/>
              </a:spcBef>
              <a:spcAft>
                <a:spcPts val="0"/>
              </a:spcAft>
              <a:buNone/>
            </a:pPr>
            <a:r>
              <a:rPr lang="el"/>
              <a:t>So these are things you need to take into consideration when you scale your model!</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98145e9bc1_0_7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298145e9bc1_0_7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And this is the biggest challenge in MLOps.</a:t>
            </a:r>
            <a:endParaRPr/>
          </a:p>
          <a:p>
            <a:pPr indent="0" lvl="0" marL="0" rtl="0" algn="l">
              <a:spcBef>
                <a:spcPts val="0"/>
              </a:spcBef>
              <a:spcAft>
                <a:spcPts val="0"/>
              </a:spcAft>
              <a:buNone/>
            </a:pPr>
            <a:r>
              <a:rPr lang="el"/>
              <a:t>The biggest challenge for a Data scientists, Machine Learning engineering</a:t>
            </a:r>
            <a:endParaRPr/>
          </a:p>
          <a:p>
            <a:pPr indent="0" lvl="0" marL="0" rtl="0" algn="l">
              <a:spcBef>
                <a:spcPts val="0"/>
              </a:spcBef>
              <a:spcAft>
                <a:spcPts val="0"/>
              </a:spcAft>
              <a:buNone/>
            </a:pPr>
            <a:r>
              <a:rPr lang="el"/>
              <a:t>How to find this perfect balance between cost and complexity.</a:t>
            </a:r>
            <a:endParaRPr/>
          </a:p>
          <a:p>
            <a:pPr indent="0" lvl="0" marL="0" rtl="0" algn="l">
              <a:spcBef>
                <a:spcPts val="0"/>
              </a:spcBef>
              <a:spcAft>
                <a:spcPts val="0"/>
              </a:spcAft>
              <a:buNone/>
            </a:pPr>
            <a:r>
              <a:rPr lang="el"/>
              <a:t>This is the most important part!</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298145e9bc1_0_8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298145e9bc1_0_8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Thats what I have been </a:t>
            </a:r>
            <a:r>
              <a:rPr lang="el"/>
              <a:t>saying</a:t>
            </a:r>
            <a:r>
              <a:rPr lang="el"/>
              <a:t> since lecture 1.</a:t>
            </a:r>
            <a:endParaRPr/>
          </a:p>
          <a:p>
            <a:pPr indent="0" lvl="0" marL="0" rtl="0" algn="l">
              <a:spcBef>
                <a:spcPts val="0"/>
              </a:spcBef>
              <a:spcAft>
                <a:spcPts val="0"/>
              </a:spcAft>
              <a:buNone/>
            </a:pPr>
            <a:r>
              <a:rPr lang="el"/>
              <a:t>We want to optimize our ML metric but we need to account for our serving metrics toos!</a:t>
            </a:r>
            <a:endParaRPr/>
          </a:p>
          <a:p>
            <a:pPr indent="0" lvl="0" marL="0" rtl="0" algn="l">
              <a:spcBef>
                <a:spcPts val="0"/>
              </a:spcBef>
              <a:spcAft>
                <a:spcPts val="0"/>
              </a:spcAft>
              <a:buNone/>
            </a:pPr>
            <a:r>
              <a:rPr lang="el"/>
              <a:t>Increasing one might </a:t>
            </a:r>
            <a:r>
              <a:rPr lang="el"/>
              <a:t>potentially</a:t>
            </a:r>
            <a:r>
              <a:rPr lang="el"/>
              <a:t> harm the other. </a:t>
            </a:r>
            <a:endParaRPr/>
          </a:p>
          <a:p>
            <a:pPr indent="0" lvl="0" marL="0" rtl="0" algn="l">
              <a:spcBef>
                <a:spcPts val="0"/>
              </a:spcBef>
              <a:spcAft>
                <a:spcPts val="0"/>
              </a:spcAft>
              <a:buNone/>
            </a:pPr>
            <a:r>
              <a:rPr lang="el"/>
              <a:t>FInding that balance is very crucial!</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98145e9bc1_0_8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298145e9bc1_0_8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 Lets now review a common approach on how to find that a balance.</a:t>
            </a:r>
            <a:endParaRPr/>
          </a:p>
          <a:p>
            <a:pPr indent="-298450" lvl="0" marL="457200" rtl="0" algn="l">
              <a:spcBef>
                <a:spcPts val="0"/>
              </a:spcBef>
              <a:spcAft>
                <a:spcPts val="0"/>
              </a:spcAft>
              <a:buSzPts val="1100"/>
              <a:buChar char="-"/>
            </a:pPr>
            <a:r>
              <a:rPr lang="el"/>
              <a:t>We start on model scoping by picking our </a:t>
            </a:r>
            <a:r>
              <a:rPr lang="el"/>
              <a:t>infrastructures</a:t>
            </a:r>
            <a:r>
              <a:rPr lang="el"/>
              <a:t>. What resources we have and how much we can scale in case we want an increase. This is the first step when we start defining our project</a:t>
            </a:r>
            <a:endParaRPr/>
          </a:p>
          <a:p>
            <a:pPr indent="-298450" lvl="0" marL="457200" rtl="0" algn="l">
              <a:spcBef>
                <a:spcPts val="0"/>
              </a:spcBef>
              <a:spcAft>
                <a:spcPts val="0"/>
              </a:spcAft>
              <a:buSzPts val="1100"/>
              <a:buChar char="-"/>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98145e9bc1_0_9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298145e9bc1_0_9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Then we fit our benchmark, get the performance and slightly start increasing the </a:t>
            </a:r>
            <a:r>
              <a:rPr lang="el"/>
              <a:t>complexity</a:t>
            </a:r>
            <a:r>
              <a:rPr lang="el"/>
              <a:t> of the model to make tests!</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98145e9bc1_0_9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298145e9bc1_0_9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We investigate if we get increased performance. Remember what we said on modelling. We start simple, and </a:t>
            </a:r>
            <a:r>
              <a:rPr lang="el"/>
              <a:t>slightly</a:t>
            </a:r>
            <a:r>
              <a:rPr lang="el"/>
              <a:t> we increase the complexity!</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98145e9bc1_0_9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298145e9bc1_0_9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As we slightly increase complexity we test when we are going to hit our gating metrics, our serving metrics specified in the beginning.</a:t>
            </a:r>
            <a:endParaRPr/>
          </a:p>
          <a:p>
            <a:pPr indent="0" lvl="0" marL="0" rtl="0" algn="l">
              <a:spcBef>
                <a:spcPts val="0"/>
              </a:spcBef>
              <a:spcAft>
                <a:spcPts val="0"/>
              </a:spcAft>
              <a:buNone/>
            </a:pPr>
            <a:r>
              <a:rPr lang="el"/>
              <a:t>This is the limit. This is the highest prediction power we can get given our resources.</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298145e9bc1_0_9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298145e9bc1_0_9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 Then either we accept or we try to come up with smart ways to get higer accuracy with the same number of resources. If we successed that would be great!</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298145e9bc1_0_9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298145e9bc1_0_9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 this is more for IT people but it is good to now. </a:t>
            </a:r>
            <a:endParaRPr/>
          </a:p>
          <a:p>
            <a:pPr indent="0" lvl="0" marL="0" rtl="0" algn="l">
              <a:spcBef>
                <a:spcPts val="0"/>
              </a:spcBef>
              <a:spcAft>
                <a:spcPts val="0"/>
              </a:spcAft>
              <a:buNone/>
            </a:pPr>
            <a:r>
              <a:rPr lang="el"/>
              <a:t>When we </a:t>
            </a:r>
            <a:r>
              <a:rPr lang="el"/>
              <a:t>constantly</a:t>
            </a:r>
            <a:r>
              <a:rPr lang="el"/>
              <a:t> repeat the same steps over and over, its always very nice to apply caching!</a:t>
            </a:r>
            <a:endParaRPr/>
          </a:p>
          <a:p>
            <a:pPr indent="-298450" lvl="0" marL="457200" rtl="0" algn="l">
              <a:spcBef>
                <a:spcPts val="0"/>
              </a:spcBef>
              <a:spcAft>
                <a:spcPts val="0"/>
              </a:spcAft>
              <a:buSzPts val="1100"/>
              <a:buChar char="-"/>
            </a:pPr>
            <a:r>
              <a:rPr lang="el"/>
              <a:t>We need to make sure that we dont spend our resources (an emplooyess time is still a resource) for nothing.</a:t>
            </a:r>
            <a:endParaRPr/>
          </a:p>
          <a:p>
            <a:pPr indent="-298450" lvl="0" marL="457200" rtl="0" algn="l">
              <a:spcBef>
                <a:spcPts val="0"/>
              </a:spcBef>
              <a:spcAft>
                <a:spcPts val="0"/>
              </a:spcAft>
              <a:buSzPts val="1100"/>
              <a:buChar char="-"/>
            </a:pPr>
            <a:r>
              <a:rPr lang="el"/>
              <a:t>This is the job of a Data engineer! He is the one </a:t>
            </a:r>
            <a:r>
              <a:rPr lang="el"/>
              <a:t>responsible</a:t>
            </a:r>
            <a:r>
              <a:rPr lang="el"/>
              <a:t> for </a:t>
            </a:r>
            <a:r>
              <a:rPr lang="el"/>
              <a:t>handling</a:t>
            </a:r>
            <a:r>
              <a:rPr lang="el"/>
              <a:t> this kind of tasks.</a:t>
            </a:r>
            <a:endParaRPr/>
          </a:p>
          <a:p>
            <a:pPr indent="-298450" lvl="0" marL="457200" rtl="0" algn="l">
              <a:spcBef>
                <a:spcPts val="0"/>
              </a:spcBef>
              <a:spcAft>
                <a:spcPts val="0"/>
              </a:spcAft>
              <a:buSzPts val="1100"/>
              <a:buChar char="-"/>
            </a:pPr>
            <a:r>
              <a:rPr lang="el"/>
              <a:t>Data engineers build the pipelines for the data! Its their job to maximize the efficiency and keep resources low!</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298145e9bc1_0_10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298145e9bc1_0_10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 finaly I ll give some examples on how to </a:t>
            </a:r>
            <a:r>
              <a:rPr lang="el"/>
              <a:t>actually</a:t>
            </a:r>
            <a:r>
              <a:rPr lang="el"/>
              <a:t> implement caching. </a:t>
            </a:r>
            <a:endParaRPr/>
          </a:p>
          <a:p>
            <a:pPr indent="0" lvl="0" marL="0" rtl="0" algn="l">
              <a:spcBef>
                <a:spcPts val="0"/>
              </a:spcBef>
              <a:spcAft>
                <a:spcPts val="0"/>
              </a:spcAft>
              <a:buNone/>
            </a:pPr>
            <a:r>
              <a:rPr lang="el"/>
              <a:t>Usually</a:t>
            </a:r>
            <a:r>
              <a:rPr lang="el"/>
              <a:t> and as we will see in the next lecture, most cloud platforms have build-in caching services that we can implement. </a:t>
            </a:r>
            <a:endParaRPr/>
          </a:p>
          <a:p>
            <a:pPr indent="0" lvl="0" marL="0" rtl="0" algn="l">
              <a:spcBef>
                <a:spcPts val="0"/>
              </a:spcBef>
              <a:spcAft>
                <a:spcPts val="0"/>
              </a:spcAft>
              <a:buNone/>
            </a:pPr>
            <a:r>
              <a:rPr lang="el"/>
              <a:t>Depending on what we want to cache, there is a different services. Not so important, please do not pay a lot of attention here</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298145e9bc1_0_10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298145e9bc1_0_10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Allright good! any questions so far? Anything you want to add?</a:t>
            </a:r>
            <a:endParaRPr/>
          </a:p>
          <a:p>
            <a:pPr indent="0" lvl="0" marL="0" rtl="0" algn="l">
              <a:spcBef>
                <a:spcPts val="0"/>
              </a:spcBef>
              <a:spcAft>
                <a:spcPts val="0"/>
              </a:spcAft>
              <a:buNone/>
            </a:pPr>
            <a:r>
              <a:rPr lang="el"/>
              <a:t>Nice, lets proceed on deployment. How to </a:t>
            </a:r>
            <a:r>
              <a:rPr lang="el"/>
              <a:t>actually</a:t>
            </a:r>
            <a:r>
              <a:rPr lang="el"/>
              <a:t> deploy our solutions!</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298145e9bc1_0_1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298145e9bc1_0_1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There are two main options to deploy our model.</a:t>
            </a:r>
            <a:endParaRPr/>
          </a:p>
          <a:p>
            <a:pPr indent="0" lvl="0" marL="0" rtl="0" algn="l">
              <a:spcBef>
                <a:spcPts val="0"/>
              </a:spcBef>
              <a:spcAft>
                <a:spcPts val="0"/>
              </a:spcAft>
              <a:buNone/>
            </a:pPr>
            <a:r>
              <a:rPr lang="el"/>
              <a:t>The first on is to deploy it, by deploying I mean serving, In a huge data center.</a:t>
            </a:r>
            <a:endParaRPr/>
          </a:p>
          <a:p>
            <a:pPr indent="-298450" lvl="0" marL="457200" rtl="0" algn="l">
              <a:spcBef>
                <a:spcPts val="0"/>
              </a:spcBef>
              <a:spcAft>
                <a:spcPts val="0"/>
              </a:spcAft>
              <a:buSzPts val="1100"/>
              <a:buChar char="-"/>
            </a:pPr>
            <a:r>
              <a:rPr lang="el"/>
              <a:t>In that case we have only a single centralized model that is saved somewhere</a:t>
            </a:r>
            <a:endParaRPr/>
          </a:p>
          <a:p>
            <a:pPr indent="-298450" lvl="0" marL="457200" rtl="0" algn="l">
              <a:spcBef>
                <a:spcPts val="0"/>
              </a:spcBef>
              <a:spcAft>
                <a:spcPts val="0"/>
              </a:spcAft>
              <a:buSzPts val="1100"/>
              <a:buChar char="-"/>
            </a:pPr>
            <a:r>
              <a:rPr lang="el"/>
              <a:t>Users then make requests to this centralized model to get predcitons</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298145e9bc1_0_1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298145e9bc1_0_1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The second option is to have our model </a:t>
            </a:r>
            <a:r>
              <a:rPr lang="el"/>
              <a:t>embedded</a:t>
            </a:r>
            <a:r>
              <a:rPr lang="el"/>
              <a:t> in devices and distribute unique instances</a:t>
            </a:r>
            <a:endParaRPr/>
          </a:p>
          <a:p>
            <a:pPr indent="-298450" lvl="0" marL="457200" rtl="0" algn="l">
              <a:spcBef>
                <a:spcPts val="0"/>
              </a:spcBef>
              <a:spcAft>
                <a:spcPts val="0"/>
              </a:spcAft>
              <a:buSzPts val="1100"/>
              <a:buChar char="-"/>
            </a:pPr>
            <a:r>
              <a:rPr lang="el"/>
              <a:t>Every user has a model on its own on his device</a:t>
            </a:r>
            <a:endParaRPr/>
          </a:p>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298145e9bc1_0_1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298145e9bc1_0_1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Lets investigate the case for centralized models.</a:t>
            </a:r>
            <a:endParaRPr/>
          </a:p>
          <a:p>
            <a:pPr indent="-298450" lvl="0" marL="457200" rtl="0" algn="l">
              <a:spcBef>
                <a:spcPts val="0"/>
              </a:spcBef>
              <a:spcAft>
                <a:spcPts val="0"/>
              </a:spcAft>
              <a:buSzPts val="1100"/>
              <a:buChar char="-"/>
            </a:pPr>
            <a:r>
              <a:rPr lang="el"/>
              <a:t>You have a big cloud provider like AWS  Google cloud etc </a:t>
            </a:r>
            <a:endParaRPr/>
          </a:p>
          <a:p>
            <a:pPr indent="-298450" lvl="0" marL="457200" rtl="0" algn="l">
              <a:spcBef>
                <a:spcPts val="0"/>
              </a:spcBef>
              <a:spcAft>
                <a:spcPts val="0"/>
              </a:spcAft>
              <a:buSzPts val="1100"/>
              <a:buChar char="-"/>
            </a:pPr>
            <a:r>
              <a:rPr lang="el"/>
              <a:t>You save your model to their servers </a:t>
            </a:r>
            <a:endParaRPr/>
          </a:p>
          <a:p>
            <a:pPr indent="-298450" lvl="0" marL="457200" rtl="0" algn="l">
              <a:spcBef>
                <a:spcPts val="0"/>
              </a:spcBef>
              <a:spcAft>
                <a:spcPts val="0"/>
              </a:spcAft>
              <a:buSzPts val="1100"/>
              <a:buChar char="-"/>
            </a:pPr>
            <a:r>
              <a:rPr lang="el"/>
              <a:t>Every time a user wants to make a </a:t>
            </a:r>
            <a:r>
              <a:rPr lang="el"/>
              <a:t>predictions</a:t>
            </a:r>
            <a:r>
              <a:rPr lang="el"/>
              <a:t> he makes an API calls to these servers</a:t>
            </a:r>
            <a:endParaRPr/>
          </a:p>
          <a:p>
            <a:pPr indent="0" lvl="0" marL="0" rtl="0" algn="l">
              <a:spcBef>
                <a:spcPts val="0"/>
              </a:spcBef>
              <a:spcAft>
                <a:spcPts val="0"/>
              </a:spcAft>
              <a:buNone/>
            </a:pPr>
            <a:r>
              <a:rPr lang="el"/>
              <a:t>Clouder providers are the ones responsible for optimizing the resources for you.</a:t>
            </a:r>
            <a:endParaRPr/>
          </a:p>
          <a:p>
            <a:pPr indent="0" lvl="0" marL="0" rtl="0" algn="l">
              <a:spcBef>
                <a:spcPts val="0"/>
              </a:spcBef>
              <a:spcAft>
                <a:spcPts val="0"/>
              </a:spcAft>
              <a:buNone/>
            </a:pPr>
            <a:r>
              <a:rPr lang="el"/>
              <a:t>The good thing we this guys is that you pay only for what you need. Not extra!</a:t>
            </a:r>
            <a:endParaRPr/>
          </a:p>
          <a:p>
            <a:pPr indent="0" lvl="0" marL="0" rtl="0" algn="l">
              <a:spcBef>
                <a:spcPts val="0"/>
              </a:spcBef>
              <a:spcAft>
                <a:spcPts val="0"/>
              </a:spcAft>
              <a:buNone/>
            </a:pPr>
            <a:r>
              <a:rPr lang="el"/>
              <a:t>Something we are going to talk about in hte next lecture</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298145e9bc1_0_1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298145e9bc1_0_1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Then when it comes to phone we have a great advantage</a:t>
            </a:r>
            <a:endParaRPr/>
          </a:p>
          <a:p>
            <a:pPr indent="0" lvl="0" marL="0" rtl="0" algn="l">
              <a:spcBef>
                <a:spcPts val="0"/>
              </a:spcBef>
              <a:spcAft>
                <a:spcPts val="0"/>
              </a:spcAft>
              <a:buNone/>
            </a:pPr>
            <a:r>
              <a:rPr lang="el"/>
              <a:t>Its extremely fast! Requests do not have to pass through the web!</a:t>
            </a:r>
            <a:endParaRPr/>
          </a:p>
          <a:p>
            <a:pPr indent="0" lvl="0" marL="0" rtl="0" algn="l">
              <a:spcBef>
                <a:spcPts val="0"/>
              </a:spcBef>
              <a:spcAft>
                <a:spcPts val="0"/>
              </a:spcAft>
              <a:buNone/>
            </a:pPr>
            <a:r>
              <a:rPr lang="el"/>
              <a:t>Inference speeds gains a lot of ground here</a:t>
            </a:r>
            <a:endParaRPr/>
          </a:p>
          <a:p>
            <a:pPr indent="0" lvl="0" marL="0" rtl="0" algn="l">
              <a:spcBef>
                <a:spcPts val="0"/>
              </a:spcBef>
              <a:spcAft>
                <a:spcPts val="0"/>
              </a:spcAft>
              <a:buNone/>
            </a:pPr>
            <a:r>
              <a:rPr lang="el"/>
              <a:t>However.</a:t>
            </a:r>
            <a:endParaRPr/>
          </a:p>
          <a:p>
            <a:pPr indent="0" lvl="0" marL="0" rtl="0" algn="l">
              <a:spcBef>
                <a:spcPts val="0"/>
              </a:spcBef>
              <a:spcAft>
                <a:spcPts val="0"/>
              </a:spcAft>
              <a:buNone/>
            </a:pPr>
            <a:r>
              <a:rPr lang="el"/>
              <a:t>It should be noted that the RAM and the cPU of these devices is not so big so bigger models struggle here!</a:t>
            </a:r>
            <a:endParaRPr/>
          </a:p>
          <a:p>
            <a:pPr indent="0" lvl="0" marL="0" rtl="0" algn="l">
              <a:spcBef>
                <a:spcPts val="0"/>
              </a:spcBef>
              <a:spcAft>
                <a:spcPts val="0"/>
              </a:spcAft>
              <a:buNone/>
            </a:pPr>
            <a:r>
              <a:rPr lang="el"/>
              <a:t>And no one wants to have a super heavy application on its phone!!</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298145e9bc1_0_1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298145e9bc1_0_1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Lets see the tradeoff between the two!</a:t>
            </a:r>
            <a:endParaRPr/>
          </a:p>
          <a:p>
            <a:pPr indent="0" lvl="0" marL="0" rtl="0" algn="l">
              <a:spcBef>
                <a:spcPts val="0"/>
              </a:spcBef>
              <a:spcAft>
                <a:spcPts val="0"/>
              </a:spcAft>
              <a:buNone/>
            </a:pPr>
            <a:r>
              <a:rPr lang="el"/>
              <a:t>On a local device, having a very complex model is not an option. Local devices rarely have the hardware for such models</a:t>
            </a:r>
            <a:endParaRPr/>
          </a:p>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298145e9bc1_0_1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298145e9bc1_0_1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On the other hand, on cloud, you should pay attention that you might sacrifice a lot of latency to make it work. In cases you need decisions on the fly like a self-driving car it might be extremely costly!</a:t>
            </a:r>
            <a:endParaRPr/>
          </a:p>
          <a:p>
            <a:pPr indent="0" lvl="0" marL="0" rtl="0" algn="l">
              <a:spcBef>
                <a:spcPts val="0"/>
              </a:spcBef>
              <a:spcAft>
                <a:spcPts val="0"/>
              </a:spcAft>
              <a:buNone/>
            </a:pPr>
            <a:r>
              <a:rPr lang="el"/>
              <a:t>Thats why self-driving cars have their own “brain”.</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298145e9bc1_0_13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298145e9bc1_0_13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If you want to keep a rule of thumb here, keep in mind that latency is </a:t>
            </a:r>
            <a:r>
              <a:rPr lang="el"/>
              <a:t>usually</a:t>
            </a:r>
            <a:r>
              <a:rPr lang="el"/>
              <a:t> the most important thing. Its what we want to maximize.</a:t>
            </a:r>
            <a:endParaRPr/>
          </a:p>
          <a:p>
            <a:pPr indent="0" lvl="0" marL="0" rtl="0" algn="l">
              <a:spcBef>
                <a:spcPts val="0"/>
              </a:spcBef>
              <a:spcAft>
                <a:spcPts val="0"/>
              </a:spcAft>
              <a:buNone/>
            </a:pPr>
            <a:r>
              <a:rPr lang="el"/>
              <a:t>For that reason having a relative simple model (as we said a GBDT) is </a:t>
            </a:r>
            <a:r>
              <a:rPr lang="el"/>
              <a:t>usually</a:t>
            </a:r>
            <a:r>
              <a:rPr lang="el"/>
              <a:t> a good way forward for local devices.</a:t>
            </a:r>
            <a:endParaRPr/>
          </a:p>
          <a:p>
            <a:pPr indent="-298450" lvl="0" marL="457200" rtl="0" algn="l">
              <a:spcBef>
                <a:spcPts val="0"/>
              </a:spcBef>
              <a:spcAft>
                <a:spcPts val="0"/>
              </a:spcAft>
              <a:buSzPts val="1100"/>
              <a:buChar char="-"/>
            </a:pPr>
            <a:r>
              <a:rPr lang="el"/>
              <a:t>In general, when you can go for local devices. It maximizes inference and thus user experience</a:t>
            </a:r>
            <a:endParaRPr/>
          </a:p>
          <a:p>
            <a:pPr indent="-298450" lvl="0" marL="457200" rtl="0" algn="l">
              <a:spcBef>
                <a:spcPts val="0"/>
              </a:spcBef>
              <a:spcAft>
                <a:spcPts val="0"/>
              </a:spcAft>
              <a:buSzPts val="1100"/>
              <a:buChar char="-"/>
            </a:pPr>
            <a:r>
              <a:rPr lang="el"/>
              <a:t>However when you cant reach the ML metric goal you have set, then cloud might be a better otpion</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29818024ea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29818024ea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Allright to conclude this section!</a:t>
            </a:r>
            <a:endParaRPr/>
          </a:p>
          <a:p>
            <a:pPr indent="0" lvl="0" marL="0" rtl="0" algn="l">
              <a:spcBef>
                <a:spcPts val="0"/>
              </a:spcBef>
              <a:spcAft>
                <a:spcPts val="0"/>
              </a:spcAft>
              <a:buNone/>
            </a:pPr>
            <a:r>
              <a:rPr lang="el"/>
              <a:t>People everything has to do with your application. Thats why in the beginning, during scoping, is extremely essential to decide which are your goals so you know what will be the selections you will make!</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29818024ea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29818024ea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Allright now. Since we are on Lecture 10, lets make an introduction to the cloud…</a:t>
            </a:r>
            <a:endParaRPr/>
          </a:p>
          <a:p>
            <a:pPr indent="0" lvl="0" marL="0" rtl="0" algn="l">
              <a:spcBef>
                <a:spcPts val="0"/>
              </a:spcBef>
              <a:spcAft>
                <a:spcPts val="0"/>
              </a:spcAft>
              <a:buNone/>
            </a:pPr>
            <a:r>
              <a:rPr lang="el"/>
              <a:t>What it looks like to use Cloud for Deploying your models.</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29818024ea6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29818024ea6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This is what we </a:t>
            </a:r>
            <a:r>
              <a:rPr lang="el"/>
              <a:t>typically</a:t>
            </a:r>
            <a:r>
              <a:rPr lang="el"/>
              <a:t> have when we have a model deployed in the c loud</a:t>
            </a:r>
            <a:endParaRPr/>
          </a:p>
          <a:p>
            <a:pPr indent="-298450" lvl="0" marL="457200" rtl="0" algn="l">
              <a:spcBef>
                <a:spcPts val="0"/>
              </a:spcBef>
              <a:spcAft>
                <a:spcPts val="0"/>
              </a:spcAft>
              <a:buSzPts val="1100"/>
              <a:buChar char="-"/>
            </a:pPr>
            <a:r>
              <a:rPr lang="el"/>
              <a:t>Users have a webplatform. You can say streamlit! </a:t>
            </a:r>
            <a:endParaRPr/>
          </a:p>
          <a:p>
            <a:pPr indent="-298450" lvl="0" marL="457200" rtl="0" algn="l">
              <a:spcBef>
                <a:spcPts val="0"/>
              </a:spcBef>
              <a:spcAft>
                <a:spcPts val="0"/>
              </a:spcAft>
              <a:buSzPts val="1100"/>
              <a:buChar char="-"/>
            </a:pPr>
            <a:r>
              <a:rPr lang="el"/>
              <a:t>You have a model wrapped in an API service (say using FastaPI)</a:t>
            </a:r>
            <a:endParaRPr/>
          </a:p>
          <a:p>
            <a:pPr indent="-298450" lvl="0" marL="457200" rtl="0" algn="l">
              <a:spcBef>
                <a:spcPts val="0"/>
              </a:spcBef>
              <a:spcAft>
                <a:spcPts val="0"/>
              </a:spcAft>
              <a:buSzPts val="1100"/>
              <a:buChar char="-"/>
            </a:pPr>
            <a:r>
              <a:rPr lang="el"/>
              <a:t>When the user interacts with the platform to make a request, he contacts the model to get his results</a:t>
            </a:r>
            <a:endParaRPr/>
          </a:p>
          <a:p>
            <a:pPr indent="0" lvl="0" marL="0" rtl="0" algn="l">
              <a:spcBef>
                <a:spcPts val="0"/>
              </a:spcBef>
              <a:spcAft>
                <a:spcPts val="0"/>
              </a:spcAft>
              <a:buNone/>
            </a:pPr>
            <a:r>
              <a:rPr lang="el"/>
              <a:t>This is the usual pipeline we have in our applications</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29818024ea6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29818024ea6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In general, cloud systems are very good for easy deployments at scale.</a:t>
            </a:r>
            <a:endParaRPr/>
          </a:p>
          <a:p>
            <a:pPr indent="0" lvl="0" marL="0" rtl="0" algn="l">
              <a:spcBef>
                <a:spcPts val="0"/>
              </a:spcBef>
              <a:spcAft>
                <a:spcPts val="0"/>
              </a:spcAft>
              <a:buNone/>
            </a:pPr>
            <a:r>
              <a:rPr lang="el"/>
              <a:t>You have big providers like AWS, Google Cloud etc that can serve a lot of customers with minimum effort!</a:t>
            </a:r>
            <a:endParaRPr/>
          </a:p>
          <a:p>
            <a:pPr indent="-298450" lvl="0" marL="457200" rtl="0" algn="l">
              <a:spcBef>
                <a:spcPts val="0"/>
              </a:spcBef>
              <a:spcAft>
                <a:spcPts val="0"/>
              </a:spcAft>
              <a:buSzPts val="1100"/>
              <a:buChar char="-"/>
            </a:pPr>
            <a:r>
              <a:rPr lang="el"/>
              <a:t>Then you have streamlit if you hand hundrendts of users</a:t>
            </a:r>
            <a:endParaRPr/>
          </a:p>
          <a:p>
            <a:pPr indent="-298450" lvl="0" marL="457200" rtl="0" algn="l">
              <a:spcBef>
                <a:spcPts val="0"/>
              </a:spcBef>
              <a:spcAft>
                <a:spcPts val="0"/>
              </a:spcAft>
              <a:buSzPts val="1100"/>
              <a:buChar char="-"/>
            </a:pPr>
            <a:r>
              <a:rPr lang="el"/>
              <a:t>As you go to thousands, you will need to switch to the goal</a:t>
            </a:r>
            <a:endParaRPr/>
          </a:p>
          <a:p>
            <a:pPr indent="0" lvl="0" marL="0" rtl="0" algn="l">
              <a:spcBef>
                <a:spcPts val="0"/>
              </a:spcBef>
              <a:spcAft>
                <a:spcPts val="0"/>
              </a:spcAft>
              <a:buNone/>
            </a:pPr>
            <a:r>
              <a:rPr lang="el"/>
              <a:t>We see some of the good things about the cloud.</a:t>
            </a:r>
            <a:endParaRPr/>
          </a:p>
          <a:p>
            <a:pPr indent="-298450" lvl="0" marL="457200" rtl="0" algn="l">
              <a:spcBef>
                <a:spcPts val="0"/>
              </a:spcBef>
              <a:spcAft>
                <a:spcPts val="0"/>
              </a:spcAft>
              <a:buSzPts val="1100"/>
              <a:buChar char="-"/>
            </a:pPr>
            <a:r>
              <a:rPr lang="el"/>
              <a:t>You pay-as-you. Each prediction is what you are paying for</a:t>
            </a:r>
            <a:endParaRPr/>
          </a:p>
          <a:p>
            <a:pPr indent="-298450" lvl="0" marL="457200" rtl="0" algn="l">
              <a:spcBef>
                <a:spcPts val="0"/>
              </a:spcBef>
              <a:spcAft>
                <a:spcPts val="0"/>
              </a:spcAft>
              <a:buSzPts val="1100"/>
              <a:buChar char="-"/>
            </a:pPr>
            <a:r>
              <a:rPr lang="el"/>
              <a:t>You dont need to design your own web application</a:t>
            </a:r>
            <a:endParaRPr/>
          </a:p>
          <a:p>
            <a:pPr indent="-298450" lvl="0" marL="457200" rtl="0" algn="l">
              <a:spcBef>
                <a:spcPts val="0"/>
              </a:spcBef>
              <a:spcAft>
                <a:spcPts val="0"/>
              </a:spcAft>
              <a:buSzPts val="1100"/>
              <a:buChar char="-"/>
            </a:pPr>
            <a:r>
              <a:rPr lang="el"/>
              <a:t>You can easily deploy your model with just a few lines of code</a:t>
            </a:r>
            <a:endParaRPr/>
          </a:p>
          <a:p>
            <a:pPr indent="-298450" lvl="0" marL="457200" rtl="0" algn="l">
              <a:spcBef>
                <a:spcPts val="0"/>
              </a:spcBef>
              <a:spcAft>
                <a:spcPts val="0"/>
              </a:spcAft>
              <a:buSzPts val="1100"/>
              <a:buChar char="-"/>
            </a:pPr>
            <a:r>
              <a:rPr lang="el"/>
              <a:t>And if something does not work, you can easily </a:t>
            </a:r>
            <a:r>
              <a:rPr lang="el"/>
              <a:t>rollback</a:t>
            </a:r>
            <a:r>
              <a:rPr lang="el"/>
              <a:t> to a previous version of your model!</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29818024ea6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29818024ea6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Now lets see some extra advantages</a:t>
            </a:r>
            <a:endParaRPr/>
          </a:p>
          <a:p>
            <a:pPr indent="-298450" lvl="0" marL="457200" rtl="0" algn="l">
              <a:spcBef>
                <a:spcPts val="0"/>
              </a:spcBef>
              <a:spcAft>
                <a:spcPts val="0"/>
              </a:spcAft>
              <a:buSzPts val="1100"/>
              <a:buChar char="-"/>
            </a:pPr>
            <a:r>
              <a:rPr lang="el"/>
              <a:t>On cloud you can have realtime endpoints. Say you want to have some predictions ready on Monday morning to make some orders. You can set your pipeline to have batch </a:t>
            </a:r>
            <a:r>
              <a:rPr lang="el"/>
              <a:t>predictions</a:t>
            </a:r>
            <a:r>
              <a:rPr lang="el"/>
              <a:t> at Sunday night so everything is ready for Monday</a:t>
            </a:r>
            <a:endParaRPr/>
          </a:p>
          <a:p>
            <a:pPr indent="-298450" lvl="0" marL="457200" rtl="0" algn="l">
              <a:spcBef>
                <a:spcPts val="0"/>
              </a:spcBef>
              <a:spcAft>
                <a:spcPts val="0"/>
              </a:spcAft>
              <a:buSzPts val="1100"/>
              <a:buChar char="-"/>
            </a:pPr>
            <a:r>
              <a:rPr lang="el"/>
              <a:t>You can serve your models from anywhere. Either they are trained on the cloud, or in your local machine</a:t>
            </a:r>
            <a:endParaRPr/>
          </a:p>
          <a:p>
            <a:pPr indent="-298450" lvl="0" marL="457200" rtl="0" algn="l">
              <a:spcBef>
                <a:spcPts val="0"/>
              </a:spcBef>
              <a:spcAft>
                <a:spcPts val="0"/>
              </a:spcAft>
              <a:buSzPts val="1100"/>
              <a:buChar char="-"/>
            </a:pPr>
            <a:r>
              <a:rPr lang="el"/>
              <a:t>You scale </a:t>
            </a:r>
            <a:r>
              <a:rPr lang="el"/>
              <a:t>automatically</a:t>
            </a:r>
            <a:r>
              <a:rPr lang="el"/>
              <a:t>. That means the </a:t>
            </a:r>
            <a:r>
              <a:rPr lang="el"/>
              <a:t>more</a:t>
            </a:r>
            <a:r>
              <a:rPr lang="el"/>
              <a:t> costumers come, you dont have to worry about buying new CPUs. Cloud just assigns </a:t>
            </a:r>
            <a:r>
              <a:rPr lang="el"/>
              <a:t>more</a:t>
            </a:r>
            <a:r>
              <a:rPr lang="el"/>
              <a:t> resources to your end!</a:t>
            </a:r>
            <a:endParaRPr/>
          </a:p>
          <a:p>
            <a:pPr indent="-298450" lvl="0" marL="457200" rtl="0" algn="l">
              <a:spcBef>
                <a:spcPts val="0"/>
              </a:spcBef>
              <a:spcAft>
                <a:spcPts val="0"/>
              </a:spcAft>
              <a:buSzPts val="1100"/>
              <a:buChar char="-"/>
            </a:pPr>
            <a:r>
              <a:rPr lang="el"/>
              <a:t>You cna easily shop </a:t>
            </a:r>
            <a:r>
              <a:rPr lang="el"/>
              <a:t>whatever</a:t>
            </a:r>
            <a:r>
              <a:rPr lang="el"/>
              <a:t> GPUs, TPUs you want with worrying about installing or anything like that</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29818024ea6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 name="Google Shape;425;g29818024ea6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Lets review it a bit here.</a:t>
            </a:r>
            <a:endParaRPr/>
          </a:p>
          <a:p>
            <a:pPr indent="0" lvl="0" marL="0" rtl="0" algn="l">
              <a:spcBef>
                <a:spcPts val="0"/>
              </a:spcBef>
              <a:spcAft>
                <a:spcPts val="0"/>
              </a:spcAft>
              <a:buNone/>
            </a:pPr>
            <a:r>
              <a:rPr lang="el"/>
              <a:t>On Prem we mean train and deploy your model on your own hardware! You have your own servers, your own computers etc</a:t>
            </a:r>
            <a:endParaRPr/>
          </a:p>
          <a:p>
            <a:pPr indent="0" lvl="0" marL="0" rtl="0" algn="l">
              <a:spcBef>
                <a:spcPts val="0"/>
              </a:spcBef>
              <a:spcAft>
                <a:spcPts val="0"/>
              </a:spcAft>
              <a:buNone/>
            </a:pPr>
            <a:r>
              <a:rPr lang="el"/>
              <a:t>This is good if you a simple ML app and you run it for a lot of time so you have perfect knowledge of what going on</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On the other hand you have the cloud where you can easily deploy a new or more new applications</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29818024ea6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29818024ea6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Oke from this slide I want for you to keep that using the Cloud you dont have to worry about </a:t>
            </a:r>
            <a:r>
              <a:rPr lang="el"/>
              <a:t>scaling</a:t>
            </a:r>
            <a:r>
              <a:rPr lang="el"/>
              <a:t> or billing. You only pay whatever you use.</a:t>
            </a:r>
            <a:endParaRPr/>
          </a:p>
          <a:p>
            <a:pPr indent="0" lvl="0" marL="0" rtl="0" algn="l">
              <a:spcBef>
                <a:spcPts val="0"/>
              </a:spcBef>
              <a:spcAft>
                <a:spcPts val="0"/>
              </a:spcAft>
              <a:buNone/>
            </a:pPr>
            <a:r>
              <a:rPr lang="el"/>
              <a:t>You rent a server somewhere and everytime you make an action you are billed an amount.</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29818024ea6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29818024ea6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Good. Now that we have that cleaned lets move to </a:t>
            </a:r>
            <a:r>
              <a:rPr lang="el"/>
              <a:t>scaling</a:t>
            </a:r>
            <a:r>
              <a:rPr lang="el"/>
              <a:t>!</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29818024ea6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29818024ea6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Oke, first of all lets find out why </a:t>
            </a:r>
            <a:r>
              <a:rPr lang="el"/>
              <a:t>scaling</a:t>
            </a:r>
            <a:r>
              <a:rPr lang="el"/>
              <a:t> is important </a:t>
            </a:r>
            <a:endParaRPr/>
          </a:p>
          <a:p>
            <a:pPr indent="-298450" lvl="0" marL="457200" rtl="0" algn="l">
              <a:spcBef>
                <a:spcPts val="0"/>
              </a:spcBef>
              <a:spcAft>
                <a:spcPts val="0"/>
              </a:spcAft>
              <a:buSzPts val="1100"/>
              <a:buChar char="-"/>
            </a:pPr>
            <a:r>
              <a:rPr lang="el"/>
              <a:t>Say we have a very complex model.</a:t>
            </a:r>
            <a:endParaRPr/>
          </a:p>
          <a:p>
            <a:pPr indent="-298450" lvl="0" marL="457200" rtl="0" algn="l">
              <a:spcBef>
                <a:spcPts val="0"/>
              </a:spcBef>
              <a:spcAft>
                <a:spcPts val="0"/>
              </a:spcAft>
              <a:buSzPts val="1100"/>
              <a:buChar char="-"/>
            </a:pPr>
            <a:r>
              <a:rPr lang="el"/>
              <a:t>In order to train this model we need to have a big enough dataset that will lead to good training</a:t>
            </a:r>
            <a:endParaRPr/>
          </a:p>
          <a:p>
            <a:pPr indent="-298450" lvl="0" marL="457200" rtl="0" algn="l">
              <a:spcBef>
                <a:spcPts val="0"/>
              </a:spcBef>
              <a:spcAft>
                <a:spcPts val="0"/>
              </a:spcAft>
              <a:buSzPts val="1100"/>
              <a:buChar char="-"/>
            </a:pPr>
            <a:r>
              <a:rPr lang="el"/>
              <a:t>How do we handle this? </a:t>
            </a:r>
            <a:endParaRPr/>
          </a:p>
          <a:p>
            <a:pPr indent="-298450" lvl="0" marL="457200" rtl="0" algn="l">
              <a:spcBef>
                <a:spcPts val="0"/>
              </a:spcBef>
              <a:spcAft>
                <a:spcPts val="0"/>
              </a:spcAft>
              <a:buSzPts val="1100"/>
              <a:buChar char="-"/>
            </a:pPr>
            <a:r>
              <a:rPr lang="el"/>
              <a:t>How do we handle training complex models on huge datasets</a:t>
            </a:r>
            <a:endParaRPr/>
          </a:p>
          <a:p>
            <a:pPr indent="0" lvl="0" marL="0" rtl="0" algn="l">
              <a:spcBef>
                <a:spcPts val="0"/>
              </a:spcBef>
              <a:spcAft>
                <a:spcPts val="0"/>
              </a:spcAft>
              <a:buNone/>
            </a:pPr>
            <a:r>
              <a:rPr lang="el"/>
              <a:t>Well there are many tricks. One of the most go-to tricks is training distribution. Distribute training to multiple instances by partitioning GPUs and CPUs. </a:t>
            </a:r>
            <a:endParaRPr/>
          </a:p>
          <a:p>
            <a:pPr indent="0" lvl="0" marL="0" rtl="0" algn="l">
              <a:spcBef>
                <a:spcPts val="0"/>
              </a:spcBef>
              <a:spcAft>
                <a:spcPts val="0"/>
              </a:spcAft>
              <a:buNone/>
            </a:pPr>
            <a:r>
              <a:rPr lang="el"/>
              <a:t>So you split your data into many CPUs and GPUs</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29818024ea6_0_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29818024ea6_0_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This is true for inference too! When we have too many costumers we want to scale our inference too. We want to make multiple </a:t>
            </a:r>
            <a:r>
              <a:rPr lang="el"/>
              <a:t>predictions</a:t>
            </a:r>
            <a:r>
              <a:rPr lang="el"/>
              <a:t> fast at the same time!</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29818024ea6_0_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29818024ea6_0_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So the question becomes? How do we scale? How do we effectively increase or hardware to deal with these issues!</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29818024ea6_0_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29818024ea6_0_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There are twoo ways!</a:t>
            </a:r>
            <a:endParaRPr/>
          </a:p>
          <a:p>
            <a:pPr indent="0" lvl="0" marL="0" rtl="0" algn="l">
              <a:spcBef>
                <a:spcPts val="0"/>
              </a:spcBef>
              <a:spcAft>
                <a:spcPts val="0"/>
              </a:spcAft>
              <a:buNone/>
            </a:pPr>
            <a:r>
              <a:rPr lang="el"/>
              <a:t>First we have vertical scaling.</a:t>
            </a:r>
            <a:endParaRPr/>
          </a:p>
          <a:p>
            <a:pPr indent="0" lvl="0" marL="0" rtl="0" algn="l">
              <a:spcBef>
                <a:spcPts val="0"/>
              </a:spcBef>
              <a:spcAft>
                <a:spcPts val="0"/>
              </a:spcAft>
              <a:buNone/>
            </a:pPr>
            <a:r>
              <a:rPr lang="el"/>
              <a:t>We simply upgrade our computer. We add more RAM, more CPUs, etc</a:t>
            </a:r>
            <a:endParaRPr/>
          </a:p>
          <a:p>
            <a:pPr indent="0" lvl="0" marL="0" rtl="0" algn="l">
              <a:spcBef>
                <a:spcPts val="0"/>
              </a:spcBef>
              <a:spcAft>
                <a:spcPts val="0"/>
              </a:spcAft>
              <a:buNone/>
            </a:pPr>
            <a:r>
              <a:rPr lang="el"/>
              <a:t>So we invest  in updating our single computer</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29818024ea6_0_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4" name="Google Shape;474;g29818024ea6_0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Then we have horizontal scaling.</a:t>
            </a:r>
            <a:endParaRPr/>
          </a:p>
          <a:p>
            <a:pPr indent="0" lvl="0" marL="0" rtl="0" algn="l">
              <a:spcBef>
                <a:spcPts val="0"/>
              </a:spcBef>
              <a:spcAft>
                <a:spcPts val="0"/>
              </a:spcAft>
              <a:buNone/>
            </a:pPr>
            <a:r>
              <a:rPr lang="el"/>
              <a:t>What happens here is that add more </a:t>
            </a:r>
            <a:r>
              <a:rPr lang="el"/>
              <a:t>computers</a:t>
            </a:r>
            <a:r>
              <a:rPr lang="el"/>
              <a:t> to our servers</a:t>
            </a:r>
            <a:endParaRPr/>
          </a:p>
          <a:p>
            <a:pPr indent="0" lvl="0" marL="0" rtl="0" algn="l">
              <a:spcBef>
                <a:spcPts val="0"/>
              </a:spcBef>
              <a:spcAft>
                <a:spcPts val="0"/>
              </a:spcAft>
              <a:buNone/>
            </a:pPr>
            <a:r>
              <a:rPr lang="el"/>
              <a:t>In simple words, instead of buying better CPUs, we just add more!</a:t>
            </a:r>
            <a:endParaRPr/>
          </a:p>
          <a:p>
            <a:pPr indent="0" lvl="0" marL="0" rtl="0" algn="l">
              <a:spcBef>
                <a:spcPts val="0"/>
              </a:spcBef>
              <a:spcAft>
                <a:spcPts val="0"/>
              </a:spcAft>
              <a:buNone/>
            </a:pPr>
            <a:r>
              <a:rPr lang="el"/>
              <a:t>We add as many computers as we want, and then we scale back when we meet our requirements.</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29818024ea6_0_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29818024ea6_0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What </a:t>
            </a:r>
            <a:r>
              <a:rPr lang="el"/>
              <a:t>usually</a:t>
            </a:r>
            <a:r>
              <a:rPr lang="el"/>
              <a:t> is the go-to </a:t>
            </a:r>
            <a:r>
              <a:rPr lang="el"/>
              <a:t>nowadays</a:t>
            </a:r>
            <a:r>
              <a:rPr lang="el"/>
              <a:t> is horizonta </a:t>
            </a:r>
            <a:r>
              <a:rPr lang="el"/>
              <a:t>scaling</a:t>
            </a:r>
            <a:r>
              <a:rPr lang="el"/>
              <a:t> over vertical </a:t>
            </a:r>
            <a:r>
              <a:rPr lang="el"/>
              <a:t>scaling</a:t>
            </a:r>
            <a:r>
              <a:rPr lang="el"/>
              <a:t> for a number of reasons</a:t>
            </a:r>
            <a:endParaRPr/>
          </a:p>
          <a:p>
            <a:pPr indent="-298450" lvl="0" marL="457200" rtl="0" algn="l">
              <a:spcBef>
                <a:spcPts val="0"/>
              </a:spcBef>
              <a:spcAft>
                <a:spcPts val="0"/>
              </a:spcAft>
              <a:buSzPts val="1100"/>
              <a:buChar char="-"/>
            </a:pPr>
            <a:r>
              <a:rPr lang="el"/>
              <a:t>First you can grow as much as you need, not mor enot less</a:t>
            </a:r>
            <a:endParaRPr/>
          </a:p>
          <a:p>
            <a:pPr indent="-298450" lvl="0" marL="457200" rtl="0" algn="l">
              <a:spcBef>
                <a:spcPts val="0"/>
              </a:spcBef>
              <a:spcAft>
                <a:spcPts val="0"/>
              </a:spcAft>
              <a:buSzPts val="1100"/>
              <a:buChar char="-"/>
            </a:pPr>
            <a:r>
              <a:rPr lang="el"/>
              <a:t>Its not required to close your server, you simply add more computers!</a:t>
            </a:r>
            <a:endParaRPr/>
          </a:p>
          <a:p>
            <a:pPr indent="-298450" lvl="0" marL="457200" rtl="0" algn="l">
              <a:spcBef>
                <a:spcPts val="0"/>
              </a:spcBef>
              <a:spcAft>
                <a:spcPts val="0"/>
              </a:spcAft>
              <a:buSzPts val="1100"/>
              <a:buChar char="-"/>
            </a:pPr>
            <a:r>
              <a:rPr lang="el"/>
              <a:t>There is no upper </a:t>
            </a:r>
            <a:r>
              <a:rPr lang="el"/>
              <a:t>threshold</a:t>
            </a:r>
            <a:r>
              <a:rPr lang="el"/>
              <a:t>. For </a:t>
            </a:r>
            <a:r>
              <a:rPr lang="el"/>
              <a:t>example</a:t>
            </a:r>
            <a:r>
              <a:rPr lang="el"/>
              <a:t> on a singmple computer you can only reach a limit and then cannot scale more!</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29818024ea6_0_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29818024ea6_0_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We talked about containers and Virtual Machines</a:t>
            </a:r>
            <a:endParaRPr/>
          </a:p>
          <a:p>
            <a:pPr indent="0" lvl="0" marL="0" rtl="0" algn="l">
              <a:spcBef>
                <a:spcPts val="0"/>
              </a:spcBef>
              <a:spcAft>
                <a:spcPts val="0"/>
              </a:spcAft>
              <a:buNone/>
            </a:pPr>
            <a:r>
              <a:rPr lang="el"/>
              <a:t>This is where they come into place!</a:t>
            </a:r>
            <a:endParaRPr/>
          </a:p>
          <a:p>
            <a:pPr indent="0" lvl="0" marL="0" rtl="0" algn="l">
              <a:spcBef>
                <a:spcPts val="0"/>
              </a:spcBef>
              <a:spcAft>
                <a:spcPts val="0"/>
              </a:spcAft>
              <a:buNone/>
            </a:pPr>
            <a:r>
              <a:rPr lang="el"/>
              <a:t>You have simple machine and you just add more  containers!</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29818024ea6_0_5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29818024ea6_0_5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Agai, we have talked about these no need to invest more time here1</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29818024ea6_0_6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29818024ea6_0_6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Instead</a:t>
            </a:r>
            <a:r>
              <a:rPr lang="el"/>
              <a:t> lets move to inference!</a:t>
            </a:r>
            <a:endParaRPr/>
          </a:p>
          <a:p>
            <a:pPr indent="0" lvl="0" marL="0" rtl="0" algn="l">
              <a:spcBef>
                <a:spcPts val="0"/>
              </a:spcBef>
              <a:spcAft>
                <a:spcPts val="0"/>
              </a:spcAft>
              <a:buNone/>
            </a:pPr>
            <a:r>
              <a:rPr lang="el"/>
              <a:t>Lets try to understand what inference is here!</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29818024ea6_0_6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29818024ea6_0_6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We talked about two types of inference!</a:t>
            </a:r>
            <a:endParaRPr/>
          </a:p>
          <a:p>
            <a:pPr indent="0" lvl="0" marL="0" rtl="0" algn="l">
              <a:spcBef>
                <a:spcPts val="0"/>
              </a:spcBef>
              <a:spcAft>
                <a:spcPts val="0"/>
              </a:spcAft>
              <a:buNone/>
            </a:pPr>
            <a:r>
              <a:rPr lang="el"/>
              <a:t>We have online and batch inference!</a:t>
            </a:r>
            <a:endParaRPr/>
          </a:p>
          <a:p>
            <a:pPr indent="-298450" lvl="0" marL="457200" rtl="0" algn="l">
              <a:spcBef>
                <a:spcPts val="0"/>
              </a:spcBef>
              <a:spcAft>
                <a:spcPts val="0"/>
              </a:spcAft>
              <a:buSzPts val="1100"/>
              <a:buChar char="-"/>
            </a:pPr>
            <a:r>
              <a:rPr lang="el"/>
              <a:t>this is a nice meme about reproducibility</a:t>
            </a:r>
            <a:endParaRPr/>
          </a:p>
          <a:p>
            <a:pPr indent="-298450" lvl="0" marL="457200" rtl="0" algn="l">
              <a:spcBef>
                <a:spcPts val="0"/>
              </a:spcBef>
              <a:spcAft>
                <a:spcPts val="0"/>
              </a:spcAft>
              <a:buSzPts val="1100"/>
              <a:buChar char="-"/>
            </a:pPr>
            <a:r>
              <a:rPr lang="el"/>
              <a:t>Something might work for your computer but its not supposed to work everywhere! remember that</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29818024ea6_0_6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29818024ea6_0_6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Lets see how to optimizing latency for Online Inference</a:t>
            </a:r>
            <a:endParaRPr/>
          </a:p>
          <a:p>
            <a:pPr indent="-298450" lvl="0" marL="457200" rtl="0" algn="l">
              <a:spcBef>
                <a:spcPts val="0"/>
              </a:spcBef>
              <a:spcAft>
                <a:spcPts val="0"/>
              </a:spcAft>
              <a:buSzPts val="1100"/>
              <a:buChar char="-"/>
            </a:pPr>
            <a:r>
              <a:rPr lang="el"/>
              <a:t>User “feels” the latency when he passes his data and waits for the results</a:t>
            </a:r>
            <a:endParaRPr/>
          </a:p>
          <a:p>
            <a:pPr indent="-298450" lvl="0" marL="457200" rtl="0" algn="l">
              <a:spcBef>
                <a:spcPts val="0"/>
              </a:spcBef>
              <a:spcAft>
                <a:spcPts val="0"/>
              </a:spcAft>
              <a:buSzPts val="1100"/>
              <a:buChar char="-"/>
            </a:pPr>
            <a:r>
              <a:rPr lang="el"/>
              <a:t>But as we said its not that simple. We might have a huge pipeline that the data needs to go through before making a prediction</a:t>
            </a:r>
            <a:endParaRPr/>
          </a:p>
          <a:p>
            <a:pPr indent="-298450" lvl="0" marL="457200" rtl="0" algn="l">
              <a:spcBef>
                <a:spcPts val="0"/>
              </a:spcBef>
              <a:spcAft>
                <a:spcPts val="0"/>
              </a:spcAft>
              <a:buSzPts val="1100"/>
              <a:buChar char="-"/>
            </a:pPr>
            <a:r>
              <a:rPr lang="el"/>
              <a:t>So always try to optimize latency on the entire application not only the model</a:t>
            </a:r>
            <a:endParaRPr/>
          </a:p>
          <a:p>
            <a:pPr indent="-298450" lvl="0" marL="457200" rtl="0" algn="l">
              <a:spcBef>
                <a:spcPts val="0"/>
              </a:spcBef>
              <a:spcAft>
                <a:spcPts val="0"/>
              </a:spcAft>
              <a:buSzPts val="1100"/>
              <a:buChar char="-"/>
            </a:pPr>
            <a:r>
              <a:rPr lang="el"/>
              <a:t>This is why we had the lecture on production-level code and how we can optimize our code for that!</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29818024ea6_0_6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29818024ea6_0_6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Next on Throughput.</a:t>
            </a:r>
            <a:endParaRPr/>
          </a:p>
          <a:p>
            <a:pPr indent="0" lvl="0" marL="0" rtl="0" algn="l">
              <a:spcBef>
                <a:spcPts val="0"/>
              </a:spcBef>
              <a:spcAft>
                <a:spcPts val="0"/>
              </a:spcAft>
              <a:buNone/>
            </a:pPr>
            <a:r>
              <a:rPr lang="el"/>
              <a:t>Throughput is very important on applications where we dont have costumers or users. This can be a self-driving car, a camera, etc</a:t>
            </a:r>
            <a:endParaRPr/>
          </a:p>
          <a:p>
            <a:pPr indent="0" lvl="0" marL="0" rtl="0" algn="l">
              <a:spcBef>
                <a:spcPts val="0"/>
              </a:spcBef>
              <a:spcAft>
                <a:spcPts val="0"/>
              </a:spcAft>
              <a:buNone/>
            </a:pPr>
            <a:r>
              <a:rPr lang="el"/>
              <a:t>Where we want to satisfy as many events as possible in as little time as possible!</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29818024ea6_0_6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29818024ea6_0_6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Finally we have costs!</a:t>
            </a:r>
            <a:endParaRPr/>
          </a:p>
          <a:p>
            <a:pPr indent="0" lvl="0" marL="0" rtl="0" algn="l">
              <a:spcBef>
                <a:spcPts val="0"/>
              </a:spcBef>
              <a:spcAft>
                <a:spcPts val="0"/>
              </a:spcAft>
              <a:buNone/>
            </a:pPr>
            <a:r>
              <a:rPr lang="el"/>
              <a:t>Costs comes from difference sources.</a:t>
            </a:r>
            <a:endParaRPr/>
          </a:p>
          <a:p>
            <a:pPr indent="-298450" lvl="0" marL="457200" rtl="0" algn="l">
              <a:spcBef>
                <a:spcPts val="0"/>
              </a:spcBef>
              <a:spcAft>
                <a:spcPts val="0"/>
              </a:spcAft>
              <a:buSzPts val="1100"/>
              <a:buChar char="-"/>
            </a:pPr>
            <a:r>
              <a:rPr lang="el"/>
              <a:t>We have to manager our hardware, our software, we need to pay the bills for the guys to set up our pipeline etc</a:t>
            </a:r>
            <a:endParaRPr/>
          </a:p>
          <a:p>
            <a:pPr indent="-298450" lvl="0" marL="457200" rtl="0" algn="l">
              <a:spcBef>
                <a:spcPts val="0"/>
              </a:spcBef>
              <a:spcAft>
                <a:spcPts val="0"/>
              </a:spcAft>
              <a:buSzPts val="1100"/>
              <a:buChar char="-"/>
            </a:pPr>
            <a:r>
              <a:rPr lang="el"/>
              <a:t>Everything should be taken into account</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29818024ea6_0_7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29818024ea6_0_7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There are three areas where we can work on to optimize our inference times</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29818024ea6_0_7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29818024ea6_0_7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First we have the infrstarcutre</a:t>
            </a:r>
            <a:endParaRPr/>
          </a:p>
          <a:p>
            <a:pPr indent="-298450" lvl="0" marL="457200" rtl="0" algn="l">
              <a:spcBef>
                <a:spcPts val="0"/>
              </a:spcBef>
              <a:spcAft>
                <a:spcPts val="0"/>
              </a:spcAft>
              <a:buSzPts val="1100"/>
              <a:buChar char="-"/>
            </a:pPr>
            <a:r>
              <a:rPr lang="el"/>
              <a:t>We need to make sure we find the right place to server our model. </a:t>
            </a:r>
            <a:endParaRPr/>
          </a:p>
          <a:p>
            <a:pPr indent="-298450" lvl="0" marL="457200" rtl="0" algn="l">
              <a:spcBef>
                <a:spcPts val="0"/>
              </a:spcBef>
              <a:spcAft>
                <a:spcPts val="0"/>
              </a:spcAft>
              <a:buSzPts val="1100"/>
              <a:buChar char="-"/>
            </a:pPr>
            <a:r>
              <a:rPr lang="el"/>
              <a:t>Cloud or Local device?</a:t>
            </a:r>
            <a:endParaRPr/>
          </a:p>
          <a:p>
            <a:pPr indent="-298450" lvl="0" marL="457200" rtl="0" algn="l">
              <a:spcBef>
                <a:spcPts val="0"/>
              </a:spcBef>
              <a:spcAft>
                <a:spcPts val="0"/>
              </a:spcAft>
              <a:buSzPts val="1100"/>
              <a:buChar char="-"/>
            </a:pPr>
            <a:r>
              <a:rPr lang="el"/>
              <a:t>We need to make sure we make the right selection to scale effectively (horizonta is the go-to more medium-large applications)</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29818024ea6_0_7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29818024ea6_0_7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Then we have the model we use to make our predictions</a:t>
            </a:r>
            <a:endParaRPr/>
          </a:p>
          <a:p>
            <a:pPr indent="-298450" lvl="0" marL="457200" rtl="0" algn="l">
              <a:spcBef>
                <a:spcPts val="0"/>
              </a:spcBef>
              <a:spcAft>
                <a:spcPts val="0"/>
              </a:spcAft>
              <a:buSzPts val="1100"/>
              <a:buChar char="-"/>
            </a:pPr>
            <a:r>
              <a:rPr lang="el"/>
              <a:t>How much complexity do we need to satisfy our metrics?</a:t>
            </a:r>
            <a:endParaRPr/>
          </a:p>
          <a:p>
            <a:pPr indent="-298450" lvl="0" marL="457200" rtl="0" algn="l">
              <a:spcBef>
                <a:spcPts val="0"/>
              </a:spcBef>
              <a:spcAft>
                <a:spcPts val="0"/>
              </a:spcAft>
              <a:buSzPts val="1100"/>
              <a:buChar char="-"/>
            </a:pPr>
            <a:r>
              <a:rPr lang="el"/>
              <a:t>There is a tradeoff between having high inference speed and accuracy</a:t>
            </a:r>
            <a:endParaRPr/>
          </a:p>
          <a:p>
            <a:pPr indent="-298450" lvl="0" marL="457200" rtl="0" algn="l">
              <a:spcBef>
                <a:spcPts val="0"/>
              </a:spcBef>
              <a:spcAft>
                <a:spcPts val="0"/>
              </a:spcAft>
              <a:buSzPts val="1100"/>
              <a:buChar char="-"/>
            </a:pPr>
            <a:r>
              <a:rPr lang="el"/>
              <a:t>Consider the example. In order to gain a 1% accuracy improvement we make a 10times slower model. Is that something we want??</a:t>
            </a:r>
            <a:endParaRPr/>
          </a:p>
          <a:p>
            <a:pPr indent="0" lvl="0" marL="0" rtl="0" algn="l">
              <a:spcBef>
                <a:spcPts val="0"/>
              </a:spcBef>
              <a:spcAft>
                <a:spcPts val="0"/>
              </a:spcAft>
              <a:buNone/>
            </a:pPr>
            <a:r>
              <a:rPr lang="el"/>
              <a:t>Always look for tha perfect tradeoff, that balance for your application</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29818024ea6_0_7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29818024ea6_0_7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Finally we have the </a:t>
            </a:r>
            <a:r>
              <a:rPr lang="el"/>
              <a:t>inference</a:t>
            </a:r>
            <a:r>
              <a:rPr lang="el"/>
              <a:t> stage.</a:t>
            </a:r>
            <a:endParaRPr/>
          </a:p>
          <a:p>
            <a:pPr indent="0" lvl="0" marL="0" rtl="0" algn="l">
              <a:spcBef>
                <a:spcPts val="0"/>
              </a:spcBef>
              <a:spcAft>
                <a:spcPts val="0"/>
              </a:spcAft>
              <a:buNone/>
            </a:pPr>
            <a:r>
              <a:rPr lang="el"/>
              <a:t>When we we finish training how do we make sure that our model matches the hardware we have to get as fast predictions as possible?</a:t>
            </a:r>
            <a:endParaRPr/>
          </a:p>
          <a:p>
            <a:pPr indent="0" lvl="0" marL="0" rtl="0" algn="l">
              <a:spcBef>
                <a:spcPts val="0"/>
              </a:spcBef>
              <a:spcAft>
                <a:spcPts val="0"/>
              </a:spcAft>
              <a:buNone/>
            </a:pPr>
            <a:r>
              <a:rPr lang="el"/>
              <a:t>This is why production level code and having knowledge of all the stuff we talked on our previous lectures is very important.</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29818024ea6_0_6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29818024ea6_0_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Allright lets see a small introduction to online inference</a:t>
            </a:r>
            <a:endParaRPr/>
          </a:p>
          <a:p>
            <a:pPr indent="0" lvl="0" marL="0" rtl="0" algn="l">
              <a:spcBef>
                <a:spcPts val="0"/>
              </a:spcBef>
              <a:spcAft>
                <a:spcPts val="0"/>
              </a:spcAft>
              <a:buNone/>
            </a:pPr>
            <a:r>
              <a:rPr lang="el"/>
              <a:t>STarting with Online inference</a:t>
            </a:r>
            <a:endParaRPr/>
          </a:p>
          <a:p>
            <a:pPr indent="-298450" lvl="0" marL="457200" rtl="0" algn="l">
              <a:spcBef>
                <a:spcPts val="0"/>
              </a:spcBef>
              <a:spcAft>
                <a:spcPts val="0"/>
              </a:spcAft>
              <a:buSzPts val="1100"/>
              <a:buChar char="-"/>
            </a:pPr>
            <a:r>
              <a:rPr lang="el"/>
              <a:t>In online inference you make predictions in real time</a:t>
            </a:r>
            <a:endParaRPr/>
          </a:p>
          <a:p>
            <a:pPr indent="-298450" lvl="0" marL="457200" rtl="0" algn="l">
              <a:spcBef>
                <a:spcPts val="0"/>
              </a:spcBef>
              <a:spcAft>
                <a:spcPts val="0"/>
              </a:spcAft>
              <a:buSzPts val="1100"/>
              <a:buChar char="-"/>
            </a:pPr>
            <a:r>
              <a:rPr lang="el"/>
              <a:t>Observations come and you get a predictions until you want to pause it</a:t>
            </a:r>
            <a:endParaRPr/>
          </a:p>
          <a:p>
            <a:pPr indent="-298450" lvl="0" marL="457200" rtl="0" algn="l">
              <a:spcBef>
                <a:spcPts val="0"/>
              </a:spcBef>
              <a:spcAft>
                <a:spcPts val="0"/>
              </a:spcAft>
              <a:buSzPts val="1100"/>
              <a:buChar char="-"/>
            </a:pPr>
            <a:r>
              <a:rPr lang="el"/>
              <a:t>This is happening sequantily, one predictions at the time!</a:t>
            </a:r>
            <a:endParaRPr/>
          </a:p>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29818024ea6_0_8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29818024ea6_0_8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Good now moving to batch </a:t>
            </a:r>
            <a:r>
              <a:rPr lang="el"/>
              <a:t>inference</a:t>
            </a:r>
            <a:r>
              <a:rPr lang="el"/>
              <a:t>.</a:t>
            </a:r>
            <a:endParaRPr/>
          </a:p>
          <a:p>
            <a:pPr indent="0" lvl="0" marL="0" rtl="0" algn="l">
              <a:spcBef>
                <a:spcPts val="0"/>
              </a:spcBef>
              <a:spcAft>
                <a:spcPts val="0"/>
              </a:spcAft>
              <a:buNone/>
            </a:pPr>
            <a:r>
              <a:rPr lang="el"/>
              <a:t>Its a bit more used in practise so we going to invest a bit more here</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29818024ea6_0_8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29818024ea6_0_8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This is </a:t>
            </a:r>
            <a:r>
              <a:rPr lang="el"/>
              <a:t>usually</a:t>
            </a:r>
            <a:r>
              <a:rPr lang="el"/>
              <a:t> the process on batch inference.</a:t>
            </a:r>
            <a:endParaRPr/>
          </a:p>
          <a:p>
            <a:pPr indent="0" lvl="0" marL="0" rtl="0" algn="l">
              <a:spcBef>
                <a:spcPts val="0"/>
              </a:spcBef>
              <a:spcAft>
                <a:spcPts val="0"/>
              </a:spcAft>
              <a:buNone/>
            </a:pPr>
            <a:r>
              <a:rPr lang="el"/>
              <a:t>We give the model a batch of input data and we wait for it to make predictions.</a:t>
            </a:r>
            <a:endParaRPr/>
          </a:p>
          <a:p>
            <a:pPr indent="-298450" lvl="0" marL="457200" rtl="0" algn="l">
              <a:spcBef>
                <a:spcPts val="0"/>
              </a:spcBef>
              <a:spcAft>
                <a:spcPts val="0"/>
              </a:spcAft>
              <a:buSzPts val="1100"/>
              <a:buChar char="-"/>
            </a:pPr>
            <a:r>
              <a:rPr lang="el"/>
              <a:t>Usually</a:t>
            </a:r>
            <a:r>
              <a:rPr lang="el"/>
              <a:t> we have set our model to make predictions at specific times on a week or daily</a:t>
            </a:r>
            <a:endParaRPr/>
          </a:p>
          <a:p>
            <a:pPr indent="-298450" lvl="0" marL="457200" rtl="0" algn="l">
              <a:spcBef>
                <a:spcPts val="0"/>
              </a:spcBef>
              <a:spcAft>
                <a:spcPts val="0"/>
              </a:spcAft>
              <a:buSzPts val="1100"/>
              <a:buChar char="-"/>
            </a:pPr>
            <a:r>
              <a:rPr lang="el"/>
              <a:t>We then store these predictions somewhere and we make them available for the user when we want to</a:t>
            </a:r>
            <a:endParaRPr/>
          </a:p>
          <a:p>
            <a:pPr indent="-298450" lvl="0" marL="457200" rtl="0" algn="l">
              <a:spcBef>
                <a:spcPts val="0"/>
              </a:spcBef>
              <a:spcAft>
                <a:spcPts val="0"/>
              </a:spcAft>
              <a:buSzPts val="1100"/>
              <a:buChar char="-"/>
            </a:pPr>
            <a:r>
              <a:rPr lang="el"/>
              <a:t>Batch predictions is used when it takes a lot of time to make predictions in real time</a:t>
            </a:r>
            <a:endParaRPr/>
          </a:p>
          <a:p>
            <a:pPr indent="-298450" lvl="0" marL="457200" rtl="0" algn="l">
              <a:spcBef>
                <a:spcPts val="0"/>
              </a:spcBef>
              <a:spcAft>
                <a:spcPts val="0"/>
              </a:spcAft>
              <a:buSzPts val="1100"/>
              <a:buChar char="-"/>
            </a:pPr>
            <a:r>
              <a:rPr lang="el"/>
              <a:t>Or when we dont have to. </a:t>
            </a:r>
            <a:endParaRPr/>
          </a:p>
          <a:p>
            <a:pPr indent="-298450" lvl="0" marL="457200" rtl="0" algn="l">
              <a:spcBef>
                <a:spcPts val="0"/>
              </a:spcBef>
              <a:spcAft>
                <a:spcPts val="0"/>
              </a:spcAft>
              <a:buSzPts val="1100"/>
              <a:buChar char="-"/>
            </a:pPr>
            <a:r>
              <a:rPr lang="el"/>
              <a:t>Consider for example cases where a human makes a decision based on the results of a model. This is where batch predictions are </a:t>
            </a:r>
            <a:r>
              <a:rPr lang="el"/>
              <a:t>helpful</a:t>
            </a:r>
            <a:r>
              <a:rPr lang="el"/>
              <a:t>!</a:t>
            </a:r>
            <a:endParaRPr/>
          </a:p>
          <a:p>
            <a:pPr indent="-298450" lvl="0" marL="457200" rtl="0" algn="l">
              <a:spcBef>
                <a:spcPts val="0"/>
              </a:spcBef>
              <a:spcAft>
                <a:spcPts val="0"/>
              </a:spcAft>
              <a:buSzPts val="1100"/>
              <a:buChar char="-"/>
            </a:pPr>
            <a:r>
              <a:rPr lang="el"/>
              <a:t>On automated tasks, online inference is more usefull</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29818024ea6_0_8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29818024ea6_0_8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Some advantages!</a:t>
            </a:r>
            <a:endParaRPr/>
          </a:p>
          <a:p>
            <a:pPr indent="-298450" lvl="0" marL="457200" rtl="0" algn="l">
              <a:spcBef>
                <a:spcPts val="0"/>
              </a:spcBef>
              <a:spcAft>
                <a:spcPts val="0"/>
              </a:spcAft>
              <a:buSzPts val="1100"/>
              <a:buChar char="-"/>
            </a:pPr>
            <a:r>
              <a:rPr lang="el"/>
              <a:t>First we dont have to worry for inference time! We can make predictions on a Monday and use them on Sunday</a:t>
            </a:r>
            <a:endParaRPr/>
          </a:p>
          <a:p>
            <a:pPr indent="-298450" lvl="0" marL="457200" rtl="0" algn="l">
              <a:spcBef>
                <a:spcPts val="0"/>
              </a:spcBef>
              <a:spcAft>
                <a:spcPts val="0"/>
              </a:spcAft>
              <a:buSzPts val="1100"/>
              <a:buChar char="-"/>
            </a:pPr>
            <a:r>
              <a:rPr lang="el"/>
              <a:t>Secondly we dont have to cache. We dont have to worry on how much it will take to load my model or data to make a prediction</a:t>
            </a:r>
            <a:endParaRPr/>
          </a:p>
          <a:p>
            <a:pPr indent="-298450" lvl="0" marL="457200" rtl="0" algn="l">
              <a:spcBef>
                <a:spcPts val="0"/>
              </a:spcBef>
              <a:spcAft>
                <a:spcPts val="0"/>
              </a:spcAft>
              <a:buSzPts val="1100"/>
              <a:buChar char="-"/>
            </a:pPr>
            <a:r>
              <a:rPr lang="el"/>
              <a:t>That leads to reduce costs. Something very useufll on big complex pipelines and architectures</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29818024ea6_0_8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29818024ea6_0_8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On the other hand we have some limitations</a:t>
            </a:r>
            <a:endParaRPr/>
          </a:p>
          <a:p>
            <a:pPr indent="-298450" lvl="0" marL="457200" rtl="0" algn="l">
              <a:spcBef>
                <a:spcPts val="0"/>
              </a:spcBef>
              <a:spcAft>
                <a:spcPts val="0"/>
              </a:spcAft>
              <a:buSzPts val="1100"/>
              <a:buChar char="-"/>
            </a:pPr>
            <a:r>
              <a:rPr lang="el"/>
              <a:t>Most </a:t>
            </a:r>
            <a:r>
              <a:rPr lang="el"/>
              <a:t>importantly, given the high latency we cannot use them for real-time purposes</a:t>
            </a:r>
            <a:endParaRPr/>
          </a:p>
          <a:p>
            <a:pPr indent="-298450" lvl="0" marL="457200" rtl="0" algn="l">
              <a:spcBef>
                <a:spcPts val="0"/>
              </a:spcBef>
              <a:spcAft>
                <a:spcPts val="0"/>
              </a:spcAft>
              <a:buSzPts val="1100"/>
              <a:buChar char="-"/>
            </a:pPr>
            <a:r>
              <a:rPr lang="el"/>
              <a:t>If you consider Spotify or Netflix and you want to get a recommendation, you wont get a new recommendation based a new movie you have picked. You will get a recommendation from the set of movies you watch yesterday as predictions were made this morning</a:t>
            </a:r>
            <a:endParaRPr/>
          </a:p>
          <a:p>
            <a:pPr indent="-298450" lvl="0" marL="457200" rtl="0" algn="l">
              <a:spcBef>
                <a:spcPts val="0"/>
              </a:spcBef>
              <a:spcAft>
                <a:spcPts val="0"/>
              </a:spcAft>
              <a:buSzPts val="1100"/>
              <a:buChar char="-"/>
            </a:pPr>
            <a:r>
              <a:rPr lang="el"/>
              <a:t>So its a bit tougher for real-time predictions. You rely more on historical data, what we liked yesterday rather on what we like today!</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29818024ea6_0_9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29818024ea6_0_9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Ok and since we dont worry about latency, we need to worry about </a:t>
            </a:r>
            <a:r>
              <a:rPr lang="el"/>
              <a:t>throughput</a:t>
            </a:r>
            <a:r>
              <a:rPr lang="el"/>
              <a:t>.</a:t>
            </a:r>
            <a:endParaRPr/>
          </a:p>
          <a:p>
            <a:pPr indent="-298450" lvl="0" marL="457200" rtl="0" algn="l">
              <a:spcBef>
                <a:spcPts val="0"/>
              </a:spcBef>
              <a:spcAft>
                <a:spcPts val="0"/>
              </a:spcAft>
              <a:buSzPts val="1100"/>
              <a:buChar char="-"/>
            </a:pPr>
            <a:r>
              <a:rPr lang="el"/>
              <a:t>We want to get as many predictions as possible in a limited time to reduced costs</a:t>
            </a:r>
            <a:endParaRPr/>
          </a:p>
          <a:p>
            <a:pPr indent="-298450" lvl="0" marL="457200" rtl="0" algn="l">
              <a:spcBef>
                <a:spcPts val="0"/>
              </a:spcBef>
              <a:spcAft>
                <a:spcPts val="0"/>
              </a:spcAft>
              <a:buSzPts val="1100"/>
              <a:buChar char="-"/>
            </a:pPr>
            <a:r>
              <a:rPr lang="el"/>
              <a:t>I dont want my server to run </a:t>
            </a:r>
            <a:r>
              <a:rPr lang="el"/>
              <a:t>forever</a:t>
            </a:r>
            <a:r>
              <a:rPr lang="el"/>
              <a:t> so I just open it, give it a banch of data and wait for predictions. The more data I can process at once the better results I have</a:t>
            </a:r>
            <a:endParaRPr/>
          </a:p>
          <a:p>
            <a:pPr indent="0" lvl="0" marL="0" rtl="0" algn="l">
              <a:spcBef>
                <a:spcPts val="0"/>
              </a:spcBef>
              <a:spcAft>
                <a:spcPts val="0"/>
              </a:spcAft>
              <a:buNone/>
            </a:pPr>
            <a:r>
              <a:rPr lang="el"/>
              <a:t>So keep in mind. For batch </a:t>
            </a:r>
            <a:r>
              <a:rPr lang="el"/>
              <a:t>predictions</a:t>
            </a:r>
            <a:r>
              <a:rPr lang="el"/>
              <a:t> we worry for throughput and not latency!</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29818024ea6_0_9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29818024ea6_0_9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Alright. We talked about decreasiny latency. Lets quickly see how we can increase throughput.</a:t>
            </a:r>
            <a:endParaRPr/>
          </a:p>
          <a:p>
            <a:pPr indent="0" lvl="0" marL="0" rtl="0" algn="l">
              <a:spcBef>
                <a:spcPts val="0"/>
              </a:spcBef>
              <a:spcAft>
                <a:spcPts val="0"/>
              </a:spcAft>
              <a:buNone/>
            </a:pPr>
            <a:r>
              <a:rPr lang="el"/>
              <a:t>No big differences! You scale horizontally and vertically!</a:t>
            </a:r>
            <a:endParaRPr/>
          </a:p>
          <a:p>
            <a:pPr indent="-298450" lvl="0" marL="457200" rtl="0" algn="l">
              <a:spcBef>
                <a:spcPts val="0"/>
              </a:spcBef>
              <a:spcAft>
                <a:spcPts val="0"/>
              </a:spcAft>
              <a:buSzPts val="1100"/>
              <a:buChar char="-"/>
            </a:pPr>
            <a:r>
              <a:rPr lang="el"/>
              <a:t>First of all you get some better accelerators like a better GPU or TPU</a:t>
            </a:r>
            <a:endParaRPr/>
          </a:p>
          <a:p>
            <a:pPr indent="-298450" lvl="0" marL="457200" rtl="0" algn="l">
              <a:spcBef>
                <a:spcPts val="0"/>
              </a:spcBef>
              <a:spcAft>
                <a:spcPts val="0"/>
              </a:spcAft>
              <a:buSzPts val="1100"/>
              <a:buChar char="-"/>
            </a:pPr>
            <a:r>
              <a:rPr lang="el"/>
              <a:t>Then you have many workers to parellize your application.</a:t>
            </a:r>
            <a:endParaRPr/>
          </a:p>
          <a:p>
            <a:pPr indent="0" lvl="0" marL="0" rtl="0" algn="l">
              <a:spcBef>
                <a:spcPts val="0"/>
              </a:spcBef>
              <a:spcAft>
                <a:spcPts val="0"/>
              </a:spcAft>
              <a:buNone/>
            </a:pPr>
            <a:r>
              <a:rPr lang="el"/>
              <a:t>Same like latency in some sence</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29818024ea6_0_9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29818024ea6_0_9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Now lets see some examples for batch predictions!</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29818024ea6_0_9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29818024ea6_0_9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29818024ea6_0_9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6" name="Google Shape;636;g29818024ea6_0_9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29818024ea6_0_10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3" name="Google Shape;643;g29818024ea6_0_10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5.png"/><Relationship Id="rId5"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3.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9.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9.png"/><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3.png"/><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1.png"/><Relationship Id="rId4" Type="http://schemas.openxmlformats.org/officeDocument/2006/relationships/image" Target="../media/image2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8.png"/><Relationship Id="rId4" Type="http://schemas.openxmlformats.org/officeDocument/2006/relationships/image" Target="../media/image2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1.png"/><Relationship Id="rId4" Type="http://schemas.openxmlformats.org/officeDocument/2006/relationships/image" Target="../media/image3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4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2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2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9.png"/><Relationship Id="rId4" Type="http://schemas.openxmlformats.org/officeDocument/2006/relationships/image" Target="../media/image3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4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4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3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3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4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4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5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4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53.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39.png"/><Relationship Id="rId4" Type="http://schemas.openxmlformats.org/officeDocument/2006/relationships/image" Target="../media/image5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39.png"/><Relationship Id="rId4" Type="http://schemas.openxmlformats.org/officeDocument/2006/relationships/image" Target="../media/image5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39.png"/><Relationship Id="rId4" Type="http://schemas.openxmlformats.org/officeDocument/2006/relationships/image" Target="../media/image4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4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4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4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45.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5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5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48.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56.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58.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5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 Id="rId3" Type="http://schemas.openxmlformats.org/officeDocument/2006/relationships/image" Target="../media/image49.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l"/>
              <a:t>Cloud for AI</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l"/>
              <a:t>Course 7: </a:t>
            </a:r>
            <a:r>
              <a:rPr lang="el">
                <a:solidFill>
                  <a:srgbClr val="FF00FF"/>
                </a:solidFill>
              </a:rPr>
              <a:t>Introduction to Deployment</a:t>
            </a:r>
            <a:endParaRPr>
              <a:solidFill>
                <a:srgbClr val="FF00FF"/>
              </a:solidFill>
            </a:endParaRPr>
          </a:p>
        </p:txBody>
      </p:sp>
      <p:pic>
        <p:nvPicPr>
          <p:cNvPr id="56" name="Google Shape;56;p13"/>
          <p:cNvPicPr preferRelativeResize="0"/>
          <p:nvPr/>
        </p:nvPicPr>
        <p:blipFill>
          <a:blip r:embed="rId3">
            <a:alphaModFix/>
          </a:blip>
          <a:stretch>
            <a:fillRect/>
          </a:stretch>
        </p:blipFill>
        <p:spPr>
          <a:xfrm>
            <a:off x="596375" y="4041963"/>
            <a:ext cx="8547614" cy="1211975"/>
          </a:xfrm>
          <a:prstGeom prst="rect">
            <a:avLst/>
          </a:prstGeom>
          <a:noFill/>
          <a:ln cap="flat" cmpd="sng" w="9525">
            <a:solidFill>
              <a:schemeClr val="lt1"/>
            </a:solidFill>
            <a:prstDash val="solid"/>
            <a:round/>
            <a:headEnd len="sm" w="sm" type="none"/>
            <a:tailEnd len="sm" w="sm" type="none"/>
          </a:ln>
        </p:spPr>
      </p:pic>
      <p:sp>
        <p:nvSpPr>
          <p:cNvPr id="57" name="Google Shape;57;p13"/>
          <p:cNvSpPr txBox="1"/>
          <p:nvPr>
            <p:ph idx="1" type="subTitle"/>
          </p:nvPr>
        </p:nvSpPr>
        <p:spPr>
          <a:xfrm>
            <a:off x="0" y="4435375"/>
            <a:ext cx="2750100" cy="618000"/>
          </a:xfrm>
          <a:prstGeom prst="rect">
            <a:avLst/>
          </a:prstGeom>
          <a:ln>
            <a:noFill/>
          </a:ln>
        </p:spPr>
        <p:txBody>
          <a:bodyPr anchorCtr="0" anchor="t" bIns="91425" lIns="91425" spcFirstLastPara="1" rIns="91425" wrap="square" tIns="91425">
            <a:normAutofit/>
          </a:bodyPr>
          <a:lstStyle/>
          <a:p>
            <a:pPr indent="0" lvl="0" marL="0" rtl="0" algn="l">
              <a:spcBef>
                <a:spcPts val="0"/>
              </a:spcBef>
              <a:spcAft>
                <a:spcPts val="0"/>
              </a:spcAft>
              <a:buNone/>
            </a:pPr>
            <a:r>
              <a:rPr lang="el" sz="1800">
                <a:solidFill>
                  <a:schemeClr val="dk1"/>
                </a:solidFill>
              </a:rPr>
              <a:t>Filotas Theodosiou</a:t>
            </a:r>
            <a:endParaRPr sz="1800">
              <a:solidFill>
                <a:schemeClr val="dk1"/>
              </a:solidFill>
            </a:endParaRPr>
          </a:p>
        </p:txBody>
      </p:sp>
      <p:pic>
        <p:nvPicPr>
          <p:cNvPr id="58" name="Google Shape;58;p13"/>
          <p:cNvPicPr preferRelativeResize="0"/>
          <p:nvPr/>
        </p:nvPicPr>
        <p:blipFill>
          <a:blip r:embed="rId4">
            <a:alphaModFix/>
          </a:blip>
          <a:stretch>
            <a:fillRect/>
          </a:stretch>
        </p:blipFill>
        <p:spPr>
          <a:xfrm>
            <a:off x="6447225" y="4152422"/>
            <a:ext cx="1101225" cy="9910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l"/>
              <a:t>What are we going to talk about today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Introduction to The Deployment Stage</a:t>
            </a:r>
            <a:endParaRPr/>
          </a:p>
        </p:txBody>
      </p:sp>
      <p:pic>
        <p:nvPicPr>
          <p:cNvPr id="69" name="Google Shape;69;p15"/>
          <p:cNvPicPr preferRelativeResize="0"/>
          <p:nvPr/>
        </p:nvPicPr>
        <p:blipFill>
          <a:blip r:embed="rId3">
            <a:alphaModFix/>
          </a:blip>
          <a:stretch>
            <a:fillRect/>
          </a:stretch>
        </p:blipFill>
        <p:spPr>
          <a:xfrm>
            <a:off x="0" y="1029875"/>
            <a:ext cx="8422674" cy="1621750"/>
          </a:xfrm>
          <a:prstGeom prst="rect">
            <a:avLst/>
          </a:prstGeom>
          <a:noFill/>
          <a:ln>
            <a:noFill/>
          </a:ln>
        </p:spPr>
      </p:pic>
      <p:sp>
        <p:nvSpPr>
          <p:cNvPr id="70" name="Google Shape;70;p15"/>
          <p:cNvSpPr txBox="1"/>
          <p:nvPr/>
        </p:nvSpPr>
        <p:spPr>
          <a:xfrm>
            <a:off x="222525" y="2922350"/>
            <a:ext cx="8520600" cy="205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Deployment:</a:t>
            </a:r>
            <a:r>
              <a:rPr lang="el"/>
              <a:t> Deployment is the process of integrating a trained machine learning model into a production environment to make it available for end-users.</a:t>
            </a:r>
            <a:endParaRPr/>
          </a:p>
          <a:p>
            <a:pPr indent="0" lvl="0" marL="0" rtl="0" algn="l">
              <a:spcBef>
                <a:spcPts val="0"/>
              </a:spcBef>
              <a:spcAft>
                <a:spcPts val="0"/>
              </a:spcAft>
              <a:buNone/>
            </a:pPr>
            <a:r>
              <a:t/>
            </a:r>
            <a:endParaRPr/>
          </a:p>
          <a:p>
            <a:pPr indent="-184150" lvl="0" marL="269999" rtl="0" algn="l">
              <a:spcBef>
                <a:spcPts val="0"/>
              </a:spcBef>
              <a:spcAft>
                <a:spcPts val="0"/>
              </a:spcAft>
              <a:buSzPts val="1400"/>
              <a:buChar char="●"/>
            </a:pPr>
            <a:r>
              <a:rPr lang="el"/>
              <a:t>Serving: Set-up the hardware and software to serve the model predictions on cloud or edge devices</a:t>
            </a:r>
            <a:endParaRPr/>
          </a:p>
          <a:p>
            <a:pPr indent="-184150" lvl="0" marL="269999" rtl="0" algn="l">
              <a:spcBef>
                <a:spcPts val="0"/>
              </a:spcBef>
              <a:spcAft>
                <a:spcPts val="0"/>
              </a:spcAft>
              <a:buSzPts val="1400"/>
              <a:buChar char="●"/>
            </a:pPr>
            <a:r>
              <a:rPr lang="el"/>
              <a:t>Scalability: Ensure the model can handle varying loads from few requests to thousands per second</a:t>
            </a:r>
            <a:endParaRPr/>
          </a:p>
          <a:p>
            <a:pPr indent="-184150" lvl="0" marL="269999" rtl="0" algn="l">
              <a:spcBef>
                <a:spcPts val="0"/>
              </a:spcBef>
              <a:spcAft>
                <a:spcPts val="0"/>
              </a:spcAft>
              <a:buSzPts val="1400"/>
              <a:buChar char="●"/>
            </a:pPr>
            <a:r>
              <a:rPr lang="el"/>
              <a:t>Versioning: Keeping track of different version of the model allowing for rollbacks, A/B tests etc</a:t>
            </a:r>
            <a:endParaRPr/>
          </a:p>
          <a:p>
            <a:pPr indent="-184150" lvl="0" marL="269999" rtl="0" algn="l">
              <a:spcBef>
                <a:spcPts val="0"/>
              </a:spcBef>
              <a:spcAft>
                <a:spcPts val="0"/>
              </a:spcAft>
              <a:buSzPts val="1400"/>
              <a:buChar char="●"/>
            </a:pPr>
            <a:r>
              <a:rPr lang="el"/>
              <a:t>Monitoring: Monitor the performance of the model in the real world and collect feedback</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Deployment is an iterative process! Feedback is used to improve the performance of the model!!</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 “packed” Lecture!</a:t>
            </a:r>
            <a:endParaRPr/>
          </a:p>
        </p:txBody>
      </p:sp>
      <p:sp>
        <p:nvSpPr>
          <p:cNvPr id="76" name="Google Shape;76;p16"/>
          <p:cNvSpPr txBox="1"/>
          <p:nvPr/>
        </p:nvSpPr>
        <p:spPr>
          <a:xfrm>
            <a:off x="354950" y="1198800"/>
            <a:ext cx="8097000" cy="381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rgbClr val="FF00FF"/>
                </a:solidFill>
              </a:rPr>
              <a:t>Important for the oral exam ;)</a:t>
            </a:r>
            <a:endParaRPr sz="1800">
              <a:solidFill>
                <a:srgbClr val="FF00FF"/>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342900" lvl="0" marL="457200" rtl="0" algn="l">
              <a:spcBef>
                <a:spcPts val="0"/>
              </a:spcBef>
              <a:spcAft>
                <a:spcPts val="0"/>
              </a:spcAft>
              <a:buClr>
                <a:schemeClr val="dk2"/>
              </a:buClr>
              <a:buSzPts val="1800"/>
              <a:buChar char="●"/>
            </a:pPr>
            <a:r>
              <a:rPr lang="el" sz="1800">
                <a:solidFill>
                  <a:schemeClr val="dk2"/>
                </a:solidFill>
              </a:rPr>
              <a:t>Intro to Model Serving</a:t>
            </a:r>
            <a:endParaRPr sz="1800">
              <a:solidFill>
                <a:schemeClr val="dk2"/>
              </a:solidFill>
            </a:endParaRPr>
          </a:p>
          <a:p>
            <a:pPr indent="-342900" lvl="0" marL="457200" rtl="0" algn="l">
              <a:spcBef>
                <a:spcPts val="0"/>
              </a:spcBef>
              <a:spcAft>
                <a:spcPts val="0"/>
              </a:spcAft>
              <a:buClr>
                <a:schemeClr val="dk2"/>
              </a:buClr>
              <a:buSzPts val="1800"/>
              <a:buChar char="●"/>
            </a:pPr>
            <a:r>
              <a:rPr lang="el" sz="1800">
                <a:solidFill>
                  <a:schemeClr val="dk2"/>
                </a:solidFill>
              </a:rPr>
              <a:t>Types of Model Serving</a:t>
            </a:r>
            <a:endParaRPr sz="1800">
              <a:solidFill>
                <a:schemeClr val="dk2"/>
              </a:solidFill>
            </a:endParaRPr>
          </a:p>
          <a:p>
            <a:pPr indent="-342900" lvl="0" marL="457200" rtl="0" algn="l">
              <a:spcBef>
                <a:spcPts val="0"/>
              </a:spcBef>
              <a:spcAft>
                <a:spcPts val="0"/>
              </a:spcAft>
              <a:buClr>
                <a:schemeClr val="dk2"/>
              </a:buClr>
              <a:buSzPts val="1800"/>
              <a:buChar char="●"/>
            </a:pPr>
            <a:r>
              <a:rPr lang="el" sz="1800">
                <a:solidFill>
                  <a:schemeClr val="dk2"/>
                </a:solidFill>
              </a:rPr>
              <a:t>Intro to Cloud Deployment</a:t>
            </a:r>
            <a:endParaRPr sz="1800">
              <a:solidFill>
                <a:schemeClr val="dk2"/>
              </a:solidFill>
            </a:endParaRPr>
          </a:p>
          <a:p>
            <a:pPr indent="-342900" lvl="0" marL="457200" rtl="0" algn="l">
              <a:spcBef>
                <a:spcPts val="0"/>
              </a:spcBef>
              <a:spcAft>
                <a:spcPts val="0"/>
              </a:spcAft>
              <a:buClr>
                <a:schemeClr val="dk2"/>
              </a:buClr>
              <a:buSzPts val="1800"/>
              <a:buChar char="●"/>
            </a:pPr>
            <a:r>
              <a:rPr lang="el" sz="1800">
                <a:solidFill>
                  <a:schemeClr val="dk2"/>
                </a:solidFill>
              </a:rPr>
              <a:t>Scaling </a:t>
            </a:r>
            <a:r>
              <a:rPr lang="el" sz="1800">
                <a:solidFill>
                  <a:schemeClr val="dk2"/>
                </a:solidFill>
              </a:rPr>
              <a:t>Infrastructures</a:t>
            </a:r>
            <a:endParaRPr sz="1800">
              <a:solidFill>
                <a:schemeClr val="dk2"/>
              </a:solidFill>
            </a:endParaRPr>
          </a:p>
          <a:p>
            <a:pPr indent="-342900" lvl="0" marL="457200" rtl="0" algn="l">
              <a:spcBef>
                <a:spcPts val="0"/>
              </a:spcBef>
              <a:spcAft>
                <a:spcPts val="0"/>
              </a:spcAft>
              <a:buClr>
                <a:schemeClr val="dk2"/>
              </a:buClr>
              <a:buSzPts val="1800"/>
              <a:buChar char="●"/>
            </a:pPr>
            <a:r>
              <a:rPr lang="el" sz="1800">
                <a:solidFill>
                  <a:schemeClr val="dk2"/>
                </a:solidFill>
              </a:rPr>
              <a:t>Inference</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l"/>
              <a:t>Model Serving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What Exactly is Model Serving?</a:t>
            </a:r>
            <a:endParaRPr/>
          </a:p>
        </p:txBody>
      </p:sp>
      <p:pic>
        <p:nvPicPr>
          <p:cNvPr id="87" name="Google Shape;87;p18"/>
          <p:cNvPicPr preferRelativeResize="0"/>
          <p:nvPr/>
        </p:nvPicPr>
        <p:blipFill rotWithShape="1">
          <a:blip r:embed="rId3">
            <a:alphaModFix/>
          </a:blip>
          <a:srcRect b="69818" l="0" r="0" t="0"/>
          <a:stretch/>
        </p:blipFill>
        <p:spPr>
          <a:xfrm>
            <a:off x="2613625" y="1505275"/>
            <a:ext cx="6461975" cy="7916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What Exactly is Model Serving?</a:t>
            </a:r>
            <a:endParaRPr/>
          </a:p>
        </p:txBody>
      </p:sp>
      <p:pic>
        <p:nvPicPr>
          <p:cNvPr id="93" name="Google Shape;93;p19"/>
          <p:cNvPicPr preferRelativeResize="0"/>
          <p:nvPr/>
        </p:nvPicPr>
        <p:blipFill rotWithShape="1">
          <a:blip r:embed="rId3">
            <a:alphaModFix/>
          </a:blip>
          <a:srcRect b="69818" l="0" r="0" t="0"/>
          <a:stretch/>
        </p:blipFill>
        <p:spPr>
          <a:xfrm>
            <a:off x="2613625" y="1505275"/>
            <a:ext cx="6461975" cy="791650"/>
          </a:xfrm>
          <a:prstGeom prst="rect">
            <a:avLst/>
          </a:prstGeom>
          <a:noFill/>
          <a:ln>
            <a:noFill/>
          </a:ln>
        </p:spPr>
      </p:pic>
      <p:sp>
        <p:nvSpPr>
          <p:cNvPr id="94" name="Google Shape;94;p19"/>
          <p:cNvSpPr txBox="1"/>
          <p:nvPr/>
        </p:nvSpPr>
        <p:spPr>
          <a:xfrm>
            <a:off x="96575" y="1648050"/>
            <a:ext cx="4639800" cy="1847400"/>
          </a:xfrm>
          <a:prstGeom prst="rect">
            <a:avLst/>
          </a:prstGeom>
          <a:noFill/>
          <a:ln>
            <a:noFill/>
          </a:ln>
        </p:spPr>
        <p:txBody>
          <a:bodyPr anchorCtr="0" anchor="t" bIns="91425" lIns="180000" spcFirstLastPara="1" rIns="91425" wrap="square" tIns="91425">
            <a:noAutofit/>
          </a:bodyPr>
          <a:lstStyle/>
          <a:p>
            <a:pPr indent="-268899" lvl="0" marL="179999" rtl="0" algn="l">
              <a:spcBef>
                <a:spcPts val="0"/>
              </a:spcBef>
              <a:spcAft>
                <a:spcPts val="0"/>
              </a:spcAft>
              <a:buSzPts val="1400"/>
              <a:buChar char="●"/>
            </a:pPr>
            <a:r>
              <a:rPr lang="el"/>
              <a:t>Training a good ML model serves nothing on its own</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What Exactly is Model Serving?</a:t>
            </a:r>
            <a:endParaRPr/>
          </a:p>
        </p:txBody>
      </p:sp>
      <p:pic>
        <p:nvPicPr>
          <p:cNvPr id="100" name="Google Shape;100;p20"/>
          <p:cNvPicPr preferRelativeResize="0"/>
          <p:nvPr/>
        </p:nvPicPr>
        <p:blipFill rotWithShape="1">
          <a:blip r:embed="rId3">
            <a:alphaModFix/>
          </a:blip>
          <a:srcRect b="0" l="44493" r="0" t="0"/>
          <a:stretch/>
        </p:blipFill>
        <p:spPr>
          <a:xfrm>
            <a:off x="5488875" y="1505275"/>
            <a:ext cx="3586726" cy="2623000"/>
          </a:xfrm>
          <a:prstGeom prst="rect">
            <a:avLst/>
          </a:prstGeom>
          <a:noFill/>
          <a:ln>
            <a:noFill/>
          </a:ln>
        </p:spPr>
      </p:pic>
      <p:sp>
        <p:nvSpPr>
          <p:cNvPr id="101" name="Google Shape;101;p20"/>
          <p:cNvSpPr txBox="1"/>
          <p:nvPr/>
        </p:nvSpPr>
        <p:spPr>
          <a:xfrm>
            <a:off x="96575" y="1648050"/>
            <a:ext cx="4639800" cy="1847400"/>
          </a:xfrm>
          <a:prstGeom prst="rect">
            <a:avLst/>
          </a:prstGeom>
          <a:noFill/>
          <a:ln>
            <a:noFill/>
          </a:ln>
        </p:spPr>
        <p:txBody>
          <a:bodyPr anchorCtr="0" anchor="t" bIns="91425" lIns="180000" spcFirstLastPara="1" rIns="91425" wrap="square" tIns="91425">
            <a:noAutofit/>
          </a:bodyPr>
          <a:lstStyle/>
          <a:p>
            <a:pPr indent="-268899" lvl="0" marL="179999" rtl="0" algn="l">
              <a:spcBef>
                <a:spcPts val="0"/>
              </a:spcBef>
              <a:spcAft>
                <a:spcPts val="0"/>
              </a:spcAft>
              <a:buSzPts val="1400"/>
              <a:buChar char="●"/>
            </a:pPr>
            <a:r>
              <a:rPr lang="el"/>
              <a:t>Training a good ML model serves nothing on its own</a:t>
            </a:r>
            <a:endParaRPr/>
          </a:p>
          <a:p>
            <a:pPr indent="0" lvl="0" marL="457200" rtl="0" algn="l">
              <a:spcBef>
                <a:spcPts val="0"/>
              </a:spcBef>
              <a:spcAft>
                <a:spcPts val="0"/>
              </a:spcAft>
              <a:buNone/>
            </a:pPr>
            <a:r>
              <a:t/>
            </a:r>
            <a:endParaRPr/>
          </a:p>
          <a:p>
            <a:pPr indent="-268899" lvl="0" marL="179999" rtl="0" algn="l">
              <a:spcBef>
                <a:spcPts val="0"/>
              </a:spcBef>
              <a:spcAft>
                <a:spcPts val="0"/>
              </a:spcAft>
              <a:buSzPts val="1400"/>
              <a:buChar char="●"/>
            </a:pPr>
            <a:r>
              <a:rPr lang="el"/>
              <a:t>You need to make it available for usage</a:t>
            </a:r>
            <a:endParaRPr/>
          </a:p>
          <a:p>
            <a:pPr indent="0" lvl="0" marL="0" rtl="0" algn="l">
              <a:spcBef>
                <a:spcPts val="0"/>
              </a:spcBef>
              <a:spcAft>
                <a:spcPts val="0"/>
              </a:spcAft>
              <a:buNone/>
            </a:pPr>
            <a:r>
              <a:t/>
            </a:r>
            <a:endParaRPr/>
          </a:p>
        </p:txBody>
      </p:sp>
      <p:sp>
        <p:nvSpPr>
          <p:cNvPr id="102" name="Google Shape;102;p20"/>
          <p:cNvSpPr/>
          <p:nvPr/>
        </p:nvSpPr>
        <p:spPr>
          <a:xfrm>
            <a:off x="5349600" y="3401775"/>
            <a:ext cx="1067700" cy="798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20"/>
          <p:cNvSpPr/>
          <p:nvPr/>
        </p:nvSpPr>
        <p:spPr>
          <a:xfrm>
            <a:off x="5303200" y="2254375"/>
            <a:ext cx="486600" cy="798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What Exactly is Model Serving?</a:t>
            </a:r>
            <a:endParaRPr/>
          </a:p>
        </p:txBody>
      </p:sp>
      <p:pic>
        <p:nvPicPr>
          <p:cNvPr id="109" name="Google Shape;109;p21"/>
          <p:cNvPicPr preferRelativeResize="0"/>
          <p:nvPr/>
        </p:nvPicPr>
        <p:blipFill>
          <a:blip r:embed="rId3">
            <a:alphaModFix/>
          </a:blip>
          <a:stretch>
            <a:fillRect/>
          </a:stretch>
        </p:blipFill>
        <p:spPr>
          <a:xfrm>
            <a:off x="2613625" y="1505275"/>
            <a:ext cx="6461975" cy="2623000"/>
          </a:xfrm>
          <a:prstGeom prst="rect">
            <a:avLst/>
          </a:prstGeom>
          <a:noFill/>
          <a:ln>
            <a:noFill/>
          </a:ln>
        </p:spPr>
      </p:pic>
      <p:sp>
        <p:nvSpPr>
          <p:cNvPr id="110" name="Google Shape;110;p21"/>
          <p:cNvSpPr txBox="1"/>
          <p:nvPr/>
        </p:nvSpPr>
        <p:spPr>
          <a:xfrm>
            <a:off x="96575" y="1648050"/>
            <a:ext cx="4639800" cy="1847400"/>
          </a:xfrm>
          <a:prstGeom prst="rect">
            <a:avLst/>
          </a:prstGeom>
          <a:noFill/>
          <a:ln>
            <a:noFill/>
          </a:ln>
        </p:spPr>
        <p:txBody>
          <a:bodyPr anchorCtr="0" anchor="t" bIns="91425" lIns="180000" spcFirstLastPara="1" rIns="91425" wrap="square" tIns="91425">
            <a:noAutofit/>
          </a:bodyPr>
          <a:lstStyle/>
          <a:p>
            <a:pPr indent="-268899" lvl="0" marL="179999" rtl="0" algn="l">
              <a:spcBef>
                <a:spcPts val="0"/>
              </a:spcBef>
              <a:spcAft>
                <a:spcPts val="0"/>
              </a:spcAft>
              <a:buSzPts val="1400"/>
              <a:buChar char="●"/>
            </a:pPr>
            <a:r>
              <a:rPr lang="el"/>
              <a:t>Training a good ML model serves nothing on its own</a:t>
            </a:r>
            <a:endParaRPr/>
          </a:p>
          <a:p>
            <a:pPr indent="0" lvl="0" marL="457200" rtl="0" algn="l">
              <a:spcBef>
                <a:spcPts val="0"/>
              </a:spcBef>
              <a:spcAft>
                <a:spcPts val="0"/>
              </a:spcAft>
              <a:buNone/>
            </a:pPr>
            <a:r>
              <a:t/>
            </a:r>
            <a:endParaRPr/>
          </a:p>
          <a:p>
            <a:pPr indent="-268899" lvl="0" marL="179999" rtl="0" algn="l">
              <a:spcBef>
                <a:spcPts val="0"/>
              </a:spcBef>
              <a:spcAft>
                <a:spcPts val="0"/>
              </a:spcAft>
              <a:buSzPts val="1400"/>
              <a:buChar char="●"/>
            </a:pPr>
            <a:r>
              <a:rPr lang="el"/>
              <a:t>You need to make it available for usage</a:t>
            </a:r>
            <a:endParaRPr/>
          </a:p>
          <a:p>
            <a:pPr indent="0" lvl="0" marL="457200" rtl="0" algn="l">
              <a:spcBef>
                <a:spcPts val="0"/>
              </a:spcBef>
              <a:spcAft>
                <a:spcPts val="0"/>
              </a:spcAft>
              <a:buNone/>
            </a:pPr>
            <a:r>
              <a:t/>
            </a:r>
            <a:endParaRPr/>
          </a:p>
          <a:p>
            <a:pPr indent="-268899" lvl="0" marL="179999" rtl="0" algn="l">
              <a:spcBef>
                <a:spcPts val="0"/>
              </a:spcBef>
              <a:spcAft>
                <a:spcPts val="0"/>
              </a:spcAft>
              <a:buSzPts val="1400"/>
              <a:buChar char="●"/>
            </a:pPr>
            <a:r>
              <a:rPr lang="el"/>
              <a:t>You do that by providing access to it through serving!</a:t>
            </a:r>
            <a:endParaRPr/>
          </a:p>
        </p:txBody>
      </p:sp>
      <p:sp>
        <p:nvSpPr>
          <p:cNvPr id="111" name="Google Shape;111;p21"/>
          <p:cNvSpPr/>
          <p:nvPr/>
        </p:nvSpPr>
        <p:spPr>
          <a:xfrm>
            <a:off x="4811125" y="2250525"/>
            <a:ext cx="1067700" cy="1142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What Exactly is Model Serving?</a:t>
            </a:r>
            <a:endParaRPr/>
          </a:p>
        </p:txBody>
      </p:sp>
      <p:pic>
        <p:nvPicPr>
          <p:cNvPr id="117" name="Google Shape;117;p22"/>
          <p:cNvPicPr preferRelativeResize="0"/>
          <p:nvPr/>
        </p:nvPicPr>
        <p:blipFill>
          <a:blip r:embed="rId3">
            <a:alphaModFix/>
          </a:blip>
          <a:stretch>
            <a:fillRect/>
          </a:stretch>
        </p:blipFill>
        <p:spPr>
          <a:xfrm>
            <a:off x="2613625" y="1505275"/>
            <a:ext cx="6461975" cy="2623000"/>
          </a:xfrm>
          <a:prstGeom prst="rect">
            <a:avLst/>
          </a:prstGeom>
          <a:noFill/>
          <a:ln>
            <a:noFill/>
          </a:ln>
        </p:spPr>
      </p:pic>
      <p:sp>
        <p:nvSpPr>
          <p:cNvPr id="118" name="Google Shape;118;p22"/>
          <p:cNvSpPr txBox="1"/>
          <p:nvPr/>
        </p:nvSpPr>
        <p:spPr>
          <a:xfrm>
            <a:off x="96575" y="1648050"/>
            <a:ext cx="4639800" cy="1847400"/>
          </a:xfrm>
          <a:prstGeom prst="rect">
            <a:avLst/>
          </a:prstGeom>
          <a:noFill/>
          <a:ln>
            <a:noFill/>
          </a:ln>
        </p:spPr>
        <p:txBody>
          <a:bodyPr anchorCtr="0" anchor="t" bIns="91425" lIns="180000" spcFirstLastPara="1" rIns="91425" wrap="square" tIns="91425">
            <a:noAutofit/>
          </a:bodyPr>
          <a:lstStyle/>
          <a:p>
            <a:pPr indent="-268899" lvl="0" marL="179999" rtl="0" algn="l">
              <a:spcBef>
                <a:spcPts val="0"/>
              </a:spcBef>
              <a:spcAft>
                <a:spcPts val="0"/>
              </a:spcAft>
              <a:buSzPts val="1400"/>
              <a:buChar char="●"/>
            </a:pPr>
            <a:r>
              <a:rPr lang="el"/>
              <a:t>Training a good ML model serves nothing on its own</a:t>
            </a:r>
            <a:endParaRPr/>
          </a:p>
          <a:p>
            <a:pPr indent="0" lvl="0" marL="457200" rtl="0" algn="l">
              <a:spcBef>
                <a:spcPts val="0"/>
              </a:spcBef>
              <a:spcAft>
                <a:spcPts val="0"/>
              </a:spcAft>
              <a:buNone/>
            </a:pPr>
            <a:r>
              <a:t/>
            </a:r>
            <a:endParaRPr/>
          </a:p>
          <a:p>
            <a:pPr indent="-268899" lvl="0" marL="179999" rtl="0" algn="l">
              <a:spcBef>
                <a:spcPts val="0"/>
              </a:spcBef>
              <a:spcAft>
                <a:spcPts val="0"/>
              </a:spcAft>
              <a:buSzPts val="1400"/>
              <a:buChar char="●"/>
            </a:pPr>
            <a:r>
              <a:rPr lang="el"/>
              <a:t>You need to make it available for usage</a:t>
            </a:r>
            <a:endParaRPr/>
          </a:p>
          <a:p>
            <a:pPr indent="0" lvl="0" marL="457200" rtl="0" algn="l">
              <a:spcBef>
                <a:spcPts val="0"/>
              </a:spcBef>
              <a:spcAft>
                <a:spcPts val="0"/>
              </a:spcAft>
              <a:buNone/>
            </a:pPr>
            <a:r>
              <a:t/>
            </a:r>
            <a:endParaRPr/>
          </a:p>
          <a:p>
            <a:pPr indent="-268899" lvl="0" marL="179999" rtl="0" algn="l">
              <a:spcBef>
                <a:spcPts val="0"/>
              </a:spcBef>
              <a:spcAft>
                <a:spcPts val="0"/>
              </a:spcAft>
              <a:buSzPts val="1400"/>
              <a:buChar char="●"/>
            </a:pPr>
            <a:r>
              <a:rPr lang="el"/>
              <a:t>You do that by providing access to it through serving!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 Case Study: Speech recognition</a:t>
            </a:r>
            <a:endParaRPr/>
          </a:p>
        </p:txBody>
      </p:sp>
      <p:pic>
        <p:nvPicPr>
          <p:cNvPr id="124" name="Google Shape;124;p23"/>
          <p:cNvPicPr preferRelativeResize="0"/>
          <p:nvPr/>
        </p:nvPicPr>
        <p:blipFill>
          <a:blip r:embed="rId3">
            <a:alphaModFix/>
          </a:blip>
          <a:stretch>
            <a:fillRect/>
          </a:stretch>
        </p:blipFill>
        <p:spPr>
          <a:xfrm>
            <a:off x="0" y="1029875"/>
            <a:ext cx="8422674" cy="1621750"/>
          </a:xfrm>
          <a:prstGeom prst="rect">
            <a:avLst/>
          </a:prstGeom>
          <a:noFill/>
          <a:ln>
            <a:noFill/>
          </a:ln>
        </p:spPr>
      </p:pic>
      <p:pic>
        <p:nvPicPr>
          <p:cNvPr id="125" name="Google Shape;125;p23"/>
          <p:cNvPicPr preferRelativeResize="0"/>
          <p:nvPr/>
        </p:nvPicPr>
        <p:blipFill rotWithShape="1">
          <a:blip r:embed="rId4">
            <a:alphaModFix/>
          </a:blip>
          <a:srcRect b="28641" l="15460" r="15886" t="29429"/>
          <a:stretch/>
        </p:blipFill>
        <p:spPr>
          <a:xfrm>
            <a:off x="618975" y="3198100"/>
            <a:ext cx="2330825" cy="1574600"/>
          </a:xfrm>
          <a:prstGeom prst="rect">
            <a:avLst/>
          </a:prstGeom>
          <a:noFill/>
          <a:ln>
            <a:noFill/>
          </a:ln>
        </p:spPr>
      </p:pic>
      <p:pic>
        <p:nvPicPr>
          <p:cNvPr id="126" name="Google Shape;126;p23"/>
          <p:cNvPicPr preferRelativeResize="0"/>
          <p:nvPr/>
        </p:nvPicPr>
        <p:blipFill>
          <a:blip r:embed="rId5">
            <a:alphaModFix/>
          </a:blip>
          <a:stretch>
            <a:fillRect/>
          </a:stretch>
        </p:blipFill>
        <p:spPr>
          <a:xfrm>
            <a:off x="1192551" y="3823396"/>
            <a:ext cx="407694" cy="679493"/>
          </a:xfrm>
          <a:prstGeom prst="rect">
            <a:avLst/>
          </a:prstGeom>
          <a:noFill/>
          <a:ln>
            <a:noFill/>
          </a:ln>
        </p:spPr>
      </p:pic>
      <p:sp>
        <p:nvSpPr>
          <p:cNvPr id="127" name="Google Shape;127;p23"/>
          <p:cNvSpPr txBox="1"/>
          <p:nvPr/>
        </p:nvSpPr>
        <p:spPr>
          <a:xfrm>
            <a:off x="1600246" y="3899741"/>
            <a:ext cx="860700" cy="597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l" sz="1200"/>
              <a:t>Prediction</a:t>
            </a:r>
            <a:endParaRPr sz="1200"/>
          </a:p>
          <a:p>
            <a:pPr indent="0" lvl="0" marL="0" rtl="0" algn="r">
              <a:spcBef>
                <a:spcPts val="0"/>
              </a:spcBef>
              <a:spcAft>
                <a:spcPts val="0"/>
              </a:spcAft>
              <a:buNone/>
            </a:pPr>
            <a:r>
              <a:rPr lang="el" sz="1200"/>
              <a:t>Server</a:t>
            </a:r>
            <a:endParaRPr sz="1200"/>
          </a:p>
        </p:txBody>
      </p:sp>
      <p:sp>
        <p:nvSpPr>
          <p:cNvPr id="128" name="Google Shape;128;p23"/>
          <p:cNvSpPr/>
          <p:nvPr/>
        </p:nvSpPr>
        <p:spPr>
          <a:xfrm>
            <a:off x="1138343" y="3833626"/>
            <a:ext cx="1385400" cy="6795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200"/>
          </a:p>
        </p:txBody>
      </p:sp>
      <p:sp>
        <p:nvSpPr>
          <p:cNvPr id="129" name="Google Shape;129;p23"/>
          <p:cNvSpPr/>
          <p:nvPr/>
        </p:nvSpPr>
        <p:spPr>
          <a:xfrm>
            <a:off x="3057364" y="3909529"/>
            <a:ext cx="1100700" cy="188700"/>
          </a:xfrm>
          <a:prstGeom prst="rightArrow">
            <a:avLst>
              <a:gd fmla="val 50000" name="adj1"/>
              <a:gd fmla="val 50000" name="adj2"/>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3"/>
          <p:cNvSpPr/>
          <p:nvPr/>
        </p:nvSpPr>
        <p:spPr>
          <a:xfrm rot="10800000">
            <a:off x="3057396" y="3605993"/>
            <a:ext cx="1100700" cy="188700"/>
          </a:xfrm>
          <a:prstGeom prst="rightArrow">
            <a:avLst>
              <a:gd fmla="val 50000" name="adj1"/>
              <a:gd fmla="val 50000" name="adj2"/>
            </a:avLst>
          </a:prstGeom>
          <a:solidFill>
            <a:srgbClr val="434343"/>
          </a:solidFill>
          <a:ln cap="flat" cmpd="sng" w="9525">
            <a:solidFill>
              <a:srgbClr val="1E1E1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3"/>
          <p:cNvSpPr txBox="1"/>
          <p:nvPr/>
        </p:nvSpPr>
        <p:spPr>
          <a:xfrm>
            <a:off x="3134475" y="3348500"/>
            <a:ext cx="1185000" cy="38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 sz="1200"/>
              <a:t>Speech API</a:t>
            </a:r>
            <a:endParaRPr b="1" sz="1200"/>
          </a:p>
        </p:txBody>
      </p:sp>
      <p:sp>
        <p:nvSpPr>
          <p:cNvPr id="132" name="Google Shape;132;p23"/>
          <p:cNvSpPr txBox="1"/>
          <p:nvPr/>
        </p:nvSpPr>
        <p:spPr>
          <a:xfrm>
            <a:off x="3105150" y="3992150"/>
            <a:ext cx="1005000" cy="34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 sz="1200"/>
              <a:t>Transcript</a:t>
            </a:r>
            <a:endParaRPr b="1" sz="1200"/>
          </a:p>
        </p:txBody>
      </p:sp>
      <p:sp>
        <p:nvSpPr>
          <p:cNvPr id="133" name="Google Shape;133;p23"/>
          <p:cNvSpPr/>
          <p:nvPr/>
        </p:nvSpPr>
        <p:spPr>
          <a:xfrm>
            <a:off x="3057302" y="4333779"/>
            <a:ext cx="1100700" cy="188700"/>
          </a:xfrm>
          <a:prstGeom prst="rightArrow">
            <a:avLst>
              <a:gd fmla="val 50000" name="adj1"/>
              <a:gd fmla="val 50000" name="adj2"/>
            </a:avLst>
          </a:prstGeom>
          <a:solidFill>
            <a:srgbClr val="434343"/>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3"/>
          <p:cNvSpPr txBox="1"/>
          <p:nvPr/>
        </p:nvSpPr>
        <p:spPr>
          <a:xfrm>
            <a:off x="3015163" y="4430700"/>
            <a:ext cx="1185000" cy="34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 sz="1200"/>
              <a:t>Classification</a:t>
            </a:r>
            <a:endParaRPr b="1" sz="1200"/>
          </a:p>
        </p:txBody>
      </p:sp>
      <p:sp>
        <p:nvSpPr>
          <p:cNvPr id="135" name="Google Shape;135;p23"/>
          <p:cNvSpPr/>
          <p:nvPr/>
        </p:nvSpPr>
        <p:spPr>
          <a:xfrm>
            <a:off x="4366575" y="2784200"/>
            <a:ext cx="2330700" cy="24024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3"/>
          <p:cNvSpPr txBox="1"/>
          <p:nvPr/>
        </p:nvSpPr>
        <p:spPr>
          <a:xfrm>
            <a:off x="4319475" y="2724150"/>
            <a:ext cx="2498700" cy="34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200"/>
              <a:t>Mobile Phone (Edge Device)</a:t>
            </a:r>
            <a:endParaRPr sz="1200"/>
          </a:p>
        </p:txBody>
      </p:sp>
      <p:sp>
        <p:nvSpPr>
          <p:cNvPr id="137" name="Google Shape;137;p23"/>
          <p:cNvSpPr/>
          <p:nvPr/>
        </p:nvSpPr>
        <p:spPr>
          <a:xfrm>
            <a:off x="4440375" y="3138200"/>
            <a:ext cx="2067900" cy="1836300"/>
          </a:xfrm>
          <a:prstGeom prst="roundRect">
            <a:avLst>
              <a:gd fmla="val 16667" name="adj"/>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3"/>
          <p:cNvSpPr txBox="1"/>
          <p:nvPr/>
        </p:nvSpPr>
        <p:spPr>
          <a:xfrm>
            <a:off x="4571421" y="3165750"/>
            <a:ext cx="1686600" cy="481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l" sz="1200"/>
              <a:t>Local Software</a:t>
            </a:r>
            <a:endParaRPr sz="1200"/>
          </a:p>
        </p:txBody>
      </p:sp>
      <p:sp>
        <p:nvSpPr>
          <p:cNvPr id="139" name="Google Shape;139;p23"/>
          <p:cNvSpPr/>
          <p:nvPr/>
        </p:nvSpPr>
        <p:spPr>
          <a:xfrm>
            <a:off x="4504150" y="3769838"/>
            <a:ext cx="760800" cy="4179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sz="1100"/>
              <a:t>VAD </a:t>
            </a:r>
            <a:endParaRPr sz="1100"/>
          </a:p>
          <a:p>
            <a:pPr indent="0" lvl="0" marL="0" rtl="0" algn="ctr">
              <a:spcBef>
                <a:spcPts val="0"/>
              </a:spcBef>
              <a:spcAft>
                <a:spcPts val="0"/>
              </a:spcAft>
              <a:buNone/>
            </a:pPr>
            <a:r>
              <a:rPr lang="el" sz="1100"/>
              <a:t>Module</a:t>
            </a:r>
            <a:endParaRPr sz="1100"/>
          </a:p>
        </p:txBody>
      </p:sp>
      <p:sp>
        <p:nvSpPr>
          <p:cNvPr id="140" name="Google Shape;140;p23"/>
          <p:cNvSpPr/>
          <p:nvPr/>
        </p:nvSpPr>
        <p:spPr>
          <a:xfrm>
            <a:off x="4657575" y="4392750"/>
            <a:ext cx="1633500" cy="4179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a:t>Frontend Code</a:t>
            </a:r>
            <a:endParaRPr/>
          </a:p>
        </p:txBody>
      </p:sp>
      <p:sp>
        <p:nvSpPr>
          <p:cNvPr id="141" name="Google Shape;141;p23"/>
          <p:cNvSpPr/>
          <p:nvPr/>
        </p:nvSpPr>
        <p:spPr>
          <a:xfrm>
            <a:off x="5440300" y="3769838"/>
            <a:ext cx="1005000" cy="417900"/>
          </a:xfrm>
          <a:prstGeom prst="rect">
            <a:avLst/>
          </a:prstGeom>
          <a:no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l" sz="1100"/>
              <a:t>Microphone</a:t>
            </a:r>
            <a:endParaRPr sz="1100"/>
          </a:p>
        </p:txBody>
      </p:sp>
      <p:cxnSp>
        <p:nvCxnSpPr>
          <p:cNvPr id="142" name="Google Shape;142;p23"/>
          <p:cNvCxnSpPr>
            <a:stCxn id="141" idx="1"/>
            <a:endCxn id="139" idx="3"/>
          </p:cNvCxnSpPr>
          <p:nvPr/>
        </p:nvCxnSpPr>
        <p:spPr>
          <a:xfrm rot="10800000">
            <a:off x="5265100" y="3978788"/>
            <a:ext cx="175200" cy="0"/>
          </a:xfrm>
          <a:prstGeom prst="straightConnector1">
            <a:avLst/>
          </a:prstGeom>
          <a:noFill/>
          <a:ln cap="flat" cmpd="sng" w="19050">
            <a:solidFill>
              <a:schemeClr val="dk2"/>
            </a:solidFill>
            <a:prstDash val="solid"/>
            <a:round/>
            <a:headEnd len="med" w="med" type="none"/>
            <a:tailEnd len="med" w="med" type="triangle"/>
          </a:ln>
        </p:spPr>
      </p:cxnSp>
      <p:sp>
        <p:nvSpPr>
          <p:cNvPr id="143" name="Google Shape;143;p23"/>
          <p:cNvSpPr txBox="1"/>
          <p:nvPr/>
        </p:nvSpPr>
        <p:spPr>
          <a:xfrm>
            <a:off x="6905750" y="3494375"/>
            <a:ext cx="1443300" cy="83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Voice </a:t>
            </a:r>
            <a:endParaRPr/>
          </a:p>
          <a:p>
            <a:pPr indent="0" lvl="0" marL="0" rtl="0" algn="l">
              <a:spcBef>
                <a:spcPts val="0"/>
              </a:spcBef>
              <a:spcAft>
                <a:spcPts val="0"/>
              </a:spcAft>
              <a:buNone/>
            </a:pPr>
            <a:r>
              <a:rPr lang="el"/>
              <a:t>Detection and</a:t>
            </a:r>
            <a:endParaRPr/>
          </a:p>
          <a:p>
            <a:pPr indent="0" lvl="0" marL="0" rtl="0" algn="l">
              <a:spcBef>
                <a:spcPts val="0"/>
              </a:spcBef>
              <a:spcAft>
                <a:spcPts val="0"/>
              </a:spcAft>
              <a:buNone/>
            </a:pPr>
            <a:r>
              <a:rPr lang="el"/>
              <a:t>Classification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 Quick Note!</a:t>
            </a:r>
            <a:endParaRPr/>
          </a:p>
        </p:txBody>
      </p:sp>
      <p:sp>
        <p:nvSpPr>
          <p:cNvPr id="149" name="Google Shape;149;p24"/>
          <p:cNvSpPr txBox="1"/>
          <p:nvPr/>
        </p:nvSpPr>
        <p:spPr>
          <a:xfrm>
            <a:off x="122750" y="1662700"/>
            <a:ext cx="6077700" cy="266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rgbClr val="FF00FF"/>
                </a:solidFill>
              </a:rPr>
              <a:t>Deployment in general is the core of MLOps </a:t>
            </a:r>
            <a:endParaRPr sz="1600">
              <a:solidFill>
                <a:srgbClr val="FF00FF"/>
              </a:solidFill>
            </a:endParaRPr>
          </a:p>
          <a:p>
            <a:pPr indent="0" lvl="0" marL="0" rtl="0" algn="l">
              <a:spcBef>
                <a:spcPts val="0"/>
              </a:spcBef>
              <a:spcAft>
                <a:spcPts val="0"/>
              </a:spcAft>
              <a:buNone/>
            </a:pPr>
            <a:r>
              <a:rPr lang="el" sz="1600"/>
              <a:t>A good ML engineer should be very good with deploying models!</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l" sz="1600"/>
              <a:t>We will talk about important theoretical concept on deployment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l" sz="1600"/>
              <a:t>Later we will get familiar with some tools for model serving!</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p:txBody>
      </p:sp>
      <p:pic>
        <p:nvPicPr>
          <p:cNvPr id="150" name="Google Shape;150;p24"/>
          <p:cNvPicPr preferRelativeResize="0"/>
          <p:nvPr/>
        </p:nvPicPr>
        <p:blipFill>
          <a:blip r:embed="rId3">
            <a:alphaModFix/>
          </a:blip>
          <a:stretch>
            <a:fillRect/>
          </a:stretch>
        </p:blipFill>
        <p:spPr>
          <a:xfrm>
            <a:off x="6352850" y="1170125"/>
            <a:ext cx="2638751" cy="297739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Model Serving Patterns</a:t>
            </a:r>
            <a:endParaRPr/>
          </a:p>
        </p:txBody>
      </p:sp>
      <p:sp>
        <p:nvSpPr>
          <p:cNvPr id="156" name="Google Shape;156;p25"/>
          <p:cNvSpPr txBox="1"/>
          <p:nvPr/>
        </p:nvSpPr>
        <p:spPr>
          <a:xfrm>
            <a:off x="1617125" y="2379475"/>
            <a:ext cx="2187600" cy="15261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SzPts val="1600"/>
              <a:buChar char="●"/>
            </a:pPr>
            <a:r>
              <a:rPr lang="el" sz="1600"/>
              <a:t>A fitted model</a:t>
            </a:r>
            <a:endParaRPr sz="1600"/>
          </a:p>
          <a:p>
            <a:pPr indent="-330200" lvl="0" marL="457200" rtl="0" algn="l">
              <a:lnSpc>
                <a:spcPct val="150000"/>
              </a:lnSpc>
              <a:spcBef>
                <a:spcPts val="0"/>
              </a:spcBef>
              <a:spcAft>
                <a:spcPts val="0"/>
              </a:spcAft>
              <a:buSzPts val="1600"/>
              <a:buChar char="●"/>
            </a:pPr>
            <a:r>
              <a:rPr lang="el" sz="1600"/>
              <a:t>An interpreter </a:t>
            </a:r>
            <a:endParaRPr sz="1600"/>
          </a:p>
          <a:p>
            <a:pPr indent="-330200" lvl="0" marL="457200" rtl="0" algn="l">
              <a:lnSpc>
                <a:spcPct val="150000"/>
              </a:lnSpc>
              <a:spcBef>
                <a:spcPts val="0"/>
              </a:spcBef>
              <a:spcAft>
                <a:spcPts val="0"/>
              </a:spcAft>
              <a:buSzPts val="1600"/>
              <a:buChar char="●"/>
            </a:pPr>
            <a:r>
              <a:rPr lang="el" sz="1600"/>
              <a:t>Input data</a:t>
            </a:r>
            <a:endParaRPr sz="1600"/>
          </a:p>
        </p:txBody>
      </p:sp>
      <p:sp>
        <p:nvSpPr>
          <p:cNvPr id="157" name="Google Shape;157;p25"/>
          <p:cNvSpPr txBox="1"/>
          <p:nvPr/>
        </p:nvSpPr>
        <p:spPr>
          <a:xfrm>
            <a:off x="4039500" y="2724025"/>
            <a:ext cx="2979900" cy="648000"/>
          </a:xfrm>
          <a:prstGeom prst="rect">
            <a:avLst/>
          </a:prstGeom>
          <a:noFill/>
          <a:ln>
            <a:noFill/>
          </a:ln>
        </p:spPr>
        <p:txBody>
          <a:bodyPr anchorCtr="0" anchor="t" bIns="91425" lIns="91425" spcFirstLastPara="1" rIns="91425" wrap="square" tIns="91425">
            <a:noAutofit/>
          </a:bodyPr>
          <a:lstStyle/>
          <a:p>
            <a:pPr indent="0" lvl="0" marL="457200" rtl="0" algn="l">
              <a:lnSpc>
                <a:spcPct val="150000"/>
              </a:lnSpc>
              <a:spcBef>
                <a:spcPts val="0"/>
              </a:spcBef>
              <a:spcAft>
                <a:spcPts val="0"/>
              </a:spcAft>
              <a:buNone/>
            </a:pPr>
            <a:r>
              <a:rPr lang="el" sz="1600"/>
              <a:t>Inference Process</a:t>
            </a:r>
            <a:endParaRPr sz="1600"/>
          </a:p>
        </p:txBody>
      </p:sp>
      <p:sp>
        <p:nvSpPr>
          <p:cNvPr id="158" name="Google Shape;158;p25"/>
          <p:cNvSpPr/>
          <p:nvPr/>
        </p:nvSpPr>
        <p:spPr>
          <a:xfrm>
            <a:off x="4039500" y="2443500"/>
            <a:ext cx="352200" cy="981900"/>
          </a:xfrm>
          <a:prstGeom prst="rightBrace">
            <a:avLst>
              <a:gd fmla="val 50000" name="adj1"/>
              <a:gd fmla="val 50000" name="adj2"/>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5"/>
          <p:cNvSpPr txBox="1"/>
          <p:nvPr/>
        </p:nvSpPr>
        <p:spPr>
          <a:xfrm>
            <a:off x="4391700" y="2379475"/>
            <a:ext cx="1577100" cy="472200"/>
          </a:xfrm>
          <a:prstGeom prst="rect">
            <a:avLst/>
          </a:prstGeom>
          <a:noFill/>
          <a:ln>
            <a:noFill/>
          </a:ln>
        </p:spPr>
        <p:txBody>
          <a:bodyPr anchorCtr="0" anchor="t" bIns="91425" lIns="91425" spcFirstLastPara="1" rIns="91425" wrap="square" tIns="91425">
            <a:noAutofit/>
          </a:bodyPr>
          <a:lstStyle/>
          <a:p>
            <a:pPr indent="0" lvl="0" marL="457200" rtl="0" algn="l">
              <a:lnSpc>
                <a:spcPct val="150000"/>
              </a:lnSpc>
              <a:spcBef>
                <a:spcPts val="0"/>
              </a:spcBef>
              <a:spcAft>
                <a:spcPts val="0"/>
              </a:spcAft>
              <a:buNone/>
            </a:pPr>
            <a:r>
              <a:rPr lang="el" sz="1600"/>
              <a:t>Used for</a:t>
            </a:r>
            <a:endParaRPr sz="1600"/>
          </a:p>
        </p:txBody>
      </p:sp>
      <p:sp>
        <p:nvSpPr>
          <p:cNvPr id="160" name="Google Shape;160;p25"/>
          <p:cNvSpPr txBox="1"/>
          <p:nvPr/>
        </p:nvSpPr>
        <p:spPr>
          <a:xfrm>
            <a:off x="343425" y="1180550"/>
            <a:ext cx="5265900" cy="84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rgbClr val="FF00FF"/>
                </a:solidFill>
              </a:rPr>
              <a:t>Three key components in serving a model</a:t>
            </a:r>
            <a:endParaRPr sz="1800">
              <a:solidFill>
                <a:srgbClr val="FF00FF"/>
              </a:solidFill>
            </a:endParaRPr>
          </a:p>
        </p:txBody>
      </p:sp>
      <p:sp>
        <p:nvSpPr>
          <p:cNvPr id="161" name="Google Shape;161;p25"/>
          <p:cNvSpPr/>
          <p:nvPr/>
        </p:nvSpPr>
        <p:spPr>
          <a:xfrm>
            <a:off x="1510150" y="2183000"/>
            <a:ext cx="4986600" cy="15699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ML workflows</a:t>
            </a:r>
            <a:endParaRPr/>
          </a:p>
        </p:txBody>
      </p:sp>
      <p:sp>
        <p:nvSpPr>
          <p:cNvPr id="167" name="Google Shape;167;p26"/>
          <p:cNvSpPr txBox="1"/>
          <p:nvPr/>
        </p:nvSpPr>
        <p:spPr>
          <a:xfrm>
            <a:off x="-183025" y="2459200"/>
            <a:ext cx="3276000" cy="1013700"/>
          </a:xfrm>
          <a:prstGeom prst="rect">
            <a:avLst/>
          </a:prstGeom>
          <a:noFill/>
          <a:ln>
            <a:noFill/>
          </a:ln>
        </p:spPr>
        <p:txBody>
          <a:bodyPr anchorCtr="0" anchor="t" bIns="91425" lIns="91425" spcFirstLastPara="1" rIns="91425" wrap="square" tIns="91425">
            <a:noAutofit/>
          </a:bodyPr>
          <a:lstStyle/>
          <a:p>
            <a:pPr indent="-196850" lvl="0" marL="360000" rtl="0" algn="l">
              <a:lnSpc>
                <a:spcPct val="150000"/>
              </a:lnSpc>
              <a:spcBef>
                <a:spcPts val="0"/>
              </a:spcBef>
              <a:spcAft>
                <a:spcPts val="0"/>
              </a:spcAft>
              <a:buClr>
                <a:srgbClr val="FF00FF"/>
              </a:buClr>
              <a:buSzPts val="1600"/>
              <a:buChar char="●"/>
            </a:pPr>
            <a:r>
              <a:rPr lang="el" sz="1600">
                <a:solidFill>
                  <a:srgbClr val="FF00FF"/>
                </a:solidFill>
              </a:rPr>
              <a:t>Model training (Offline)</a:t>
            </a:r>
            <a:endParaRPr sz="1600">
              <a:solidFill>
                <a:srgbClr val="FF00FF"/>
              </a:solidFill>
            </a:endParaRPr>
          </a:p>
          <a:p>
            <a:pPr indent="-196850" lvl="0" marL="360000" rtl="0" algn="l">
              <a:lnSpc>
                <a:spcPct val="150000"/>
              </a:lnSpc>
              <a:spcBef>
                <a:spcPts val="0"/>
              </a:spcBef>
              <a:spcAft>
                <a:spcPts val="0"/>
              </a:spcAft>
              <a:buSzPts val="1600"/>
              <a:buChar char="●"/>
            </a:pPr>
            <a:r>
              <a:rPr lang="el" sz="1600"/>
              <a:t>Model prediction (inference)</a:t>
            </a:r>
            <a:endParaRPr sz="1600"/>
          </a:p>
        </p:txBody>
      </p:sp>
      <p:sp>
        <p:nvSpPr>
          <p:cNvPr id="168" name="Google Shape;168;p26"/>
          <p:cNvSpPr txBox="1"/>
          <p:nvPr/>
        </p:nvSpPr>
        <p:spPr>
          <a:xfrm>
            <a:off x="3331500" y="2571350"/>
            <a:ext cx="2838600" cy="10137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SzPts val="1600"/>
              <a:buAutoNum type="arabicPeriod"/>
            </a:pPr>
            <a:r>
              <a:rPr lang="el" sz="1600"/>
              <a:t>Batch Inference</a:t>
            </a:r>
            <a:endParaRPr sz="1600"/>
          </a:p>
          <a:p>
            <a:pPr indent="-330200" lvl="0" marL="457200" rtl="0" algn="l">
              <a:lnSpc>
                <a:spcPct val="150000"/>
              </a:lnSpc>
              <a:spcBef>
                <a:spcPts val="0"/>
              </a:spcBef>
              <a:spcAft>
                <a:spcPts val="0"/>
              </a:spcAft>
              <a:buSzPts val="1600"/>
              <a:buAutoNum type="arabicPeriod"/>
            </a:pPr>
            <a:r>
              <a:rPr lang="el" sz="1600"/>
              <a:t>Online Inference</a:t>
            </a:r>
            <a:endParaRPr sz="1600"/>
          </a:p>
        </p:txBody>
      </p:sp>
      <p:sp>
        <p:nvSpPr>
          <p:cNvPr id="169" name="Google Shape;169;p26"/>
          <p:cNvSpPr/>
          <p:nvPr/>
        </p:nvSpPr>
        <p:spPr>
          <a:xfrm>
            <a:off x="2773625" y="2758650"/>
            <a:ext cx="448200" cy="605400"/>
          </a:xfrm>
          <a:prstGeom prst="rightBrace">
            <a:avLst>
              <a:gd fmla="val 50000"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0" name="Google Shape;170;p26"/>
          <p:cNvCxnSpPr/>
          <p:nvPr/>
        </p:nvCxnSpPr>
        <p:spPr>
          <a:xfrm flipH="1" rot="10800000">
            <a:off x="5391075" y="2106625"/>
            <a:ext cx="426900" cy="427200"/>
          </a:xfrm>
          <a:prstGeom prst="straightConnector1">
            <a:avLst/>
          </a:prstGeom>
          <a:noFill/>
          <a:ln cap="flat" cmpd="sng" w="9525">
            <a:solidFill>
              <a:schemeClr val="dk2"/>
            </a:solidFill>
            <a:prstDash val="solid"/>
            <a:round/>
            <a:headEnd len="med" w="med" type="none"/>
            <a:tailEnd len="med" w="med" type="triangle"/>
          </a:ln>
        </p:spPr>
      </p:cxnSp>
      <p:sp>
        <p:nvSpPr>
          <p:cNvPr id="171" name="Google Shape;171;p26"/>
          <p:cNvSpPr txBox="1"/>
          <p:nvPr/>
        </p:nvSpPr>
        <p:spPr>
          <a:xfrm>
            <a:off x="5344725" y="1210375"/>
            <a:ext cx="3799200" cy="1013700"/>
          </a:xfrm>
          <a:prstGeom prst="rect">
            <a:avLst/>
          </a:prstGeom>
          <a:noFill/>
          <a:ln>
            <a:noFill/>
          </a:ln>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Char char="●"/>
            </a:pPr>
            <a:r>
              <a:rPr lang="el"/>
              <a:t>Make set of predictions based on historical input data </a:t>
            </a:r>
            <a:endParaRPr/>
          </a:p>
          <a:p>
            <a:pPr indent="-317500" lvl="0" marL="457200" rtl="0" algn="l">
              <a:lnSpc>
                <a:spcPct val="100000"/>
              </a:lnSpc>
              <a:spcBef>
                <a:spcPts val="0"/>
              </a:spcBef>
              <a:spcAft>
                <a:spcPts val="0"/>
              </a:spcAft>
              <a:buSzPts val="1400"/>
              <a:buChar char="●"/>
            </a:pPr>
            <a:r>
              <a:rPr lang="el"/>
              <a:t>Sufficient for non-time dependant data</a:t>
            </a:r>
            <a:endParaRPr/>
          </a:p>
        </p:txBody>
      </p:sp>
      <p:sp>
        <p:nvSpPr>
          <p:cNvPr id="172" name="Google Shape;172;p26"/>
          <p:cNvSpPr txBox="1"/>
          <p:nvPr/>
        </p:nvSpPr>
        <p:spPr>
          <a:xfrm>
            <a:off x="5595000" y="3585050"/>
            <a:ext cx="3549000" cy="1013700"/>
          </a:xfrm>
          <a:prstGeom prst="rect">
            <a:avLst/>
          </a:prstGeom>
          <a:noFill/>
          <a:ln>
            <a:noFill/>
          </a:ln>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Char char="●"/>
            </a:pPr>
            <a:r>
              <a:rPr lang="el"/>
              <a:t>Predictions generated in real-time </a:t>
            </a:r>
            <a:endParaRPr/>
          </a:p>
          <a:p>
            <a:pPr indent="-317500" lvl="0" marL="457200" rtl="0" algn="l">
              <a:lnSpc>
                <a:spcPct val="100000"/>
              </a:lnSpc>
              <a:spcBef>
                <a:spcPts val="0"/>
              </a:spcBef>
              <a:spcAft>
                <a:spcPts val="0"/>
              </a:spcAft>
              <a:buSzPts val="1400"/>
              <a:buChar char="●"/>
            </a:pPr>
            <a:r>
              <a:rPr lang="el"/>
              <a:t>Input data at the time of request</a:t>
            </a:r>
            <a:endParaRPr/>
          </a:p>
        </p:txBody>
      </p:sp>
      <p:cxnSp>
        <p:nvCxnSpPr>
          <p:cNvPr id="173" name="Google Shape;173;p26"/>
          <p:cNvCxnSpPr/>
          <p:nvPr/>
        </p:nvCxnSpPr>
        <p:spPr>
          <a:xfrm>
            <a:off x="5412425" y="3184275"/>
            <a:ext cx="405300" cy="320100"/>
          </a:xfrm>
          <a:prstGeom prst="straightConnector1">
            <a:avLst/>
          </a:prstGeom>
          <a:noFill/>
          <a:ln cap="flat" cmpd="sng" w="9525">
            <a:solidFill>
              <a:schemeClr val="dk2"/>
            </a:solidFill>
            <a:prstDash val="solid"/>
            <a:round/>
            <a:headEnd len="med" w="med" type="none"/>
            <a:tailEnd len="med" w="med" type="triangle"/>
          </a:ln>
        </p:spPr>
      </p:cxnSp>
      <p:sp>
        <p:nvSpPr>
          <p:cNvPr id="174" name="Google Shape;174;p26"/>
          <p:cNvSpPr/>
          <p:nvPr/>
        </p:nvSpPr>
        <p:spPr>
          <a:xfrm>
            <a:off x="3296925" y="1001775"/>
            <a:ext cx="5771400" cy="37530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Important Serving Metrics</a:t>
            </a:r>
            <a:endParaRPr/>
          </a:p>
        </p:txBody>
      </p:sp>
      <p:pic>
        <p:nvPicPr>
          <p:cNvPr id="180" name="Google Shape;180;p27"/>
          <p:cNvPicPr preferRelativeResize="0"/>
          <p:nvPr/>
        </p:nvPicPr>
        <p:blipFill>
          <a:blip r:embed="rId3">
            <a:alphaModFix/>
          </a:blip>
          <a:stretch>
            <a:fillRect/>
          </a:stretch>
        </p:blipFill>
        <p:spPr>
          <a:xfrm>
            <a:off x="2687438" y="1496775"/>
            <a:ext cx="3574725" cy="27516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pic>
        <p:nvPicPr>
          <p:cNvPr id="185" name="Google Shape;185;p28"/>
          <p:cNvPicPr preferRelativeResize="0"/>
          <p:nvPr/>
        </p:nvPicPr>
        <p:blipFill rotWithShape="1">
          <a:blip r:embed="rId3">
            <a:alphaModFix/>
          </a:blip>
          <a:srcRect b="3296" l="0" r="0" t="8799"/>
          <a:stretch/>
        </p:blipFill>
        <p:spPr>
          <a:xfrm>
            <a:off x="1193441" y="1146975"/>
            <a:ext cx="6488808" cy="1801725"/>
          </a:xfrm>
          <a:prstGeom prst="rect">
            <a:avLst/>
          </a:prstGeom>
          <a:noFill/>
          <a:ln>
            <a:noFill/>
          </a:ln>
        </p:spPr>
      </p:pic>
      <p:sp>
        <p:nvSpPr>
          <p:cNvPr id="186" name="Google Shape;186;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Latency</a:t>
            </a:r>
            <a:endParaRPr/>
          </a:p>
        </p:txBody>
      </p:sp>
      <p:sp>
        <p:nvSpPr>
          <p:cNvPr id="187" name="Google Shape;187;p28"/>
          <p:cNvSpPr txBox="1"/>
          <p:nvPr/>
        </p:nvSpPr>
        <p:spPr>
          <a:xfrm>
            <a:off x="407650" y="3258975"/>
            <a:ext cx="8424600" cy="16860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SzPts val="1600"/>
              <a:buChar char="●"/>
            </a:pPr>
            <a:r>
              <a:rPr lang="el" sz="1600"/>
              <a:t>Delay between user’s action and response of application to these actions</a:t>
            </a:r>
            <a:endParaRPr sz="1600"/>
          </a:p>
          <a:p>
            <a:pPr indent="-330200" lvl="0" marL="457200" rtl="0" algn="l">
              <a:lnSpc>
                <a:spcPct val="150000"/>
              </a:lnSpc>
              <a:spcBef>
                <a:spcPts val="0"/>
              </a:spcBef>
              <a:spcAft>
                <a:spcPts val="0"/>
              </a:spcAft>
              <a:buSzPts val="1600"/>
              <a:buChar char="●"/>
            </a:pPr>
            <a:r>
              <a:rPr lang="el" sz="1600"/>
              <a:t>Latency of the whole process, starting from sending data to server, performing inference using model and returning response </a:t>
            </a:r>
            <a:endParaRPr sz="1600"/>
          </a:p>
          <a:p>
            <a:pPr indent="-330200" lvl="0" marL="457200" rtl="0" algn="l">
              <a:lnSpc>
                <a:spcPct val="150000"/>
              </a:lnSpc>
              <a:spcBef>
                <a:spcPts val="0"/>
              </a:spcBef>
              <a:spcAft>
                <a:spcPts val="0"/>
              </a:spcAft>
              <a:buClr>
                <a:srgbClr val="FF00FF"/>
              </a:buClr>
              <a:buSzPts val="1600"/>
              <a:buChar char="●"/>
            </a:pPr>
            <a:r>
              <a:rPr lang="el" sz="1600">
                <a:solidFill>
                  <a:srgbClr val="FF00FF"/>
                </a:solidFill>
              </a:rPr>
              <a:t>Minimal latency is a key requirement to maintain customer satisfaction</a:t>
            </a:r>
            <a:endParaRPr sz="1600">
              <a:solidFill>
                <a:srgbClr val="FF00FF"/>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Throughput</a:t>
            </a:r>
            <a:endParaRPr/>
          </a:p>
        </p:txBody>
      </p:sp>
      <p:sp>
        <p:nvSpPr>
          <p:cNvPr id="193" name="Google Shape;193;p29"/>
          <p:cNvSpPr txBox="1"/>
          <p:nvPr/>
        </p:nvSpPr>
        <p:spPr>
          <a:xfrm>
            <a:off x="277300" y="1825450"/>
            <a:ext cx="8926500" cy="16059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l" sz="1600"/>
              <a:t>Throughput -&gt; Number of successful requests served per unit time say one second.</a:t>
            </a:r>
            <a:endParaRPr sz="1600"/>
          </a:p>
          <a:p>
            <a:pPr indent="0" lvl="0" marL="0" rtl="0" algn="l">
              <a:spcBef>
                <a:spcPts val="0"/>
              </a:spcBef>
              <a:spcAft>
                <a:spcPts val="0"/>
              </a:spcAft>
              <a:buNone/>
            </a:pPr>
            <a:r>
              <a:t/>
            </a:r>
            <a:endParaRPr sz="1600"/>
          </a:p>
          <a:p>
            <a:pPr indent="-330200" lvl="0" marL="457200" rtl="0" algn="l">
              <a:spcBef>
                <a:spcPts val="0"/>
              </a:spcBef>
              <a:spcAft>
                <a:spcPts val="0"/>
              </a:spcAft>
              <a:buSzPts val="1600"/>
              <a:buChar char="➢"/>
            </a:pPr>
            <a:r>
              <a:rPr lang="el" sz="1600"/>
              <a:t>In some application only throughput is important not latency</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l" sz="1600">
                <a:solidFill>
                  <a:srgbClr val="FF00FF"/>
                </a:solidFill>
              </a:rPr>
              <a:t>Example:</a:t>
            </a:r>
            <a:endParaRPr sz="1600">
              <a:solidFill>
                <a:srgbClr val="FF00FF"/>
              </a:solidFill>
            </a:endParaRPr>
          </a:p>
          <a:p>
            <a:pPr indent="0" lvl="0" marL="0" rtl="0" algn="l">
              <a:spcBef>
                <a:spcPts val="0"/>
              </a:spcBef>
              <a:spcAft>
                <a:spcPts val="0"/>
              </a:spcAft>
              <a:buNone/>
            </a:pPr>
            <a:r>
              <a:rPr lang="el" sz="1600"/>
              <a:t>Video from security cameras at high fidelity to ensure security events are spotted quickly</a:t>
            </a:r>
            <a:endParaRPr sz="16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Cost</a:t>
            </a:r>
            <a:endParaRPr/>
          </a:p>
        </p:txBody>
      </p:sp>
      <p:sp>
        <p:nvSpPr>
          <p:cNvPr id="199" name="Google Shape;199;p30"/>
          <p:cNvSpPr txBox="1"/>
          <p:nvPr/>
        </p:nvSpPr>
        <p:spPr>
          <a:xfrm>
            <a:off x="159425" y="1797000"/>
            <a:ext cx="8334300" cy="225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rgbClr val="FF00FF"/>
                </a:solidFill>
              </a:rPr>
              <a:t>The cost associated with each inference should be minimised</a:t>
            </a:r>
            <a:endParaRPr sz="1600">
              <a:solidFill>
                <a:srgbClr val="FF00FF"/>
              </a:solidFill>
            </a:endParaRPr>
          </a:p>
          <a:p>
            <a:pPr indent="0" lvl="0" marL="0" rtl="0" algn="l">
              <a:spcBef>
                <a:spcPts val="0"/>
              </a:spcBef>
              <a:spcAft>
                <a:spcPts val="0"/>
              </a:spcAft>
              <a:buNone/>
            </a:pPr>
            <a:r>
              <a:t/>
            </a:r>
            <a:endParaRPr sz="1600"/>
          </a:p>
          <a:p>
            <a:pPr indent="-330200" lvl="0" marL="457200" rtl="0" algn="l">
              <a:lnSpc>
                <a:spcPct val="150000"/>
              </a:lnSpc>
              <a:spcBef>
                <a:spcPts val="0"/>
              </a:spcBef>
              <a:spcAft>
                <a:spcPts val="0"/>
              </a:spcAft>
              <a:buSzPts val="1600"/>
              <a:buChar char="●"/>
            </a:pPr>
            <a:r>
              <a:rPr lang="el" sz="1600"/>
              <a:t>Critical infrastructure requirements that are expensive</a:t>
            </a:r>
            <a:endParaRPr sz="1600"/>
          </a:p>
          <a:p>
            <a:pPr indent="-330200" lvl="1" marL="914400" rtl="0" algn="l">
              <a:lnSpc>
                <a:spcPct val="150000"/>
              </a:lnSpc>
              <a:spcBef>
                <a:spcPts val="0"/>
              </a:spcBef>
              <a:spcAft>
                <a:spcPts val="0"/>
              </a:spcAft>
              <a:buSzPts val="1600"/>
              <a:buChar char="○"/>
            </a:pPr>
            <a:r>
              <a:rPr lang="el" sz="1600"/>
              <a:t>CPU</a:t>
            </a:r>
            <a:endParaRPr sz="1600"/>
          </a:p>
          <a:p>
            <a:pPr indent="-330200" lvl="1" marL="914400" rtl="0" algn="l">
              <a:lnSpc>
                <a:spcPct val="150000"/>
              </a:lnSpc>
              <a:spcBef>
                <a:spcPts val="0"/>
              </a:spcBef>
              <a:spcAft>
                <a:spcPts val="0"/>
              </a:spcAft>
              <a:buSzPts val="1600"/>
              <a:buChar char="○"/>
            </a:pPr>
            <a:r>
              <a:rPr lang="el" sz="1600"/>
              <a:t>Hardware accelerators like GPU</a:t>
            </a:r>
            <a:endParaRPr sz="1600"/>
          </a:p>
          <a:p>
            <a:pPr indent="-330200" lvl="1" marL="914400" rtl="0" algn="l">
              <a:lnSpc>
                <a:spcPct val="150000"/>
              </a:lnSpc>
              <a:spcBef>
                <a:spcPts val="0"/>
              </a:spcBef>
              <a:spcAft>
                <a:spcPts val="0"/>
              </a:spcAft>
              <a:buSzPts val="1600"/>
              <a:buChar char="○"/>
            </a:pPr>
            <a:r>
              <a:rPr lang="el" sz="1600"/>
              <a:t>Caching infrastructure for faster data retrieval</a:t>
            </a:r>
            <a:endParaRPr sz="1600"/>
          </a:p>
        </p:txBody>
      </p:sp>
      <p:pic>
        <p:nvPicPr>
          <p:cNvPr id="200" name="Google Shape;200;p30"/>
          <p:cNvPicPr preferRelativeResize="0"/>
          <p:nvPr/>
        </p:nvPicPr>
        <p:blipFill>
          <a:blip r:embed="rId3">
            <a:alphaModFix/>
          </a:blip>
          <a:stretch>
            <a:fillRect/>
          </a:stretch>
        </p:blipFill>
        <p:spPr>
          <a:xfrm>
            <a:off x="5881921" y="1391471"/>
            <a:ext cx="2823225" cy="29326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Minimizing latency, Maximizing Throughput</a:t>
            </a:r>
            <a:endParaRPr/>
          </a:p>
        </p:txBody>
      </p:sp>
      <p:pic>
        <p:nvPicPr>
          <p:cNvPr id="206" name="Google Shape;206;p31"/>
          <p:cNvPicPr preferRelativeResize="0"/>
          <p:nvPr/>
        </p:nvPicPr>
        <p:blipFill>
          <a:blip r:embed="rId3">
            <a:alphaModFix/>
          </a:blip>
          <a:stretch>
            <a:fillRect/>
          </a:stretch>
        </p:blipFill>
        <p:spPr>
          <a:xfrm>
            <a:off x="631550" y="1397825"/>
            <a:ext cx="7761175" cy="2510425"/>
          </a:xfrm>
          <a:prstGeom prst="rect">
            <a:avLst/>
          </a:prstGeom>
          <a:noFill/>
          <a:ln>
            <a:noFill/>
          </a:ln>
        </p:spPr>
      </p:pic>
      <p:pic>
        <p:nvPicPr>
          <p:cNvPr id="207" name="Google Shape;207;p31"/>
          <p:cNvPicPr preferRelativeResize="0"/>
          <p:nvPr/>
        </p:nvPicPr>
        <p:blipFill>
          <a:blip r:embed="rId4">
            <a:alphaModFix/>
          </a:blip>
          <a:stretch>
            <a:fillRect/>
          </a:stretch>
        </p:blipFill>
        <p:spPr>
          <a:xfrm>
            <a:off x="959975" y="4288351"/>
            <a:ext cx="7224053" cy="69207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Balance Cost, Latency, and Throughput</a:t>
            </a:r>
            <a:endParaRPr/>
          </a:p>
        </p:txBody>
      </p:sp>
      <p:sp>
        <p:nvSpPr>
          <p:cNvPr id="213" name="Google Shape;213;p32"/>
          <p:cNvSpPr txBox="1"/>
          <p:nvPr/>
        </p:nvSpPr>
        <p:spPr>
          <a:xfrm>
            <a:off x="247575" y="1935750"/>
            <a:ext cx="5751900" cy="24756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SzPts val="1600"/>
              <a:buChar char="●"/>
            </a:pPr>
            <a:r>
              <a:rPr lang="el" sz="1600"/>
              <a:t>Cost increases as infrastructure is scaled</a:t>
            </a:r>
            <a:endParaRPr sz="1600"/>
          </a:p>
          <a:p>
            <a:pPr indent="-330200" lvl="0" marL="457200" rtl="0" algn="l">
              <a:lnSpc>
                <a:spcPct val="150000"/>
              </a:lnSpc>
              <a:spcBef>
                <a:spcPts val="0"/>
              </a:spcBef>
              <a:spcAft>
                <a:spcPts val="0"/>
              </a:spcAft>
              <a:buSzPts val="1600"/>
              <a:buChar char="●"/>
            </a:pPr>
            <a:r>
              <a:rPr lang="el" sz="1600"/>
              <a:t>In applications where latency and throughput can suffer slightly:</a:t>
            </a:r>
            <a:endParaRPr sz="1600"/>
          </a:p>
          <a:p>
            <a:pPr indent="-330200" lvl="1" marL="914400" rtl="0" algn="l">
              <a:lnSpc>
                <a:spcPct val="150000"/>
              </a:lnSpc>
              <a:spcBef>
                <a:spcPts val="0"/>
              </a:spcBef>
              <a:spcAft>
                <a:spcPts val="0"/>
              </a:spcAft>
              <a:buSzPts val="1600"/>
              <a:buChar char="○"/>
            </a:pPr>
            <a:r>
              <a:rPr lang="el" sz="1600"/>
              <a:t>Reduce costs by GPU sharing</a:t>
            </a:r>
            <a:endParaRPr sz="1600"/>
          </a:p>
          <a:p>
            <a:pPr indent="-330200" lvl="1" marL="914400" rtl="0" algn="l">
              <a:lnSpc>
                <a:spcPct val="150000"/>
              </a:lnSpc>
              <a:spcBef>
                <a:spcPts val="0"/>
              </a:spcBef>
              <a:spcAft>
                <a:spcPts val="0"/>
              </a:spcAft>
              <a:buSzPts val="1600"/>
              <a:buChar char="○"/>
            </a:pPr>
            <a:r>
              <a:rPr lang="el" sz="1600"/>
              <a:t>Multi-model serving</a:t>
            </a:r>
            <a:endParaRPr sz="1600"/>
          </a:p>
          <a:p>
            <a:pPr indent="-330200" lvl="1" marL="914400" rtl="0" algn="l">
              <a:lnSpc>
                <a:spcPct val="150000"/>
              </a:lnSpc>
              <a:spcBef>
                <a:spcPts val="0"/>
              </a:spcBef>
              <a:spcAft>
                <a:spcPts val="0"/>
              </a:spcAft>
              <a:buSzPts val="1600"/>
              <a:buChar char="○"/>
            </a:pPr>
            <a:r>
              <a:rPr lang="el" sz="1600"/>
              <a:t>Optimizing models used for inference</a:t>
            </a:r>
            <a:endParaRPr sz="1600"/>
          </a:p>
        </p:txBody>
      </p:sp>
      <p:pic>
        <p:nvPicPr>
          <p:cNvPr id="214" name="Google Shape;214;p32"/>
          <p:cNvPicPr preferRelativeResize="0"/>
          <p:nvPr/>
        </p:nvPicPr>
        <p:blipFill>
          <a:blip r:embed="rId3">
            <a:alphaModFix/>
          </a:blip>
          <a:stretch>
            <a:fillRect/>
          </a:stretch>
        </p:blipFill>
        <p:spPr>
          <a:xfrm>
            <a:off x="6151875" y="1170125"/>
            <a:ext cx="2839726" cy="299009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3"/>
          <p:cNvSpPr txBox="1"/>
          <p:nvPr>
            <p:ph type="title"/>
          </p:nvPr>
        </p:nvSpPr>
        <p:spPr>
          <a:xfrm>
            <a:off x="311700" y="1852075"/>
            <a:ext cx="8520600" cy="16203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l"/>
              <a:t>Resources and </a:t>
            </a:r>
            <a:endParaRPr/>
          </a:p>
          <a:p>
            <a:pPr indent="0" lvl="0" marL="0" rtl="0" algn="ctr">
              <a:spcBef>
                <a:spcPts val="0"/>
              </a:spcBef>
              <a:spcAft>
                <a:spcPts val="0"/>
              </a:spcAft>
              <a:buNone/>
            </a:pPr>
            <a:r>
              <a:rPr lang="el"/>
              <a:t>Requirements for </a:t>
            </a:r>
            <a:endParaRPr/>
          </a:p>
          <a:p>
            <a:pPr indent="0" lvl="0" marL="0" rtl="0" algn="ctr">
              <a:spcBef>
                <a:spcPts val="0"/>
              </a:spcBef>
              <a:spcAft>
                <a:spcPts val="0"/>
              </a:spcAft>
              <a:buNone/>
            </a:pPr>
            <a:r>
              <a:rPr lang="el"/>
              <a:t>Serving Models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Optimizing Models for Serving</a:t>
            </a:r>
            <a:endParaRPr/>
          </a:p>
        </p:txBody>
      </p:sp>
      <p:pic>
        <p:nvPicPr>
          <p:cNvPr id="225" name="Google Shape;225;p34"/>
          <p:cNvPicPr preferRelativeResize="0"/>
          <p:nvPr/>
        </p:nvPicPr>
        <p:blipFill>
          <a:blip r:embed="rId3">
            <a:alphaModFix/>
          </a:blip>
          <a:stretch>
            <a:fillRect/>
          </a:stretch>
        </p:blipFill>
        <p:spPr>
          <a:xfrm>
            <a:off x="576324" y="1738375"/>
            <a:ext cx="2727150" cy="2803825"/>
          </a:xfrm>
          <a:prstGeom prst="rect">
            <a:avLst/>
          </a:prstGeom>
          <a:noFill/>
          <a:ln>
            <a:noFill/>
          </a:ln>
        </p:spPr>
      </p:pic>
      <p:sp>
        <p:nvSpPr>
          <p:cNvPr id="226" name="Google Shape;226;p34"/>
          <p:cNvSpPr txBox="1"/>
          <p:nvPr/>
        </p:nvSpPr>
        <p:spPr>
          <a:xfrm>
            <a:off x="623375" y="1302275"/>
            <a:ext cx="2862000" cy="39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rgbClr val="FF00FF"/>
                </a:solidFill>
              </a:rPr>
              <a:t>Model complexity increases</a:t>
            </a:r>
            <a:endParaRPr sz="1600">
              <a:solidFill>
                <a:srgbClr val="FF00FF"/>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Optimizing Models for Serving</a:t>
            </a:r>
            <a:endParaRPr/>
          </a:p>
        </p:txBody>
      </p:sp>
      <p:pic>
        <p:nvPicPr>
          <p:cNvPr id="232" name="Google Shape;232;p35"/>
          <p:cNvPicPr preferRelativeResize="0"/>
          <p:nvPr/>
        </p:nvPicPr>
        <p:blipFill>
          <a:blip r:embed="rId3">
            <a:alphaModFix/>
          </a:blip>
          <a:stretch>
            <a:fillRect/>
          </a:stretch>
        </p:blipFill>
        <p:spPr>
          <a:xfrm>
            <a:off x="576324" y="1738375"/>
            <a:ext cx="2727150" cy="2803825"/>
          </a:xfrm>
          <a:prstGeom prst="rect">
            <a:avLst/>
          </a:prstGeom>
          <a:noFill/>
          <a:ln>
            <a:noFill/>
          </a:ln>
        </p:spPr>
      </p:pic>
      <p:sp>
        <p:nvSpPr>
          <p:cNvPr id="233" name="Google Shape;233;p35"/>
          <p:cNvSpPr txBox="1"/>
          <p:nvPr/>
        </p:nvSpPr>
        <p:spPr>
          <a:xfrm>
            <a:off x="623375" y="1302275"/>
            <a:ext cx="2862000" cy="39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rgbClr val="FF00FF"/>
                </a:solidFill>
              </a:rPr>
              <a:t>Model complexity increases</a:t>
            </a:r>
            <a:endParaRPr sz="1600">
              <a:solidFill>
                <a:srgbClr val="FF00FF"/>
              </a:solidFill>
            </a:endParaRPr>
          </a:p>
        </p:txBody>
      </p:sp>
      <p:pic>
        <p:nvPicPr>
          <p:cNvPr id="234" name="Google Shape;234;p35"/>
          <p:cNvPicPr preferRelativeResize="0"/>
          <p:nvPr/>
        </p:nvPicPr>
        <p:blipFill>
          <a:blip r:embed="rId4">
            <a:alphaModFix/>
          </a:blip>
          <a:stretch>
            <a:fillRect/>
          </a:stretch>
        </p:blipFill>
        <p:spPr>
          <a:xfrm>
            <a:off x="4572000" y="1738375"/>
            <a:ext cx="4451624" cy="2754480"/>
          </a:xfrm>
          <a:prstGeom prst="rect">
            <a:avLst/>
          </a:prstGeom>
          <a:noFill/>
          <a:ln>
            <a:noFill/>
          </a:ln>
        </p:spPr>
      </p:pic>
      <p:sp>
        <p:nvSpPr>
          <p:cNvPr id="235" name="Google Shape;235;p35"/>
          <p:cNvSpPr/>
          <p:nvPr/>
        </p:nvSpPr>
        <p:spPr>
          <a:xfrm>
            <a:off x="3566300" y="2732313"/>
            <a:ext cx="830100" cy="572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5"/>
          <p:cNvSpPr txBox="1"/>
          <p:nvPr/>
        </p:nvSpPr>
        <p:spPr>
          <a:xfrm>
            <a:off x="6224775" y="1343575"/>
            <a:ext cx="2382600" cy="39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rgbClr val="FF00FF"/>
                </a:solidFill>
              </a:rPr>
              <a:t>These also increase:</a:t>
            </a:r>
            <a:endParaRPr sz="1600">
              <a:solidFill>
                <a:srgbClr val="FF00FF"/>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Meanwhile as Complexity Increases</a:t>
            </a:r>
            <a:endParaRPr/>
          </a:p>
        </p:txBody>
      </p:sp>
      <p:sp>
        <p:nvSpPr>
          <p:cNvPr id="242" name="Google Shape;242;p36"/>
          <p:cNvSpPr txBox="1"/>
          <p:nvPr/>
        </p:nvSpPr>
        <p:spPr>
          <a:xfrm>
            <a:off x="623375" y="1302275"/>
            <a:ext cx="2862000" cy="39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rgbClr val="FF00FF"/>
                </a:solidFill>
              </a:rPr>
              <a:t>Model complexity increases</a:t>
            </a:r>
            <a:endParaRPr sz="1600">
              <a:solidFill>
                <a:srgbClr val="FF00FF"/>
              </a:solidFill>
            </a:endParaRPr>
          </a:p>
        </p:txBody>
      </p:sp>
      <p:pic>
        <p:nvPicPr>
          <p:cNvPr id="243" name="Google Shape;243;p36"/>
          <p:cNvPicPr preferRelativeResize="0"/>
          <p:nvPr/>
        </p:nvPicPr>
        <p:blipFill>
          <a:blip r:embed="rId3">
            <a:alphaModFix/>
          </a:blip>
          <a:stretch>
            <a:fillRect/>
          </a:stretch>
        </p:blipFill>
        <p:spPr>
          <a:xfrm>
            <a:off x="576324" y="1738375"/>
            <a:ext cx="2727150" cy="28038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Meanwhile as Complexity Increases</a:t>
            </a:r>
            <a:endParaRPr/>
          </a:p>
        </p:txBody>
      </p:sp>
      <p:sp>
        <p:nvSpPr>
          <p:cNvPr id="249" name="Google Shape;249;p37"/>
          <p:cNvSpPr txBox="1"/>
          <p:nvPr/>
        </p:nvSpPr>
        <p:spPr>
          <a:xfrm>
            <a:off x="623375" y="1302275"/>
            <a:ext cx="2862000" cy="39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rgbClr val="FF00FF"/>
                </a:solidFill>
              </a:rPr>
              <a:t>Model complexity increases</a:t>
            </a:r>
            <a:endParaRPr sz="1600">
              <a:solidFill>
                <a:srgbClr val="FF00FF"/>
              </a:solidFill>
            </a:endParaRPr>
          </a:p>
        </p:txBody>
      </p:sp>
      <p:pic>
        <p:nvPicPr>
          <p:cNvPr id="250" name="Google Shape;250;p37"/>
          <p:cNvPicPr preferRelativeResize="0"/>
          <p:nvPr/>
        </p:nvPicPr>
        <p:blipFill>
          <a:blip r:embed="rId3">
            <a:alphaModFix/>
          </a:blip>
          <a:stretch>
            <a:fillRect/>
          </a:stretch>
        </p:blipFill>
        <p:spPr>
          <a:xfrm>
            <a:off x="576324" y="1738375"/>
            <a:ext cx="2727150" cy="2803825"/>
          </a:xfrm>
          <a:prstGeom prst="rect">
            <a:avLst/>
          </a:prstGeom>
          <a:noFill/>
          <a:ln>
            <a:noFill/>
          </a:ln>
        </p:spPr>
      </p:pic>
      <p:pic>
        <p:nvPicPr>
          <p:cNvPr id="251" name="Google Shape;251;p37"/>
          <p:cNvPicPr preferRelativeResize="0"/>
          <p:nvPr/>
        </p:nvPicPr>
        <p:blipFill>
          <a:blip r:embed="rId4">
            <a:alphaModFix/>
          </a:blip>
          <a:stretch>
            <a:fillRect/>
          </a:stretch>
        </p:blipFill>
        <p:spPr>
          <a:xfrm>
            <a:off x="4548800" y="1170125"/>
            <a:ext cx="4442799" cy="3160958"/>
          </a:xfrm>
          <a:prstGeom prst="rect">
            <a:avLst/>
          </a:prstGeom>
          <a:noFill/>
          <a:ln>
            <a:noFill/>
          </a:ln>
        </p:spPr>
      </p:pic>
      <p:sp>
        <p:nvSpPr>
          <p:cNvPr id="252" name="Google Shape;252;p37"/>
          <p:cNvSpPr txBox="1"/>
          <p:nvPr/>
        </p:nvSpPr>
        <p:spPr>
          <a:xfrm>
            <a:off x="6526775" y="1017725"/>
            <a:ext cx="2514600" cy="39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rgbClr val="FF00FF"/>
                </a:solidFill>
              </a:rPr>
              <a:t>Costs also do increase</a:t>
            </a:r>
            <a:endParaRPr sz="1600">
              <a:solidFill>
                <a:srgbClr val="FF00FF"/>
              </a:solidFill>
            </a:endParaRPr>
          </a:p>
        </p:txBody>
      </p:sp>
      <p:sp>
        <p:nvSpPr>
          <p:cNvPr id="253" name="Google Shape;253;p37"/>
          <p:cNvSpPr/>
          <p:nvPr/>
        </p:nvSpPr>
        <p:spPr>
          <a:xfrm>
            <a:off x="3566300" y="2732313"/>
            <a:ext cx="830100" cy="572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Balancing Cost and Complexity</a:t>
            </a:r>
            <a:endParaRPr/>
          </a:p>
        </p:txBody>
      </p:sp>
      <p:sp>
        <p:nvSpPr>
          <p:cNvPr id="259" name="Google Shape;259;p38"/>
          <p:cNvSpPr txBox="1"/>
          <p:nvPr/>
        </p:nvSpPr>
        <p:spPr>
          <a:xfrm>
            <a:off x="124800" y="2254975"/>
            <a:ext cx="5445000" cy="9924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l" sz="1600"/>
              <a:t>The Grant Challenge for Data Scientist/ML Practitioners:</a:t>
            </a:r>
            <a:endParaRPr sz="1600"/>
          </a:p>
          <a:p>
            <a:pPr indent="0" lvl="0" marL="0" rtl="0" algn="l">
              <a:lnSpc>
                <a:spcPct val="150000"/>
              </a:lnSpc>
              <a:spcBef>
                <a:spcPts val="0"/>
              </a:spcBef>
              <a:spcAft>
                <a:spcPts val="0"/>
              </a:spcAft>
              <a:buNone/>
            </a:pPr>
            <a:r>
              <a:rPr lang="el" sz="1600">
                <a:solidFill>
                  <a:srgbClr val="FF00FF"/>
                </a:solidFill>
              </a:rPr>
              <a:t>Balance complexity and cost</a:t>
            </a:r>
            <a:endParaRPr sz="1600">
              <a:solidFill>
                <a:srgbClr val="FF00FF"/>
              </a:solidFill>
            </a:endParaRPr>
          </a:p>
        </p:txBody>
      </p:sp>
      <p:pic>
        <p:nvPicPr>
          <p:cNvPr id="260" name="Google Shape;260;p38"/>
          <p:cNvPicPr preferRelativeResize="0"/>
          <p:nvPr/>
        </p:nvPicPr>
        <p:blipFill>
          <a:blip r:embed="rId3">
            <a:alphaModFix/>
          </a:blip>
          <a:stretch>
            <a:fillRect/>
          </a:stretch>
        </p:blipFill>
        <p:spPr>
          <a:xfrm>
            <a:off x="5661000" y="1170125"/>
            <a:ext cx="3330601" cy="282636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Optimizing and Satisfying Metrics</a:t>
            </a:r>
            <a:endParaRPr/>
          </a:p>
        </p:txBody>
      </p:sp>
      <p:pic>
        <p:nvPicPr>
          <p:cNvPr id="266" name="Google Shape;266;p39"/>
          <p:cNvPicPr preferRelativeResize="0"/>
          <p:nvPr/>
        </p:nvPicPr>
        <p:blipFill>
          <a:blip r:embed="rId3">
            <a:alphaModFix/>
          </a:blip>
          <a:stretch>
            <a:fillRect/>
          </a:stretch>
        </p:blipFill>
        <p:spPr>
          <a:xfrm>
            <a:off x="643950" y="1813425"/>
            <a:ext cx="3514399" cy="3013100"/>
          </a:xfrm>
          <a:prstGeom prst="rect">
            <a:avLst/>
          </a:prstGeom>
          <a:noFill/>
          <a:ln>
            <a:noFill/>
          </a:ln>
        </p:spPr>
      </p:pic>
      <p:pic>
        <p:nvPicPr>
          <p:cNvPr id="267" name="Google Shape;267;p39"/>
          <p:cNvPicPr preferRelativeResize="0"/>
          <p:nvPr/>
        </p:nvPicPr>
        <p:blipFill>
          <a:blip r:embed="rId4">
            <a:alphaModFix/>
          </a:blip>
          <a:stretch>
            <a:fillRect/>
          </a:stretch>
        </p:blipFill>
        <p:spPr>
          <a:xfrm>
            <a:off x="4682850" y="2161801"/>
            <a:ext cx="3421524" cy="26146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 common approach</a:t>
            </a:r>
            <a:endParaRPr/>
          </a:p>
        </p:txBody>
      </p:sp>
      <p:pic>
        <p:nvPicPr>
          <p:cNvPr id="273" name="Google Shape;273;p40"/>
          <p:cNvPicPr preferRelativeResize="0"/>
          <p:nvPr/>
        </p:nvPicPr>
        <p:blipFill>
          <a:blip r:embed="rId3">
            <a:alphaModFix/>
          </a:blip>
          <a:stretch>
            <a:fillRect/>
          </a:stretch>
        </p:blipFill>
        <p:spPr>
          <a:xfrm>
            <a:off x="152400" y="1170125"/>
            <a:ext cx="8839200" cy="2031515"/>
          </a:xfrm>
          <a:prstGeom prst="rect">
            <a:avLst/>
          </a:prstGeom>
          <a:noFill/>
          <a:ln>
            <a:noFill/>
          </a:ln>
        </p:spPr>
      </p:pic>
      <p:sp>
        <p:nvSpPr>
          <p:cNvPr id="274" name="Google Shape;274;p40"/>
          <p:cNvSpPr txBox="1"/>
          <p:nvPr/>
        </p:nvSpPr>
        <p:spPr>
          <a:xfrm>
            <a:off x="-168625" y="3300700"/>
            <a:ext cx="1835400" cy="1745700"/>
          </a:xfrm>
          <a:prstGeom prst="rect">
            <a:avLst/>
          </a:prstGeom>
          <a:noFill/>
          <a:ln>
            <a:noFill/>
          </a:ln>
        </p:spPr>
        <p:txBody>
          <a:bodyPr anchorCtr="0" anchor="t" bIns="91425" lIns="91425" spcFirstLastPara="1" rIns="91425" wrap="square" tIns="91425">
            <a:noAutofit/>
          </a:bodyPr>
          <a:lstStyle/>
          <a:p>
            <a:pPr indent="-186099" lvl="0" marL="457200" rtl="0" algn="l">
              <a:spcBef>
                <a:spcPts val="0"/>
              </a:spcBef>
              <a:spcAft>
                <a:spcPts val="0"/>
              </a:spcAft>
              <a:buSzPts val="1400"/>
              <a:buChar char="●"/>
            </a:pPr>
            <a:r>
              <a:rPr lang="el"/>
              <a:t>Specifically define your infrastructure</a:t>
            </a:r>
            <a:endParaRPr/>
          </a:p>
          <a:p>
            <a:pPr indent="-186099" lvl="0" marL="457200" rtl="0" algn="l">
              <a:spcBef>
                <a:spcPts val="0"/>
              </a:spcBef>
              <a:spcAft>
                <a:spcPts val="0"/>
              </a:spcAft>
              <a:buSzPts val="1400"/>
              <a:buChar char="●"/>
            </a:pPr>
            <a:r>
              <a:rPr lang="el"/>
              <a:t>CPU, GPU etc</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 common approach</a:t>
            </a:r>
            <a:endParaRPr/>
          </a:p>
        </p:txBody>
      </p:sp>
      <p:pic>
        <p:nvPicPr>
          <p:cNvPr id="280" name="Google Shape;280;p41"/>
          <p:cNvPicPr preferRelativeResize="0"/>
          <p:nvPr/>
        </p:nvPicPr>
        <p:blipFill>
          <a:blip r:embed="rId3">
            <a:alphaModFix/>
          </a:blip>
          <a:stretch>
            <a:fillRect/>
          </a:stretch>
        </p:blipFill>
        <p:spPr>
          <a:xfrm>
            <a:off x="152400" y="1170125"/>
            <a:ext cx="8839200" cy="2031515"/>
          </a:xfrm>
          <a:prstGeom prst="rect">
            <a:avLst/>
          </a:prstGeom>
          <a:noFill/>
          <a:ln>
            <a:noFill/>
          </a:ln>
        </p:spPr>
      </p:pic>
      <p:sp>
        <p:nvSpPr>
          <p:cNvPr id="281" name="Google Shape;281;p41"/>
          <p:cNvSpPr txBox="1"/>
          <p:nvPr/>
        </p:nvSpPr>
        <p:spPr>
          <a:xfrm>
            <a:off x="-168625" y="3300700"/>
            <a:ext cx="1835400" cy="1745700"/>
          </a:xfrm>
          <a:prstGeom prst="rect">
            <a:avLst/>
          </a:prstGeom>
          <a:noFill/>
          <a:ln>
            <a:noFill/>
          </a:ln>
        </p:spPr>
        <p:txBody>
          <a:bodyPr anchorCtr="0" anchor="t" bIns="91425" lIns="91425" spcFirstLastPara="1" rIns="91425" wrap="square" tIns="91425">
            <a:noAutofit/>
          </a:bodyPr>
          <a:lstStyle/>
          <a:p>
            <a:pPr indent="-186099" lvl="0" marL="457200" rtl="0" algn="l">
              <a:spcBef>
                <a:spcPts val="0"/>
              </a:spcBef>
              <a:spcAft>
                <a:spcPts val="0"/>
              </a:spcAft>
              <a:buSzPts val="1400"/>
              <a:buChar char="●"/>
            </a:pPr>
            <a:r>
              <a:rPr lang="el"/>
              <a:t>Specifically define your infrastructure</a:t>
            </a:r>
            <a:endParaRPr/>
          </a:p>
          <a:p>
            <a:pPr indent="-186099" lvl="0" marL="457200" rtl="0" algn="l">
              <a:spcBef>
                <a:spcPts val="0"/>
              </a:spcBef>
              <a:spcAft>
                <a:spcPts val="0"/>
              </a:spcAft>
              <a:buSzPts val="1400"/>
              <a:buChar char="●"/>
            </a:pPr>
            <a:r>
              <a:rPr lang="el"/>
              <a:t>CPU, GPU etc</a:t>
            </a:r>
            <a:endParaRPr/>
          </a:p>
        </p:txBody>
      </p:sp>
      <p:sp>
        <p:nvSpPr>
          <p:cNvPr id="282" name="Google Shape;282;p41"/>
          <p:cNvSpPr txBox="1"/>
          <p:nvPr/>
        </p:nvSpPr>
        <p:spPr>
          <a:xfrm>
            <a:off x="1840575" y="3397800"/>
            <a:ext cx="1835400" cy="1745700"/>
          </a:xfrm>
          <a:prstGeom prst="rect">
            <a:avLst/>
          </a:prstGeom>
          <a:noFill/>
          <a:ln>
            <a:noFill/>
          </a:ln>
        </p:spPr>
        <p:txBody>
          <a:bodyPr anchorCtr="0" anchor="t" bIns="91425" lIns="91425" spcFirstLastPara="1" rIns="91425" wrap="square" tIns="91425">
            <a:noAutofit/>
          </a:bodyPr>
          <a:lstStyle/>
          <a:p>
            <a:pPr indent="-186099" lvl="0" marL="457200" rtl="0" algn="l">
              <a:spcBef>
                <a:spcPts val="0"/>
              </a:spcBef>
              <a:spcAft>
                <a:spcPts val="0"/>
              </a:spcAft>
              <a:buSzPts val="1400"/>
              <a:buChar char="●"/>
            </a:pPr>
            <a:r>
              <a:rPr lang="el"/>
              <a:t>Start increasing the complexity</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 common approach</a:t>
            </a:r>
            <a:endParaRPr/>
          </a:p>
        </p:txBody>
      </p:sp>
      <p:pic>
        <p:nvPicPr>
          <p:cNvPr id="288" name="Google Shape;288;p42"/>
          <p:cNvPicPr preferRelativeResize="0"/>
          <p:nvPr/>
        </p:nvPicPr>
        <p:blipFill>
          <a:blip r:embed="rId3">
            <a:alphaModFix/>
          </a:blip>
          <a:stretch>
            <a:fillRect/>
          </a:stretch>
        </p:blipFill>
        <p:spPr>
          <a:xfrm>
            <a:off x="152400" y="1170125"/>
            <a:ext cx="8839200" cy="2031515"/>
          </a:xfrm>
          <a:prstGeom prst="rect">
            <a:avLst/>
          </a:prstGeom>
          <a:noFill/>
          <a:ln>
            <a:noFill/>
          </a:ln>
        </p:spPr>
      </p:pic>
      <p:sp>
        <p:nvSpPr>
          <p:cNvPr id="289" name="Google Shape;289;p42"/>
          <p:cNvSpPr txBox="1"/>
          <p:nvPr/>
        </p:nvSpPr>
        <p:spPr>
          <a:xfrm>
            <a:off x="-168625" y="3300700"/>
            <a:ext cx="1835400" cy="1745700"/>
          </a:xfrm>
          <a:prstGeom prst="rect">
            <a:avLst/>
          </a:prstGeom>
          <a:noFill/>
          <a:ln>
            <a:noFill/>
          </a:ln>
        </p:spPr>
        <p:txBody>
          <a:bodyPr anchorCtr="0" anchor="t" bIns="91425" lIns="91425" spcFirstLastPara="1" rIns="91425" wrap="square" tIns="91425">
            <a:noAutofit/>
          </a:bodyPr>
          <a:lstStyle/>
          <a:p>
            <a:pPr indent="-186099" lvl="0" marL="457200" rtl="0" algn="l">
              <a:spcBef>
                <a:spcPts val="0"/>
              </a:spcBef>
              <a:spcAft>
                <a:spcPts val="0"/>
              </a:spcAft>
              <a:buSzPts val="1400"/>
              <a:buChar char="●"/>
            </a:pPr>
            <a:r>
              <a:rPr lang="el"/>
              <a:t>Specifically define your infrastructure</a:t>
            </a:r>
            <a:endParaRPr/>
          </a:p>
          <a:p>
            <a:pPr indent="-186099" lvl="0" marL="457200" rtl="0" algn="l">
              <a:spcBef>
                <a:spcPts val="0"/>
              </a:spcBef>
              <a:spcAft>
                <a:spcPts val="0"/>
              </a:spcAft>
              <a:buSzPts val="1400"/>
              <a:buChar char="●"/>
            </a:pPr>
            <a:r>
              <a:rPr lang="el"/>
              <a:t>CPU, GPU etc</a:t>
            </a:r>
            <a:endParaRPr/>
          </a:p>
        </p:txBody>
      </p:sp>
      <p:sp>
        <p:nvSpPr>
          <p:cNvPr id="290" name="Google Shape;290;p42"/>
          <p:cNvSpPr txBox="1"/>
          <p:nvPr/>
        </p:nvSpPr>
        <p:spPr>
          <a:xfrm>
            <a:off x="1840575" y="3397800"/>
            <a:ext cx="1835400" cy="1745700"/>
          </a:xfrm>
          <a:prstGeom prst="rect">
            <a:avLst/>
          </a:prstGeom>
          <a:noFill/>
          <a:ln>
            <a:noFill/>
          </a:ln>
        </p:spPr>
        <p:txBody>
          <a:bodyPr anchorCtr="0" anchor="t" bIns="91425" lIns="91425" spcFirstLastPara="1" rIns="91425" wrap="square" tIns="91425">
            <a:noAutofit/>
          </a:bodyPr>
          <a:lstStyle/>
          <a:p>
            <a:pPr indent="-186099" lvl="0" marL="457200" rtl="0" algn="l">
              <a:spcBef>
                <a:spcPts val="0"/>
              </a:spcBef>
              <a:spcAft>
                <a:spcPts val="0"/>
              </a:spcAft>
              <a:buSzPts val="1400"/>
              <a:buChar char="●"/>
            </a:pPr>
            <a:r>
              <a:rPr lang="el"/>
              <a:t>Start increasing the complexity</a:t>
            </a:r>
            <a:endParaRPr/>
          </a:p>
        </p:txBody>
      </p:sp>
      <p:sp>
        <p:nvSpPr>
          <p:cNvPr id="291" name="Google Shape;291;p42"/>
          <p:cNvSpPr txBox="1"/>
          <p:nvPr/>
        </p:nvSpPr>
        <p:spPr>
          <a:xfrm>
            <a:off x="3267150" y="3397800"/>
            <a:ext cx="2179800" cy="1745700"/>
          </a:xfrm>
          <a:prstGeom prst="rect">
            <a:avLst/>
          </a:prstGeom>
          <a:noFill/>
          <a:ln>
            <a:noFill/>
          </a:ln>
        </p:spPr>
        <p:txBody>
          <a:bodyPr anchorCtr="0" anchor="t" bIns="91425" lIns="91425" spcFirstLastPara="1" rIns="91425" wrap="square" tIns="91425">
            <a:noAutofit/>
          </a:bodyPr>
          <a:lstStyle/>
          <a:p>
            <a:pPr indent="-186099" lvl="0" marL="457200" rtl="0" algn="l">
              <a:spcBef>
                <a:spcPts val="0"/>
              </a:spcBef>
              <a:spcAft>
                <a:spcPts val="0"/>
              </a:spcAft>
              <a:buSzPts val="1400"/>
              <a:buChar char="●"/>
            </a:pPr>
            <a:r>
              <a:rPr lang="el"/>
              <a:t>In order to increase predictive power</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 common approach</a:t>
            </a:r>
            <a:endParaRPr/>
          </a:p>
        </p:txBody>
      </p:sp>
      <p:pic>
        <p:nvPicPr>
          <p:cNvPr id="297" name="Google Shape;297;p43"/>
          <p:cNvPicPr preferRelativeResize="0"/>
          <p:nvPr/>
        </p:nvPicPr>
        <p:blipFill>
          <a:blip r:embed="rId3">
            <a:alphaModFix/>
          </a:blip>
          <a:stretch>
            <a:fillRect/>
          </a:stretch>
        </p:blipFill>
        <p:spPr>
          <a:xfrm>
            <a:off x="152400" y="1170125"/>
            <a:ext cx="8839200" cy="2031515"/>
          </a:xfrm>
          <a:prstGeom prst="rect">
            <a:avLst/>
          </a:prstGeom>
          <a:noFill/>
          <a:ln>
            <a:noFill/>
          </a:ln>
        </p:spPr>
      </p:pic>
      <p:sp>
        <p:nvSpPr>
          <p:cNvPr id="298" name="Google Shape;298;p43"/>
          <p:cNvSpPr txBox="1"/>
          <p:nvPr/>
        </p:nvSpPr>
        <p:spPr>
          <a:xfrm>
            <a:off x="-168625" y="3300700"/>
            <a:ext cx="1835400" cy="1745700"/>
          </a:xfrm>
          <a:prstGeom prst="rect">
            <a:avLst/>
          </a:prstGeom>
          <a:noFill/>
          <a:ln>
            <a:noFill/>
          </a:ln>
        </p:spPr>
        <p:txBody>
          <a:bodyPr anchorCtr="0" anchor="t" bIns="91425" lIns="91425" spcFirstLastPara="1" rIns="91425" wrap="square" tIns="91425">
            <a:noAutofit/>
          </a:bodyPr>
          <a:lstStyle/>
          <a:p>
            <a:pPr indent="-186099" lvl="0" marL="457200" rtl="0" algn="l">
              <a:spcBef>
                <a:spcPts val="0"/>
              </a:spcBef>
              <a:spcAft>
                <a:spcPts val="0"/>
              </a:spcAft>
              <a:buSzPts val="1400"/>
              <a:buChar char="●"/>
            </a:pPr>
            <a:r>
              <a:rPr lang="el"/>
              <a:t>Specifically define your infrastructure</a:t>
            </a:r>
            <a:endParaRPr/>
          </a:p>
          <a:p>
            <a:pPr indent="-186099" lvl="0" marL="457200" rtl="0" algn="l">
              <a:spcBef>
                <a:spcPts val="0"/>
              </a:spcBef>
              <a:spcAft>
                <a:spcPts val="0"/>
              </a:spcAft>
              <a:buSzPts val="1400"/>
              <a:buChar char="●"/>
            </a:pPr>
            <a:r>
              <a:rPr lang="el"/>
              <a:t>CPU, GPU etc</a:t>
            </a:r>
            <a:endParaRPr/>
          </a:p>
        </p:txBody>
      </p:sp>
      <p:sp>
        <p:nvSpPr>
          <p:cNvPr id="299" name="Google Shape;299;p43"/>
          <p:cNvSpPr txBox="1"/>
          <p:nvPr/>
        </p:nvSpPr>
        <p:spPr>
          <a:xfrm>
            <a:off x="1840575" y="3397800"/>
            <a:ext cx="1835400" cy="1745700"/>
          </a:xfrm>
          <a:prstGeom prst="rect">
            <a:avLst/>
          </a:prstGeom>
          <a:noFill/>
          <a:ln>
            <a:noFill/>
          </a:ln>
        </p:spPr>
        <p:txBody>
          <a:bodyPr anchorCtr="0" anchor="t" bIns="91425" lIns="91425" spcFirstLastPara="1" rIns="91425" wrap="square" tIns="91425">
            <a:noAutofit/>
          </a:bodyPr>
          <a:lstStyle/>
          <a:p>
            <a:pPr indent="-186099" lvl="0" marL="457200" rtl="0" algn="l">
              <a:spcBef>
                <a:spcPts val="0"/>
              </a:spcBef>
              <a:spcAft>
                <a:spcPts val="0"/>
              </a:spcAft>
              <a:buSzPts val="1400"/>
              <a:buChar char="●"/>
            </a:pPr>
            <a:r>
              <a:rPr lang="el"/>
              <a:t>Start increasing the complexity</a:t>
            </a:r>
            <a:endParaRPr/>
          </a:p>
        </p:txBody>
      </p:sp>
      <p:sp>
        <p:nvSpPr>
          <p:cNvPr id="300" name="Google Shape;300;p43"/>
          <p:cNvSpPr txBox="1"/>
          <p:nvPr/>
        </p:nvSpPr>
        <p:spPr>
          <a:xfrm>
            <a:off x="3267150" y="3397800"/>
            <a:ext cx="2179800" cy="1745700"/>
          </a:xfrm>
          <a:prstGeom prst="rect">
            <a:avLst/>
          </a:prstGeom>
          <a:noFill/>
          <a:ln>
            <a:noFill/>
          </a:ln>
        </p:spPr>
        <p:txBody>
          <a:bodyPr anchorCtr="0" anchor="t" bIns="91425" lIns="91425" spcFirstLastPara="1" rIns="91425" wrap="square" tIns="91425">
            <a:noAutofit/>
          </a:bodyPr>
          <a:lstStyle/>
          <a:p>
            <a:pPr indent="-186099" lvl="0" marL="457200" rtl="0" algn="l">
              <a:spcBef>
                <a:spcPts val="0"/>
              </a:spcBef>
              <a:spcAft>
                <a:spcPts val="0"/>
              </a:spcAft>
              <a:buSzPts val="1400"/>
              <a:buChar char="●"/>
            </a:pPr>
            <a:r>
              <a:rPr lang="el"/>
              <a:t>In order to increase predictive power</a:t>
            </a:r>
            <a:endParaRPr/>
          </a:p>
        </p:txBody>
      </p:sp>
      <p:sp>
        <p:nvSpPr>
          <p:cNvPr id="301" name="Google Shape;301;p43"/>
          <p:cNvSpPr txBox="1"/>
          <p:nvPr/>
        </p:nvSpPr>
        <p:spPr>
          <a:xfrm>
            <a:off x="5224525" y="3397800"/>
            <a:ext cx="2179800" cy="1745700"/>
          </a:xfrm>
          <a:prstGeom prst="rect">
            <a:avLst/>
          </a:prstGeom>
          <a:noFill/>
          <a:ln>
            <a:noFill/>
          </a:ln>
        </p:spPr>
        <p:txBody>
          <a:bodyPr anchorCtr="0" anchor="t" bIns="91425" lIns="91425" spcFirstLastPara="1" rIns="91425" wrap="square" tIns="91425">
            <a:noAutofit/>
          </a:bodyPr>
          <a:lstStyle/>
          <a:p>
            <a:pPr indent="-186099" lvl="0" marL="457200" rtl="0" algn="l">
              <a:spcBef>
                <a:spcPts val="0"/>
              </a:spcBef>
              <a:spcAft>
                <a:spcPts val="0"/>
              </a:spcAft>
              <a:buSzPts val="1400"/>
              <a:buChar char="●"/>
            </a:pPr>
            <a:r>
              <a:rPr lang="el"/>
              <a:t>Until you hit a one of your gating metrics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 common approach</a:t>
            </a:r>
            <a:endParaRPr/>
          </a:p>
        </p:txBody>
      </p:sp>
      <p:pic>
        <p:nvPicPr>
          <p:cNvPr id="307" name="Google Shape;307;p44"/>
          <p:cNvPicPr preferRelativeResize="0"/>
          <p:nvPr/>
        </p:nvPicPr>
        <p:blipFill>
          <a:blip r:embed="rId3">
            <a:alphaModFix/>
          </a:blip>
          <a:stretch>
            <a:fillRect/>
          </a:stretch>
        </p:blipFill>
        <p:spPr>
          <a:xfrm>
            <a:off x="152400" y="1170125"/>
            <a:ext cx="8839200" cy="2031515"/>
          </a:xfrm>
          <a:prstGeom prst="rect">
            <a:avLst/>
          </a:prstGeom>
          <a:noFill/>
          <a:ln>
            <a:noFill/>
          </a:ln>
        </p:spPr>
      </p:pic>
      <p:sp>
        <p:nvSpPr>
          <p:cNvPr id="308" name="Google Shape;308;p44"/>
          <p:cNvSpPr txBox="1"/>
          <p:nvPr/>
        </p:nvSpPr>
        <p:spPr>
          <a:xfrm>
            <a:off x="-168625" y="3300700"/>
            <a:ext cx="1835400" cy="1745700"/>
          </a:xfrm>
          <a:prstGeom prst="rect">
            <a:avLst/>
          </a:prstGeom>
          <a:noFill/>
          <a:ln>
            <a:noFill/>
          </a:ln>
        </p:spPr>
        <p:txBody>
          <a:bodyPr anchorCtr="0" anchor="t" bIns="91425" lIns="91425" spcFirstLastPara="1" rIns="91425" wrap="square" tIns="91425">
            <a:noAutofit/>
          </a:bodyPr>
          <a:lstStyle/>
          <a:p>
            <a:pPr indent="-186099" lvl="0" marL="457200" rtl="0" algn="l">
              <a:spcBef>
                <a:spcPts val="0"/>
              </a:spcBef>
              <a:spcAft>
                <a:spcPts val="0"/>
              </a:spcAft>
              <a:buSzPts val="1400"/>
              <a:buChar char="●"/>
            </a:pPr>
            <a:r>
              <a:rPr lang="el"/>
              <a:t>Specifically define your infrastructure</a:t>
            </a:r>
            <a:endParaRPr/>
          </a:p>
          <a:p>
            <a:pPr indent="-186099" lvl="0" marL="457200" rtl="0" algn="l">
              <a:spcBef>
                <a:spcPts val="0"/>
              </a:spcBef>
              <a:spcAft>
                <a:spcPts val="0"/>
              </a:spcAft>
              <a:buSzPts val="1400"/>
              <a:buChar char="●"/>
            </a:pPr>
            <a:r>
              <a:rPr lang="el"/>
              <a:t>CPU, GPU etc</a:t>
            </a:r>
            <a:endParaRPr/>
          </a:p>
        </p:txBody>
      </p:sp>
      <p:sp>
        <p:nvSpPr>
          <p:cNvPr id="309" name="Google Shape;309;p44"/>
          <p:cNvSpPr txBox="1"/>
          <p:nvPr/>
        </p:nvSpPr>
        <p:spPr>
          <a:xfrm>
            <a:off x="1840575" y="3397800"/>
            <a:ext cx="1835400" cy="1745700"/>
          </a:xfrm>
          <a:prstGeom prst="rect">
            <a:avLst/>
          </a:prstGeom>
          <a:noFill/>
          <a:ln>
            <a:noFill/>
          </a:ln>
        </p:spPr>
        <p:txBody>
          <a:bodyPr anchorCtr="0" anchor="t" bIns="91425" lIns="91425" spcFirstLastPara="1" rIns="91425" wrap="square" tIns="91425">
            <a:noAutofit/>
          </a:bodyPr>
          <a:lstStyle/>
          <a:p>
            <a:pPr indent="-186099" lvl="0" marL="457200" rtl="0" algn="l">
              <a:spcBef>
                <a:spcPts val="0"/>
              </a:spcBef>
              <a:spcAft>
                <a:spcPts val="0"/>
              </a:spcAft>
              <a:buSzPts val="1400"/>
              <a:buChar char="●"/>
            </a:pPr>
            <a:r>
              <a:rPr lang="el"/>
              <a:t>Start increasing the complexity</a:t>
            </a:r>
            <a:endParaRPr/>
          </a:p>
        </p:txBody>
      </p:sp>
      <p:sp>
        <p:nvSpPr>
          <p:cNvPr id="310" name="Google Shape;310;p44"/>
          <p:cNvSpPr txBox="1"/>
          <p:nvPr/>
        </p:nvSpPr>
        <p:spPr>
          <a:xfrm>
            <a:off x="3267150" y="3397800"/>
            <a:ext cx="2179800" cy="1745700"/>
          </a:xfrm>
          <a:prstGeom prst="rect">
            <a:avLst/>
          </a:prstGeom>
          <a:noFill/>
          <a:ln>
            <a:noFill/>
          </a:ln>
        </p:spPr>
        <p:txBody>
          <a:bodyPr anchorCtr="0" anchor="t" bIns="91425" lIns="91425" spcFirstLastPara="1" rIns="91425" wrap="square" tIns="91425">
            <a:noAutofit/>
          </a:bodyPr>
          <a:lstStyle/>
          <a:p>
            <a:pPr indent="-186099" lvl="0" marL="457200" rtl="0" algn="l">
              <a:spcBef>
                <a:spcPts val="0"/>
              </a:spcBef>
              <a:spcAft>
                <a:spcPts val="0"/>
              </a:spcAft>
              <a:buSzPts val="1400"/>
              <a:buChar char="●"/>
            </a:pPr>
            <a:r>
              <a:rPr lang="el"/>
              <a:t>In order to increase predictive power</a:t>
            </a:r>
            <a:endParaRPr/>
          </a:p>
        </p:txBody>
      </p:sp>
      <p:sp>
        <p:nvSpPr>
          <p:cNvPr id="311" name="Google Shape;311;p44"/>
          <p:cNvSpPr txBox="1"/>
          <p:nvPr/>
        </p:nvSpPr>
        <p:spPr>
          <a:xfrm>
            <a:off x="5224525" y="3397800"/>
            <a:ext cx="2179800" cy="1745700"/>
          </a:xfrm>
          <a:prstGeom prst="rect">
            <a:avLst/>
          </a:prstGeom>
          <a:noFill/>
          <a:ln>
            <a:noFill/>
          </a:ln>
        </p:spPr>
        <p:txBody>
          <a:bodyPr anchorCtr="0" anchor="t" bIns="91425" lIns="91425" spcFirstLastPara="1" rIns="91425" wrap="square" tIns="91425">
            <a:noAutofit/>
          </a:bodyPr>
          <a:lstStyle/>
          <a:p>
            <a:pPr indent="-186099" lvl="0" marL="457200" rtl="0" algn="l">
              <a:spcBef>
                <a:spcPts val="0"/>
              </a:spcBef>
              <a:spcAft>
                <a:spcPts val="0"/>
              </a:spcAft>
              <a:buSzPts val="1400"/>
              <a:buChar char="●"/>
            </a:pPr>
            <a:r>
              <a:rPr lang="el"/>
              <a:t>Until you hit a one of your gating metrics</a:t>
            </a:r>
            <a:endParaRPr/>
          </a:p>
        </p:txBody>
      </p:sp>
      <p:sp>
        <p:nvSpPr>
          <p:cNvPr id="312" name="Google Shape;312;p44"/>
          <p:cNvSpPr txBox="1"/>
          <p:nvPr/>
        </p:nvSpPr>
        <p:spPr>
          <a:xfrm>
            <a:off x="7047325" y="3397800"/>
            <a:ext cx="2179800" cy="1745700"/>
          </a:xfrm>
          <a:prstGeom prst="rect">
            <a:avLst/>
          </a:prstGeom>
          <a:noFill/>
          <a:ln>
            <a:noFill/>
          </a:ln>
        </p:spPr>
        <p:txBody>
          <a:bodyPr anchorCtr="0" anchor="t" bIns="91425" lIns="91425" spcFirstLastPara="1" rIns="91425" wrap="square" tIns="91425">
            <a:noAutofit/>
          </a:bodyPr>
          <a:lstStyle/>
          <a:p>
            <a:pPr indent="-186099" lvl="0" marL="457200" rtl="0" algn="l">
              <a:spcBef>
                <a:spcPts val="0"/>
              </a:spcBef>
              <a:spcAft>
                <a:spcPts val="0"/>
              </a:spcAft>
              <a:buSzPts val="1400"/>
              <a:buChar char="●"/>
            </a:pPr>
            <a:r>
              <a:rPr lang="el"/>
              <a:t>Either accept or start again</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Caching</a:t>
            </a:r>
            <a:endParaRPr/>
          </a:p>
        </p:txBody>
      </p:sp>
      <p:sp>
        <p:nvSpPr>
          <p:cNvPr id="318" name="Google Shape;318;p45"/>
          <p:cNvSpPr txBox="1"/>
          <p:nvPr/>
        </p:nvSpPr>
        <p:spPr>
          <a:xfrm>
            <a:off x="340375" y="1327950"/>
            <a:ext cx="4736100" cy="343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During a projects life cycle we constantly repeat data processing steps in different combinations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We need to minimize wasted work to maximize efficiency</a:t>
            </a:r>
            <a:endParaRPr/>
          </a:p>
          <a:p>
            <a:pPr indent="0" lvl="0" marL="0" rtl="0" algn="l">
              <a:spcBef>
                <a:spcPts val="0"/>
              </a:spcBef>
              <a:spcAft>
                <a:spcPts val="0"/>
              </a:spcAft>
              <a:buNone/>
            </a:pPr>
            <a:r>
              <a:t/>
            </a:r>
            <a:endParaRPr/>
          </a:p>
          <a:p>
            <a:pPr indent="0" lvl="0" marL="0" rtl="0" algn="l">
              <a:spcBef>
                <a:spcPts val="0"/>
              </a:spcBef>
              <a:spcAft>
                <a:spcPts val="0"/>
              </a:spcAft>
              <a:buNone/>
            </a:pPr>
            <a:r>
              <a:rPr lang="el">
                <a:solidFill>
                  <a:srgbClr val="FF00FF"/>
                </a:solidFill>
              </a:rPr>
              <a:t>What we do? We organize pipelines and caching.</a:t>
            </a:r>
            <a:endParaRPr>
              <a:solidFill>
                <a:srgbClr val="FF00FF"/>
              </a:solidFill>
            </a:endParaRPr>
          </a:p>
          <a:p>
            <a:pPr indent="0" lvl="0" marL="0" rtl="0" algn="l">
              <a:spcBef>
                <a:spcPts val="0"/>
              </a:spcBef>
              <a:spcAft>
                <a:spcPts val="0"/>
              </a:spcAft>
              <a:buNone/>
            </a:pPr>
            <a:r>
              <a:t/>
            </a:r>
            <a:endParaRPr/>
          </a:p>
          <a:p>
            <a:pPr indent="-317500" lvl="0" marL="457200" rtl="0" algn="l">
              <a:lnSpc>
                <a:spcPct val="115000"/>
              </a:lnSpc>
              <a:spcBef>
                <a:spcPts val="0"/>
              </a:spcBef>
              <a:spcAft>
                <a:spcPts val="0"/>
              </a:spcAft>
              <a:buSzPts val="1400"/>
              <a:buChar char="●"/>
            </a:pPr>
            <a:r>
              <a:rPr lang="el"/>
              <a:t>Iteration efficiency: Reduce cost of frequent iteration</a:t>
            </a:r>
            <a:endParaRPr/>
          </a:p>
          <a:p>
            <a:pPr indent="-317500" lvl="0" marL="457200" rtl="0" algn="l">
              <a:lnSpc>
                <a:spcPct val="115000"/>
              </a:lnSpc>
              <a:spcBef>
                <a:spcPts val="0"/>
              </a:spcBef>
              <a:spcAft>
                <a:spcPts val="0"/>
              </a:spcAft>
              <a:buSzPts val="1400"/>
              <a:buChar char="●"/>
            </a:pPr>
            <a:r>
              <a:rPr lang="el"/>
              <a:t>Increase productivity: Speeding up iteration frequency helps make problems faster</a:t>
            </a:r>
            <a:endParaRPr/>
          </a:p>
          <a:p>
            <a:pPr indent="-317500" lvl="0" marL="457200" rtl="0" algn="l">
              <a:lnSpc>
                <a:spcPct val="115000"/>
              </a:lnSpc>
              <a:spcBef>
                <a:spcPts val="0"/>
              </a:spcBef>
              <a:spcAft>
                <a:spcPts val="0"/>
              </a:spcAft>
              <a:buSzPts val="1400"/>
              <a:buChar char="●"/>
            </a:pPr>
            <a:r>
              <a:rPr lang="el"/>
              <a:t>Reduce costs: Your monthly cloud bills will go way down!!</a:t>
            </a:r>
            <a:endParaRPr/>
          </a:p>
          <a:p>
            <a:pPr indent="0" lvl="0" marL="0" rtl="0" algn="l">
              <a:lnSpc>
                <a:spcPct val="115000"/>
              </a:lnSpc>
              <a:spcBef>
                <a:spcPts val="0"/>
              </a:spcBef>
              <a:spcAft>
                <a:spcPts val="0"/>
              </a:spcAft>
              <a:buNone/>
            </a:pPr>
            <a:r>
              <a:t/>
            </a:r>
            <a:endParaRPr/>
          </a:p>
        </p:txBody>
      </p:sp>
      <p:pic>
        <p:nvPicPr>
          <p:cNvPr id="319" name="Google Shape;319;p45"/>
          <p:cNvPicPr preferRelativeResize="0"/>
          <p:nvPr/>
        </p:nvPicPr>
        <p:blipFill>
          <a:blip r:embed="rId3">
            <a:alphaModFix/>
          </a:blip>
          <a:stretch>
            <a:fillRect/>
          </a:stretch>
        </p:blipFill>
        <p:spPr>
          <a:xfrm>
            <a:off x="5228875" y="1170125"/>
            <a:ext cx="3762724" cy="311051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Caching and Feature Lookup</a:t>
            </a:r>
            <a:endParaRPr/>
          </a:p>
        </p:txBody>
      </p:sp>
      <p:pic>
        <p:nvPicPr>
          <p:cNvPr id="325" name="Google Shape;325;p46"/>
          <p:cNvPicPr preferRelativeResize="0"/>
          <p:nvPr/>
        </p:nvPicPr>
        <p:blipFill>
          <a:blip r:embed="rId3">
            <a:alphaModFix/>
          </a:blip>
          <a:stretch>
            <a:fillRect/>
          </a:stretch>
        </p:blipFill>
        <p:spPr>
          <a:xfrm>
            <a:off x="3553576" y="1180600"/>
            <a:ext cx="5317250" cy="3220076"/>
          </a:xfrm>
          <a:prstGeom prst="rect">
            <a:avLst/>
          </a:prstGeom>
          <a:noFill/>
          <a:ln>
            <a:noFill/>
          </a:ln>
        </p:spPr>
      </p:pic>
      <p:sp>
        <p:nvSpPr>
          <p:cNvPr id="326" name="Google Shape;326;p46"/>
          <p:cNvSpPr txBox="1"/>
          <p:nvPr/>
        </p:nvSpPr>
        <p:spPr>
          <a:xfrm>
            <a:off x="46950" y="1502750"/>
            <a:ext cx="5233500" cy="243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NoSQL databases are a good solution to implement caching.</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Some examples: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4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l"/>
              <a:t>Deployment Options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Deployment Options</a:t>
            </a:r>
            <a:endParaRPr/>
          </a:p>
        </p:txBody>
      </p:sp>
      <p:pic>
        <p:nvPicPr>
          <p:cNvPr id="337" name="Google Shape;337;p48"/>
          <p:cNvPicPr preferRelativeResize="0"/>
          <p:nvPr/>
        </p:nvPicPr>
        <p:blipFill>
          <a:blip r:embed="rId3">
            <a:alphaModFix/>
          </a:blip>
          <a:stretch>
            <a:fillRect/>
          </a:stretch>
        </p:blipFill>
        <p:spPr>
          <a:xfrm>
            <a:off x="472500" y="1287500"/>
            <a:ext cx="2865374" cy="2344950"/>
          </a:xfrm>
          <a:prstGeom prst="rect">
            <a:avLst/>
          </a:prstGeom>
          <a:noFill/>
          <a:ln>
            <a:noFill/>
          </a:ln>
        </p:spPr>
      </p:pic>
      <p:sp>
        <p:nvSpPr>
          <p:cNvPr id="338" name="Google Shape;338;p48"/>
          <p:cNvSpPr txBox="1"/>
          <p:nvPr/>
        </p:nvSpPr>
        <p:spPr>
          <a:xfrm>
            <a:off x="66150" y="3696500"/>
            <a:ext cx="3702900" cy="13125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rgbClr val="FF00FF"/>
              </a:buClr>
              <a:buSzPts val="1400"/>
              <a:buChar char="●"/>
            </a:pPr>
            <a:r>
              <a:rPr lang="el">
                <a:solidFill>
                  <a:srgbClr val="FF00FF"/>
                </a:solidFill>
              </a:rPr>
              <a:t>A centralized model</a:t>
            </a:r>
            <a:endParaRPr>
              <a:solidFill>
                <a:srgbClr val="FF00FF"/>
              </a:solidFill>
            </a:endParaRPr>
          </a:p>
          <a:p>
            <a:pPr indent="-317500" lvl="0" marL="457200" rtl="0" algn="l">
              <a:spcBef>
                <a:spcPts val="0"/>
              </a:spcBef>
              <a:spcAft>
                <a:spcPts val="0"/>
              </a:spcAft>
              <a:buSzPts val="1400"/>
              <a:buChar char="●"/>
            </a:pPr>
            <a:r>
              <a:rPr lang="el"/>
              <a:t>In a huge data center</a:t>
            </a:r>
            <a:endParaRPr/>
          </a:p>
          <a:p>
            <a:pPr indent="-317500" lvl="0" marL="457200" rtl="0" algn="l">
              <a:spcBef>
                <a:spcPts val="0"/>
              </a:spcBef>
              <a:spcAft>
                <a:spcPts val="0"/>
              </a:spcAft>
              <a:buSzPts val="1400"/>
              <a:buChar char="●"/>
            </a:pPr>
            <a:r>
              <a:rPr lang="el"/>
              <a:t>Access is given by remote calls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Deployment Options</a:t>
            </a:r>
            <a:endParaRPr/>
          </a:p>
        </p:txBody>
      </p:sp>
      <p:pic>
        <p:nvPicPr>
          <p:cNvPr id="344" name="Google Shape;344;p49"/>
          <p:cNvPicPr preferRelativeResize="0"/>
          <p:nvPr/>
        </p:nvPicPr>
        <p:blipFill>
          <a:blip r:embed="rId3">
            <a:alphaModFix/>
          </a:blip>
          <a:stretch>
            <a:fillRect/>
          </a:stretch>
        </p:blipFill>
        <p:spPr>
          <a:xfrm>
            <a:off x="472500" y="1287500"/>
            <a:ext cx="2865374" cy="2344950"/>
          </a:xfrm>
          <a:prstGeom prst="rect">
            <a:avLst/>
          </a:prstGeom>
          <a:noFill/>
          <a:ln>
            <a:noFill/>
          </a:ln>
        </p:spPr>
      </p:pic>
      <p:pic>
        <p:nvPicPr>
          <p:cNvPr id="345" name="Google Shape;345;p49"/>
          <p:cNvPicPr preferRelativeResize="0"/>
          <p:nvPr/>
        </p:nvPicPr>
        <p:blipFill>
          <a:blip r:embed="rId4">
            <a:alphaModFix/>
          </a:blip>
          <a:stretch>
            <a:fillRect/>
          </a:stretch>
        </p:blipFill>
        <p:spPr>
          <a:xfrm>
            <a:off x="5531404" y="1287499"/>
            <a:ext cx="2464872" cy="2344950"/>
          </a:xfrm>
          <a:prstGeom prst="rect">
            <a:avLst/>
          </a:prstGeom>
          <a:noFill/>
          <a:ln>
            <a:noFill/>
          </a:ln>
        </p:spPr>
      </p:pic>
      <p:sp>
        <p:nvSpPr>
          <p:cNvPr id="346" name="Google Shape;346;p49"/>
          <p:cNvSpPr txBox="1"/>
          <p:nvPr/>
        </p:nvSpPr>
        <p:spPr>
          <a:xfrm>
            <a:off x="66150" y="3696500"/>
            <a:ext cx="3702900" cy="13125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rgbClr val="FF00FF"/>
              </a:buClr>
              <a:buSzPts val="1400"/>
              <a:buChar char="●"/>
            </a:pPr>
            <a:r>
              <a:rPr lang="el">
                <a:solidFill>
                  <a:srgbClr val="FF00FF"/>
                </a:solidFill>
              </a:rPr>
              <a:t>A centralized model</a:t>
            </a:r>
            <a:endParaRPr>
              <a:solidFill>
                <a:srgbClr val="FF00FF"/>
              </a:solidFill>
            </a:endParaRPr>
          </a:p>
          <a:p>
            <a:pPr indent="-317500" lvl="0" marL="457200" rtl="0" algn="l">
              <a:spcBef>
                <a:spcPts val="0"/>
              </a:spcBef>
              <a:spcAft>
                <a:spcPts val="0"/>
              </a:spcAft>
              <a:buSzPts val="1400"/>
              <a:buChar char="●"/>
            </a:pPr>
            <a:r>
              <a:rPr lang="el"/>
              <a:t>In a huge data center</a:t>
            </a:r>
            <a:endParaRPr/>
          </a:p>
          <a:p>
            <a:pPr indent="-317500" lvl="0" marL="457200" rtl="0" algn="l">
              <a:spcBef>
                <a:spcPts val="0"/>
              </a:spcBef>
              <a:spcAft>
                <a:spcPts val="0"/>
              </a:spcAft>
              <a:buSzPts val="1400"/>
              <a:buChar char="●"/>
            </a:pPr>
            <a:r>
              <a:rPr lang="el"/>
              <a:t>Access is given by remote calls</a:t>
            </a:r>
            <a:endParaRPr/>
          </a:p>
        </p:txBody>
      </p:sp>
      <p:sp>
        <p:nvSpPr>
          <p:cNvPr id="347" name="Google Shape;347;p49"/>
          <p:cNvSpPr txBox="1"/>
          <p:nvPr/>
        </p:nvSpPr>
        <p:spPr>
          <a:xfrm>
            <a:off x="5129400" y="3632450"/>
            <a:ext cx="3702900" cy="13125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rgbClr val="FF00FF"/>
              </a:buClr>
              <a:buSzPts val="1400"/>
              <a:buChar char="●"/>
            </a:pPr>
            <a:r>
              <a:rPr lang="el">
                <a:solidFill>
                  <a:srgbClr val="FF00FF"/>
                </a:solidFill>
              </a:rPr>
              <a:t>Distribute unique instances of your model on embedded devices</a:t>
            </a:r>
            <a:endParaRPr>
              <a:solidFill>
                <a:srgbClr val="FF00FF"/>
              </a:solidFill>
            </a:endParaRPr>
          </a:p>
          <a:p>
            <a:pPr indent="-317500" lvl="0" marL="457200" rtl="0" algn="l">
              <a:spcBef>
                <a:spcPts val="0"/>
              </a:spcBef>
              <a:spcAft>
                <a:spcPts val="0"/>
              </a:spcAft>
              <a:buSzPts val="1400"/>
              <a:buChar char="●"/>
            </a:pPr>
            <a:r>
              <a:rPr lang="el"/>
              <a:t>Local loading</a:t>
            </a:r>
            <a:endParaRPr/>
          </a:p>
          <a:p>
            <a:pPr indent="-317500" lvl="0" marL="457200" rtl="0" algn="l">
              <a:spcBef>
                <a:spcPts val="0"/>
              </a:spcBef>
              <a:spcAft>
                <a:spcPts val="0"/>
              </a:spcAft>
              <a:buSzPts val="1400"/>
              <a:buChar char="●"/>
            </a:pPr>
            <a:r>
              <a:rPr lang="el"/>
              <a:t>Phones, personal computers etc</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Running in Huge Data Centers</a:t>
            </a:r>
            <a:endParaRPr/>
          </a:p>
        </p:txBody>
      </p:sp>
      <p:sp>
        <p:nvSpPr>
          <p:cNvPr id="353" name="Google Shape;353;p50"/>
          <p:cNvSpPr txBox="1"/>
          <p:nvPr/>
        </p:nvSpPr>
        <p:spPr>
          <a:xfrm>
            <a:off x="514350" y="1263450"/>
            <a:ext cx="4535400" cy="18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t>Big cloud providers </a:t>
            </a:r>
            <a:endParaRPr sz="1600"/>
          </a:p>
          <a:p>
            <a:pPr indent="0" lvl="0" marL="0" rtl="0" algn="l">
              <a:spcBef>
                <a:spcPts val="0"/>
              </a:spcBef>
              <a:spcAft>
                <a:spcPts val="0"/>
              </a:spcAft>
              <a:buNone/>
            </a:pPr>
            <a:r>
              <a:t/>
            </a:r>
            <a:endParaRPr sz="1600"/>
          </a:p>
          <a:p>
            <a:pPr indent="-330200" lvl="0" marL="457200" rtl="0" algn="l">
              <a:spcBef>
                <a:spcPts val="0"/>
              </a:spcBef>
              <a:spcAft>
                <a:spcPts val="0"/>
              </a:spcAft>
              <a:buSzPts val="1600"/>
              <a:buChar char="●"/>
            </a:pPr>
            <a:r>
              <a:rPr lang="el" sz="1600"/>
              <a:t>AWS</a:t>
            </a:r>
            <a:endParaRPr sz="1600"/>
          </a:p>
          <a:p>
            <a:pPr indent="-330200" lvl="0" marL="457200" rtl="0" algn="l">
              <a:spcBef>
                <a:spcPts val="0"/>
              </a:spcBef>
              <a:spcAft>
                <a:spcPts val="0"/>
              </a:spcAft>
              <a:buSzPts val="1600"/>
              <a:buChar char="●"/>
            </a:pPr>
            <a:r>
              <a:rPr lang="el" sz="1600"/>
              <a:t>Google Cloud</a:t>
            </a:r>
            <a:endParaRPr sz="1600"/>
          </a:p>
          <a:p>
            <a:pPr indent="-330200" lvl="0" marL="457200" rtl="0" algn="l">
              <a:spcBef>
                <a:spcPts val="0"/>
              </a:spcBef>
              <a:spcAft>
                <a:spcPts val="0"/>
              </a:spcAft>
              <a:buSzPts val="1600"/>
              <a:buChar char="●"/>
            </a:pPr>
            <a:r>
              <a:rPr lang="el" sz="1600"/>
              <a:t>Azure</a:t>
            </a:r>
            <a:endParaRPr sz="1600"/>
          </a:p>
        </p:txBody>
      </p:sp>
      <p:pic>
        <p:nvPicPr>
          <p:cNvPr id="354" name="Google Shape;354;p50"/>
          <p:cNvPicPr preferRelativeResize="0"/>
          <p:nvPr/>
        </p:nvPicPr>
        <p:blipFill>
          <a:blip r:embed="rId3">
            <a:alphaModFix/>
          </a:blip>
          <a:stretch>
            <a:fillRect/>
          </a:stretch>
        </p:blipFill>
        <p:spPr>
          <a:xfrm>
            <a:off x="2113050" y="2571750"/>
            <a:ext cx="2458950" cy="1285225"/>
          </a:xfrm>
          <a:prstGeom prst="rect">
            <a:avLst/>
          </a:prstGeom>
          <a:noFill/>
          <a:ln>
            <a:noFill/>
          </a:ln>
        </p:spPr>
      </p:pic>
      <p:pic>
        <p:nvPicPr>
          <p:cNvPr id="355" name="Google Shape;355;p50"/>
          <p:cNvPicPr preferRelativeResize="0"/>
          <p:nvPr/>
        </p:nvPicPr>
        <p:blipFill>
          <a:blip r:embed="rId4">
            <a:alphaModFix/>
          </a:blip>
          <a:stretch>
            <a:fillRect/>
          </a:stretch>
        </p:blipFill>
        <p:spPr>
          <a:xfrm>
            <a:off x="5138125" y="1017725"/>
            <a:ext cx="3789450" cy="2230499"/>
          </a:xfrm>
          <a:prstGeom prst="rect">
            <a:avLst/>
          </a:prstGeom>
          <a:noFill/>
          <a:ln>
            <a:noFill/>
          </a:ln>
        </p:spPr>
      </p:pic>
      <p:sp>
        <p:nvSpPr>
          <p:cNvPr id="356" name="Google Shape;356;p50"/>
          <p:cNvSpPr txBox="1"/>
          <p:nvPr/>
        </p:nvSpPr>
        <p:spPr>
          <a:xfrm>
            <a:off x="1314725" y="4048650"/>
            <a:ext cx="4716600" cy="917700"/>
          </a:xfrm>
          <a:prstGeom prst="rect">
            <a:avLst/>
          </a:prstGeom>
          <a:solidFill>
            <a:srgbClr val="CCCCCC"/>
          </a:solid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Char char="●"/>
            </a:pPr>
            <a:r>
              <a:rPr b="1" lang="el" sz="1600">
                <a:solidFill>
                  <a:schemeClr val="dk1"/>
                </a:solidFill>
              </a:rPr>
              <a:t>They optimize resource utilization for you</a:t>
            </a:r>
            <a:endParaRPr b="1" sz="1600">
              <a:solidFill>
                <a:schemeClr val="dk1"/>
              </a:solidFill>
            </a:endParaRPr>
          </a:p>
          <a:p>
            <a:pPr indent="-330200" lvl="0" marL="457200" rtl="0" algn="l">
              <a:spcBef>
                <a:spcPts val="0"/>
              </a:spcBef>
              <a:spcAft>
                <a:spcPts val="0"/>
              </a:spcAft>
              <a:buClr>
                <a:schemeClr val="dk1"/>
              </a:buClr>
              <a:buSzPts val="1600"/>
              <a:buChar char="●"/>
            </a:pPr>
            <a:r>
              <a:rPr b="1" lang="el" sz="1600">
                <a:solidFill>
                  <a:schemeClr val="dk1"/>
                </a:solidFill>
              </a:rPr>
              <a:t>They try to reduce running costs</a:t>
            </a:r>
            <a:endParaRPr b="1" sz="1600">
              <a:solidFill>
                <a:schemeClr val="dk1"/>
              </a:solidFill>
            </a:endParaRPr>
          </a:p>
          <a:p>
            <a:pPr indent="-330200" lvl="0" marL="457200" rtl="0" algn="l">
              <a:spcBef>
                <a:spcPts val="0"/>
              </a:spcBef>
              <a:spcAft>
                <a:spcPts val="0"/>
              </a:spcAft>
              <a:buClr>
                <a:schemeClr val="dk1"/>
              </a:buClr>
              <a:buSzPts val="1600"/>
              <a:buChar char="●"/>
            </a:pPr>
            <a:r>
              <a:rPr b="1" lang="el" sz="1600">
                <a:solidFill>
                  <a:schemeClr val="dk1"/>
                </a:solidFill>
              </a:rPr>
              <a:t>Pay as you-go services</a:t>
            </a:r>
            <a:endParaRPr b="1" sz="1600">
              <a:solidFill>
                <a:schemeClr val="dk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Phone devices</a:t>
            </a:r>
            <a:endParaRPr/>
          </a:p>
        </p:txBody>
      </p:sp>
      <p:pic>
        <p:nvPicPr>
          <p:cNvPr id="362" name="Google Shape;362;p51"/>
          <p:cNvPicPr preferRelativeResize="0"/>
          <p:nvPr/>
        </p:nvPicPr>
        <p:blipFill>
          <a:blip r:embed="rId3">
            <a:alphaModFix/>
          </a:blip>
          <a:stretch>
            <a:fillRect/>
          </a:stretch>
        </p:blipFill>
        <p:spPr>
          <a:xfrm>
            <a:off x="1495053" y="2225200"/>
            <a:ext cx="6238577" cy="2653575"/>
          </a:xfrm>
          <a:prstGeom prst="rect">
            <a:avLst/>
          </a:prstGeom>
          <a:noFill/>
          <a:ln>
            <a:noFill/>
          </a:ln>
        </p:spPr>
      </p:pic>
      <p:sp>
        <p:nvSpPr>
          <p:cNvPr id="363" name="Google Shape;363;p51"/>
          <p:cNvSpPr txBox="1"/>
          <p:nvPr/>
        </p:nvSpPr>
        <p:spPr>
          <a:xfrm>
            <a:off x="370725" y="1103400"/>
            <a:ext cx="3878400" cy="8430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b="1" lang="el" sz="1600"/>
              <a:t>Huge Latency/Throughput gains</a:t>
            </a:r>
            <a:endParaRPr b="1" sz="1600"/>
          </a:p>
          <a:p>
            <a:pPr indent="0" lvl="0" marL="0" rtl="0" algn="l">
              <a:spcBef>
                <a:spcPts val="0"/>
              </a:spcBef>
              <a:spcAft>
                <a:spcPts val="0"/>
              </a:spcAft>
              <a:buNone/>
            </a:pPr>
            <a:r>
              <a:t/>
            </a:r>
            <a:endParaRPr b="1" sz="1600"/>
          </a:p>
          <a:p>
            <a:pPr indent="-330200" lvl="0" marL="457200" rtl="0" algn="l">
              <a:spcBef>
                <a:spcPts val="0"/>
              </a:spcBef>
              <a:spcAft>
                <a:spcPts val="0"/>
              </a:spcAft>
              <a:buSzPts val="1600"/>
              <a:buChar char="●"/>
            </a:pPr>
            <a:r>
              <a:rPr b="1" lang="el" sz="1600"/>
              <a:t>But</a:t>
            </a:r>
            <a:endParaRPr b="1" sz="16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l"/>
              <a:t>Constrained Environments</a:t>
            </a:r>
            <a:endParaRPr/>
          </a:p>
          <a:p>
            <a:pPr indent="0" lvl="0" marL="0" rtl="0" algn="l">
              <a:spcBef>
                <a:spcPts val="0"/>
              </a:spcBef>
              <a:spcAft>
                <a:spcPts val="0"/>
              </a:spcAft>
              <a:buNone/>
            </a:pPr>
            <a:r>
              <a:t/>
            </a:r>
            <a:endParaRPr/>
          </a:p>
        </p:txBody>
      </p:sp>
      <p:pic>
        <p:nvPicPr>
          <p:cNvPr id="369" name="Google Shape;369;p52"/>
          <p:cNvPicPr preferRelativeResize="0"/>
          <p:nvPr/>
        </p:nvPicPr>
        <p:blipFill>
          <a:blip r:embed="rId3">
            <a:alphaModFix/>
          </a:blip>
          <a:stretch>
            <a:fillRect/>
          </a:stretch>
        </p:blipFill>
        <p:spPr>
          <a:xfrm>
            <a:off x="570275" y="1745800"/>
            <a:ext cx="2693301" cy="3023374"/>
          </a:xfrm>
          <a:prstGeom prst="rect">
            <a:avLst/>
          </a:prstGeom>
          <a:noFill/>
          <a:ln>
            <a:noFill/>
          </a:ln>
        </p:spPr>
      </p:pic>
      <p:sp>
        <p:nvSpPr>
          <p:cNvPr id="370" name="Google Shape;370;p52"/>
          <p:cNvSpPr txBox="1"/>
          <p:nvPr/>
        </p:nvSpPr>
        <p:spPr>
          <a:xfrm>
            <a:off x="1144300" y="1041775"/>
            <a:ext cx="1472700" cy="44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
                <a:solidFill>
                  <a:srgbClr val="FF00FF"/>
                </a:solidFill>
              </a:rPr>
              <a:t>Local Devices </a:t>
            </a:r>
            <a:endParaRPr b="1">
              <a:solidFill>
                <a:srgbClr val="FF00FF"/>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l"/>
              <a:t>Constrained Environments</a:t>
            </a:r>
            <a:endParaRPr/>
          </a:p>
          <a:p>
            <a:pPr indent="0" lvl="0" marL="0" rtl="0" algn="l">
              <a:spcBef>
                <a:spcPts val="0"/>
              </a:spcBef>
              <a:spcAft>
                <a:spcPts val="0"/>
              </a:spcAft>
              <a:buNone/>
            </a:pPr>
            <a:r>
              <a:t/>
            </a:r>
            <a:endParaRPr/>
          </a:p>
        </p:txBody>
      </p:sp>
      <p:pic>
        <p:nvPicPr>
          <p:cNvPr id="376" name="Google Shape;376;p53"/>
          <p:cNvPicPr preferRelativeResize="0"/>
          <p:nvPr/>
        </p:nvPicPr>
        <p:blipFill>
          <a:blip r:embed="rId3">
            <a:alphaModFix/>
          </a:blip>
          <a:stretch>
            <a:fillRect/>
          </a:stretch>
        </p:blipFill>
        <p:spPr>
          <a:xfrm>
            <a:off x="570275" y="1745800"/>
            <a:ext cx="2693301" cy="3023374"/>
          </a:xfrm>
          <a:prstGeom prst="rect">
            <a:avLst/>
          </a:prstGeom>
          <a:noFill/>
          <a:ln>
            <a:noFill/>
          </a:ln>
        </p:spPr>
      </p:pic>
      <p:pic>
        <p:nvPicPr>
          <p:cNvPr id="377" name="Google Shape;377;p53"/>
          <p:cNvPicPr preferRelativeResize="0"/>
          <p:nvPr/>
        </p:nvPicPr>
        <p:blipFill>
          <a:blip r:embed="rId4">
            <a:alphaModFix/>
          </a:blip>
          <a:stretch>
            <a:fillRect/>
          </a:stretch>
        </p:blipFill>
        <p:spPr>
          <a:xfrm>
            <a:off x="4377725" y="2024852"/>
            <a:ext cx="4454575" cy="2705524"/>
          </a:xfrm>
          <a:prstGeom prst="rect">
            <a:avLst/>
          </a:prstGeom>
          <a:noFill/>
          <a:ln>
            <a:noFill/>
          </a:ln>
        </p:spPr>
      </p:pic>
      <p:sp>
        <p:nvSpPr>
          <p:cNvPr id="378" name="Google Shape;378;p53"/>
          <p:cNvSpPr txBox="1"/>
          <p:nvPr/>
        </p:nvSpPr>
        <p:spPr>
          <a:xfrm>
            <a:off x="1144300" y="1041775"/>
            <a:ext cx="1472700" cy="44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
                <a:solidFill>
                  <a:srgbClr val="FF00FF"/>
                </a:solidFill>
              </a:rPr>
              <a:t>Local Devices </a:t>
            </a:r>
            <a:endParaRPr b="1">
              <a:solidFill>
                <a:srgbClr val="FF00FF"/>
              </a:solidFill>
            </a:endParaRPr>
          </a:p>
        </p:txBody>
      </p:sp>
      <p:sp>
        <p:nvSpPr>
          <p:cNvPr id="379" name="Google Shape;379;p53"/>
          <p:cNvSpPr txBox="1"/>
          <p:nvPr/>
        </p:nvSpPr>
        <p:spPr>
          <a:xfrm>
            <a:off x="6130750" y="1138625"/>
            <a:ext cx="1472700" cy="44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
                <a:solidFill>
                  <a:srgbClr val="FF00FF"/>
                </a:solidFill>
              </a:rPr>
              <a:t>Cloud</a:t>
            </a:r>
            <a:endParaRPr b="1">
              <a:solidFill>
                <a:srgbClr val="FF00FF"/>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Prediction Latency is Almost Always Important </a:t>
            </a:r>
            <a:endParaRPr/>
          </a:p>
        </p:txBody>
      </p:sp>
      <p:sp>
        <p:nvSpPr>
          <p:cNvPr id="385" name="Google Shape;385;p54"/>
          <p:cNvSpPr txBox="1"/>
          <p:nvPr/>
        </p:nvSpPr>
        <p:spPr>
          <a:xfrm>
            <a:off x="258250" y="1412850"/>
            <a:ext cx="8520600" cy="13554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l" sz="1800"/>
              <a:t>Opt for on-device inference whenever possible</a:t>
            </a:r>
            <a:endParaRPr sz="1800"/>
          </a:p>
          <a:p>
            <a:pPr indent="-342900" lvl="1" marL="914400" rtl="0" algn="l">
              <a:lnSpc>
                <a:spcPct val="150000"/>
              </a:lnSpc>
              <a:spcBef>
                <a:spcPts val="0"/>
              </a:spcBef>
              <a:spcAft>
                <a:spcPts val="0"/>
              </a:spcAft>
              <a:buSzPts val="1800"/>
              <a:buChar char="○"/>
            </a:pPr>
            <a:r>
              <a:rPr lang="el" sz="1800"/>
              <a:t>Enhances user experience by reducing the response time of your app</a:t>
            </a:r>
            <a:endParaRPr sz="1800"/>
          </a:p>
        </p:txBody>
      </p:sp>
      <p:pic>
        <p:nvPicPr>
          <p:cNvPr id="386" name="Google Shape;386;p54"/>
          <p:cNvPicPr preferRelativeResize="0"/>
          <p:nvPr/>
        </p:nvPicPr>
        <p:blipFill>
          <a:blip r:embed="rId3">
            <a:alphaModFix/>
          </a:blip>
          <a:stretch>
            <a:fillRect/>
          </a:stretch>
        </p:blipFill>
        <p:spPr>
          <a:xfrm>
            <a:off x="1313125" y="3082750"/>
            <a:ext cx="6517751" cy="17724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 quick tip</a:t>
            </a:r>
            <a:endParaRPr/>
          </a:p>
        </p:txBody>
      </p:sp>
      <p:sp>
        <p:nvSpPr>
          <p:cNvPr id="392" name="Google Shape;392;p55"/>
          <p:cNvSpPr txBox="1"/>
          <p:nvPr/>
        </p:nvSpPr>
        <p:spPr>
          <a:xfrm>
            <a:off x="311700" y="1833825"/>
            <a:ext cx="4782000" cy="196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dk2"/>
                </a:solidFill>
              </a:rPr>
              <a:t>Always try to find the balance that is best for your application!!</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rPr lang="el" sz="1600">
                <a:solidFill>
                  <a:schemeClr val="dk2"/>
                </a:solidFill>
              </a:rPr>
              <a:t>Sacrificing</a:t>
            </a:r>
            <a:r>
              <a:rPr lang="el" sz="1600">
                <a:solidFill>
                  <a:schemeClr val="dk2"/>
                </a:solidFill>
              </a:rPr>
              <a:t> accuracy might be the only solution</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rPr lang="el" sz="1600">
                <a:solidFill>
                  <a:schemeClr val="dk2"/>
                </a:solidFill>
              </a:rPr>
              <a:t>Have a clear goal in mind!!</a:t>
            </a:r>
            <a:endParaRPr sz="1600">
              <a:solidFill>
                <a:schemeClr val="dk2"/>
              </a:solidFill>
            </a:endParaRPr>
          </a:p>
        </p:txBody>
      </p:sp>
      <p:pic>
        <p:nvPicPr>
          <p:cNvPr id="393" name="Google Shape;393;p55"/>
          <p:cNvPicPr preferRelativeResize="0"/>
          <p:nvPr/>
        </p:nvPicPr>
        <p:blipFill>
          <a:blip r:embed="rId3">
            <a:alphaModFix/>
          </a:blip>
          <a:stretch>
            <a:fillRect/>
          </a:stretch>
        </p:blipFill>
        <p:spPr>
          <a:xfrm>
            <a:off x="5396525" y="754900"/>
            <a:ext cx="3101441" cy="3820976"/>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5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l"/>
              <a:t>Cloud Deployment</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Web Application for Users</a:t>
            </a:r>
            <a:endParaRPr/>
          </a:p>
        </p:txBody>
      </p:sp>
      <p:pic>
        <p:nvPicPr>
          <p:cNvPr id="404" name="Google Shape;404;p57"/>
          <p:cNvPicPr preferRelativeResize="0"/>
          <p:nvPr/>
        </p:nvPicPr>
        <p:blipFill>
          <a:blip r:embed="rId3">
            <a:alphaModFix/>
          </a:blip>
          <a:stretch>
            <a:fillRect/>
          </a:stretch>
        </p:blipFill>
        <p:spPr>
          <a:xfrm>
            <a:off x="962750" y="1183800"/>
            <a:ext cx="6792673" cy="1817400"/>
          </a:xfrm>
          <a:prstGeom prst="rect">
            <a:avLst/>
          </a:prstGeom>
          <a:noFill/>
          <a:ln>
            <a:noFill/>
          </a:ln>
        </p:spPr>
      </p:pic>
      <p:sp>
        <p:nvSpPr>
          <p:cNvPr id="405" name="Google Shape;405;p57"/>
          <p:cNvSpPr txBox="1"/>
          <p:nvPr/>
        </p:nvSpPr>
        <p:spPr>
          <a:xfrm>
            <a:off x="334875" y="3234775"/>
            <a:ext cx="8652900" cy="137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00FF"/>
                </a:solidFill>
              </a:rPr>
              <a:t>A typical cloud deployment pattern!</a:t>
            </a:r>
            <a:endParaRPr>
              <a:solidFill>
                <a:srgbClr val="FF00FF"/>
              </a:solidFill>
            </a:endParaRPr>
          </a:p>
          <a:p>
            <a:pPr indent="0" lvl="0" marL="0" rtl="0" algn="l">
              <a:spcBef>
                <a:spcPts val="0"/>
              </a:spcBef>
              <a:spcAft>
                <a:spcPts val="0"/>
              </a:spcAft>
              <a:buNone/>
            </a:pPr>
            <a:r>
              <a:t/>
            </a:r>
            <a:endParaRPr>
              <a:solidFill>
                <a:schemeClr val="dk2"/>
              </a:solidFill>
            </a:endParaRPr>
          </a:p>
          <a:p>
            <a:pPr indent="-317500" lvl="0" marL="457200" rtl="0" algn="l">
              <a:spcBef>
                <a:spcPts val="0"/>
              </a:spcBef>
              <a:spcAft>
                <a:spcPts val="0"/>
              </a:spcAft>
              <a:buClr>
                <a:schemeClr val="dk2"/>
              </a:buClr>
              <a:buSzPts val="1400"/>
              <a:buAutoNum type="arabicPeriod"/>
            </a:pPr>
            <a:r>
              <a:rPr lang="el">
                <a:solidFill>
                  <a:schemeClr val="dk2"/>
                </a:solidFill>
              </a:rPr>
              <a:t>Users interact through a web platform with your application</a:t>
            </a:r>
            <a:endParaRPr>
              <a:solidFill>
                <a:schemeClr val="dk2"/>
              </a:solidFill>
            </a:endParaRPr>
          </a:p>
          <a:p>
            <a:pPr indent="-317500" lvl="0" marL="457200" rtl="0" algn="l">
              <a:spcBef>
                <a:spcPts val="0"/>
              </a:spcBef>
              <a:spcAft>
                <a:spcPts val="0"/>
              </a:spcAft>
              <a:buClr>
                <a:schemeClr val="dk2"/>
              </a:buClr>
              <a:buSzPts val="1400"/>
              <a:buAutoNum type="arabicPeriod"/>
            </a:pPr>
            <a:r>
              <a:rPr lang="el">
                <a:solidFill>
                  <a:schemeClr val="dk2"/>
                </a:solidFill>
              </a:rPr>
              <a:t>You have a model wrapped in API service</a:t>
            </a:r>
            <a:endParaRPr>
              <a:solidFill>
                <a:schemeClr val="dk2"/>
              </a:solidFill>
            </a:endParaRPr>
          </a:p>
          <a:p>
            <a:pPr indent="-317500" lvl="0" marL="457200" rtl="0" algn="l">
              <a:spcBef>
                <a:spcPts val="0"/>
              </a:spcBef>
              <a:spcAft>
                <a:spcPts val="0"/>
              </a:spcAft>
              <a:buClr>
                <a:schemeClr val="dk2"/>
              </a:buClr>
              <a:buSzPts val="1400"/>
              <a:buAutoNum type="arabicPeriod"/>
            </a:pPr>
            <a:r>
              <a:rPr lang="el">
                <a:solidFill>
                  <a:schemeClr val="dk2"/>
                </a:solidFill>
              </a:rPr>
              <a:t>When the user makes the request we “contact” the model to get the results!</a:t>
            </a:r>
            <a:endParaRPr>
              <a:solidFill>
                <a:schemeClr val="dk2"/>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Serving Cloud Systems for easy deployment</a:t>
            </a:r>
            <a:endParaRPr/>
          </a:p>
        </p:txBody>
      </p:sp>
      <p:pic>
        <p:nvPicPr>
          <p:cNvPr id="411" name="Google Shape;411;p58"/>
          <p:cNvPicPr preferRelativeResize="0"/>
          <p:nvPr/>
        </p:nvPicPr>
        <p:blipFill>
          <a:blip r:embed="rId3">
            <a:alphaModFix/>
          </a:blip>
          <a:stretch>
            <a:fillRect/>
          </a:stretch>
        </p:blipFill>
        <p:spPr>
          <a:xfrm>
            <a:off x="3880600" y="1426525"/>
            <a:ext cx="4878025" cy="3386274"/>
          </a:xfrm>
          <a:prstGeom prst="rect">
            <a:avLst/>
          </a:prstGeom>
          <a:noFill/>
          <a:ln>
            <a:noFill/>
          </a:ln>
        </p:spPr>
      </p:pic>
      <p:sp>
        <p:nvSpPr>
          <p:cNvPr id="412" name="Google Shape;412;p58"/>
          <p:cNvSpPr txBox="1"/>
          <p:nvPr/>
        </p:nvSpPr>
        <p:spPr>
          <a:xfrm>
            <a:off x="311700" y="1781300"/>
            <a:ext cx="3271200" cy="18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Big cloud providers </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l"/>
              <a:t>AWS</a:t>
            </a:r>
            <a:endParaRPr/>
          </a:p>
          <a:p>
            <a:pPr indent="-317500" lvl="0" marL="457200" rtl="0" algn="l">
              <a:spcBef>
                <a:spcPts val="0"/>
              </a:spcBef>
              <a:spcAft>
                <a:spcPts val="0"/>
              </a:spcAft>
              <a:buSzPts val="1400"/>
              <a:buChar char="●"/>
            </a:pPr>
            <a:r>
              <a:rPr lang="el"/>
              <a:t>Google Cloud</a:t>
            </a:r>
            <a:endParaRPr/>
          </a:p>
          <a:p>
            <a:pPr indent="-317500" lvl="0" marL="457200" rtl="0" algn="l">
              <a:spcBef>
                <a:spcPts val="0"/>
              </a:spcBef>
              <a:spcAft>
                <a:spcPts val="0"/>
              </a:spcAft>
              <a:buSzPts val="1400"/>
              <a:buChar char="●"/>
            </a:pPr>
            <a:r>
              <a:rPr lang="el"/>
              <a:t>Azure</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Smaller - faster deployment options</a:t>
            </a:r>
            <a:endParaRPr/>
          </a:p>
          <a:p>
            <a:pPr indent="-317500" lvl="0" marL="457200" rtl="0" algn="l">
              <a:spcBef>
                <a:spcPts val="0"/>
              </a:spcBef>
              <a:spcAft>
                <a:spcPts val="0"/>
              </a:spcAft>
              <a:buSzPts val="1400"/>
              <a:buChar char="-"/>
            </a:pPr>
            <a:r>
              <a:rPr lang="el"/>
              <a:t>Streamlit</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Advantages of Serving with a Managed Service</a:t>
            </a:r>
            <a:endParaRPr/>
          </a:p>
        </p:txBody>
      </p:sp>
      <p:pic>
        <p:nvPicPr>
          <p:cNvPr id="418" name="Google Shape;418;p59"/>
          <p:cNvPicPr preferRelativeResize="0"/>
          <p:nvPr/>
        </p:nvPicPr>
        <p:blipFill>
          <a:blip r:embed="rId3">
            <a:alphaModFix/>
          </a:blip>
          <a:stretch>
            <a:fillRect/>
          </a:stretch>
        </p:blipFill>
        <p:spPr>
          <a:xfrm>
            <a:off x="3017400" y="1292575"/>
            <a:ext cx="4747975" cy="3421476"/>
          </a:xfrm>
          <a:prstGeom prst="rect">
            <a:avLst/>
          </a:prstGeom>
          <a:noFill/>
          <a:ln>
            <a:noFill/>
          </a:ln>
        </p:spPr>
      </p:pic>
      <p:sp>
        <p:nvSpPr>
          <p:cNvPr id="419" name="Google Shape;419;p59"/>
          <p:cNvSpPr txBox="1"/>
          <p:nvPr/>
        </p:nvSpPr>
        <p:spPr>
          <a:xfrm>
            <a:off x="408550" y="1520275"/>
            <a:ext cx="2531700" cy="6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chemeClr val="dk2"/>
                </a:solidFill>
              </a:rPr>
              <a:t>Set realtime endpoints</a:t>
            </a:r>
            <a:endParaRPr sz="1800">
              <a:solidFill>
                <a:schemeClr val="dk2"/>
              </a:solidFill>
            </a:endParaRPr>
          </a:p>
        </p:txBody>
      </p:sp>
      <p:sp>
        <p:nvSpPr>
          <p:cNvPr id="420" name="Google Shape;420;p59"/>
          <p:cNvSpPr txBox="1"/>
          <p:nvPr/>
        </p:nvSpPr>
        <p:spPr>
          <a:xfrm>
            <a:off x="408550" y="2266950"/>
            <a:ext cx="3020400" cy="6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chemeClr val="dk2"/>
                </a:solidFill>
              </a:rPr>
              <a:t>Allows for deployment of models trained anywhere</a:t>
            </a:r>
            <a:endParaRPr sz="1600">
              <a:solidFill>
                <a:schemeClr val="dk2"/>
              </a:solidFill>
            </a:endParaRPr>
          </a:p>
        </p:txBody>
      </p:sp>
      <p:sp>
        <p:nvSpPr>
          <p:cNvPr id="421" name="Google Shape;421;p59"/>
          <p:cNvSpPr txBox="1"/>
          <p:nvPr/>
        </p:nvSpPr>
        <p:spPr>
          <a:xfrm>
            <a:off x="485700" y="3080750"/>
            <a:ext cx="2531700" cy="6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chemeClr val="dk2"/>
                </a:solidFill>
              </a:rPr>
              <a:t>Scale </a:t>
            </a:r>
            <a:r>
              <a:rPr lang="el" sz="1800">
                <a:solidFill>
                  <a:schemeClr val="dk2"/>
                </a:solidFill>
              </a:rPr>
              <a:t>automatically</a:t>
            </a:r>
            <a:endParaRPr sz="1800">
              <a:solidFill>
                <a:schemeClr val="dk2"/>
              </a:solidFill>
            </a:endParaRPr>
          </a:p>
          <a:p>
            <a:pPr indent="0" lvl="0" marL="0" rtl="0" algn="l">
              <a:spcBef>
                <a:spcPts val="0"/>
              </a:spcBef>
              <a:spcAft>
                <a:spcPts val="0"/>
              </a:spcAft>
              <a:buNone/>
            </a:pPr>
            <a:r>
              <a:rPr lang="el" sz="1800">
                <a:solidFill>
                  <a:schemeClr val="dk2"/>
                </a:solidFill>
              </a:rPr>
              <a:t>(in reduced costs)</a:t>
            </a:r>
            <a:endParaRPr sz="1800">
              <a:solidFill>
                <a:schemeClr val="dk2"/>
              </a:solidFill>
            </a:endParaRPr>
          </a:p>
        </p:txBody>
      </p:sp>
      <p:sp>
        <p:nvSpPr>
          <p:cNvPr id="422" name="Google Shape;422;p59"/>
          <p:cNvSpPr txBox="1"/>
          <p:nvPr/>
        </p:nvSpPr>
        <p:spPr>
          <a:xfrm>
            <a:off x="408550" y="3894550"/>
            <a:ext cx="2531700" cy="60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solidFill>
                  <a:schemeClr val="dk2"/>
                </a:solidFill>
              </a:rPr>
              <a:t>pick your </a:t>
            </a:r>
            <a:r>
              <a:rPr lang="el" sz="1800">
                <a:solidFill>
                  <a:schemeClr val="dk2"/>
                </a:solidFill>
              </a:rPr>
              <a:t>accelerators</a:t>
            </a:r>
            <a:endParaRPr sz="1800">
              <a:solidFill>
                <a:schemeClr val="dk2"/>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Model Serving Infrastructures</a:t>
            </a:r>
            <a:endParaRPr/>
          </a:p>
        </p:txBody>
      </p:sp>
      <p:sp>
        <p:nvSpPr>
          <p:cNvPr id="428" name="Google Shape;428;p60"/>
          <p:cNvSpPr txBox="1"/>
          <p:nvPr/>
        </p:nvSpPr>
        <p:spPr>
          <a:xfrm>
            <a:off x="3385200" y="1502575"/>
            <a:ext cx="5447100" cy="11922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2"/>
              </a:buClr>
              <a:buSzPts val="1400"/>
              <a:buChar char="●"/>
            </a:pPr>
            <a:r>
              <a:rPr lang="el">
                <a:solidFill>
                  <a:schemeClr val="dk2"/>
                </a:solidFill>
              </a:rPr>
              <a:t>Train and deploy on your own hardware</a:t>
            </a:r>
            <a:endParaRPr>
              <a:solidFill>
                <a:schemeClr val="dk2"/>
              </a:solidFill>
            </a:endParaRPr>
          </a:p>
          <a:p>
            <a:pPr indent="-317500" lvl="0" marL="457200" rtl="0" algn="l">
              <a:spcBef>
                <a:spcPts val="0"/>
              </a:spcBef>
              <a:spcAft>
                <a:spcPts val="0"/>
              </a:spcAft>
              <a:buClr>
                <a:schemeClr val="dk2"/>
              </a:buClr>
              <a:buSzPts val="1400"/>
              <a:buChar char="●"/>
            </a:pPr>
            <a:r>
              <a:rPr lang="el">
                <a:solidFill>
                  <a:schemeClr val="dk2"/>
                </a:solidFill>
              </a:rPr>
              <a:t>Manually procure hardware, GPUs, CPUs</a:t>
            </a:r>
            <a:endParaRPr>
              <a:solidFill>
                <a:schemeClr val="dk2"/>
              </a:solidFill>
            </a:endParaRPr>
          </a:p>
          <a:p>
            <a:pPr indent="-317500" lvl="0" marL="457200" rtl="0" algn="l">
              <a:spcBef>
                <a:spcPts val="0"/>
              </a:spcBef>
              <a:spcAft>
                <a:spcPts val="0"/>
              </a:spcAft>
              <a:buClr>
                <a:schemeClr val="dk2"/>
              </a:buClr>
              <a:buSzPts val="1400"/>
              <a:buChar char="●"/>
            </a:pPr>
            <a:r>
              <a:rPr lang="el">
                <a:solidFill>
                  <a:schemeClr val="dk2"/>
                </a:solidFill>
              </a:rPr>
              <a:t>Profitable for companies running ML projects for longer times</a:t>
            </a:r>
            <a:endParaRPr>
              <a:solidFill>
                <a:schemeClr val="dk2"/>
              </a:solidFill>
            </a:endParaRPr>
          </a:p>
          <a:p>
            <a:pPr indent="-317500" lvl="0" marL="457200" rtl="0" algn="l">
              <a:spcBef>
                <a:spcPts val="0"/>
              </a:spcBef>
              <a:spcAft>
                <a:spcPts val="0"/>
              </a:spcAft>
              <a:buClr>
                <a:schemeClr val="dk2"/>
              </a:buClr>
              <a:buSzPts val="1400"/>
              <a:buChar char="●"/>
            </a:pPr>
            <a:r>
              <a:rPr lang="el">
                <a:solidFill>
                  <a:schemeClr val="dk2"/>
                </a:solidFill>
              </a:rPr>
              <a:t>Can use open source, pre build servers</a:t>
            </a:r>
            <a:endParaRPr>
              <a:solidFill>
                <a:schemeClr val="dk2"/>
              </a:solidFill>
            </a:endParaRPr>
          </a:p>
        </p:txBody>
      </p:sp>
      <p:sp>
        <p:nvSpPr>
          <p:cNvPr id="429" name="Google Shape;429;p60"/>
          <p:cNvSpPr txBox="1"/>
          <p:nvPr/>
        </p:nvSpPr>
        <p:spPr>
          <a:xfrm>
            <a:off x="3385200" y="3360450"/>
            <a:ext cx="4661400" cy="11922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2"/>
              </a:buClr>
              <a:buSzPts val="1400"/>
              <a:buChar char="●"/>
            </a:pPr>
            <a:r>
              <a:rPr lang="el">
                <a:solidFill>
                  <a:schemeClr val="dk2"/>
                </a:solidFill>
              </a:rPr>
              <a:t>Train and deploy on cloud choosing from several service providers</a:t>
            </a:r>
            <a:endParaRPr>
              <a:solidFill>
                <a:schemeClr val="dk2"/>
              </a:solidFill>
            </a:endParaRPr>
          </a:p>
          <a:p>
            <a:pPr indent="-317500" lvl="1" marL="914400" rtl="0" algn="l">
              <a:spcBef>
                <a:spcPts val="0"/>
              </a:spcBef>
              <a:spcAft>
                <a:spcPts val="0"/>
              </a:spcAft>
              <a:buClr>
                <a:schemeClr val="dk2"/>
              </a:buClr>
              <a:buSzPts val="1400"/>
              <a:buChar char="○"/>
            </a:pPr>
            <a:r>
              <a:rPr lang="el">
                <a:solidFill>
                  <a:schemeClr val="dk2"/>
                </a:solidFill>
              </a:rPr>
              <a:t>AWS, Google Cloud, Azure etc</a:t>
            </a:r>
            <a:endParaRPr>
              <a:solidFill>
                <a:schemeClr val="dk2"/>
              </a:solidFill>
            </a:endParaRPr>
          </a:p>
          <a:p>
            <a:pPr indent="-317500" lvl="0" marL="457200" rtl="0" algn="l">
              <a:spcBef>
                <a:spcPts val="0"/>
              </a:spcBef>
              <a:spcAft>
                <a:spcPts val="0"/>
              </a:spcAft>
              <a:buClr>
                <a:schemeClr val="dk2"/>
              </a:buClr>
              <a:buSzPts val="1400"/>
              <a:buChar char="●"/>
            </a:pPr>
            <a:r>
              <a:rPr lang="el">
                <a:solidFill>
                  <a:schemeClr val="dk2"/>
                </a:solidFill>
              </a:rPr>
              <a:t>Crate VMs and use open source pre build servers</a:t>
            </a:r>
            <a:endParaRPr>
              <a:solidFill>
                <a:schemeClr val="dk2"/>
              </a:solidFill>
            </a:endParaRPr>
          </a:p>
          <a:p>
            <a:pPr indent="-317500" lvl="0" marL="457200" rtl="0" algn="l">
              <a:spcBef>
                <a:spcPts val="0"/>
              </a:spcBef>
              <a:spcAft>
                <a:spcPts val="0"/>
              </a:spcAft>
              <a:buClr>
                <a:schemeClr val="dk2"/>
              </a:buClr>
              <a:buSzPts val="1400"/>
              <a:buChar char="●"/>
            </a:pPr>
            <a:r>
              <a:rPr lang="el">
                <a:solidFill>
                  <a:schemeClr val="dk2"/>
                </a:solidFill>
              </a:rPr>
              <a:t>Use the provided ML workflow</a:t>
            </a:r>
            <a:endParaRPr>
              <a:solidFill>
                <a:schemeClr val="dk2"/>
              </a:solidFill>
            </a:endParaRPr>
          </a:p>
        </p:txBody>
      </p:sp>
      <p:pic>
        <p:nvPicPr>
          <p:cNvPr id="430" name="Google Shape;430;p60"/>
          <p:cNvPicPr preferRelativeResize="0"/>
          <p:nvPr/>
        </p:nvPicPr>
        <p:blipFill>
          <a:blip r:embed="rId3">
            <a:alphaModFix/>
          </a:blip>
          <a:stretch>
            <a:fillRect/>
          </a:stretch>
        </p:blipFill>
        <p:spPr>
          <a:xfrm>
            <a:off x="1232275" y="1366350"/>
            <a:ext cx="1472775" cy="1261450"/>
          </a:xfrm>
          <a:prstGeom prst="rect">
            <a:avLst/>
          </a:prstGeom>
          <a:noFill/>
          <a:ln>
            <a:noFill/>
          </a:ln>
        </p:spPr>
      </p:pic>
      <p:pic>
        <p:nvPicPr>
          <p:cNvPr id="431" name="Google Shape;431;p60"/>
          <p:cNvPicPr preferRelativeResize="0"/>
          <p:nvPr/>
        </p:nvPicPr>
        <p:blipFill>
          <a:blip r:embed="rId4">
            <a:alphaModFix/>
          </a:blip>
          <a:stretch>
            <a:fillRect/>
          </a:stretch>
        </p:blipFill>
        <p:spPr>
          <a:xfrm>
            <a:off x="1089033" y="3070125"/>
            <a:ext cx="1814142" cy="139967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Model servers</a:t>
            </a:r>
            <a:endParaRPr/>
          </a:p>
        </p:txBody>
      </p:sp>
      <p:sp>
        <p:nvSpPr>
          <p:cNvPr id="437" name="Google Shape;437;p61"/>
          <p:cNvSpPr txBox="1"/>
          <p:nvPr/>
        </p:nvSpPr>
        <p:spPr>
          <a:xfrm>
            <a:off x="408525" y="1299275"/>
            <a:ext cx="8264400" cy="12390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2"/>
              </a:buClr>
              <a:buSzPts val="1600"/>
              <a:buChar char="●"/>
            </a:pPr>
            <a:r>
              <a:rPr lang="el" sz="1600">
                <a:solidFill>
                  <a:schemeClr val="dk2"/>
                </a:solidFill>
              </a:rPr>
              <a:t>Simplify the task of deploying ML models at scale</a:t>
            </a:r>
            <a:endParaRPr sz="1600">
              <a:solidFill>
                <a:schemeClr val="dk2"/>
              </a:solidFill>
            </a:endParaRPr>
          </a:p>
          <a:p>
            <a:pPr indent="-330200" lvl="0" marL="457200" rtl="0" algn="l">
              <a:spcBef>
                <a:spcPts val="0"/>
              </a:spcBef>
              <a:spcAft>
                <a:spcPts val="0"/>
              </a:spcAft>
              <a:buClr>
                <a:schemeClr val="dk2"/>
              </a:buClr>
              <a:buSzPts val="1600"/>
              <a:buChar char="●"/>
            </a:pPr>
            <a:r>
              <a:rPr lang="el" sz="1600">
                <a:solidFill>
                  <a:schemeClr val="dk2"/>
                </a:solidFill>
              </a:rPr>
              <a:t>Can handle scaling, performance, some model lifecycle </a:t>
            </a:r>
            <a:r>
              <a:rPr lang="el" sz="1600">
                <a:solidFill>
                  <a:schemeClr val="dk2"/>
                </a:solidFill>
              </a:rPr>
              <a:t>management</a:t>
            </a:r>
            <a:endParaRPr sz="1600">
              <a:solidFill>
                <a:schemeClr val="dk2"/>
              </a:solidFill>
            </a:endParaRPr>
          </a:p>
          <a:p>
            <a:pPr indent="-330200" lvl="0" marL="457200" rtl="0" algn="l">
              <a:spcBef>
                <a:spcPts val="0"/>
              </a:spcBef>
              <a:spcAft>
                <a:spcPts val="0"/>
              </a:spcAft>
              <a:buClr>
                <a:srgbClr val="FF00FF"/>
              </a:buClr>
              <a:buSzPts val="1600"/>
              <a:buChar char="●"/>
            </a:pPr>
            <a:r>
              <a:rPr lang="el" sz="1600">
                <a:solidFill>
                  <a:srgbClr val="FF00FF"/>
                </a:solidFill>
              </a:rPr>
              <a:t>Paying only for the resources and services you use (pay-as-you-go)</a:t>
            </a:r>
            <a:endParaRPr sz="1600">
              <a:solidFill>
                <a:srgbClr val="FF00FF"/>
              </a:solidFill>
            </a:endParaRPr>
          </a:p>
        </p:txBody>
      </p:sp>
      <p:pic>
        <p:nvPicPr>
          <p:cNvPr id="438" name="Google Shape;438;p61"/>
          <p:cNvPicPr preferRelativeResize="0"/>
          <p:nvPr/>
        </p:nvPicPr>
        <p:blipFill>
          <a:blip r:embed="rId3">
            <a:alphaModFix/>
          </a:blip>
          <a:stretch>
            <a:fillRect/>
          </a:stretch>
        </p:blipFill>
        <p:spPr>
          <a:xfrm>
            <a:off x="524912" y="2819825"/>
            <a:ext cx="8094174" cy="186972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6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l"/>
              <a:t>Scaling Infrastructure</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Why is Scaling Important?</a:t>
            </a:r>
            <a:endParaRPr/>
          </a:p>
        </p:txBody>
      </p:sp>
      <p:pic>
        <p:nvPicPr>
          <p:cNvPr id="449" name="Google Shape;449;p63"/>
          <p:cNvPicPr preferRelativeResize="0"/>
          <p:nvPr/>
        </p:nvPicPr>
        <p:blipFill>
          <a:blip r:embed="rId3">
            <a:alphaModFix/>
          </a:blip>
          <a:stretch>
            <a:fillRect/>
          </a:stretch>
        </p:blipFill>
        <p:spPr>
          <a:xfrm>
            <a:off x="4024922" y="1282075"/>
            <a:ext cx="5119076" cy="2892276"/>
          </a:xfrm>
          <a:prstGeom prst="rect">
            <a:avLst/>
          </a:prstGeom>
          <a:noFill/>
          <a:ln>
            <a:noFill/>
          </a:ln>
        </p:spPr>
      </p:pic>
      <p:sp>
        <p:nvSpPr>
          <p:cNvPr id="450" name="Google Shape;450;p63"/>
          <p:cNvSpPr/>
          <p:nvPr/>
        </p:nvSpPr>
        <p:spPr>
          <a:xfrm>
            <a:off x="5745450" y="1623550"/>
            <a:ext cx="3222600" cy="2123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63"/>
          <p:cNvSpPr txBox="1"/>
          <p:nvPr/>
        </p:nvSpPr>
        <p:spPr>
          <a:xfrm>
            <a:off x="0" y="1295475"/>
            <a:ext cx="4132200" cy="355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t>Consider a very complex </a:t>
            </a:r>
            <a:r>
              <a:rPr lang="el" sz="1600">
                <a:solidFill>
                  <a:srgbClr val="FF0000"/>
                </a:solidFill>
              </a:rPr>
              <a:t>model </a:t>
            </a:r>
            <a:endParaRPr sz="1600">
              <a:solidFill>
                <a:srgbClr val="FF0000"/>
              </a:solidFill>
            </a:endParaRPr>
          </a:p>
          <a:p>
            <a:pPr indent="0" lvl="0" marL="0" rtl="0" algn="l">
              <a:spcBef>
                <a:spcPts val="0"/>
              </a:spcBef>
              <a:spcAft>
                <a:spcPts val="0"/>
              </a:spcAft>
              <a:buNone/>
            </a:pPr>
            <a:r>
              <a:t/>
            </a:r>
            <a:endParaRPr sz="1600">
              <a:solidFill>
                <a:srgbClr val="FF0000"/>
              </a:solidFill>
            </a:endParaRPr>
          </a:p>
          <a:p>
            <a:pPr indent="0" lvl="0" marL="0" rtl="0" algn="l">
              <a:spcBef>
                <a:spcPts val="0"/>
              </a:spcBef>
              <a:spcAft>
                <a:spcPts val="0"/>
              </a:spcAft>
              <a:buNone/>
            </a:pPr>
            <a:r>
              <a:rPr lang="el" sz="1600">
                <a:solidFill>
                  <a:schemeClr val="dk1"/>
                </a:solidFill>
              </a:rPr>
              <a:t>Then consider the cost of training a very large Neural Network on </a:t>
            </a:r>
            <a:r>
              <a:rPr lang="el" sz="1600">
                <a:solidFill>
                  <a:srgbClr val="FF00FF"/>
                </a:solidFill>
              </a:rPr>
              <a:t>huge datasets</a:t>
            </a:r>
            <a:r>
              <a:rPr lang="el" sz="1600">
                <a:solidFill>
                  <a:schemeClr val="dk1"/>
                </a:solidFill>
              </a:rPr>
              <a:t>.</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rPr lang="el" sz="1600">
                <a:solidFill>
                  <a:schemeClr val="dk1"/>
                </a:solidFill>
              </a:rPr>
              <a:t>(Take chatGPT for example)</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rPr lang="el" sz="1600">
                <a:solidFill>
                  <a:schemeClr val="dk1"/>
                </a:solidFill>
              </a:rPr>
              <a:t>It take days to train on a single machine.</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rPr lang="el" sz="1600">
                <a:solidFill>
                  <a:schemeClr val="dk1"/>
                </a:solidFill>
              </a:rPr>
              <a:t>So what we do?</a:t>
            </a:r>
            <a:endParaRPr sz="1600">
              <a:solidFill>
                <a:schemeClr val="dk1"/>
              </a:solidFill>
            </a:endParaRPr>
          </a:p>
          <a:p>
            <a:pPr indent="0" lvl="0" marL="0" rtl="0" algn="l">
              <a:spcBef>
                <a:spcPts val="0"/>
              </a:spcBef>
              <a:spcAft>
                <a:spcPts val="0"/>
              </a:spcAft>
              <a:buNone/>
            </a:pPr>
            <a:r>
              <a:rPr lang="el" sz="1600">
                <a:solidFill>
                  <a:schemeClr val="dk1"/>
                </a:solidFill>
              </a:rPr>
              <a:t>We distribute training to multiple instances</a:t>
            </a:r>
            <a:endParaRPr sz="1600">
              <a:solidFill>
                <a:schemeClr val="dk1"/>
              </a:solidFill>
            </a:endParaRPr>
          </a:p>
          <a:p>
            <a:pPr indent="0" lvl="0" marL="0" rtl="0" algn="l">
              <a:spcBef>
                <a:spcPts val="0"/>
              </a:spcBef>
              <a:spcAft>
                <a:spcPts val="0"/>
              </a:spcAft>
              <a:buNone/>
            </a:pPr>
            <a:r>
              <a:rPr lang="el" sz="1600">
                <a:solidFill>
                  <a:schemeClr val="dk1"/>
                </a:solidFill>
              </a:rPr>
              <a:t>(Partition GPUs and CPUs)</a:t>
            </a:r>
            <a:endParaRPr sz="1600">
              <a:solidFill>
                <a:schemeClr val="dk1"/>
              </a:solidFill>
            </a:endParaRPr>
          </a:p>
        </p:txBody>
      </p:sp>
      <p:sp>
        <p:nvSpPr>
          <p:cNvPr id="452" name="Google Shape;452;p63"/>
          <p:cNvSpPr/>
          <p:nvPr/>
        </p:nvSpPr>
        <p:spPr>
          <a:xfrm>
            <a:off x="4102100" y="1207375"/>
            <a:ext cx="1227300" cy="2967000"/>
          </a:xfrm>
          <a:prstGeom prst="rect">
            <a:avLst/>
          </a:prstGeom>
          <a:noFill/>
          <a:ln cap="flat" cmpd="sng" w="19050">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00FF"/>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Why Scaling is Important</a:t>
            </a:r>
            <a:endParaRPr/>
          </a:p>
        </p:txBody>
      </p:sp>
      <p:pic>
        <p:nvPicPr>
          <p:cNvPr id="458" name="Google Shape;458;p64"/>
          <p:cNvPicPr preferRelativeResize="0"/>
          <p:nvPr/>
        </p:nvPicPr>
        <p:blipFill rotWithShape="1">
          <a:blip r:embed="rId3">
            <a:alphaModFix/>
          </a:blip>
          <a:srcRect b="0" l="4423" r="3808" t="0"/>
          <a:stretch/>
        </p:blipFill>
        <p:spPr>
          <a:xfrm>
            <a:off x="4331600" y="1165300"/>
            <a:ext cx="4669050" cy="3233700"/>
          </a:xfrm>
          <a:prstGeom prst="rect">
            <a:avLst/>
          </a:prstGeom>
          <a:noFill/>
          <a:ln>
            <a:noFill/>
          </a:ln>
        </p:spPr>
      </p:pic>
      <p:sp>
        <p:nvSpPr>
          <p:cNvPr id="459" name="Google Shape;459;p64"/>
          <p:cNvSpPr txBox="1"/>
          <p:nvPr/>
        </p:nvSpPr>
        <p:spPr>
          <a:xfrm>
            <a:off x="132475" y="1439050"/>
            <a:ext cx="4133700" cy="346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t>The same is true for inference after deployment</a:t>
            </a:r>
            <a:endParaRPr sz="1600"/>
          </a:p>
          <a:p>
            <a:pPr indent="0" lvl="0" marL="0" rtl="0" algn="l">
              <a:spcBef>
                <a:spcPts val="0"/>
              </a:spcBef>
              <a:spcAft>
                <a:spcPts val="0"/>
              </a:spcAft>
              <a:buNone/>
            </a:pPr>
            <a:r>
              <a:t/>
            </a:r>
            <a:endParaRPr sz="1600"/>
          </a:p>
          <a:p>
            <a:pPr indent="-330200" lvl="0" marL="457200" rtl="0" algn="l">
              <a:spcBef>
                <a:spcPts val="0"/>
              </a:spcBef>
              <a:spcAft>
                <a:spcPts val="0"/>
              </a:spcAft>
              <a:buSzPts val="1600"/>
              <a:buChar char="●"/>
            </a:pPr>
            <a:r>
              <a:rPr lang="el" sz="1600"/>
              <a:t>Huge number of requests</a:t>
            </a:r>
            <a:endParaRPr sz="1600"/>
          </a:p>
          <a:p>
            <a:pPr indent="-330200" lvl="0" marL="457200" rtl="0" algn="l">
              <a:spcBef>
                <a:spcPts val="0"/>
              </a:spcBef>
              <a:spcAft>
                <a:spcPts val="0"/>
              </a:spcAft>
              <a:buSzPts val="1600"/>
              <a:buChar char="●"/>
            </a:pPr>
            <a:r>
              <a:rPr lang="el" sz="1600"/>
              <a:t>Server might go down</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l" sz="1600"/>
              <a:t>Scaling both runtime inference</a:t>
            </a:r>
            <a:endParaRPr sz="1600"/>
          </a:p>
          <a:p>
            <a:pPr indent="0" lvl="0" marL="0" rtl="0" algn="l">
              <a:spcBef>
                <a:spcPts val="0"/>
              </a:spcBef>
              <a:spcAft>
                <a:spcPts val="0"/>
              </a:spcAft>
              <a:buNone/>
            </a:pPr>
            <a:r>
              <a:rPr lang="el" sz="1600"/>
              <a:t>and training is fundamental</a:t>
            </a:r>
            <a:endParaRPr sz="16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6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l"/>
              <a:t>How to Scale?</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Vertical Scaling </a:t>
            </a:r>
            <a:endParaRPr/>
          </a:p>
        </p:txBody>
      </p:sp>
      <p:pic>
        <p:nvPicPr>
          <p:cNvPr id="470" name="Google Shape;470;p66"/>
          <p:cNvPicPr preferRelativeResize="0"/>
          <p:nvPr/>
        </p:nvPicPr>
        <p:blipFill>
          <a:blip r:embed="rId3">
            <a:alphaModFix/>
          </a:blip>
          <a:stretch>
            <a:fillRect/>
          </a:stretch>
        </p:blipFill>
        <p:spPr>
          <a:xfrm>
            <a:off x="2564100" y="1141125"/>
            <a:ext cx="6884488" cy="3820975"/>
          </a:xfrm>
          <a:prstGeom prst="rect">
            <a:avLst/>
          </a:prstGeom>
          <a:noFill/>
          <a:ln>
            <a:noFill/>
          </a:ln>
        </p:spPr>
      </p:pic>
      <p:sp>
        <p:nvSpPr>
          <p:cNvPr id="471" name="Google Shape;471;p66"/>
          <p:cNvSpPr txBox="1"/>
          <p:nvPr/>
        </p:nvSpPr>
        <p:spPr>
          <a:xfrm>
            <a:off x="151550" y="2618700"/>
            <a:ext cx="26145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 sz="1600">
                <a:solidFill>
                  <a:srgbClr val="FF00FF"/>
                </a:solidFill>
              </a:rPr>
              <a:t>Upgrade your computer</a:t>
            </a:r>
            <a:endParaRPr b="1" sz="1600">
              <a:solidFill>
                <a:srgbClr val="FF00FF"/>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Horizontal Scaling</a:t>
            </a:r>
            <a:endParaRPr/>
          </a:p>
        </p:txBody>
      </p:sp>
      <p:pic>
        <p:nvPicPr>
          <p:cNvPr id="477" name="Google Shape;477;p67"/>
          <p:cNvPicPr preferRelativeResize="0"/>
          <p:nvPr/>
        </p:nvPicPr>
        <p:blipFill>
          <a:blip r:embed="rId3">
            <a:alphaModFix/>
          </a:blip>
          <a:stretch>
            <a:fillRect/>
          </a:stretch>
        </p:blipFill>
        <p:spPr>
          <a:xfrm>
            <a:off x="2456500" y="1210750"/>
            <a:ext cx="6561998" cy="3100399"/>
          </a:xfrm>
          <a:prstGeom prst="rect">
            <a:avLst/>
          </a:prstGeom>
          <a:noFill/>
          <a:ln>
            <a:noFill/>
          </a:ln>
        </p:spPr>
      </p:pic>
      <p:sp>
        <p:nvSpPr>
          <p:cNvPr id="478" name="Google Shape;478;p67"/>
          <p:cNvSpPr txBox="1"/>
          <p:nvPr/>
        </p:nvSpPr>
        <p:spPr>
          <a:xfrm>
            <a:off x="119550" y="2447950"/>
            <a:ext cx="26145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 sz="1600">
                <a:solidFill>
                  <a:srgbClr val="FF00FF"/>
                </a:solidFill>
              </a:rPr>
              <a:t>Add more computers</a:t>
            </a:r>
            <a:endParaRPr b="1" sz="1600">
              <a:solidFill>
                <a:srgbClr val="FF00FF"/>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Why Horizontal over Vertical Scaling</a:t>
            </a:r>
            <a:endParaRPr/>
          </a:p>
        </p:txBody>
      </p:sp>
      <p:pic>
        <p:nvPicPr>
          <p:cNvPr id="484" name="Google Shape;484;p68"/>
          <p:cNvPicPr preferRelativeResize="0"/>
          <p:nvPr/>
        </p:nvPicPr>
        <p:blipFill>
          <a:blip r:embed="rId3">
            <a:alphaModFix/>
          </a:blip>
          <a:stretch>
            <a:fillRect/>
          </a:stretch>
        </p:blipFill>
        <p:spPr>
          <a:xfrm>
            <a:off x="790250" y="1548251"/>
            <a:ext cx="7899951" cy="318037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Docker: Containers and Virtual Machines</a:t>
            </a:r>
            <a:endParaRPr/>
          </a:p>
        </p:txBody>
      </p:sp>
      <p:pic>
        <p:nvPicPr>
          <p:cNvPr id="490" name="Google Shape;490;p69"/>
          <p:cNvPicPr preferRelativeResize="0"/>
          <p:nvPr/>
        </p:nvPicPr>
        <p:blipFill>
          <a:blip r:embed="rId3">
            <a:alphaModFix/>
          </a:blip>
          <a:stretch>
            <a:fillRect/>
          </a:stretch>
        </p:blipFill>
        <p:spPr>
          <a:xfrm>
            <a:off x="152400" y="1170125"/>
            <a:ext cx="8839201" cy="3342791"/>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Container Advantages</a:t>
            </a:r>
            <a:endParaRPr/>
          </a:p>
        </p:txBody>
      </p:sp>
      <p:pic>
        <p:nvPicPr>
          <p:cNvPr id="496" name="Google Shape;496;p70"/>
          <p:cNvPicPr preferRelativeResize="0"/>
          <p:nvPr/>
        </p:nvPicPr>
        <p:blipFill>
          <a:blip r:embed="rId3">
            <a:alphaModFix/>
          </a:blip>
          <a:stretch>
            <a:fillRect/>
          </a:stretch>
        </p:blipFill>
        <p:spPr>
          <a:xfrm>
            <a:off x="152400" y="1170125"/>
            <a:ext cx="4473995" cy="3820975"/>
          </a:xfrm>
          <a:prstGeom prst="rect">
            <a:avLst/>
          </a:prstGeom>
          <a:noFill/>
          <a:ln>
            <a:noFill/>
          </a:ln>
        </p:spPr>
      </p:pic>
      <p:sp>
        <p:nvSpPr>
          <p:cNvPr id="497" name="Google Shape;497;p70"/>
          <p:cNvSpPr txBox="1"/>
          <p:nvPr/>
        </p:nvSpPr>
        <p:spPr>
          <a:xfrm>
            <a:off x="5020200" y="1412875"/>
            <a:ext cx="4473900" cy="29772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SzPts val="1600"/>
              <a:buChar char="●"/>
            </a:pPr>
            <a:r>
              <a:rPr lang="el" sz="1600"/>
              <a:t>Less OS requirements - more apps</a:t>
            </a:r>
            <a:endParaRPr sz="1600"/>
          </a:p>
          <a:p>
            <a:pPr indent="-330200" lvl="0" marL="457200" rtl="0" algn="l">
              <a:lnSpc>
                <a:spcPct val="150000"/>
              </a:lnSpc>
              <a:spcBef>
                <a:spcPts val="0"/>
              </a:spcBef>
              <a:spcAft>
                <a:spcPts val="0"/>
              </a:spcAft>
              <a:buSzPts val="1600"/>
              <a:buChar char="●"/>
            </a:pPr>
            <a:r>
              <a:rPr lang="el" sz="1600"/>
              <a:t>Abstraction</a:t>
            </a:r>
            <a:endParaRPr sz="1600"/>
          </a:p>
          <a:p>
            <a:pPr indent="-330200" lvl="0" marL="457200" rtl="0" algn="l">
              <a:lnSpc>
                <a:spcPct val="150000"/>
              </a:lnSpc>
              <a:spcBef>
                <a:spcPts val="0"/>
              </a:spcBef>
              <a:spcAft>
                <a:spcPts val="0"/>
              </a:spcAft>
              <a:buSzPts val="1600"/>
              <a:buChar char="●"/>
            </a:pPr>
            <a:r>
              <a:rPr lang="el" sz="1600"/>
              <a:t>Easy deployment based on container runtime </a:t>
            </a:r>
            <a:endParaRPr sz="1600"/>
          </a:p>
          <a:p>
            <a:pPr indent="0" lvl="0" marL="0" rtl="0" algn="l">
              <a:lnSpc>
                <a:spcPct val="150000"/>
              </a:lnSpc>
              <a:spcBef>
                <a:spcPts val="0"/>
              </a:spcBef>
              <a:spcAft>
                <a:spcPts val="0"/>
              </a:spcAft>
              <a:buNone/>
            </a:pPr>
            <a:r>
              <a:rPr lang="el" sz="1600"/>
              <a:t>Docker as the container service</a:t>
            </a:r>
            <a:endParaRPr sz="1600"/>
          </a:p>
          <a:p>
            <a:pPr indent="-330200" lvl="0" marL="457200" rtl="0" algn="l">
              <a:lnSpc>
                <a:spcPct val="150000"/>
              </a:lnSpc>
              <a:spcBef>
                <a:spcPts val="0"/>
              </a:spcBef>
              <a:spcAft>
                <a:spcPts val="0"/>
              </a:spcAft>
              <a:buSzPts val="1600"/>
              <a:buChar char="●"/>
            </a:pPr>
            <a:r>
              <a:rPr lang="el" sz="1600"/>
              <a:t>Can be used in data centers, personal machines or public cloud</a:t>
            </a:r>
            <a:endParaRPr sz="1600"/>
          </a:p>
          <a:p>
            <a:pPr indent="-330200" lvl="0" marL="457200" rtl="0" algn="l">
              <a:lnSpc>
                <a:spcPct val="150000"/>
              </a:lnSpc>
              <a:spcBef>
                <a:spcPts val="0"/>
              </a:spcBef>
              <a:spcAft>
                <a:spcPts val="0"/>
              </a:spcAft>
              <a:buSzPts val="1600"/>
              <a:buChar char="●"/>
            </a:pPr>
            <a:r>
              <a:rPr lang="el" sz="1600"/>
              <a:t>It partners with major cloud services</a:t>
            </a:r>
            <a:endParaRPr sz="1600"/>
          </a:p>
        </p:txBody>
      </p:sp>
      <p:cxnSp>
        <p:nvCxnSpPr>
          <p:cNvPr id="498" name="Google Shape;498;p70"/>
          <p:cNvCxnSpPr>
            <a:endCxn id="496" idx="3"/>
          </p:cNvCxnSpPr>
          <p:nvPr/>
        </p:nvCxnSpPr>
        <p:spPr>
          <a:xfrm rot="10800000">
            <a:off x="4626395" y="3080613"/>
            <a:ext cx="295200" cy="7500"/>
          </a:xfrm>
          <a:prstGeom prst="straightConnector1">
            <a:avLst/>
          </a:prstGeom>
          <a:noFill/>
          <a:ln cap="flat" cmpd="sng" w="28575">
            <a:solidFill>
              <a:schemeClr val="dk2"/>
            </a:solidFill>
            <a:prstDash val="solid"/>
            <a:round/>
            <a:headEnd len="med" w="med" type="none"/>
            <a:tailEnd len="med" w="med" type="triangle"/>
          </a:ln>
        </p:spPr>
      </p:cxn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71"/>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l"/>
              <a:t>Inference!</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7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Two types of Inference</a:t>
            </a:r>
            <a:endParaRPr/>
          </a:p>
        </p:txBody>
      </p:sp>
      <p:sp>
        <p:nvSpPr>
          <p:cNvPr id="509" name="Google Shape;509;p72"/>
          <p:cNvSpPr txBox="1"/>
          <p:nvPr/>
        </p:nvSpPr>
        <p:spPr>
          <a:xfrm>
            <a:off x="629525" y="2399838"/>
            <a:ext cx="3033900" cy="11052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2"/>
              </a:buClr>
              <a:buSzPts val="1800"/>
              <a:buAutoNum type="arabicPeriod"/>
            </a:pPr>
            <a:r>
              <a:rPr lang="el" sz="1800">
                <a:solidFill>
                  <a:schemeClr val="dk2"/>
                </a:solidFill>
              </a:rPr>
              <a:t>Online Inference</a:t>
            </a:r>
            <a:endParaRPr sz="1800">
              <a:solidFill>
                <a:schemeClr val="dk2"/>
              </a:solidFill>
            </a:endParaRPr>
          </a:p>
          <a:p>
            <a:pPr indent="-342900" lvl="0" marL="457200" rtl="0" algn="l">
              <a:spcBef>
                <a:spcPts val="0"/>
              </a:spcBef>
              <a:spcAft>
                <a:spcPts val="0"/>
              </a:spcAft>
              <a:buClr>
                <a:schemeClr val="dk2"/>
              </a:buClr>
              <a:buSzPts val="1800"/>
              <a:buAutoNum type="arabicPeriod"/>
            </a:pPr>
            <a:r>
              <a:rPr lang="el" sz="1800">
                <a:solidFill>
                  <a:schemeClr val="dk2"/>
                </a:solidFill>
              </a:rPr>
              <a:t>Batch Inference</a:t>
            </a:r>
            <a:endParaRPr sz="1800">
              <a:solidFill>
                <a:schemeClr val="dk2"/>
              </a:solidFill>
            </a:endParaRPr>
          </a:p>
        </p:txBody>
      </p:sp>
      <p:pic>
        <p:nvPicPr>
          <p:cNvPr id="510" name="Google Shape;510;p72"/>
          <p:cNvPicPr preferRelativeResize="0"/>
          <p:nvPr/>
        </p:nvPicPr>
        <p:blipFill>
          <a:blip r:embed="rId3">
            <a:alphaModFix/>
          </a:blip>
          <a:stretch>
            <a:fillRect/>
          </a:stretch>
        </p:blipFill>
        <p:spPr>
          <a:xfrm>
            <a:off x="4920775" y="1230400"/>
            <a:ext cx="3427875" cy="326998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Optimizing ML Inference</a:t>
            </a:r>
            <a:endParaRPr/>
          </a:p>
        </p:txBody>
      </p:sp>
      <p:pic>
        <p:nvPicPr>
          <p:cNvPr id="516" name="Google Shape;516;p73"/>
          <p:cNvPicPr preferRelativeResize="0"/>
          <p:nvPr/>
        </p:nvPicPr>
        <p:blipFill>
          <a:blip r:embed="rId3">
            <a:alphaModFix/>
          </a:blip>
          <a:stretch>
            <a:fillRect/>
          </a:stretch>
        </p:blipFill>
        <p:spPr>
          <a:xfrm>
            <a:off x="-170725" y="1594250"/>
            <a:ext cx="4566874" cy="3034025"/>
          </a:xfrm>
          <a:prstGeom prst="rect">
            <a:avLst/>
          </a:prstGeom>
          <a:noFill/>
          <a:ln>
            <a:noFill/>
          </a:ln>
        </p:spPr>
      </p:pic>
      <p:pic>
        <p:nvPicPr>
          <p:cNvPr id="517" name="Google Shape;517;p73"/>
          <p:cNvPicPr preferRelativeResize="0"/>
          <p:nvPr/>
        </p:nvPicPr>
        <p:blipFill>
          <a:blip r:embed="rId4">
            <a:alphaModFix/>
          </a:blip>
          <a:stretch>
            <a:fillRect/>
          </a:stretch>
        </p:blipFill>
        <p:spPr>
          <a:xfrm>
            <a:off x="4516524" y="103550"/>
            <a:ext cx="4272327" cy="2723377"/>
          </a:xfrm>
          <a:prstGeom prst="rect">
            <a:avLst/>
          </a:prstGeom>
          <a:noFill/>
          <a:ln>
            <a:noFill/>
          </a:ln>
        </p:spPr>
      </p:pic>
      <p:sp>
        <p:nvSpPr>
          <p:cNvPr id="518" name="Google Shape;518;p73"/>
          <p:cNvSpPr txBox="1"/>
          <p:nvPr/>
        </p:nvSpPr>
        <p:spPr>
          <a:xfrm>
            <a:off x="3811750" y="2741550"/>
            <a:ext cx="5239500" cy="24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t>The user only experiences delays when he passes the data and waits for the results</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But latency is not only that.</a:t>
            </a:r>
            <a:endParaRPr/>
          </a:p>
          <a:p>
            <a:pPr indent="0" lvl="0" marL="0" rtl="0" algn="l">
              <a:spcBef>
                <a:spcPts val="0"/>
              </a:spcBef>
              <a:spcAft>
                <a:spcPts val="0"/>
              </a:spcAft>
              <a:buNone/>
            </a:pPr>
            <a:r>
              <a:rPr lang="el"/>
              <a:t>Passing input data to the model might needs preprocessing </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A purely designed app with a perfect model will still result in major delays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l">
                <a:solidFill>
                  <a:srgbClr val="FF00FF"/>
                </a:solidFill>
              </a:rPr>
              <a:t>Takeaway: Manage latency at every stage of the application</a:t>
            </a:r>
            <a:endParaRPr b="1">
              <a:solidFill>
                <a:srgbClr val="FF00FF"/>
              </a:solidFill>
            </a:endParaRPr>
          </a:p>
        </p:txBody>
      </p:sp>
      <p:sp>
        <p:nvSpPr>
          <p:cNvPr id="519" name="Google Shape;519;p73"/>
          <p:cNvSpPr/>
          <p:nvPr/>
        </p:nvSpPr>
        <p:spPr>
          <a:xfrm>
            <a:off x="1528100" y="2010450"/>
            <a:ext cx="811200" cy="5727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7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Optimizing ML Inference</a:t>
            </a:r>
            <a:endParaRPr/>
          </a:p>
        </p:txBody>
      </p:sp>
      <p:pic>
        <p:nvPicPr>
          <p:cNvPr id="525" name="Google Shape;525;p74"/>
          <p:cNvPicPr preferRelativeResize="0"/>
          <p:nvPr/>
        </p:nvPicPr>
        <p:blipFill>
          <a:blip r:embed="rId3">
            <a:alphaModFix/>
          </a:blip>
          <a:stretch>
            <a:fillRect/>
          </a:stretch>
        </p:blipFill>
        <p:spPr>
          <a:xfrm>
            <a:off x="-170725" y="1594250"/>
            <a:ext cx="4566874" cy="3034025"/>
          </a:xfrm>
          <a:prstGeom prst="rect">
            <a:avLst/>
          </a:prstGeom>
          <a:noFill/>
          <a:ln>
            <a:noFill/>
          </a:ln>
        </p:spPr>
      </p:pic>
      <p:sp>
        <p:nvSpPr>
          <p:cNvPr id="526" name="Google Shape;526;p74"/>
          <p:cNvSpPr txBox="1"/>
          <p:nvPr/>
        </p:nvSpPr>
        <p:spPr>
          <a:xfrm>
            <a:off x="3779725" y="3536425"/>
            <a:ext cx="5239500" cy="73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
                <a:solidFill>
                  <a:srgbClr val="FF00FF"/>
                </a:solidFill>
              </a:rPr>
              <a:t>Throughput is most important to optimize on non customer facing systems like intensive data processing apps</a:t>
            </a:r>
            <a:endParaRPr b="1">
              <a:solidFill>
                <a:srgbClr val="FF00FF"/>
              </a:solidFill>
            </a:endParaRPr>
          </a:p>
        </p:txBody>
      </p:sp>
      <p:sp>
        <p:nvSpPr>
          <p:cNvPr id="527" name="Google Shape;527;p74"/>
          <p:cNvSpPr/>
          <p:nvPr/>
        </p:nvSpPr>
        <p:spPr>
          <a:xfrm>
            <a:off x="2467175" y="3536425"/>
            <a:ext cx="907200" cy="5727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28" name="Google Shape;528;p74"/>
          <p:cNvPicPr preferRelativeResize="0"/>
          <p:nvPr/>
        </p:nvPicPr>
        <p:blipFill>
          <a:blip r:embed="rId4">
            <a:alphaModFix/>
          </a:blip>
          <a:stretch>
            <a:fillRect/>
          </a:stretch>
        </p:blipFill>
        <p:spPr>
          <a:xfrm>
            <a:off x="4674316" y="359675"/>
            <a:ext cx="4157973" cy="229652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7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Optimizing ML Inference</a:t>
            </a:r>
            <a:endParaRPr/>
          </a:p>
        </p:txBody>
      </p:sp>
      <p:pic>
        <p:nvPicPr>
          <p:cNvPr id="534" name="Google Shape;534;p75"/>
          <p:cNvPicPr preferRelativeResize="0"/>
          <p:nvPr/>
        </p:nvPicPr>
        <p:blipFill>
          <a:blip r:embed="rId3">
            <a:alphaModFix/>
          </a:blip>
          <a:stretch>
            <a:fillRect/>
          </a:stretch>
        </p:blipFill>
        <p:spPr>
          <a:xfrm>
            <a:off x="-170725" y="1594250"/>
            <a:ext cx="4566874" cy="3034025"/>
          </a:xfrm>
          <a:prstGeom prst="rect">
            <a:avLst/>
          </a:prstGeom>
          <a:noFill/>
          <a:ln>
            <a:noFill/>
          </a:ln>
        </p:spPr>
      </p:pic>
      <p:sp>
        <p:nvSpPr>
          <p:cNvPr id="535" name="Google Shape;535;p75"/>
          <p:cNvSpPr txBox="1"/>
          <p:nvPr/>
        </p:nvSpPr>
        <p:spPr>
          <a:xfrm>
            <a:off x="3779725" y="3162925"/>
            <a:ext cx="5239500" cy="186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chemeClr val="dk1"/>
                </a:solidFill>
              </a:rPr>
              <a:t>Multiple costs in the system</a:t>
            </a:r>
            <a:endParaRPr>
              <a:solidFill>
                <a:schemeClr val="dk1"/>
              </a:solidFill>
            </a:endParaRPr>
          </a:p>
          <a:p>
            <a:pPr indent="0" lvl="0" marL="0" rtl="0" algn="l">
              <a:spcBef>
                <a:spcPts val="0"/>
              </a:spcBef>
              <a:spcAft>
                <a:spcPts val="0"/>
              </a:spcAft>
              <a:buNone/>
            </a:pPr>
            <a:r>
              <a:t/>
            </a:r>
            <a:endParaRPr>
              <a:solidFill>
                <a:schemeClr val="dk1"/>
              </a:solidFill>
            </a:endParaRPr>
          </a:p>
          <a:p>
            <a:pPr indent="-317500" lvl="0" marL="457200" rtl="0" algn="l">
              <a:spcBef>
                <a:spcPts val="0"/>
              </a:spcBef>
              <a:spcAft>
                <a:spcPts val="0"/>
              </a:spcAft>
              <a:buClr>
                <a:schemeClr val="dk1"/>
              </a:buClr>
              <a:buSzPts val="1400"/>
              <a:buChar char="●"/>
            </a:pPr>
            <a:r>
              <a:rPr lang="el">
                <a:solidFill>
                  <a:schemeClr val="dk1"/>
                </a:solidFill>
              </a:rPr>
              <a:t>Hardware</a:t>
            </a:r>
            <a:endParaRPr>
              <a:solidFill>
                <a:schemeClr val="dk1"/>
              </a:solidFill>
            </a:endParaRPr>
          </a:p>
          <a:p>
            <a:pPr indent="-317500" lvl="0" marL="457200" rtl="0" algn="l">
              <a:spcBef>
                <a:spcPts val="0"/>
              </a:spcBef>
              <a:spcAft>
                <a:spcPts val="0"/>
              </a:spcAft>
              <a:buClr>
                <a:schemeClr val="dk1"/>
              </a:buClr>
              <a:buSzPts val="1400"/>
              <a:buChar char="●"/>
            </a:pPr>
            <a:r>
              <a:rPr lang="el">
                <a:solidFill>
                  <a:schemeClr val="dk1"/>
                </a:solidFill>
              </a:rPr>
              <a:t>Engineering testing time and effort </a:t>
            </a:r>
            <a:endParaRPr>
              <a:solidFill>
                <a:schemeClr val="dk1"/>
              </a:solidFill>
            </a:endParaRPr>
          </a:p>
          <a:p>
            <a:pPr indent="-317500" lvl="0" marL="457200" rtl="0" algn="l">
              <a:spcBef>
                <a:spcPts val="0"/>
              </a:spcBef>
              <a:spcAft>
                <a:spcPts val="0"/>
              </a:spcAft>
              <a:buClr>
                <a:schemeClr val="dk1"/>
              </a:buClr>
              <a:buSzPts val="1400"/>
              <a:buChar char="●"/>
            </a:pPr>
            <a:r>
              <a:rPr lang="el">
                <a:solidFill>
                  <a:schemeClr val="dk1"/>
                </a:solidFill>
              </a:rPr>
              <a:t>Software licences</a:t>
            </a:r>
            <a:endParaRPr>
              <a:solidFill>
                <a:schemeClr val="dk1"/>
              </a:solidFill>
            </a:endParaRPr>
          </a:p>
          <a:p>
            <a:pPr indent="-317500" lvl="0" marL="457200" rtl="0" algn="l">
              <a:spcBef>
                <a:spcPts val="0"/>
              </a:spcBef>
              <a:spcAft>
                <a:spcPts val="0"/>
              </a:spcAft>
              <a:buClr>
                <a:schemeClr val="dk1"/>
              </a:buClr>
              <a:buSzPts val="1400"/>
              <a:buChar char="●"/>
            </a:pPr>
            <a:r>
              <a:rPr lang="el">
                <a:solidFill>
                  <a:schemeClr val="dk1"/>
                </a:solidFill>
              </a:rPr>
              <a:t>Research costs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l">
                <a:solidFill>
                  <a:srgbClr val="FF00FF"/>
                </a:solidFill>
              </a:rPr>
              <a:t>Keep everything into account </a:t>
            </a:r>
            <a:endParaRPr b="1">
              <a:solidFill>
                <a:srgbClr val="FF00FF"/>
              </a:solidFill>
            </a:endParaRPr>
          </a:p>
        </p:txBody>
      </p:sp>
      <p:sp>
        <p:nvSpPr>
          <p:cNvPr id="536" name="Google Shape;536;p75"/>
          <p:cNvSpPr/>
          <p:nvPr/>
        </p:nvSpPr>
        <p:spPr>
          <a:xfrm>
            <a:off x="663750" y="3615475"/>
            <a:ext cx="907200" cy="5727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37" name="Google Shape;537;p75"/>
          <p:cNvPicPr preferRelativeResize="0"/>
          <p:nvPr/>
        </p:nvPicPr>
        <p:blipFill>
          <a:blip r:embed="rId4">
            <a:alphaModFix/>
          </a:blip>
          <a:stretch>
            <a:fillRect/>
          </a:stretch>
        </p:blipFill>
        <p:spPr>
          <a:xfrm>
            <a:off x="4502974" y="732600"/>
            <a:ext cx="3792990" cy="221390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7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Inference Optimization</a:t>
            </a:r>
            <a:endParaRPr/>
          </a:p>
        </p:txBody>
      </p:sp>
      <p:pic>
        <p:nvPicPr>
          <p:cNvPr id="543" name="Google Shape;543;p76"/>
          <p:cNvPicPr preferRelativeResize="0"/>
          <p:nvPr/>
        </p:nvPicPr>
        <p:blipFill>
          <a:blip r:embed="rId3">
            <a:alphaModFix/>
          </a:blip>
          <a:stretch>
            <a:fillRect/>
          </a:stretch>
        </p:blipFill>
        <p:spPr>
          <a:xfrm>
            <a:off x="152400" y="1447575"/>
            <a:ext cx="8839201" cy="2888006"/>
          </a:xfrm>
          <a:prstGeom prst="rect">
            <a:avLst/>
          </a:prstGeom>
          <a:noFill/>
          <a:ln>
            <a:noFill/>
          </a:ln>
        </p:spPr>
      </p:pic>
      <p:sp>
        <p:nvSpPr>
          <p:cNvPr id="544" name="Google Shape;544;p76"/>
          <p:cNvSpPr txBox="1"/>
          <p:nvPr/>
        </p:nvSpPr>
        <p:spPr>
          <a:xfrm>
            <a:off x="311700" y="1124750"/>
            <a:ext cx="5132700" cy="49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 sz="1600">
                <a:solidFill>
                  <a:srgbClr val="FF00FF"/>
                </a:solidFill>
              </a:rPr>
              <a:t>Three main areas to optimize your inference</a:t>
            </a:r>
            <a:endParaRPr b="1" sz="1600">
              <a:solidFill>
                <a:srgbClr val="FF00FF"/>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7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Inference Optimization</a:t>
            </a:r>
            <a:endParaRPr/>
          </a:p>
        </p:txBody>
      </p:sp>
      <p:pic>
        <p:nvPicPr>
          <p:cNvPr id="550" name="Google Shape;550;p77"/>
          <p:cNvPicPr preferRelativeResize="0"/>
          <p:nvPr/>
        </p:nvPicPr>
        <p:blipFill rotWithShape="1">
          <a:blip r:embed="rId3">
            <a:alphaModFix/>
          </a:blip>
          <a:srcRect b="0" l="0" r="73087" t="0"/>
          <a:stretch/>
        </p:blipFill>
        <p:spPr>
          <a:xfrm>
            <a:off x="152400" y="1447575"/>
            <a:ext cx="2378802" cy="2888000"/>
          </a:xfrm>
          <a:prstGeom prst="rect">
            <a:avLst/>
          </a:prstGeom>
          <a:noFill/>
          <a:ln>
            <a:noFill/>
          </a:ln>
        </p:spPr>
      </p:pic>
      <p:sp>
        <p:nvSpPr>
          <p:cNvPr id="551" name="Google Shape;551;p77"/>
          <p:cNvSpPr txBox="1"/>
          <p:nvPr/>
        </p:nvSpPr>
        <p:spPr>
          <a:xfrm>
            <a:off x="311700" y="1124750"/>
            <a:ext cx="1686000" cy="49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 sz="1600">
                <a:solidFill>
                  <a:srgbClr val="FF00FF"/>
                </a:solidFill>
              </a:rPr>
              <a:t>Infrastructure</a:t>
            </a:r>
            <a:endParaRPr b="1" sz="1600">
              <a:solidFill>
                <a:srgbClr val="FF00FF"/>
              </a:solidFill>
            </a:endParaRPr>
          </a:p>
        </p:txBody>
      </p:sp>
      <p:sp>
        <p:nvSpPr>
          <p:cNvPr id="552" name="Google Shape;552;p77"/>
          <p:cNvSpPr txBox="1"/>
          <p:nvPr/>
        </p:nvSpPr>
        <p:spPr>
          <a:xfrm>
            <a:off x="2531200" y="2010450"/>
            <a:ext cx="5410200" cy="14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t>Where we serve the model</a:t>
            </a:r>
            <a:endParaRPr sz="1600"/>
          </a:p>
          <a:p>
            <a:pPr indent="0" lvl="0" marL="0" rtl="0" algn="l">
              <a:spcBef>
                <a:spcPts val="0"/>
              </a:spcBef>
              <a:spcAft>
                <a:spcPts val="0"/>
              </a:spcAft>
              <a:buNone/>
            </a:pPr>
            <a:r>
              <a:t/>
            </a:r>
            <a:endParaRPr sz="1600"/>
          </a:p>
          <a:p>
            <a:pPr indent="-330200" lvl="0" marL="457200" rtl="0" algn="l">
              <a:spcBef>
                <a:spcPts val="0"/>
              </a:spcBef>
              <a:spcAft>
                <a:spcPts val="0"/>
              </a:spcAft>
              <a:buSzPts val="1600"/>
              <a:buChar char="●"/>
            </a:pPr>
            <a:r>
              <a:rPr lang="el" sz="1600"/>
              <a:t>Scaled either vertically or horizontally</a:t>
            </a:r>
            <a:endParaRPr sz="1600"/>
          </a:p>
          <a:p>
            <a:pPr indent="-330200" lvl="0" marL="457200" rtl="0" algn="l">
              <a:spcBef>
                <a:spcPts val="0"/>
              </a:spcBef>
              <a:spcAft>
                <a:spcPts val="0"/>
              </a:spcAft>
              <a:buSzPts val="1600"/>
              <a:buChar char="●"/>
            </a:pPr>
            <a:r>
              <a:rPr lang="el" sz="1600"/>
              <a:t>Depends on the specifics of the application</a:t>
            </a:r>
            <a:endParaRPr sz="1600"/>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7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Inference Optimization</a:t>
            </a:r>
            <a:endParaRPr/>
          </a:p>
        </p:txBody>
      </p:sp>
      <p:pic>
        <p:nvPicPr>
          <p:cNvPr id="558" name="Google Shape;558;p78"/>
          <p:cNvPicPr preferRelativeResize="0"/>
          <p:nvPr/>
        </p:nvPicPr>
        <p:blipFill rotWithShape="1">
          <a:blip r:embed="rId3">
            <a:alphaModFix/>
          </a:blip>
          <a:srcRect b="0" l="25224" r="37350" t="0"/>
          <a:stretch/>
        </p:blipFill>
        <p:spPr>
          <a:xfrm>
            <a:off x="2381800" y="1447575"/>
            <a:ext cx="3308076" cy="2888000"/>
          </a:xfrm>
          <a:prstGeom prst="rect">
            <a:avLst/>
          </a:prstGeom>
          <a:noFill/>
          <a:ln>
            <a:noFill/>
          </a:ln>
        </p:spPr>
      </p:pic>
      <p:sp>
        <p:nvSpPr>
          <p:cNvPr id="559" name="Google Shape;559;p78"/>
          <p:cNvSpPr txBox="1"/>
          <p:nvPr/>
        </p:nvSpPr>
        <p:spPr>
          <a:xfrm>
            <a:off x="3043500" y="1295475"/>
            <a:ext cx="2379600" cy="49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 sz="1600">
                <a:solidFill>
                  <a:srgbClr val="FF00FF"/>
                </a:solidFill>
              </a:rPr>
              <a:t>Model Architecture</a:t>
            </a:r>
            <a:endParaRPr b="1" sz="1600">
              <a:solidFill>
                <a:srgbClr val="FF00FF"/>
              </a:solidFill>
            </a:endParaRPr>
          </a:p>
        </p:txBody>
      </p:sp>
      <p:sp>
        <p:nvSpPr>
          <p:cNvPr id="560" name="Google Shape;560;p78"/>
          <p:cNvSpPr txBox="1"/>
          <p:nvPr/>
        </p:nvSpPr>
        <p:spPr>
          <a:xfrm>
            <a:off x="5721875" y="1455550"/>
            <a:ext cx="3116100" cy="343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t>Upgrade/downgrade model architecture</a:t>
            </a:r>
            <a:endParaRPr sz="1600"/>
          </a:p>
          <a:p>
            <a:pPr indent="0" lvl="0" marL="0" rtl="0" algn="l">
              <a:spcBef>
                <a:spcPts val="0"/>
              </a:spcBef>
              <a:spcAft>
                <a:spcPts val="0"/>
              </a:spcAft>
              <a:buNone/>
            </a:pPr>
            <a:r>
              <a:t/>
            </a:r>
            <a:endParaRPr sz="1600"/>
          </a:p>
          <a:p>
            <a:pPr indent="-330200" lvl="0" marL="457200" rtl="0" algn="l">
              <a:spcBef>
                <a:spcPts val="0"/>
              </a:spcBef>
              <a:spcAft>
                <a:spcPts val="0"/>
              </a:spcAft>
              <a:buSzPts val="1600"/>
              <a:buChar char="●"/>
            </a:pPr>
            <a:r>
              <a:rPr lang="el" sz="1600"/>
              <a:t>Requires architecture understanding</a:t>
            </a:r>
            <a:endParaRPr sz="1600"/>
          </a:p>
          <a:p>
            <a:pPr indent="-330200" lvl="0" marL="457200" rtl="0" algn="l">
              <a:spcBef>
                <a:spcPts val="0"/>
              </a:spcBef>
              <a:spcAft>
                <a:spcPts val="0"/>
              </a:spcAft>
              <a:buSzPts val="1600"/>
              <a:buChar char="●"/>
            </a:pPr>
            <a:r>
              <a:rPr lang="el" sz="1600"/>
              <a:t>(Often) there is a tradeoff between inference speed and accuracy.</a:t>
            </a:r>
            <a:endParaRPr sz="1600"/>
          </a:p>
          <a:p>
            <a:pPr indent="0" lvl="0" marL="0" rtl="0" algn="l">
              <a:spcBef>
                <a:spcPts val="0"/>
              </a:spcBef>
              <a:spcAft>
                <a:spcPts val="0"/>
              </a:spcAft>
              <a:buNone/>
            </a:pPr>
            <a:r>
              <a:t/>
            </a:r>
            <a:endParaRPr sz="1600"/>
          </a:p>
          <a:p>
            <a:pPr indent="0" lvl="0" marL="0" rtl="0" algn="l">
              <a:spcBef>
                <a:spcPts val="0"/>
              </a:spcBef>
              <a:spcAft>
                <a:spcPts val="0"/>
              </a:spcAft>
              <a:buNone/>
            </a:pPr>
            <a:r>
              <a:rPr lang="el" sz="1600"/>
              <a:t>For example if a 99% accurate model is 10 times slower than a 98% accurate model, is it worth the cost?</a:t>
            </a:r>
            <a:endParaRPr sz="1600"/>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7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Inference Optimization</a:t>
            </a:r>
            <a:endParaRPr/>
          </a:p>
        </p:txBody>
      </p:sp>
      <p:pic>
        <p:nvPicPr>
          <p:cNvPr id="566" name="Google Shape;566;p79"/>
          <p:cNvPicPr preferRelativeResize="0"/>
          <p:nvPr/>
        </p:nvPicPr>
        <p:blipFill rotWithShape="1">
          <a:blip r:embed="rId3">
            <a:alphaModFix/>
          </a:blip>
          <a:srcRect b="0" l="65786" r="0" t="0"/>
          <a:stretch/>
        </p:blipFill>
        <p:spPr>
          <a:xfrm>
            <a:off x="5967326" y="1447575"/>
            <a:ext cx="3024275" cy="2888000"/>
          </a:xfrm>
          <a:prstGeom prst="rect">
            <a:avLst/>
          </a:prstGeom>
          <a:noFill/>
          <a:ln>
            <a:noFill/>
          </a:ln>
        </p:spPr>
      </p:pic>
      <p:sp>
        <p:nvSpPr>
          <p:cNvPr id="567" name="Google Shape;567;p79"/>
          <p:cNvSpPr txBox="1"/>
          <p:nvPr/>
        </p:nvSpPr>
        <p:spPr>
          <a:xfrm>
            <a:off x="6289663" y="1188775"/>
            <a:ext cx="2379600" cy="49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 sz="1600">
                <a:solidFill>
                  <a:srgbClr val="FF00FF"/>
                </a:solidFill>
              </a:rPr>
              <a:t>Model Compilation</a:t>
            </a:r>
            <a:endParaRPr b="1" sz="1600">
              <a:solidFill>
                <a:srgbClr val="FF00FF"/>
              </a:solidFill>
            </a:endParaRPr>
          </a:p>
        </p:txBody>
      </p:sp>
      <p:sp>
        <p:nvSpPr>
          <p:cNvPr id="568" name="Google Shape;568;p79"/>
          <p:cNvSpPr txBox="1"/>
          <p:nvPr/>
        </p:nvSpPr>
        <p:spPr>
          <a:xfrm>
            <a:off x="2104350" y="1562250"/>
            <a:ext cx="3649500" cy="335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t>Post-training step:</a:t>
            </a:r>
            <a:endParaRPr sz="1600"/>
          </a:p>
          <a:p>
            <a:pPr indent="0" lvl="0" marL="0" rtl="0" algn="l">
              <a:spcBef>
                <a:spcPts val="0"/>
              </a:spcBef>
              <a:spcAft>
                <a:spcPts val="0"/>
              </a:spcAft>
              <a:buNone/>
            </a:pPr>
            <a:r>
              <a:t/>
            </a:r>
            <a:endParaRPr sz="1600"/>
          </a:p>
          <a:p>
            <a:pPr indent="-330200" lvl="0" marL="457200" rtl="0" algn="l">
              <a:spcBef>
                <a:spcPts val="0"/>
              </a:spcBef>
              <a:spcAft>
                <a:spcPts val="0"/>
              </a:spcAft>
              <a:buSzPts val="1600"/>
              <a:buChar char="●"/>
            </a:pPr>
            <a:r>
              <a:rPr lang="el" sz="1600"/>
              <a:t>Creates a model artifact and a model execution module</a:t>
            </a:r>
            <a:endParaRPr sz="1600"/>
          </a:p>
          <a:p>
            <a:pPr indent="-330200" lvl="0" marL="457200" rtl="0" algn="l">
              <a:spcBef>
                <a:spcPts val="0"/>
              </a:spcBef>
              <a:spcAft>
                <a:spcPts val="0"/>
              </a:spcAft>
              <a:buSzPts val="1600"/>
              <a:buChar char="●"/>
            </a:pPr>
            <a:r>
              <a:rPr lang="el" sz="1600"/>
              <a:t>Optimizes the model inference to match your underlying hardware.</a:t>
            </a:r>
            <a:endParaRPr sz="1600"/>
          </a:p>
          <a:p>
            <a:pPr indent="0" lvl="0" marL="457200" rtl="0" algn="l">
              <a:spcBef>
                <a:spcPts val="0"/>
              </a:spcBef>
              <a:spcAft>
                <a:spcPts val="0"/>
              </a:spcAft>
              <a:buNone/>
            </a:pPr>
            <a:r>
              <a:rPr lang="el" sz="1600"/>
              <a:t>(GPU)</a:t>
            </a:r>
            <a:endParaRPr sz="1600"/>
          </a:p>
          <a:p>
            <a:pPr indent="0" lvl="0" marL="457200" rtl="0" algn="l">
              <a:spcBef>
                <a:spcPts val="0"/>
              </a:spcBef>
              <a:spcAft>
                <a:spcPts val="0"/>
              </a:spcAft>
              <a:buNone/>
            </a:pPr>
            <a:r>
              <a:t/>
            </a:r>
            <a:endParaRPr sz="1600"/>
          </a:p>
          <a:p>
            <a:pPr indent="0" lvl="0" marL="457200" rtl="0" algn="l">
              <a:spcBef>
                <a:spcPts val="0"/>
              </a:spcBef>
              <a:spcAft>
                <a:spcPts val="0"/>
              </a:spcAft>
              <a:buNone/>
            </a:pPr>
            <a:r>
              <a:t/>
            </a:r>
            <a:endParaRPr sz="1600"/>
          </a:p>
          <a:p>
            <a:pPr indent="0" lvl="0" marL="0" rtl="0" algn="l">
              <a:spcBef>
                <a:spcPts val="0"/>
              </a:spcBef>
              <a:spcAft>
                <a:spcPts val="0"/>
              </a:spcAft>
              <a:buNone/>
            </a:pPr>
            <a:r>
              <a:rPr lang="el" sz="1600"/>
              <a:t>If I know where I deploy my model I can align their inference. </a:t>
            </a:r>
            <a:endParaRPr sz="1600"/>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8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Introduction to Online Inference</a:t>
            </a:r>
            <a:endParaRPr/>
          </a:p>
        </p:txBody>
      </p:sp>
      <p:pic>
        <p:nvPicPr>
          <p:cNvPr id="574" name="Google Shape;574;p80"/>
          <p:cNvPicPr preferRelativeResize="0"/>
          <p:nvPr/>
        </p:nvPicPr>
        <p:blipFill>
          <a:blip r:embed="rId3">
            <a:alphaModFix/>
          </a:blip>
          <a:stretch>
            <a:fillRect/>
          </a:stretch>
        </p:blipFill>
        <p:spPr>
          <a:xfrm>
            <a:off x="249825" y="1700975"/>
            <a:ext cx="4621526" cy="2601950"/>
          </a:xfrm>
          <a:prstGeom prst="rect">
            <a:avLst/>
          </a:prstGeom>
          <a:noFill/>
          <a:ln>
            <a:noFill/>
          </a:ln>
        </p:spPr>
      </p:pic>
      <p:sp>
        <p:nvSpPr>
          <p:cNvPr id="575" name="Google Shape;575;p80"/>
          <p:cNvSpPr txBox="1"/>
          <p:nvPr/>
        </p:nvSpPr>
        <p:spPr>
          <a:xfrm>
            <a:off x="4753800" y="1722750"/>
            <a:ext cx="4390200" cy="25584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Char char="●"/>
            </a:pPr>
            <a:r>
              <a:rPr lang="el" sz="1600"/>
              <a:t>Process of generating machine learning predictions in real time upon request</a:t>
            </a:r>
            <a:endParaRPr sz="1600"/>
          </a:p>
          <a:p>
            <a:pPr indent="0" lvl="0" marL="457200" rtl="0" algn="l">
              <a:lnSpc>
                <a:spcPct val="115000"/>
              </a:lnSpc>
              <a:spcBef>
                <a:spcPts val="0"/>
              </a:spcBef>
              <a:spcAft>
                <a:spcPts val="0"/>
              </a:spcAft>
              <a:buNone/>
            </a:pPr>
            <a:r>
              <a:t/>
            </a:r>
            <a:endParaRPr sz="1600"/>
          </a:p>
          <a:p>
            <a:pPr indent="-330200" lvl="0" marL="457200" rtl="0" algn="l">
              <a:lnSpc>
                <a:spcPct val="115000"/>
              </a:lnSpc>
              <a:spcBef>
                <a:spcPts val="0"/>
              </a:spcBef>
              <a:spcAft>
                <a:spcPts val="0"/>
              </a:spcAft>
              <a:buSzPts val="1600"/>
              <a:buChar char="●"/>
            </a:pPr>
            <a:r>
              <a:rPr lang="el" sz="1600"/>
              <a:t>Predictions are generated on a single observation of data at runtime</a:t>
            </a:r>
            <a:endParaRPr sz="1600"/>
          </a:p>
          <a:p>
            <a:pPr indent="0" lvl="0" marL="457200" rtl="0" algn="l">
              <a:lnSpc>
                <a:spcPct val="115000"/>
              </a:lnSpc>
              <a:spcBef>
                <a:spcPts val="0"/>
              </a:spcBef>
              <a:spcAft>
                <a:spcPts val="0"/>
              </a:spcAft>
              <a:buNone/>
            </a:pPr>
            <a:r>
              <a:t/>
            </a:r>
            <a:endParaRPr sz="1600"/>
          </a:p>
          <a:p>
            <a:pPr indent="-330200" lvl="0" marL="457200" rtl="0" algn="l">
              <a:lnSpc>
                <a:spcPct val="115000"/>
              </a:lnSpc>
              <a:spcBef>
                <a:spcPts val="0"/>
              </a:spcBef>
              <a:spcAft>
                <a:spcPts val="0"/>
              </a:spcAft>
              <a:buSzPts val="1600"/>
              <a:buChar char="●"/>
            </a:pPr>
            <a:r>
              <a:rPr lang="el" sz="1600"/>
              <a:t>Can be generated at any time of the day on demand</a:t>
            </a:r>
            <a:endParaRPr sz="1600"/>
          </a:p>
          <a:p>
            <a:pPr indent="0" lvl="0" marL="0" rtl="0" algn="l">
              <a:lnSpc>
                <a:spcPct val="115000"/>
              </a:lnSpc>
              <a:spcBef>
                <a:spcPts val="0"/>
              </a:spcBef>
              <a:spcAft>
                <a:spcPts val="0"/>
              </a:spcAft>
              <a:buNone/>
            </a:pPr>
            <a:r>
              <a:t/>
            </a:r>
            <a:endParaRPr sz="1600"/>
          </a:p>
          <a:p>
            <a:pPr indent="0" lvl="0" marL="0" rtl="0" algn="l">
              <a:lnSpc>
                <a:spcPct val="115000"/>
              </a:lnSpc>
              <a:spcBef>
                <a:spcPts val="0"/>
              </a:spcBef>
              <a:spcAft>
                <a:spcPts val="0"/>
              </a:spcAft>
              <a:buNone/>
            </a:pPr>
            <a:r>
              <a:t/>
            </a:r>
            <a:endParaRPr sz="1600"/>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81"/>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l"/>
              <a:t>Batch Inference</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8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Batch Inference</a:t>
            </a:r>
            <a:endParaRPr/>
          </a:p>
        </p:txBody>
      </p:sp>
      <p:pic>
        <p:nvPicPr>
          <p:cNvPr id="586" name="Google Shape;586;p82"/>
          <p:cNvPicPr preferRelativeResize="0"/>
          <p:nvPr/>
        </p:nvPicPr>
        <p:blipFill>
          <a:blip r:embed="rId3">
            <a:alphaModFix/>
          </a:blip>
          <a:stretch>
            <a:fillRect/>
          </a:stretch>
        </p:blipFill>
        <p:spPr>
          <a:xfrm>
            <a:off x="5069824" y="1209725"/>
            <a:ext cx="3897924" cy="3264050"/>
          </a:xfrm>
          <a:prstGeom prst="rect">
            <a:avLst/>
          </a:prstGeom>
          <a:noFill/>
          <a:ln>
            <a:noFill/>
          </a:ln>
        </p:spPr>
      </p:pic>
      <p:sp>
        <p:nvSpPr>
          <p:cNvPr id="587" name="Google Shape;587;p82"/>
          <p:cNvSpPr txBox="1"/>
          <p:nvPr/>
        </p:nvSpPr>
        <p:spPr>
          <a:xfrm>
            <a:off x="0" y="1494775"/>
            <a:ext cx="4944600" cy="2938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l" sz="1500"/>
              <a:t>Generating predictions on a batch of observations</a:t>
            </a:r>
            <a:endParaRPr sz="1500"/>
          </a:p>
          <a:p>
            <a:pPr indent="0" lvl="0" marL="0" rtl="0" algn="l">
              <a:lnSpc>
                <a:spcPct val="115000"/>
              </a:lnSpc>
              <a:spcBef>
                <a:spcPts val="0"/>
              </a:spcBef>
              <a:spcAft>
                <a:spcPts val="0"/>
              </a:spcAft>
              <a:buNone/>
            </a:pPr>
            <a:r>
              <a:t/>
            </a:r>
            <a:endParaRPr sz="1500"/>
          </a:p>
          <a:p>
            <a:pPr indent="-323850" lvl="0" marL="457200" rtl="0" algn="l">
              <a:lnSpc>
                <a:spcPct val="115000"/>
              </a:lnSpc>
              <a:spcBef>
                <a:spcPts val="0"/>
              </a:spcBef>
              <a:spcAft>
                <a:spcPts val="0"/>
              </a:spcAft>
              <a:buSzPts val="1500"/>
              <a:buChar char="●"/>
            </a:pPr>
            <a:r>
              <a:rPr lang="el" sz="1500"/>
              <a:t>Batch jobs are often generated on a recurring schedule</a:t>
            </a:r>
            <a:endParaRPr sz="1500"/>
          </a:p>
          <a:p>
            <a:pPr indent="-323850" lvl="0" marL="457200" rtl="0" algn="l">
              <a:lnSpc>
                <a:spcPct val="115000"/>
              </a:lnSpc>
              <a:spcBef>
                <a:spcPts val="0"/>
              </a:spcBef>
              <a:spcAft>
                <a:spcPts val="0"/>
              </a:spcAft>
              <a:buSzPts val="1500"/>
              <a:buChar char="●"/>
            </a:pPr>
            <a:r>
              <a:rPr lang="el" sz="1500"/>
              <a:t>Predictions are then stored and made available to the end user</a:t>
            </a:r>
            <a:endParaRPr sz="1500"/>
          </a:p>
          <a:p>
            <a:pPr indent="-323850" lvl="0" marL="457200" rtl="0" algn="l">
              <a:lnSpc>
                <a:spcPct val="115000"/>
              </a:lnSpc>
              <a:spcBef>
                <a:spcPts val="0"/>
              </a:spcBef>
              <a:spcAft>
                <a:spcPts val="0"/>
              </a:spcAft>
              <a:buSzPts val="1500"/>
              <a:buChar char="●"/>
            </a:pPr>
            <a:r>
              <a:rPr lang="el" sz="1500"/>
              <a:t>Used when predictions are not required (or is not feasible to be generated) on real time</a:t>
            </a:r>
            <a:endParaRPr sz="1500"/>
          </a:p>
          <a:p>
            <a:pPr indent="-323850" lvl="0" marL="457200" rtl="0" algn="l">
              <a:lnSpc>
                <a:spcPct val="115000"/>
              </a:lnSpc>
              <a:spcBef>
                <a:spcPts val="0"/>
              </a:spcBef>
              <a:spcAft>
                <a:spcPts val="0"/>
              </a:spcAft>
              <a:buSzPts val="1500"/>
              <a:buChar char="●"/>
            </a:pPr>
            <a:r>
              <a:rPr lang="el" sz="1500"/>
              <a:t>Usually applied on non-automated decision making</a:t>
            </a:r>
            <a:endParaRPr sz="1500"/>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8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Advantages of Batch Inference</a:t>
            </a:r>
            <a:endParaRPr/>
          </a:p>
        </p:txBody>
      </p:sp>
      <p:pic>
        <p:nvPicPr>
          <p:cNvPr id="593" name="Google Shape;593;p83"/>
          <p:cNvPicPr preferRelativeResize="0"/>
          <p:nvPr/>
        </p:nvPicPr>
        <p:blipFill>
          <a:blip r:embed="rId3">
            <a:alphaModFix/>
          </a:blip>
          <a:stretch>
            <a:fillRect/>
          </a:stretch>
        </p:blipFill>
        <p:spPr>
          <a:xfrm>
            <a:off x="524375" y="1121225"/>
            <a:ext cx="7733650" cy="2901050"/>
          </a:xfrm>
          <a:prstGeom prst="rect">
            <a:avLst/>
          </a:prstGeom>
          <a:noFill/>
          <a:ln>
            <a:noFill/>
          </a:ln>
        </p:spPr>
      </p:pic>
      <p:cxnSp>
        <p:nvCxnSpPr>
          <p:cNvPr id="594" name="Google Shape;594;p83"/>
          <p:cNvCxnSpPr/>
          <p:nvPr/>
        </p:nvCxnSpPr>
        <p:spPr>
          <a:xfrm>
            <a:off x="3395500" y="3520075"/>
            <a:ext cx="596100" cy="806400"/>
          </a:xfrm>
          <a:prstGeom prst="straightConnector1">
            <a:avLst/>
          </a:prstGeom>
          <a:noFill/>
          <a:ln cap="flat" cmpd="sng" w="9525">
            <a:solidFill>
              <a:schemeClr val="dk2"/>
            </a:solidFill>
            <a:prstDash val="solid"/>
            <a:round/>
            <a:headEnd len="med" w="med" type="none"/>
            <a:tailEnd len="med" w="med" type="triangle"/>
          </a:ln>
        </p:spPr>
      </p:cxnSp>
      <p:sp>
        <p:nvSpPr>
          <p:cNvPr id="595" name="Google Shape;595;p83"/>
          <p:cNvSpPr txBox="1"/>
          <p:nvPr/>
        </p:nvSpPr>
        <p:spPr>
          <a:xfrm>
            <a:off x="124200" y="4279550"/>
            <a:ext cx="2795700" cy="75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chemeClr val="dk2"/>
                </a:solidFill>
              </a:rPr>
              <a:t>No constraints on inference time</a:t>
            </a:r>
            <a:endParaRPr>
              <a:solidFill>
                <a:schemeClr val="dk2"/>
              </a:solidFill>
            </a:endParaRPr>
          </a:p>
          <a:p>
            <a:pPr indent="0" lvl="0" marL="0" rtl="0" algn="l">
              <a:spcBef>
                <a:spcPts val="0"/>
              </a:spcBef>
              <a:spcAft>
                <a:spcPts val="0"/>
              </a:spcAft>
              <a:buNone/>
            </a:pPr>
            <a:r>
              <a:rPr lang="el">
                <a:solidFill>
                  <a:schemeClr val="dk2"/>
                </a:solidFill>
              </a:rPr>
              <a:t>(eg Predictions for Mondays are generated on Sunday)</a:t>
            </a:r>
            <a:endParaRPr>
              <a:solidFill>
                <a:schemeClr val="dk2"/>
              </a:solidFill>
            </a:endParaRPr>
          </a:p>
        </p:txBody>
      </p:sp>
      <p:sp>
        <p:nvSpPr>
          <p:cNvPr id="596" name="Google Shape;596;p83"/>
          <p:cNvSpPr txBox="1"/>
          <p:nvPr/>
        </p:nvSpPr>
        <p:spPr>
          <a:xfrm>
            <a:off x="3330550" y="4326475"/>
            <a:ext cx="1437900" cy="42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chemeClr val="dk2"/>
                </a:solidFill>
              </a:rPr>
              <a:t>Reduced costs!</a:t>
            </a:r>
            <a:endParaRPr>
              <a:solidFill>
                <a:schemeClr val="dk2"/>
              </a:solidFill>
            </a:endParaRPr>
          </a:p>
        </p:txBody>
      </p:sp>
      <p:cxnSp>
        <p:nvCxnSpPr>
          <p:cNvPr id="597" name="Google Shape;597;p83"/>
          <p:cNvCxnSpPr/>
          <p:nvPr/>
        </p:nvCxnSpPr>
        <p:spPr>
          <a:xfrm flipH="1">
            <a:off x="1292750" y="3676675"/>
            <a:ext cx="33300" cy="6498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8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Limitations of Batch Inference</a:t>
            </a:r>
            <a:endParaRPr/>
          </a:p>
        </p:txBody>
      </p:sp>
      <p:pic>
        <p:nvPicPr>
          <p:cNvPr id="603" name="Google Shape;603;p84"/>
          <p:cNvPicPr preferRelativeResize="0"/>
          <p:nvPr/>
        </p:nvPicPr>
        <p:blipFill>
          <a:blip r:embed="rId3">
            <a:alphaModFix/>
          </a:blip>
          <a:stretch>
            <a:fillRect/>
          </a:stretch>
        </p:blipFill>
        <p:spPr>
          <a:xfrm>
            <a:off x="474813" y="1241400"/>
            <a:ext cx="7939876" cy="2660700"/>
          </a:xfrm>
          <a:prstGeom prst="rect">
            <a:avLst/>
          </a:prstGeom>
          <a:noFill/>
          <a:ln>
            <a:noFill/>
          </a:ln>
        </p:spPr>
      </p:pic>
      <p:sp>
        <p:nvSpPr>
          <p:cNvPr id="604" name="Google Shape;604;p84"/>
          <p:cNvSpPr txBox="1"/>
          <p:nvPr/>
        </p:nvSpPr>
        <p:spPr>
          <a:xfrm>
            <a:off x="338500" y="3830800"/>
            <a:ext cx="8006400" cy="1239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200">
                <a:solidFill>
                  <a:schemeClr val="dk2"/>
                </a:solidFill>
              </a:rPr>
              <a:t>Predictions cannot made available for real-time purposes</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rPr lang="el" sz="1200">
                <a:solidFill>
                  <a:schemeClr val="dk2"/>
                </a:solidFill>
              </a:rPr>
              <a:t>For example, assume Netflix uses batch inference. When you sign-up, you wont get on-the-fly recommendations.</a:t>
            </a:r>
            <a:endParaRPr sz="1200">
              <a:solidFill>
                <a:schemeClr val="dk2"/>
              </a:solidFill>
            </a:endParaRPr>
          </a:p>
          <a:p>
            <a:pPr indent="0" lvl="0" marL="0" rtl="0" algn="l">
              <a:spcBef>
                <a:spcPts val="0"/>
              </a:spcBef>
              <a:spcAft>
                <a:spcPts val="0"/>
              </a:spcAft>
              <a:buNone/>
            </a:pPr>
            <a:r>
              <a:rPr lang="el" sz="1200">
                <a:solidFill>
                  <a:schemeClr val="dk2"/>
                </a:solidFill>
              </a:rPr>
              <a:t>You will take your recommendations when the new batch of predictions has been arrived!</a:t>
            </a:r>
            <a:endParaRPr sz="1200">
              <a:solidFill>
                <a:schemeClr val="dk2"/>
              </a:solidFill>
            </a:endParaRPr>
          </a:p>
          <a:p>
            <a:pPr indent="0" lvl="0" marL="0" rtl="0" algn="l">
              <a:spcBef>
                <a:spcPts val="0"/>
              </a:spcBef>
              <a:spcAft>
                <a:spcPts val="0"/>
              </a:spcAft>
              <a:buNone/>
            </a:pPr>
            <a:r>
              <a:t/>
            </a:r>
            <a:endParaRPr sz="1200">
              <a:solidFill>
                <a:schemeClr val="dk2"/>
              </a:solidFill>
            </a:endParaRPr>
          </a:p>
          <a:p>
            <a:pPr indent="0" lvl="0" marL="0" rtl="0" algn="l">
              <a:spcBef>
                <a:spcPts val="0"/>
              </a:spcBef>
              <a:spcAft>
                <a:spcPts val="0"/>
              </a:spcAft>
              <a:buNone/>
            </a:pPr>
            <a:r>
              <a:rPr lang="el" sz="1200">
                <a:solidFill>
                  <a:schemeClr val="dk2"/>
                </a:solidFill>
              </a:rPr>
              <a:t>To get around we need workaround (same age, geolocation)</a:t>
            </a:r>
            <a:endParaRPr sz="1200">
              <a:solidFill>
                <a:schemeClr val="dk2"/>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8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Important Metrics to Optimize</a:t>
            </a:r>
            <a:endParaRPr/>
          </a:p>
        </p:txBody>
      </p:sp>
      <p:sp>
        <p:nvSpPr>
          <p:cNvPr id="610" name="Google Shape;610;p85"/>
          <p:cNvSpPr txBox="1"/>
          <p:nvPr/>
        </p:nvSpPr>
        <p:spPr>
          <a:xfrm>
            <a:off x="432475" y="1242825"/>
            <a:ext cx="8240100" cy="74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800"/>
              <a:t>Most important metric to optimize while performing batch predictions:</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sp>
        <p:nvSpPr>
          <p:cNvPr id="611" name="Google Shape;611;p85"/>
          <p:cNvSpPr txBox="1"/>
          <p:nvPr/>
        </p:nvSpPr>
        <p:spPr>
          <a:xfrm>
            <a:off x="107175" y="3315850"/>
            <a:ext cx="8813700" cy="15129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l" sz="1800"/>
              <a:t>Prediction service should be able to handle large volumes of inference at a time</a:t>
            </a:r>
            <a:endParaRPr sz="1800"/>
          </a:p>
          <a:p>
            <a:pPr indent="-342900" lvl="0" marL="457200" rtl="0" algn="l">
              <a:lnSpc>
                <a:spcPct val="150000"/>
              </a:lnSpc>
              <a:spcBef>
                <a:spcPts val="0"/>
              </a:spcBef>
              <a:spcAft>
                <a:spcPts val="0"/>
              </a:spcAft>
              <a:buSzPts val="1800"/>
              <a:buChar char="●"/>
            </a:pPr>
            <a:r>
              <a:rPr lang="el" sz="1800"/>
              <a:t>Predictions are not needed to be made available immediately</a:t>
            </a:r>
            <a:endParaRPr sz="1800"/>
          </a:p>
          <a:p>
            <a:pPr indent="-342900" lvl="0" marL="457200" rtl="0" algn="l">
              <a:lnSpc>
                <a:spcPct val="150000"/>
              </a:lnSpc>
              <a:spcBef>
                <a:spcPts val="0"/>
              </a:spcBef>
              <a:spcAft>
                <a:spcPts val="0"/>
              </a:spcAft>
              <a:buSzPts val="1800"/>
              <a:buChar char="●"/>
            </a:pPr>
            <a:r>
              <a:rPr lang="el" sz="1800"/>
              <a:t>Latency can be compromised</a:t>
            </a:r>
            <a:endParaRPr sz="1800"/>
          </a:p>
        </p:txBody>
      </p:sp>
      <p:sp>
        <p:nvSpPr>
          <p:cNvPr id="612" name="Google Shape;612;p85"/>
          <p:cNvSpPr txBox="1"/>
          <p:nvPr/>
        </p:nvSpPr>
        <p:spPr>
          <a:xfrm>
            <a:off x="3919750" y="2083050"/>
            <a:ext cx="1645800" cy="488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 sz="1800"/>
              <a:t>Throughput</a:t>
            </a:r>
            <a:endParaRPr b="1" sz="1800"/>
          </a:p>
          <a:p>
            <a:pPr indent="0" lvl="0" marL="0" rtl="0" algn="l">
              <a:spcBef>
                <a:spcPts val="0"/>
              </a:spcBef>
              <a:spcAft>
                <a:spcPts val="0"/>
              </a:spcAft>
              <a:buNone/>
            </a:pPr>
            <a:r>
              <a:t/>
            </a:r>
            <a:endParaRPr b="1" sz="1800"/>
          </a:p>
          <a:p>
            <a:pPr indent="0" lvl="0" marL="0" rtl="0" algn="l">
              <a:spcBef>
                <a:spcPts val="0"/>
              </a:spcBef>
              <a:spcAft>
                <a:spcPts val="0"/>
              </a:spcAft>
              <a:buNone/>
            </a:pPr>
            <a:r>
              <a:t/>
            </a:r>
            <a:endParaRPr b="1" sz="1800"/>
          </a:p>
          <a:p>
            <a:pPr indent="0" lvl="0" marL="0" rtl="0" algn="l">
              <a:spcBef>
                <a:spcPts val="0"/>
              </a:spcBef>
              <a:spcAft>
                <a:spcPts val="0"/>
              </a:spcAft>
              <a:buNone/>
            </a:pPr>
            <a:r>
              <a:t/>
            </a:r>
            <a:endParaRPr b="1" sz="1800"/>
          </a:p>
          <a:p>
            <a:pPr indent="0" lvl="0" marL="0" rtl="0" algn="l">
              <a:spcBef>
                <a:spcPts val="0"/>
              </a:spcBef>
              <a:spcAft>
                <a:spcPts val="0"/>
              </a:spcAft>
              <a:buNone/>
            </a:pPr>
            <a:r>
              <a:t/>
            </a:r>
            <a:endParaRPr b="1" sz="1800"/>
          </a:p>
          <a:p>
            <a:pPr indent="0" lvl="0" marL="0" rtl="0" algn="l">
              <a:spcBef>
                <a:spcPts val="0"/>
              </a:spcBef>
              <a:spcAft>
                <a:spcPts val="0"/>
              </a:spcAft>
              <a:buNone/>
            </a:pPr>
            <a:r>
              <a:t/>
            </a:r>
            <a:endParaRPr b="1" sz="1800"/>
          </a:p>
        </p:txBody>
      </p:sp>
      <p:sp>
        <p:nvSpPr>
          <p:cNvPr id="613" name="Google Shape;613;p85"/>
          <p:cNvSpPr/>
          <p:nvPr/>
        </p:nvSpPr>
        <p:spPr>
          <a:xfrm>
            <a:off x="2920250" y="1830000"/>
            <a:ext cx="808200" cy="994800"/>
          </a:xfrm>
          <a:prstGeom prst="up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8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How to increase Throughput</a:t>
            </a:r>
            <a:endParaRPr/>
          </a:p>
        </p:txBody>
      </p:sp>
      <p:sp>
        <p:nvSpPr>
          <p:cNvPr id="619" name="Google Shape;619;p86"/>
          <p:cNvSpPr txBox="1"/>
          <p:nvPr/>
        </p:nvSpPr>
        <p:spPr>
          <a:xfrm>
            <a:off x="442975" y="1358300"/>
            <a:ext cx="8334600" cy="34851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l" sz="1800"/>
              <a:t>The easiest way:</a:t>
            </a:r>
            <a:endParaRPr sz="1800"/>
          </a:p>
          <a:p>
            <a:pPr indent="0" lvl="0" marL="0" rtl="0" algn="l">
              <a:lnSpc>
                <a:spcPct val="150000"/>
              </a:lnSpc>
              <a:spcBef>
                <a:spcPts val="0"/>
              </a:spcBef>
              <a:spcAft>
                <a:spcPts val="0"/>
              </a:spcAft>
              <a:buNone/>
            </a:pPr>
            <a:r>
              <a:t/>
            </a:r>
            <a:endParaRPr sz="1800"/>
          </a:p>
          <a:p>
            <a:pPr indent="-342900" lvl="0" marL="457200" rtl="0" algn="l">
              <a:lnSpc>
                <a:spcPct val="150000"/>
              </a:lnSpc>
              <a:spcBef>
                <a:spcPts val="0"/>
              </a:spcBef>
              <a:spcAft>
                <a:spcPts val="0"/>
              </a:spcAft>
              <a:buSzPts val="1800"/>
              <a:buChar char="●"/>
            </a:pPr>
            <a:r>
              <a:rPr lang="el" sz="1800"/>
              <a:t>Use hardware accelerators like GPUs, TPUs</a:t>
            </a:r>
            <a:endParaRPr sz="1800"/>
          </a:p>
          <a:p>
            <a:pPr indent="-342900" lvl="0" marL="457200" rtl="0" algn="l">
              <a:lnSpc>
                <a:spcPct val="150000"/>
              </a:lnSpc>
              <a:spcBef>
                <a:spcPts val="0"/>
              </a:spcBef>
              <a:spcAft>
                <a:spcPts val="0"/>
              </a:spcAft>
              <a:buSzPts val="1800"/>
              <a:buChar char="●"/>
            </a:pPr>
            <a:r>
              <a:rPr lang="el" sz="1800"/>
              <a:t>Increase number of servers/workers</a:t>
            </a:r>
            <a:endParaRPr sz="1800"/>
          </a:p>
          <a:p>
            <a:pPr indent="-342900" lvl="1" marL="914400" rtl="0" algn="l">
              <a:lnSpc>
                <a:spcPct val="150000"/>
              </a:lnSpc>
              <a:spcBef>
                <a:spcPts val="0"/>
              </a:spcBef>
              <a:spcAft>
                <a:spcPts val="0"/>
              </a:spcAft>
              <a:buSzPts val="1800"/>
              <a:buChar char="○"/>
            </a:pPr>
            <a:r>
              <a:rPr lang="el" sz="1800"/>
              <a:t>Load several instances of the model on multiple workers</a:t>
            </a:r>
            <a:endParaRPr sz="1800"/>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8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Use Case: Product Recommendations</a:t>
            </a:r>
            <a:endParaRPr/>
          </a:p>
        </p:txBody>
      </p:sp>
      <p:sp>
        <p:nvSpPr>
          <p:cNvPr id="625" name="Google Shape;625;p87"/>
          <p:cNvSpPr txBox="1"/>
          <p:nvPr/>
        </p:nvSpPr>
        <p:spPr>
          <a:xfrm>
            <a:off x="4172400" y="1999550"/>
            <a:ext cx="4490400" cy="22398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Char char="●"/>
            </a:pPr>
            <a:r>
              <a:rPr lang="el" sz="1600"/>
              <a:t>E-commerce sites: new recommendations on a recurring schedule</a:t>
            </a:r>
            <a:endParaRPr sz="1600"/>
          </a:p>
          <a:p>
            <a:pPr indent="-330200" lvl="0" marL="457200" rtl="0" algn="l">
              <a:lnSpc>
                <a:spcPct val="115000"/>
              </a:lnSpc>
              <a:spcBef>
                <a:spcPts val="0"/>
              </a:spcBef>
              <a:spcAft>
                <a:spcPts val="0"/>
              </a:spcAft>
              <a:buSzPts val="1600"/>
              <a:buChar char="●"/>
            </a:pPr>
            <a:r>
              <a:rPr lang="el" sz="1600"/>
              <a:t>Cache these for easy retrieval </a:t>
            </a:r>
            <a:endParaRPr sz="1600"/>
          </a:p>
          <a:p>
            <a:pPr indent="-330200" lvl="0" marL="457200" rtl="0" algn="l">
              <a:lnSpc>
                <a:spcPct val="115000"/>
              </a:lnSpc>
              <a:spcBef>
                <a:spcPts val="0"/>
              </a:spcBef>
              <a:spcAft>
                <a:spcPts val="0"/>
              </a:spcAft>
              <a:buSzPts val="1600"/>
              <a:buChar char="●"/>
            </a:pPr>
            <a:r>
              <a:rPr lang="el" sz="1600"/>
              <a:t>Enables use of more predictors to train more complex models</a:t>
            </a:r>
            <a:endParaRPr sz="1600"/>
          </a:p>
          <a:p>
            <a:pPr indent="-330200" lvl="1" marL="914400" rtl="0" algn="l">
              <a:lnSpc>
                <a:spcPct val="115000"/>
              </a:lnSpc>
              <a:spcBef>
                <a:spcPts val="0"/>
              </a:spcBef>
              <a:spcAft>
                <a:spcPts val="0"/>
              </a:spcAft>
              <a:buSzPts val="1600"/>
              <a:buChar char="○"/>
            </a:pPr>
            <a:r>
              <a:rPr lang="el" sz="1600"/>
              <a:t>Helps personalization to a greater degree but with delayed data</a:t>
            </a:r>
            <a:endParaRPr sz="1600"/>
          </a:p>
        </p:txBody>
      </p:sp>
      <p:pic>
        <p:nvPicPr>
          <p:cNvPr id="626" name="Google Shape;626;p87"/>
          <p:cNvPicPr preferRelativeResize="0"/>
          <p:nvPr/>
        </p:nvPicPr>
        <p:blipFill>
          <a:blip r:embed="rId3">
            <a:alphaModFix/>
          </a:blip>
          <a:stretch>
            <a:fillRect/>
          </a:stretch>
        </p:blipFill>
        <p:spPr>
          <a:xfrm>
            <a:off x="574625" y="1406425"/>
            <a:ext cx="3410225" cy="3330175"/>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8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Use Case - Sentiment Analysis</a:t>
            </a:r>
            <a:endParaRPr/>
          </a:p>
        </p:txBody>
      </p:sp>
      <p:pic>
        <p:nvPicPr>
          <p:cNvPr id="632" name="Google Shape;632;p88"/>
          <p:cNvPicPr preferRelativeResize="0"/>
          <p:nvPr/>
        </p:nvPicPr>
        <p:blipFill>
          <a:blip r:embed="rId3">
            <a:alphaModFix/>
          </a:blip>
          <a:stretch>
            <a:fillRect/>
          </a:stretch>
        </p:blipFill>
        <p:spPr>
          <a:xfrm>
            <a:off x="113850" y="1912175"/>
            <a:ext cx="3926451" cy="1911950"/>
          </a:xfrm>
          <a:prstGeom prst="rect">
            <a:avLst/>
          </a:prstGeom>
          <a:noFill/>
          <a:ln>
            <a:noFill/>
          </a:ln>
        </p:spPr>
      </p:pic>
      <p:sp>
        <p:nvSpPr>
          <p:cNvPr id="633" name="Google Shape;633;p88"/>
          <p:cNvSpPr txBox="1"/>
          <p:nvPr/>
        </p:nvSpPr>
        <p:spPr>
          <a:xfrm>
            <a:off x="3931300" y="1679125"/>
            <a:ext cx="5176500" cy="25470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Char char="●"/>
            </a:pPr>
            <a:r>
              <a:rPr lang="el" sz="1600"/>
              <a:t>User sentiment based on costumer review</a:t>
            </a:r>
            <a:endParaRPr sz="1600"/>
          </a:p>
          <a:p>
            <a:pPr indent="-330200" lvl="0" marL="457200" rtl="0" algn="l">
              <a:lnSpc>
                <a:spcPct val="115000"/>
              </a:lnSpc>
              <a:spcBef>
                <a:spcPts val="0"/>
              </a:spcBef>
              <a:spcAft>
                <a:spcPts val="0"/>
              </a:spcAft>
              <a:buSzPts val="1600"/>
              <a:buChar char="●"/>
            </a:pPr>
            <a:r>
              <a:rPr lang="el" sz="1600"/>
              <a:t>Non need for realtime predictions for this problem</a:t>
            </a:r>
            <a:endParaRPr sz="1600"/>
          </a:p>
          <a:p>
            <a:pPr indent="-330200" lvl="0" marL="457200" rtl="0" algn="l">
              <a:lnSpc>
                <a:spcPct val="115000"/>
              </a:lnSpc>
              <a:spcBef>
                <a:spcPts val="0"/>
              </a:spcBef>
              <a:spcAft>
                <a:spcPts val="0"/>
              </a:spcAft>
              <a:buSzPts val="1600"/>
              <a:buChar char="●"/>
            </a:pPr>
            <a:r>
              <a:rPr lang="el" sz="1600"/>
              <a:t>Pretrained LLMs can be easily be used for this problem</a:t>
            </a:r>
            <a:endParaRPr sz="1600"/>
          </a:p>
          <a:p>
            <a:pPr indent="-330200" lvl="0" marL="457200" rtl="0" algn="l">
              <a:lnSpc>
                <a:spcPct val="115000"/>
              </a:lnSpc>
              <a:spcBef>
                <a:spcPts val="0"/>
              </a:spcBef>
              <a:spcAft>
                <a:spcPts val="0"/>
              </a:spcAft>
              <a:buSzPts val="1600"/>
              <a:buChar char="●"/>
            </a:pPr>
            <a:r>
              <a:rPr lang="el" sz="1600"/>
              <a:t>Complex models, but far more accurate than say LSTM</a:t>
            </a:r>
            <a:endParaRPr sz="1600"/>
          </a:p>
          <a:p>
            <a:pPr indent="-330200" lvl="0" marL="457200" rtl="0" algn="l">
              <a:lnSpc>
                <a:spcPct val="115000"/>
              </a:lnSpc>
              <a:spcBef>
                <a:spcPts val="0"/>
              </a:spcBef>
              <a:spcAft>
                <a:spcPts val="0"/>
              </a:spcAft>
              <a:buSzPts val="1600"/>
              <a:buChar char="●"/>
            </a:pPr>
            <a:r>
              <a:rPr lang="el" sz="1600"/>
              <a:t>Most cost-effective with batch prediction and caching</a:t>
            </a:r>
            <a:endParaRPr sz="1600"/>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8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Use Case: Demand Forecasting</a:t>
            </a:r>
            <a:endParaRPr/>
          </a:p>
        </p:txBody>
      </p:sp>
      <p:pic>
        <p:nvPicPr>
          <p:cNvPr id="639" name="Google Shape;639;p89"/>
          <p:cNvPicPr preferRelativeResize="0"/>
          <p:nvPr/>
        </p:nvPicPr>
        <p:blipFill>
          <a:blip r:embed="rId3">
            <a:alphaModFix/>
          </a:blip>
          <a:stretch>
            <a:fillRect/>
          </a:stretch>
        </p:blipFill>
        <p:spPr>
          <a:xfrm>
            <a:off x="311699" y="1562875"/>
            <a:ext cx="3121625" cy="3035500"/>
          </a:xfrm>
          <a:prstGeom prst="rect">
            <a:avLst/>
          </a:prstGeom>
          <a:noFill/>
          <a:ln>
            <a:noFill/>
          </a:ln>
        </p:spPr>
      </p:pic>
      <p:sp>
        <p:nvSpPr>
          <p:cNvPr id="640" name="Google Shape;640;p89"/>
          <p:cNvSpPr txBox="1"/>
          <p:nvPr/>
        </p:nvSpPr>
        <p:spPr>
          <a:xfrm>
            <a:off x="3382100" y="2198925"/>
            <a:ext cx="5704200" cy="17634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SzPts val="1600"/>
              <a:buChar char="●"/>
            </a:pPr>
            <a:r>
              <a:rPr lang="el" sz="1600"/>
              <a:t>Estimate the demand for products for inventory and ordering optimization</a:t>
            </a:r>
            <a:endParaRPr sz="1600"/>
          </a:p>
          <a:p>
            <a:pPr indent="-330200" lvl="0" marL="457200" rtl="0" algn="l">
              <a:lnSpc>
                <a:spcPct val="115000"/>
              </a:lnSpc>
              <a:spcBef>
                <a:spcPts val="0"/>
              </a:spcBef>
              <a:spcAft>
                <a:spcPts val="0"/>
              </a:spcAft>
              <a:buSzPts val="1600"/>
              <a:buChar char="●"/>
            </a:pPr>
            <a:r>
              <a:rPr lang="el" sz="1600"/>
              <a:t>Predict future based on historical data (time series data)</a:t>
            </a:r>
            <a:endParaRPr sz="1600"/>
          </a:p>
          <a:p>
            <a:pPr indent="-330200" lvl="0" marL="457200" rtl="0" algn="l">
              <a:lnSpc>
                <a:spcPct val="115000"/>
              </a:lnSpc>
              <a:spcBef>
                <a:spcPts val="0"/>
              </a:spcBef>
              <a:spcAft>
                <a:spcPts val="0"/>
              </a:spcAft>
              <a:buSzPts val="1600"/>
              <a:buChar char="●"/>
            </a:pPr>
            <a:r>
              <a:rPr lang="el" sz="1600"/>
              <a:t>Many models available as this is a batch predictions problem</a:t>
            </a:r>
            <a:endParaRPr sz="1600"/>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