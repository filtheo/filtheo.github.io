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sldSz cy="5143500" cx="9144000"/>
  <p:notesSz cx="6858000" cy="9144000"/>
  <p:embeddedFontLst>
    <p:embeddedFont>
      <p:font typeface="Ubuntu Mono"/>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45AE19-1236-4AD8-867F-5F50ACB620E5}">
  <a:tblStyle styleId="{AA45AE19-1236-4AD8-867F-5F50ACB620E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UbuntuMono-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UbuntuMono-italic.fntdata"/><Relationship Id="rId70" Type="http://schemas.openxmlformats.org/officeDocument/2006/relationships/font" Target="fonts/UbuntuMono-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UbuntuMono-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74373025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74373025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97055b15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97055b15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7055b152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7055b152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l"/>
              <a:t>We are going to talk about two of the most important tools in the toolset of a ML engineer!</a:t>
            </a:r>
            <a:endParaRPr/>
          </a:p>
          <a:p>
            <a:pPr indent="-298450" lvl="0" marL="457200" rtl="0" algn="l">
              <a:spcBef>
                <a:spcPts val="0"/>
              </a:spcBef>
              <a:spcAft>
                <a:spcPts val="0"/>
              </a:spcAft>
              <a:buSzPts val="1100"/>
              <a:buChar char="-"/>
            </a:pPr>
            <a:r>
              <a:rPr lang="el"/>
              <a:t>Docker and FastAPI</a:t>
            </a:r>
            <a:endParaRPr/>
          </a:p>
          <a:p>
            <a:pPr indent="-298450" lvl="0" marL="457200" rtl="0" algn="l">
              <a:spcBef>
                <a:spcPts val="0"/>
              </a:spcBef>
              <a:spcAft>
                <a:spcPts val="0"/>
              </a:spcAft>
              <a:buSzPts val="1100"/>
              <a:buChar char="-"/>
            </a:pPr>
            <a:r>
              <a:rPr lang="el"/>
              <a:t>These two are requested in almost every interview</a:t>
            </a:r>
            <a:endParaRPr/>
          </a:p>
          <a:p>
            <a:pPr indent="-298450" lvl="0" marL="457200" rtl="0" algn="l">
              <a:spcBef>
                <a:spcPts val="0"/>
              </a:spcBef>
              <a:spcAft>
                <a:spcPts val="0"/>
              </a:spcAft>
              <a:buSzPts val="1100"/>
              <a:buChar char="-"/>
            </a:pPr>
            <a:r>
              <a:rPr lang="el"/>
              <a:t>I will not go super technical. I want for you to understand how do they work </a:t>
            </a:r>
            <a:endParaRPr/>
          </a:p>
          <a:p>
            <a:pPr indent="-298450" lvl="0" marL="457200" rtl="0" algn="l">
              <a:spcBef>
                <a:spcPts val="0"/>
              </a:spcBef>
              <a:spcAft>
                <a:spcPts val="0"/>
              </a:spcAft>
              <a:buSzPts val="1100"/>
              <a:buChar char="-"/>
            </a:pPr>
            <a:r>
              <a:rPr lang="el"/>
              <a:t>In the second hour I will give you examples of how to use </a:t>
            </a:r>
            <a:r>
              <a:rPr lang="el"/>
              <a:t>them</a:t>
            </a:r>
            <a:endParaRPr/>
          </a:p>
          <a:p>
            <a:pPr indent="0" lvl="0" marL="45720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fbf73578d8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fbf73578d8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fbf73578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fbf73578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fbf73578d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fbf73578d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One drive or google drive for files. But what about code?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fbf73578d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fbf73578d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fbf73578d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fbf73578d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fbf73578d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fbf73578d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fbf73578d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fbf73578d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fbf73578d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fbf73578d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fbf73578d8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fbf73578d8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fbf73578d8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fbf73578d8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fbf73578d8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fbf73578d8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fbf73578d8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fbf73578d8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fbf73578d8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2fbf73578d8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fbf73578d8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fbf73578d8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fbf73578d8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2fbf73578d8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fbf73578d8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2fbf73578d8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2fbf73578d8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2fbf73578d8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fbf73578d8_0_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2fbf73578d8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fbf73578d8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2fbf73578d8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fbf73578d8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2fbf73578d8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fbf73578d8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fbf73578d8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fbf73578d8_0_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fbf73578d8_0_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2fbf73578d8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2fbf73578d8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fbf73578d8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fbf73578d8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2fbf73578d8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2fbf73578d8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fbf73578d8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fbf73578d8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2968c83164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2968c83164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first understand why are these super important.</a:t>
            </a:r>
            <a:endParaRPr/>
          </a:p>
          <a:p>
            <a:pPr indent="0" lvl="0" marL="0" rtl="0" algn="l">
              <a:spcBef>
                <a:spcPts val="0"/>
              </a:spcBef>
              <a:spcAft>
                <a:spcPts val="0"/>
              </a:spcAft>
              <a:buNone/>
            </a:pPr>
            <a:r>
              <a:rPr lang="el"/>
              <a:t>As we said multiple times an ML circle is repeated several times!</a:t>
            </a:r>
            <a:endParaRPr/>
          </a:p>
          <a:p>
            <a:pPr indent="-298450" lvl="0" marL="457200" rtl="0" algn="l">
              <a:spcBef>
                <a:spcPts val="0"/>
              </a:spcBef>
              <a:spcAft>
                <a:spcPts val="0"/>
              </a:spcAft>
              <a:buSzPts val="1100"/>
              <a:buChar char="-"/>
            </a:pPr>
            <a:r>
              <a:rPr lang="el"/>
              <a:t>Very small changes can make significant difference!</a:t>
            </a:r>
            <a:endParaRPr/>
          </a:p>
          <a:p>
            <a:pPr indent="-298450" lvl="0" marL="457200" rtl="0" algn="l">
              <a:spcBef>
                <a:spcPts val="0"/>
              </a:spcBef>
              <a:spcAft>
                <a:spcPts val="0"/>
              </a:spcAft>
              <a:buSzPts val="1100"/>
              <a:buChar char="-"/>
            </a:pPr>
            <a:r>
              <a:rPr lang="el"/>
              <a:t>As we </a:t>
            </a:r>
            <a:r>
              <a:rPr lang="el"/>
              <a:t>have mentioned we need to ensure rporducibilitY</a:t>
            </a:r>
            <a:endParaRPr/>
          </a:p>
          <a:p>
            <a:pPr indent="0" lvl="0" marL="0" rtl="0" algn="l">
              <a:spcBef>
                <a:spcPts val="0"/>
              </a:spcBef>
              <a:spcAft>
                <a:spcPts val="0"/>
              </a:spcAft>
              <a:buNone/>
            </a:pPr>
            <a:r>
              <a:rPr lang="el"/>
              <a:t>Why?</a:t>
            </a:r>
            <a:endParaRPr/>
          </a:p>
          <a:p>
            <a:pPr indent="0" lvl="0" marL="0" rtl="0" algn="l">
              <a:spcBef>
                <a:spcPts val="0"/>
              </a:spcBef>
              <a:spcAft>
                <a:spcPts val="0"/>
              </a:spcAft>
              <a:buNone/>
            </a:pPr>
            <a:r>
              <a:rPr lang="el"/>
              <a:t>(read why one by one)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968c8316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968c83164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the question becomes. How do we solve reproducibility?</a:t>
            </a:r>
            <a:endParaRPr/>
          </a:p>
          <a:p>
            <a:pPr indent="0" lvl="0" marL="0" rtl="0" algn="l">
              <a:spcBef>
                <a:spcPts val="0"/>
              </a:spcBef>
              <a:spcAft>
                <a:spcPts val="0"/>
              </a:spcAft>
              <a:buNone/>
            </a:pPr>
            <a:r>
              <a:rPr lang="el"/>
              <a:t>The first and most widely applied solution out there is Virtual Machines. </a:t>
            </a:r>
            <a:endParaRPr/>
          </a:p>
          <a:p>
            <a:pPr indent="-298450" lvl="0" marL="457200" rtl="0" algn="l">
              <a:spcBef>
                <a:spcPts val="0"/>
              </a:spcBef>
              <a:spcAft>
                <a:spcPts val="0"/>
              </a:spcAft>
              <a:buSzPts val="1100"/>
              <a:buChar char="-"/>
            </a:pPr>
            <a:r>
              <a:rPr lang="el"/>
              <a:t>You can picture them as isolated operating system inside the same computer, the same hardware</a:t>
            </a:r>
            <a:endParaRPr/>
          </a:p>
          <a:p>
            <a:pPr indent="-298450" lvl="0" marL="457200" rtl="0" algn="l">
              <a:spcBef>
                <a:spcPts val="0"/>
              </a:spcBef>
              <a:spcAft>
                <a:spcPts val="0"/>
              </a:spcAft>
              <a:buSzPts val="1100"/>
              <a:buChar char="-"/>
            </a:pPr>
            <a:r>
              <a:rPr lang="el"/>
              <a:t>Many computers, within your own computer with their own programms and operation systems.</a:t>
            </a:r>
            <a:endParaRPr/>
          </a:p>
          <a:p>
            <a:pPr indent="-298450" lvl="0" marL="457200" rtl="0" algn="l">
              <a:spcBef>
                <a:spcPts val="0"/>
              </a:spcBef>
              <a:spcAft>
                <a:spcPts val="0"/>
              </a:spcAft>
              <a:buSzPts val="1100"/>
              <a:buChar char="-"/>
            </a:pPr>
            <a:r>
              <a:rPr lang="el"/>
              <a:t>So in order to run the same </a:t>
            </a:r>
            <a:r>
              <a:rPr lang="el"/>
              <a:t>application</a:t>
            </a:r>
            <a:r>
              <a:rPr lang="el"/>
              <a:t> you re-initialized one of these virtual machines</a:t>
            </a:r>
            <a:endParaRPr/>
          </a:p>
          <a:p>
            <a:pPr indent="0" lvl="0" marL="0" rtl="0" algn="l">
              <a:spcBef>
                <a:spcPts val="0"/>
              </a:spcBef>
              <a:spcAft>
                <a:spcPts val="0"/>
              </a:spcAft>
              <a:buNone/>
            </a:pPr>
            <a:r>
              <a:rPr lang="el"/>
              <a:t>The limitations?</a:t>
            </a:r>
            <a:endParaRPr/>
          </a:p>
          <a:p>
            <a:pPr indent="-298450" lvl="0" marL="457200" rtl="0" algn="l">
              <a:spcBef>
                <a:spcPts val="0"/>
              </a:spcBef>
              <a:spcAft>
                <a:spcPts val="0"/>
              </a:spcAft>
              <a:buSzPts val="1100"/>
              <a:buChar char="-"/>
            </a:pPr>
            <a:r>
              <a:rPr lang="el"/>
              <a:t>Many limitations (read them)</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968c83164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968c83164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these limitations lead us to </a:t>
            </a:r>
            <a:r>
              <a:rPr lang="el"/>
              <a:t>containerization</a:t>
            </a:r>
            <a:endParaRPr/>
          </a:p>
          <a:p>
            <a:pPr indent="0" lvl="0" marL="0" rtl="0" algn="l">
              <a:spcBef>
                <a:spcPts val="0"/>
              </a:spcBef>
              <a:spcAft>
                <a:spcPts val="0"/>
              </a:spcAft>
              <a:buNone/>
            </a:pPr>
            <a:r>
              <a:rPr lang="el"/>
              <a:t>you can picture it as a way to package applications with everything they need (dependencies, configurations etc) and then ship them to another computer or the cloud</a:t>
            </a:r>
            <a:endParaRPr/>
          </a:p>
          <a:p>
            <a:pPr indent="-298450" lvl="0" marL="457200" rtl="0" algn="l">
              <a:spcBef>
                <a:spcPts val="0"/>
              </a:spcBef>
              <a:spcAft>
                <a:spcPts val="0"/>
              </a:spcAft>
              <a:buSzPts val="1100"/>
              <a:buChar char="-"/>
            </a:pPr>
            <a:r>
              <a:rPr lang="el"/>
              <a:t>you can see in the picture within one enterprise we have many containers</a:t>
            </a:r>
            <a:endParaRPr/>
          </a:p>
          <a:p>
            <a:pPr indent="-298450" lvl="0" marL="457200" rtl="0" algn="l">
              <a:spcBef>
                <a:spcPts val="0"/>
              </a:spcBef>
              <a:spcAft>
                <a:spcPts val="0"/>
              </a:spcAft>
              <a:buSzPts val="1100"/>
              <a:buChar char="-"/>
            </a:pPr>
            <a:r>
              <a:rPr lang="el"/>
              <a:t>One container for the model, the other for another model, another for data</a:t>
            </a:r>
            <a:endParaRPr/>
          </a:p>
          <a:p>
            <a:pPr indent="-298450" lvl="0" marL="457200" rtl="0" algn="l">
              <a:spcBef>
                <a:spcPts val="0"/>
              </a:spcBef>
              <a:spcAft>
                <a:spcPts val="0"/>
              </a:spcAft>
              <a:buSzPts val="1100"/>
              <a:buChar char="-"/>
            </a:pPr>
            <a:r>
              <a:rPr lang="el"/>
              <a:t>Each application has its own container and is being shipped to another user</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2968c83164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2968c83164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why containers!</a:t>
            </a:r>
            <a:endParaRPr/>
          </a:p>
          <a:p>
            <a:pPr indent="0" lvl="0" marL="0" rtl="0" algn="l">
              <a:spcBef>
                <a:spcPts val="0"/>
              </a:spcBef>
              <a:spcAft>
                <a:spcPts val="0"/>
              </a:spcAft>
              <a:buNone/>
            </a:pPr>
            <a:r>
              <a:rPr lang="el"/>
              <a:t>Lets discuss their advantages over Virtual Machines</a:t>
            </a:r>
            <a:endParaRPr/>
          </a:p>
          <a:p>
            <a:pPr indent="-298450" lvl="0" marL="457200" rtl="0" algn="l">
              <a:spcBef>
                <a:spcPts val="0"/>
              </a:spcBef>
              <a:spcAft>
                <a:spcPts val="0"/>
              </a:spcAft>
              <a:buSzPts val="1100"/>
              <a:buChar char="-"/>
            </a:pPr>
            <a:r>
              <a:rPr lang="el"/>
              <a:t>First of all they are portable. You dont need to have the same computer. You can move them around any teams or environments. Thats a big plus</a:t>
            </a:r>
            <a:endParaRPr/>
          </a:p>
          <a:p>
            <a:pPr indent="-298450" lvl="0" marL="457200" rtl="0" algn="l">
              <a:spcBef>
                <a:spcPts val="0"/>
              </a:spcBef>
              <a:spcAft>
                <a:spcPts val="0"/>
              </a:spcAft>
              <a:buSzPts val="1100"/>
              <a:buChar char="-"/>
            </a:pPr>
            <a:r>
              <a:rPr lang="el"/>
              <a:t>Next they dont need to work with their host computer. You can use them anywhere on any computer. That relaxes the dependencies for high resource usage!</a:t>
            </a:r>
            <a:endParaRPr/>
          </a:p>
          <a:p>
            <a:pPr indent="-298450" lvl="0" marL="457200" rtl="0" algn="l">
              <a:spcBef>
                <a:spcPts val="0"/>
              </a:spcBef>
              <a:spcAft>
                <a:spcPts val="0"/>
              </a:spcAft>
              <a:buSzPts val="1100"/>
              <a:buChar char="-"/>
            </a:pPr>
            <a:r>
              <a:rPr lang="el"/>
              <a:t>They are much lighter than VM. You can have many open at the same time. For example a developer friend of mine works with 12 containers open!</a:t>
            </a:r>
            <a:endParaRPr/>
          </a:p>
          <a:p>
            <a:pPr indent="-298450" lvl="0" marL="457200" rtl="0" algn="l">
              <a:spcBef>
                <a:spcPts val="0"/>
              </a:spcBef>
              <a:spcAft>
                <a:spcPts val="0"/>
              </a:spcAft>
              <a:buSzPts val="1100"/>
              <a:buChar char="-"/>
            </a:pPr>
            <a:r>
              <a:rPr lang="el"/>
              <a:t>Lastly they are resilient which is very important. you are not losing them and you can easily scale them!</a:t>
            </a:r>
            <a:endParaRPr/>
          </a:p>
          <a:p>
            <a:pPr indent="0" lvl="0" marL="0" rtl="0" algn="l">
              <a:spcBef>
                <a:spcPts val="0"/>
              </a:spcBef>
              <a:spcAft>
                <a:spcPts val="0"/>
              </a:spcAft>
              <a:buNone/>
            </a:pPr>
            <a:r>
              <a:rPr lang="el"/>
              <a:t>These are very key advantages over VMs and its why containers are the go-to for reproducibility!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968c83164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968c83164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enter Docker.</a:t>
            </a:r>
            <a:endParaRPr/>
          </a:p>
          <a:p>
            <a:pPr indent="0" lvl="0" marL="0" rtl="0" algn="l">
              <a:spcBef>
                <a:spcPts val="0"/>
              </a:spcBef>
              <a:spcAft>
                <a:spcPts val="0"/>
              </a:spcAft>
              <a:buNone/>
            </a:pPr>
            <a:r>
              <a:rPr lang="el"/>
              <a:t>So Docker is what runs containers. Is an open platform for developing, shipping and running the applications.</a:t>
            </a:r>
            <a:endParaRPr/>
          </a:p>
          <a:p>
            <a:pPr indent="0" lvl="0" marL="0" rtl="0" algn="l">
              <a:spcBef>
                <a:spcPts val="0"/>
              </a:spcBef>
              <a:spcAft>
                <a:spcPts val="0"/>
              </a:spcAft>
              <a:buNone/>
            </a:pPr>
            <a:r>
              <a:rPr lang="el"/>
              <a:t>Everything is taking place within Docker.</a:t>
            </a:r>
            <a:endParaRPr/>
          </a:p>
          <a:p>
            <a:pPr indent="0" lvl="0" marL="0" rtl="0" algn="l">
              <a:spcBef>
                <a:spcPts val="0"/>
              </a:spcBef>
              <a:spcAft>
                <a:spcPts val="0"/>
              </a:spcAft>
              <a:buNone/>
            </a:pPr>
            <a:r>
              <a:rPr lang="el"/>
              <a:t>If I could define it in a sentence: (read it)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2968c83164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2968c83164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These are the main </a:t>
            </a:r>
            <a:r>
              <a:rPr lang="el"/>
              <a:t>components</a:t>
            </a:r>
            <a:r>
              <a:rPr lang="el"/>
              <a:t> of Docker.</a:t>
            </a:r>
            <a:endParaRPr/>
          </a:p>
          <a:p>
            <a:pPr indent="0" lvl="0" marL="0" rtl="0" algn="l">
              <a:spcBef>
                <a:spcPts val="0"/>
              </a:spcBef>
              <a:spcAft>
                <a:spcPts val="0"/>
              </a:spcAft>
              <a:buNone/>
            </a:pPr>
            <a:r>
              <a:rPr lang="el"/>
              <a:t>Lets take them step by step</a:t>
            </a:r>
            <a:endParaRPr/>
          </a:p>
          <a:p>
            <a:pPr indent="-298450" lvl="0" marL="457200" rtl="0" algn="l">
              <a:spcBef>
                <a:spcPts val="0"/>
              </a:spcBef>
              <a:spcAft>
                <a:spcPts val="0"/>
              </a:spcAft>
              <a:buSzPts val="1100"/>
              <a:buChar char="-"/>
            </a:pPr>
            <a:r>
              <a:rPr lang="el"/>
              <a:t>First we have a Dockerfile. Its how we </a:t>
            </a:r>
            <a:r>
              <a:rPr lang="el"/>
              <a:t>communicate</a:t>
            </a:r>
            <a:r>
              <a:rPr lang="el"/>
              <a:t> with Docker. How we explain to it what we need for our application. We will see how to write them later. You can imagine it as the script to run Docker</a:t>
            </a:r>
            <a:endParaRPr/>
          </a:p>
          <a:p>
            <a:pPr indent="-298450" lvl="0" marL="457200" rtl="0" algn="l">
              <a:spcBef>
                <a:spcPts val="0"/>
              </a:spcBef>
              <a:spcAft>
                <a:spcPts val="0"/>
              </a:spcAft>
              <a:buSzPts val="1100"/>
              <a:buChar char="-"/>
            </a:pPr>
            <a:r>
              <a:rPr lang="el"/>
              <a:t>Next we have Docker images. An image is just a screenshot of the Dockerfile. Its the blueprin of what we want to build. So docker takes a dockerfile and we make an image out of it. Its </a:t>
            </a:r>
            <a:r>
              <a:rPr lang="el"/>
              <a:t>what</a:t>
            </a:r>
            <a:r>
              <a:rPr lang="el"/>
              <a:t> is kept saved for our application</a:t>
            </a:r>
            <a:endParaRPr/>
          </a:p>
          <a:p>
            <a:pPr indent="-298450" lvl="0" marL="457200" rtl="0" algn="l">
              <a:spcBef>
                <a:spcPts val="0"/>
              </a:spcBef>
              <a:spcAft>
                <a:spcPts val="0"/>
              </a:spcAft>
              <a:buSzPts val="1100"/>
              <a:buChar char="-"/>
            </a:pPr>
            <a:r>
              <a:rPr lang="el"/>
              <a:t>Finaly we have the container. Every time we run the image we get a container that has everything written in the dockerfile and is printed in the Docker Image</a:t>
            </a:r>
            <a:endParaRPr/>
          </a:p>
          <a:p>
            <a:pPr indent="0" lvl="0" marL="0" rtl="0" algn="l">
              <a:spcBef>
                <a:spcPts val="0"/>
              </a:spcBef>
              <a:spcAft>
                <a:spcPts val="0"/>
              </a:spcAft>
              <a:buNone/>
            </a:pPr>
            <a:r>
              <a:rPr lang="el"/>
              <a:t>So the flow is, write the Dockerfile, build an image that is a screenshot of the dockerfile and then run a specialized Container.</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2968c83164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2968c83164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quickly now go through the architecture of docker. </a:t>
            </a:r>
            <a:endParaRPr/>
          </a:p>
          <a:p>
            <a:pPr indent="0" lvl="0" marL="0" rtl="0" algn="l">
              <a:spcBef>
                <a:spcPts val="0"/>
              </a:spcBef>
              <a:spcAft>
                <a:spcPts val="0"/>
              </a:spcAft>
              <a:buNone/>
            </a:pPr>
            <a:r>
              <a:rPr lang="el"/>
              <a:t>Say we have some </a:t>
            </a:r>
            <a:r>
              <a:rPr lang="el"/>
              <a:t>infrastructure</a:t>
            </a:r>
            <a:r>
              <a:rPr lang="el"/>
              <a:t>, it can be a computer, a Cloud instance, anything.</a:t>
            </a:r>
            <a:endParaRPr/>
          </a:p>
          <a:p>
            <a:pPr indent="-298450" lvl="0" marL="457200" rtl="0" algn="l">
              <a:spcBef>
                <a:spcPts val="0"/>
              </a:spcBef>
              <a:spcAft>
                <a:spcPts val="0"/>
              </a:spcAft>
              <a:buSzPts val="1100"/>
              <a:buChar char="-"/>
            </a:pPr>
            <a:r>
              <a:rPr lang="el"/>
              <a:t>On top of our Infrasturcture we have an Operation System, say Linux, Windows anything.</a:t>
            </a:r>
            <a:endParaRPr/>
          </a:p>
          <a:p>
            <a:pPr indent="-298450" lvl="0" marL="457200" rtl="0" algn="l">
              <a:spcBef>
                <a:spcPts val="0"/>
              </a:spcBef>
              <a:spcAft>
                <a:spcPts val="0"/>
              </a:spcAft>
              <a:buSzPts val="1100"/>
              <a:buChar char="-"/>
            </a:pPr>
            <a:r>
              <a:rPr lang="el"/>
              <a:t>Then we have a Container engine. In our case Docker!</a:t>
            </a:r>
            <a:endParaRPr/>
          </a:p>
          <a:p>
            <a:pPr indent="-298450" lvl="0" marL="457200" rtl="0" algn="l">
              <a:spcBef>
                <a:spcPts val="0"/>
              </a:spcBef>
              <a:spcAft>
                <a:spcPts val="0"/>
              </a:spcAft>
              <a:buSzPts val="1100"/>
              <a:buChar char="-"/>
            </a:pPr>
            <a:r>
              <a:rPr lang="el"/>
              <a:t>Within Docker we can run as many applications as we want.</a:t>
            </a:r>
            <a:endParaRPr/>
          </a:p>
          <a:p>
            <a:pPr indent="-298450" lvl="0" marL="457200" rtl="0" algn="l">
              <a:spcBef>
                <a:spcPts val="0"/>
              </a:spcBef>
              <a:spcAft>
                <a:spcPts val="0"/>
              </a:spcAft>
              <a:buSzPts val="1100"/>
              <a:buChar char="-"/>
            </a:pPr>
            <a:r>
              <a:rPr lang="el"/>
              <a:t>We can have an application on a container for the frontend, another for the backend etc!</a:t>
            </a:r>
            <a:endParaRPr/>
          </a:p>
          <a:p>
            <a:pPr indent="0" lvl="0" marL="0" rtl="0" algn="l">
              <a:spcBef>
                <a:spcPts val="0"/>
              </a:spcBef>
              <a:spcAft>
                <a:spcPts val="0"/>
              </a:spcAft>
              <a:buNone/>
            </a:pPr>
            <a:r>
              <a:rPr lang="el"/>
              <a:t>This is a general overview of Docker’s architecture!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97055b152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97055b152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lets compare it with VMs.</a:t>
            </a:r>
            <a:endParaRPr/>
          </a:p>
          <a:p>
            <a:pPr indent="-298450" lvl="0" marL="457200" rtl="0" algn="l">
              <a:spcBef>
                <a:spcPts val="0"/>
              </a:spcBef>
              <a:spcAft>
                <a:spcPts val="0"/>
              </a:spcAft>
              <a:buSzPts val="1100"/>
              <a:buChar char="-"/>
            </a:pPr>
            <a:r>
              <a:rPr lang="el"/>
              <a:t>The key difference is that containers share the same host OS. that makes them super lightweight</a:t>
            </a:r>
            <a:endParaRPr/>
          </a:p>
          <a:p>
            <a:pPr indent="-298450" lvl="0" marL="457200" rtl="0" algn="l">
              <a:spcBef>
                <a:spcPts val="0"/>
              </a:spcBef>
              <a:spcAft>
                <a:spcPts val="0"/>
              </a:spcAft>
              <a:buSzPts val="1100"/>
              <a:buChar char="-"/>
            </a:pPr>
            <a:r>
              <a:rPr lang="el"/>
              <a:t>On the other hand VMs require their OS to run which makes them heavier and as aresult take longer to start, have more memory etc.</a:t>
            </a:r>
            <a:endParaRPr/>
          </a:p>
          <a:p>
            <a:pPr indent="-298450" lvl="0" marL="457200" rtl="0" algn="l">
              <a:spcBef>
                <a:spcPts val="0"/>
              </a:spcBef>
              <a:spcAft>
                <a:spcPts val="0"/>
              </a:spcAft>
              <a:buSzPts val="1100"/>
              <a:buChar char="-"/>
            </a:pPr>
            <a:r>
              <a:rPr lang="el"/>
              <a:t>So With Docker because you can share the OS, you save much more memory and as a results you can run many instances much much faster!</a:t>
            </a:r>
            <a:endParaRPr/>
          </a:p>
          <a:p>
            <a:pPr indent="0" lvl="0" marL="0" rtl="0" algn="l">
              <a:spcBef>
                <a:spcPts val="0"/>
              </a:spcBef>
              <a:spcAft>
                <a:spcPts val="0"/>
              </a:spcAft>
              <a:buNone/>
            </a:pPr>
            <a:r>
              <a:rPr lang="el"/>
              <a:t>Everything clear so far?</a:t>
            </a:r>
            <a:endParaRPr/>
          </a:p>
          <a:p>
            <a:pPr indent="0" lvl="0" marL="0" rtl="0" algn="l">
              <a:spcBef>
                <a:spcPts val="0"/>
              </a:spcBef>
              <a:spcAft>
                <a:spcPts val="0"/>
              </a:spcAft>
              <a:buNone/>
            </a:pPr>
            <a:r>
              <a:rPr lang="el"/>
              <a:t>Any questions now?</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762a68752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762a68752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just follow the lines here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97055b152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97055b152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see how we can run docker now.</a:t>
            </a:r>
            <a:endParaRPr/>
          </a:p>
          <a:p>
            <a:pPr indent="0" lvl="0" marL="0" rtl="0" algn="l">
              <a:spcBef>
                <a:spcPts val="0"/>
              </a:spcBef>
              <a:spcAft>
                <a:spcPts val="0"/>
              </a:spcAft>
              <a:buNone/>
            </a:pPr>
            <a:r>
              <a:rPr lang="el"/>
              <a:t>Say you have dockerized a simple application that does some mathematical application between two numbers, say 5 and 10.</a:t>
            </a:r>
            <a:endParaRPr/>
          </a:p>
          <a:p>
            <a:pPr indent="0" lvl="0" marL="0" rtl="0" algn="l">
              <a:spcBef>
                <a:spcPts val="0"/>
              </a:spcBef>
              <a:spcAft>
                <a:spcPts val="0"/>
              </a:spcAft>
              <a:buNone/>
            </a:pPr>
            <a:r>
              <a:rPr lang="el"/>
              <a:t>When you have compiled the image (from the Dockerfile) you can simply run a container on your laptop.</a:t>
            </a:r>
            <a:endParaRPr/>
          </a:p>
          <a:p>
            <a:pPr indent="0" lvl="0" marL="0" rtl="0" algn="l">
              <a:spcBef>
                <a:spcPts val="0"/>
              </a:spcBef>
              <a:spcAft>
                <a:spcPts val="0"/>
              </a:spcAft>
              <a:buNone/>
            </a:pPr>
            <a:r>
              <a:rPr lang="el"/>
              <a:t>You simply click docker run and the name of the application!</a:t>
            </a:r>
            <a:endParaRPr/>
          </a:p>
          <a:p>
            <a:pPr indent="0" lvl="0" marL="0" rtl="0" algn="l">
              <a:spcBef>
                <a:spcPts val="0"/>
              </a:spcBef>
              <a:spcAft>
                <a:spcPts val="0"/>
              </a:spcAft>
              <a:buNone/>
            </a:pPr>
            <a:r>
              <a:rPr lang="el"/>
              <a:t>And thats it! </a:t>
            </a:r>
            <a:endParaRPr/>
          </a:p>
          <a:p>
            <a:pPr indent="0" lvl="0" marL="0" rtl="0" algn="l">
              <a:spcBef>
                <a:spcPts val="0"/>
              </a:spcBef>
              <a:spcAft>
                <a:spcPts val="0"/>
              </a:spcAft>
              <a:buNone/>
            </a:pPr>
            <a:r>
              <a:rPr lang="el"/>
              <a:t>Pretty </a:t>
            </a:r>
            <a:r>
              <a:rPr lang="el"/>
              <a:t>straightforward</a:t>
            </a:r>
            <a:r>
              <a:rPr lang="el"/>
              <a:t> pretty easy!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g2968c83164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9" name="Google Shape;929;g2968c83164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Now lets build an </a:t>
            </a:r>
            <a:r>
              <a:rPr lang="el"/>
              <a:t>image together.</a:t>
            </a:r>
            <a:endParaRPr/>
          </a:p>
          <a:p>
            <a:pPr indent="0" lvl="0" marL="0" rtl="0" algn="l">
              <a:spcBef>
                <a:spcPts val="0"/>
              </a:spcBef>
              <a:spcAft>
                <a:spcPts val="0"/>
              </a:spcAft>
              <a:buNone/>
            </a:pPr>
            <a:r>
              <a:rPr lang="el"/>
              <a:t>Remember, we have a Dockerfile, we build an image and from that image people can make containers of our application.</a:t>
            </a:r>
            <a:endParaRPr/>
          </a:p>
          <a:p>
            <a:pPr indent="0" lvl="0" marL="0" rtl="0" algn="l">
              <a:spcBef>
                <a:spcPts val="0"/>
              </a:spcBef>
              <a:spcAft>
                <a:spcPts val="0"/>
              </a:spcAft>
              <a:buNone/>
            </a:pPr>
            <a:r>
              <a:rPr lang="el"/>
              <a:t>Lets see how we make the Dockerfile</a:t>
            </a:r>
            <a:endParaRPr/>
          </a:p>
          <a:p>
            <a:pPr indent="0" lvl="0" marL="0" rtl="0" algn="l">
              <a:spcBef>
                <a:spcPts val="0"/>
              </a:spcBef>
              <a:spcAft>
                <a:spcPts val="0"/>
              </a:spcAft>
              <a:buNone/>
            </a:pPr>
            <a:r>
              <a:rPr lang="el"/>
              <a:t>Say we have build an application that just prints hello_world. </a:t>
            </a:r>
            <a:endParaRPr/>
          </a:p>
          <a:p>
            <a:pPr indent="-298450" lvl="0" marL="457200" rtl="0" algn="l">
              <a:spcBef>
                <a:spcPts val="0"/>
              </a:spcBef>
              <a:spcAft>
                <a:spcPts val="0"/>
              </a:spcAft>
              <a:buSzPts val="1100"/>
              <a:buChar char="-"/>
            </a:pPr>
            <a:r>
              <a:rPr lang="el"/>
              <a:t>We have written it and compiled a simple .py file </a:t>
            </a:r>
            <a:endParaRPr/>
          </a:p>
          <a:p>
            <a:pPr indent="-298450" lvl="0" marL="457200" rtl="0" algn="l">
              <a:spcBef>
                <a:spcPts val="0"/>
              </a:spcBef>
              <a:spcAft>
                <a:spcPts val="0"/>
              </a:spcAft>
              <a:buSzPts val="1100"/>
              <a:buChar char="-"/>
            </a:pPr>
            <a:r>
              <a:rPr lang="el"/>
              <a:t>The next thing is to create the requirements we need to run the application</a:t>
            </a:r>
            <a:endParaRPr/>
          </a:p>
          <a:p>
            <a:pPr indent="-298450" lvl="0" marL="457200" rtl="0" algn="l">
              <a:spcBef>
                <a:spcPts val="0"/>
              </a:spcBef>
              <a:spcAft>
                <a:spcPts val="0"/>
              </a:spcAft>
              <a:buSzPts val="1100"/>
              <a:buChar char="-"/>
            </a:pPr>
            <a:r>
              <a:rPr lang="el"/>
              <a:t>you go on terminal and write the pip freeze &gt; requirements.txt that takes all the libraries we have installed on our virtual environment and send it to the txt file</a:t>
            </a:r>
            <a:endParaRPr/>
          </a:p>
          <a:p>
            <a:pPr indent="-298450" lvl="0" marL="457200" rtl="0" algn="l">
              <a:spcBef>
                <a:spcPts val="0"/>
              </a:spcBef>
              <a:spcAft>
                <a:spcPts val="0"/>
              </a:spcAft>
              <a:buSzPts val="1100"/>
              <a:buChar char="-"/>
            </a:pPr>
            <a:r>
              <a:rPr lang="el"/>
              <a:t>This is what the txt file will look like</a:t>
            </a:r>
            <a:endParaRPr/>
          </a:p>
          <a:p>
            <a:pPr indent="-298450" lvl="0" marL="457200" rtl="0" algn="l">
              <a:spcBef>
                <a:spcPts val="0"/>
              </a:spcBef>
              <a:spcAft>
                <a:spcPts val="0"/>
              </a:spcAft>
              <a:buSzPts val="1100"/>
              <a:buChar char="-"/>
            </a:pPr>
            <a:r>
              <a:rPr lang="el"/>
              <a:t>Each library with each specific version</a:t>
            </a:r>
            <a:endParaRPr/>
          </a:p>
          <a:p>
            <a:pPr indent="-298450" lvl="0" marL="457200" rtl="0" algn="l">
              <a:spcBef>
                <a:spcPts val="0"/>
              </a:spcBef>
              <a:spcAft>
                <a:spcPts val="0"/>
              </a:spcAft>
              <a:buSzPts val="1100"/>
              <a:buChar char="-"/>
            </a:pPr>
            <a:r>
              <a:rPr lang="el"/>
              <a:t>Carefull, versions are very important for python and can cause many conflicts so we have to define them very carefuly!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297055b152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297055b152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After having build the requirements we go and build our dockerfile.</a:t>
            </a:r>
            <a:endParaRPr/>
          </a:p>
          <a:p>
            <a:pPr indent="0" lvl="0" marL="0" rtl="0" algn="l">
              <a:spcBef>
                <a:spcPts val="0"/>
              </a:spcBef>
              <a:spcAft>
                <a:spcPts val="0"/>
              </a:spcAft>
              <a:buNone/>
            </a:pPr>
            <a:r>
              <a:rPr lang="el"/>
              <a:t>Its very important to remember that a Dockerfile is </a:t>
            </a:r>
            <a:r>
              <a:rPr lang="el"/>
              <a:t>usually</a:t>
            </a:r>
            <a:r>
              <a:rPr lang="el"/>
              <a:t> the end artifact of a ML engineer. </a:t>
            </a:r>
            <a:endParaRPr/>
          </a:p>
          <a:p>
            <a:pPr indent="0" lvl="0" marL="0" rtl="0" algn="l">
              <a:spcBef>
                <a:spcPts val="0"/>
              </a:spcBef>
              <a:spcAft>
                <a:spcPts val="0"/>
              </a:spcAft>
              <a:buNone/>
            </a:pPr>
            <a:r>
              <a:rPr lang="el"/>
              <a:t>We take that and we pass it to the next team that is responsible for integrating it with the rest of the application. </a:t>
            </a:r>
            <a:endParaRPr/>
          </a:p>
          <a:p>
            <a:pPr indent="0" lvl="0" marL="0" rtl="0" algn="l">
              <a:spcBef>
                <a:spcPts val="0"/>
              </a:spcBef>
              <a:spcAft>
                <a:spcPts val="0"/>
              </a:spcAft>
              <a:buNone/>
            </a:pPr>
            <a:r>
              <a:rPr lang="el"/>
              <a:t>Remember. Dockerfile has no extension!!</a:t>
            </a:r>
            <a:endParaRPr/>
          </a:p>
          <a:p>
            <a:pPr indent="0" lvl="0" marL="0" rtl="0" algn="l">
              <a:spcBef>
                <a:spcPts val="0"/>
              </a:spcBef>
              <a:spcAft>
                <a:spcPts val="0"/>
              </a:spcAft>
              <a:buNone/>
            </a:pPr>
            <a:r>
              <a:rPr lang="el"/>
              <a:t>So in the name folder, next to requirements.txt we build a Dockerfile without any extensions</a:t>
            </a:r>
            <a:endParaRPr/>
          </a:p>
          <a:p>
            <a:pPr indent="0" lvl="0" marL="0" rtl="0" algn="l">
              <a:spcBef>
                <a:spcPts val="0"/>
              </a:spcBef>
              <a:spcAft>
                <a:spcPts val="0"/>
              </a:spcAft>
              <a:buNone/>
            </a:pPr>
            <a:r>
              <a:rPr lang="el"/>
              <a:t>Just the Dockerfile</a:t>
            </a:r>
            <a:endParaRPr/>
          </a:p>
          <a:p>
            <a:pPr indent="0" lvl="0" marL="0" rtl="0" algn="l">
              <a:spcBef>
                <a:spcPts val="0"/>
              </a:spcBef>
              <a:spcAft>
                <a:spcPts val="0"/>
              </a:spcAft>
              <a:buNone/>
            </a:pPr>
            <a:r>
              <a:rPr lang="el"/>
              <a:t>Its that simple!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762a68752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2762a68752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Lets check how we build the Dockerfile. </a:t>
            </a:r>
            <a:endParaRPr/>
          </a:p>
          <a:p>
            <a:pPr indent="-298450" lvl="0" marL="457200" rtl="0" algn="l">
              <a:spcBef>
                <a:spcPts val="0"/>
              </a:spcBef>
              <a:spcAft>
                <a:spcPts val="0"/>
              </a:spcAft>
              <a:buSzPts val="1100"/>
              <a:buChar char="-"/>
            </a:pPr>
            <a:r>
              <a:rPr lang="el"/>
              <a:t>As we said its a simple script that </a:t>
            </a:r>
            <a:r>
              <a:rPr lang="el"/>
              <a:t>contains</a:t>
            </a:r>
            <a:r>
              <a:rPr lang="el"/>
              <a:t> the commands to build the Dockerimage</a:t>
            </a:r>
            <a:endParaRPr/>
          </a:p>
          <a:p>
            <a:pPr indent="-298450" lvl="0" marL="457200" rtl="0" algn="l">
              <a:spcBef>
                <a:spcPts val="0"/>
              </a:spcBef>
              <a:spcAft>
                <a:spcPts val="0"/>
              </a:spcAft>
              <a:buSzPts val="1100"/>
              <a:buChar char="-"/>
            </a:pPr>
            <a:r>
              <a:rPr lang="el"/>
              <a:t>Its like commands!</a:t>
            </a:r>
            <a:endParaRPr/>
          </a:p>
          <a:p>
            <a:pPr indent="0" lvl="0" marL="0" rtl="0" algn="l">
              <a:spcBef>
                <a:spcPts val="0"/>
              </a:spcBef>
              <a:spcAft>
                <a:spcPts val="0"/>
              </a:spcAft>
              <a:buNone/>
            </a:pPr>
            <a:r>
              <a:rPr lang="el"/>
              <a:t>So what is the structure like:</a:t>
            </a:r>
            <a:endParaRPr/>
          </a:p>
          <a:p>
            <a:pPr indent="-298450" lvl="0" marL="457200" rtl="0" algn="l">
              <a:spcBef>
                <a:spcPts val="0"/>
              </a:spcBef>
              <a:spcAft>
                <a:spcPts val="0"/>
              </a:spcAft>
              <a:buSzPts val="1100"/>
              <a:buChar char="-"/>
            </a:pPr>
            <a:r>
              <a:rPr lang="el"/>
              <a:t>In general on a dockerfile we want to include teh following:</a:t>
            </a:r>
            <a:endParaRPr/>
          </a:p>
          <a:p>
            <a:pPr indent="-298450" lvl="1" marL="914400" rtl="0" algn="l">
              <a:spcBef>
                <a:spcPts val="0"/>
              </a:spcBef>
              <a:spcAft>
                <a:spcPts val="0"/>
              </a:spcAft>
              <a:buSzPts val="1100"/>
              <a:buChar char="-"/>
            </a:pPr>
            <a:r>
              <a:rPr lang="el"/>
              <a:t>The base image</a:t>
            </a:r>
            <a:endParaRPr/>
          </a:p>
          <a:p>
            <a:pPr indent="-298450" lvl="1" marL="914400" rtl="0" algn="l">
              <a:spcBef>
                <a:spcPts val="0"/>
              </a:spcBef>
              <a:spcAft>
                <a:spcPts val="0"/>
              </a:spcAft>
              <a:buSzPts val="1100"/>
              <a:buChar char="-"/>
            </a:pPr>
            <a:r>
              <a:rPr lang="el"/>
              <a:t>The software we are going to install (libraries and so on)</a:t>
            </a:r>
            <a:endParaRPr/>
          </a:p>
          <a:p>
            <a:pPr indent="-298450" lvl="1" marL="914400" rtl="0" algn="l">
              <a:spcBef>
                <a:spcPts val="0"/>
              </a:spcBef>
              <a:spcAft>
                <a:spcPts val="0"/>
              </a:spcAft>
              <a:buSzPts val="1100"/>
              <a:buChar char="-"/>
            </a:pPr>
            <a:r>
              <a:rPr lang="el"/>
              <a:t>The files we want to copy </a:t>
            </a:r>
            <a:endParaRPr/>
          </a:p>
          <a:p>
            <a:pPr indent="-298450" lvl="1" marL="914400" rtl="0" algn="l">
              <a:spcBef>
                <a:spcPts val="0"/>
              </a:spcBef>
              <a:spcAft>
                <a:spcPts val="0"/>
              </a:spcAft>
              <a:buSzPts val="1100"/>
              <a:buChar char="-"/>
            </a:pPr>
            <a:r>
              <a:rPr lang="el"/>
              <a:t>The port we are going to use and how to run our application.</a:t>
            </a:r>
            <a:endParaRPr/>
          </a:p>
          <a:p>
            <a:pPr indent="-298450" lvl="0" marL="457200" rtl="0" algn="l">
              <a:spcBef>
                <a:spcPts val="0"/>
              </a:spcBef>
              <a:spcAft>
                <a:spcPts val="0"/>
              </a:spcAft>
              <a:buSzPts val="1100"/>
              <a:buChar char="-"/>
            </a:pPr>
            <a:r>
              <a:rPr lang="el"/>
              <a:t>As we said we do it to ensure </a:t>
            </a:r>
            <a:r>
              <a:rPr lang="el"/>
              <a:t>reproducibility</a:t>
            </a:r>
            <a:r>
              <a:rPr lang="el"/>
              <a:t>.</a:t>
            </a:r>
            <a:endParaRPr/>
          </a:p>
          <a:p>
            <a:pPr indent="0" lvl="0" marL="0" rtl="0" algn="l">
              <a:spcBef>
                <a:spcPts val="0"/>
              </a:spcBef>
              <a:spcAft>
                <a:spcPts val="0"/>
              </a:spcAft>
              <a:buNone/>
            </a:pPr>
            <a:r>
              <a:rPr lang="el"/>
              <a:t>Lets review it step by step. </a:t>
            </a:r>
            <a:endParaRPr/>
          </a:p>
          <a:p>
            <a:pPr indent="0" lvl="0" marL="0" rtl="0" algn="l">
              <a:spcBef>
                <a:spcPts val="0"/>
              </a:spcBef>
              <a:spcAft>
                <a:spcPts val="0"/>
              </a:spcAft>
              <a:buNone/>
            </a:pPr>
            <a:r>
              <a:rPr lang="el"/>
              <a:t>First we define the </a:t>
            </a:r>
            <a:r>
              <a:rPr lang="el"/>
              <a:t>official</a:t>
            </a:r>
            <a:r>
              <a:rPr lang="el"/>
              <a:t> python runtime as our base image. That means we are going to use python to run our container</a:t>
            </a:r>
            <a:endParaRPr/>
          </a:p>
          <a:p>
            <a:pPr indent="0" lvl="0" marL="0" rtl="0" algn="l">
              <a:spcBef>
                <a:spcPts val="0"/>
              </a:spcBef>
              <a:spcAft>
                <a:spcPts val="0"/>
              </a:spcAft>
              <a:buNone/>
            </a:pPr>
            <a:r>
              <a:rPr lang="el"/>
              <a:t>We set the WORKDIR to the working directory we are going to use in the container. In our case this is the /app folder. Instead of /app just add </a:t>
            </a:r>
            <a:r>
              <a:rPr lang="el"/>
              <a:t>the</a:t>
            </a:r>
            <a:r>
              <a:rPr lang="el"/>
              <a:t> name of your folder</a:t>
            </a:r>
            <a:endParaRPr/>
          </a:p>
          <a:p>
            <a:pPr indent="0" lvl="0" marL="0" rtl="0" algn="l">
              <a:spcBef>
                <a:spcPts val="0"/>
              </a:spcBef>
              <a:spcAft>
                <a:spcPts val="0"/>
              </a:spcAft>
              <a:buNone/>
            </a:pPr>
            <a:r>
              <a:rPr lang="el"/>
              <a:t>Next we want to copy all the context of the workdir to the container. So every file, every folder in the main /app folder is copied to the container</a:t>
            </a:r>
            <a:endParaRPr/>
          </a:p>
          <a:p>
            <a:pPr indent="0" lvl="0" marL="0" rtl="0" algn="l">
              <a:spcBef>
                <a:spcPts val="0"/>
              </a:spcBef>
              <a:spcAft>
                <a:spcPts val="0"/>
              </a:spcAft>
              <a:buNone/>
            </a:pPr>
            <a:r>
              <a:rPr lang="el"/>
              <a:t>Next we install all the requirements we have frozen from the virtual environment and expose a port to run the application.</a:t>
            </a:r>
            <a:endParaRPr/>
          </a:p>
          <a:p>
            <a:pPr indent="0" lvl="0" marL="0" rtl="0" algn="l">
              <a:spcBef>
                <a:spcPts val="0"/>
              </a:spcBef>
              <a:spcAft>
                <a:spcPts val="0"/>
              </a:spcAft>
              <a:buNone/>
            </a:pPr>
            <a:r>
              <a:rPr lang="el"/>
              <a:t>Lets skip the environment variable here</a:t>
            </a:r>
            <a:endParaRPr/>
          </a:p>
          <a:p>
            <a:pPr indent="0" lvl="0" marL="0" rtl="0" algn="l">
              <a:spcBef>
                <a:spcPts val="0"/>
              </a:spcBef>
              <a:spcAft>
                <a:spcPts val="0"/>
              </a:spcAft>
              <a:buNone/>
            </a:pPr>
            <a:r>
              <a:rPr lang="el"/>
              <a:t>Finaly we want to define what we run! We type CMD to initiate the command line, we run python and within python we run app.py</a:t>
            </a:r>
            <a:endParaRPr/>
          </a:p>
          <a:p>
            <a:pPr indent="0" lvl="0" marL="0" rtl="0" algn="l">
              <a:spcBef>
                <a:spcPts val="0"/>
              </a:spcBef>
              <a:spcAft>
                <a:spcPts val="0"/>
              </a:spcAft>
              <a:buNone/>
            </a:pPr>
            <a:r>
              <a:rPr lang="el"/>
              <a:t>thats it! Very simple to build a Dockerfile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297055b152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6" name="Google Shape;956;g297055b152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Then we build the image using the build -t command on the command line and the image is ready!!</a:t>
            </a:r>
            <a:endParaRPr/>
          </a:p>
          <a:p>
            <a:pPr indent="0" lvl="0" marL="0" rtl="0" algn="l">
              <a:spcBef>
                <a:spcPts val="0"/>
              </a:spcBef>
              <a:spcAft>
                <a:spcPts val="0"/>
              </a:spcAft>
              <a:buNone/>
            </a:pPr>
            <a:r>
              <a:rPr lang="el"/>
              <a:t>When we want to run our application (our container) from the image we hit the fullowing </a:t>
            </a:r>
            <a:r>
              <a:rPr lang="el"/>
              <a:t>commands.</a:t>
            </a:r>
            <a:endParaRPr/>
          </a:p>
          <a:p>
            <a:pPr indent="0" lvl="0" marL="0" rtl="0" algn="l">
              <a:spcBef>
                <a:spcPts val="0"/>
              </a:spcBef>
              <a:spcAft>
                <a:spcPts val="0"/>
              </a:spcAft>
              <a:buNone/>
            </a:pPr>
            <a:r>
              <a:rPr lang="el"/>
              <a:t>(Just show what we read)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97055b152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97055b152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Now we have build an image what do we do? How can we access them?</a:t>
            </a:r>
            <a:endParaRPr/>
          </a:p>
          <a:p>
            <a:pPr indent="0" lvl="0" marL="0" rtl="0" algn="l">
              <a:spcBef>
                <a:spcPts val="0"/>
              </a:spcBef>
              <a:spcAft>
                <a:spcPts val="0"/>
              </a:spcAft>
              <a:buNone/>
            </a:pPr>
            <a:r>
              <a:rPr lang="el"/>
              <a:t>This is where DockerHub comes.</a:t>
            </a:r>
            <a:endParaRPr/>
          </a:p>
          <a:p>
            <a:pPr indent="0" lvl="0" marL="0" rtl="0" algn="l">
              <a:spcBef>
                <a:spcPts val="0"/>
              </a:spcBef>
              <a:spcAft>
                <a:spcPts val="0"/>
              </a:spcAft>
              <a:buNone/>
            </a:pPr>
            <a:r>
              <a:rPr lang="el"/>
              <a:t>You can picture it as Github for git.</a:t>
            </a:r>
            <a:endParaRPr/>
          </a:p>
          <a:p>
            <a:pPr indent="0" lvl="0" marL="0" rtl="0" algn="l">
              <a:spcBef>
                <a:spcPts val="0"/>
              </a:spcBef>
              <a:spcAft>
                <a:spcPts val="0"/>
              </a:spcAft>
              <a:buNone/>
            </a:pPr>
            <a:r>
              <a:rPr lang="el"/>
              <a:t>Its where we store all the images, we share and we take container from 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Lets check some features</a:t>
            </a:r>
            <a:endParaRPr/>
          </a:p>
          <a:p>
            <a:pPr indent="-298450" lvl="0" marL="457200" rtl="0" algn="l">
              <a:spcBef>
                <a:spcPts val="0"/>
              </a:spcBef>
              <a:spcAft>
                <a:spcPts val="0"/>
              </a:spcAft>
              <a:buSzPts val="1100"/>
              <a:buChar char="-"/>
            </a:pPr>
            <a:r>
              <a:rPr lang="el"/>
              <a:t>You can have repositories where you push and pull your image (similarly with github)</a:t>
            </a:r>
            <a:endParaRPr/>
          </a:p>
          <a:p>
            <a:pPr indent="-298450" lvl="0" marL="457200" rtl="0" algn="l">
              <a:spcBef>
                <a:spcPts val="0"/>
              </a:spcBef>
              <a:spcAft>
                <a:spcPts val="0"/>
              </a:spcAft>
              <a:buSzPts val="1100"/>
              <a:buChar char="-"/>
            </a:pPr>
            <a:r>
              <a:rPr lang="el"/>
              <a:t>You can give access to the repositories to anyone you want. It can private, public anything</a:t>
            </a:r>
            <a:endParaRPr/>
          </a:p>
          <a:p>
            <a:pPr indent="-298450" lvl="0" marL="457200" rtl="0" algn="l">
              <a:spcBef>
                <a:spcPts val="0"/>
              </a:spcBef>
              <a:spcAft>
                <a:spcPts val="0"/>
              </a:spcAft>
              <a:buSzPts val="1100"/>
              <a:buChar char="-"/>
            </a:pPr>
            <a:r>
              <a:rPr lang="el"/>
              <a:t>So the main funcionaility is that you build an image you push it to DockerHub. A team members then can pull that image and run a container out of it!</a:t>
            </a:r>
            <a:endParaRPr/>
          </a:p>
          <a:p>
            <a:pPr indent="0" lvl="0" marL="0" rtl="0" algn="l">
              <a:spcBef>
                <a:spcPts val="0"/>
              </a:spcBef>
              <a:spcAft>
                <a:spcPts val="0"/>
              </a:spcAft>
              <a:buNone/>
            </a:pPr>
            <a:r>
              <a:rPr lang="el"/>
              <a:t>If we have time later we will see you can work with DockerHub</a:t>
            </a:r>
            <a:endParaRPr/>
          </a:p>
          <a:p>
            <a:pPr indent="0" lvl="0" marL="0" rtl="0" algn="l">
              <a:spcBef>
                <a:spcPts val="0"/>
              </a:spcBef>
              <a:spcAft>
                <a:spcPts val="0"/>
              </a:spcAft>
              <a:buNone/>
            </a:pPr>
            <a:r>
              <a:rPr lang="el"/>
              <a:t>Is everything clear here??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97055b1525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97055b1525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summarize!</a:t>
            </a:r>
            <a:endParaRPr/>
          </a:p>
          <a:p>
            <a:pPr indent="-298450" lvl="0" marL="457200" rtl="0" algn="l">
              <a:spcBef>
                <a:spcPts val="0"/>
              </a:spcBef>
              <a:spcAft>
                <a:spcPts val="0"/>
              </a:spcAft>
              <a:buSzPts val="1100"/>
              <a:buChar char="-"/>
            </a:pPr>
            <a:r>
              <a:rPr lang="el"/>
              <a:t>Just read it and son</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297055b152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297055b152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This was Docker</a:t>
            </a:r>
            <a:endParaRPr/>
          </a:p>
          <a:p>
            <a:pPr indent="0" lvl="0" marL="0" rtl="0" algn="l">
              <a:spcBef>
                <a:spcPts val="0"/>
              </a:spcBef>
              <a:spcAft>
                <a:spcPts val="0"/>
              </a:spcAft>
              <a:buNone/>
            </a:pPr>
            <a:r>
              <a:rPr lang="el"/>
              <a:t>Lets move to our next tool</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97055b152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297055b152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FastAPI. A very important framework for you to work on. As with Docker I will give a simple demonstration of how it works and you can extend it as much as you want!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2968c831646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2968c831646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first revise what is the deployment stage. </a:t>
            </a:r>
            <a:endParaRPr/>
          </a:p>
          <a:p>
            <a:pPr indent="0" lvl="0" marL="0" rtl="0" algn="l">
              <a:spcBef>
                <a:spcPts val="0"/>
              </a:spcBef>
              <a:spcAft>
                <a:spcPts val="0"/>
              </a:spcAft>
              <a:buNone/>
            </a:pPr>
            <a:r>
              <a:rPr lang="el"/>
              <a:t>On deployment, we take our trained ML model and we put it into the production environment so its available for the end-user</a:t>
            </a:r>
            <a:endParaRPr/>
          </a:p>
          <a:p>
            <a:pPr indent="-298450" lvl="0" marL="457200" rtl="0" algn="l">
              <a:spcBef>
                <a:spcPts val="0"/>
              </a:spcBef>
              <a:spcAft>
                <a:spcPts val="0"/>
              </a:spcAft>
              <a:buSzPts val="1100"/>
              <a:buChar char="-"/>
            </a:pPr>
            <a:r>
              <a:rPr lang="el"/>
              <a:t>The idea is that we want to “serve” the </a:t>
            </a:r>
            <a:r>
              <a:rPr lang="el"/>
              <a:t>model. We want to have the model ready to make predictions</a:t>
            </a:r>
            <a:endParaRPr/>
          </a:p>
          <a:p>
            <a:pPr indent="-298450" lvl="0" marL="457200" rtl="0" algn="l">
              <a:spcBef>
                <a:spcPts val="0"/>
              </a:spcBef>
              <a:spcAft>
                <a:spcPts val="0"/>
              </a:spcAft>
              <a:buSzPts val="1100"/>
              <a:buChar char="-"/>
            </a:pPr>
            <a:r>
              <a:rPr lang="el"/>
              <a:t>This can be either on the cloud or any edge device.</a:t>
            </a:r>
            <a:endParaRPr/>
          </a:p>
          <a:p>
            <a:pPr indent="-298450" lvl="0" marL="457200" rtl="0" algn="l">
              <a:spcBef>
                <a:spcPts val="0"/>
              </a:spcBef>
              <a:spcAft>
                <a:spcPts val="0"/>
              </a:spcAft>
              <a:buSzPts val="1100"/>
              <a:buChar char="-"/>
            </a:pPr>
            <a:r>
              <a:rPr lang="el"/>
              <a:t>This is the main idea behind serving and deployment</a:t>
            </a:r>
            <a:endParaRPr/>
          </a:p>
          <a:p>
            <a:pPr indent="0" lvl="0" marL="0" rtl="0" algn="l">
              <a:spcBef>
                <a:spcPts val="0"/>
              </a:spcBef>
              <a:spcAft>
                <a:spcPts val="0"/>
              </a:spcAft>
              <a:buNone/>
            </a:pPr>
            <a:r>
              <a:rPr lang="el"/>
              <a:t>Make the model ready for the end user</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97055b152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97055b152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then of course as we have said, we take the feedback and we might want to improve our model</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97055b152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97055b152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 guess you remember this example!</a:t>
            </a:r>
            <a:endParaRPr/>
          </a:p>
          <a:p>
            <a:pPr indent="0" lvl="0" marL="0" rtl="0" algn="l">
              <a:spcBef>
                <a:spcPts val="0"/>
              </a:spcBef>
              <a:spcAft>
                <a:spcPts val="0"/>
              </a:spcAft>
              <a:buNone/>
            </a:pPr>
            <a:r>
              <a:rPr lang="el"/>
              <a:t>We will talk about this later in more detail</a:t>
            </a:r>
            <a:endParaRPr/>
          </a:p>
          <a:p>
            <a:pPr indent="0" lvl="0" marL="0" rtl="0" algn="l">
              <a:spcBef>
                <a:spcPts val="0"/>
              </a:spcBef>
              <a:spcAft>
                <a:spcPts val="0"/>
              </a:spcAft>
              <a:buNone/>
            </a:pPr>
            <a:r>
              <a:rPr lang="el"/>
              <a:t>A quick review. </a:t>
            </a:r>
            <a:endParaRPr/>
          </a:p>
          <a:p>
            <a:pPr indent="0" lvl="0" marL="0" rtl="0" algn="l">
              <a:spcBef>
                <a:spcPts val="0"/>
              </a:spcBef>
              <a:spcAft>
                <a:spcPts val="0"/>
              </a:spcAft>
              <a:buNone/>
            </a:pPr>
            <a:r>
              <a:rPr lang="el"/>
              <a:t>(explain how everything works here)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2968c83164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2968c83164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now lets try to break things down.</a:t>
            </a:r>
            <a:endParaRPr/>
          </a:p>
          <a:p>
            <a:pPr indent="0" lvl="0" marL="0" rtl="0" algn="l">
              <a:spcBef>
                <a:spcPts val="0"/>
              </a:spcBef>
              <a:spcAft>
                <a:spcPts val="0"/>
              </a:spcAft>
              <a:buNone/>
            </a:pPr>
            <a:r>
              <a:rPr lang="el"/>
              <a:t>We want to start by explaining what exactly is an API!</a:t>
            </a:r>
            <a:endParaRPr/>
          </a:p>
          <a:p>
            <a:pPr indent="-298450" lvl="0" marL="457200" rtl="0" algn="l">
              <a:spcBef>
                <a:spcPts val="0"/>
              </a:spcBef>
              <a:spcAft>
                <a:spcPts val="0"/>
              </a:spcAft>
              <a:buSzPts val="1100"/>
              <a:buChar char="-"/>
            </a:pPr>
            <a:r>
              <a:rPr lang="el"/>
              <a:t>An API is a set of </a:t>
            </a:r>
            <a:r>
              <a:rPr lang="el"/>
              <a:t>rules</a:t>
            </a:r>
            <a:r>
              <a:rPr lang="el"/>
              <a:t> that is beeing </a:t>
            </a:r>
            <a:r>
              <a:rPr lang="el"/>
              <a:t>transmitted</a:t>
            </a:r>
            <a:r>
              <a:rPr lang="el"/>
              <a:t> so different applications can communicate with each other</a:t>
            </a:r>
            <a:endParaRPr/>
          </a:p>
          <a:p>
            <a:pPr indent="-298450" lvl="0" marL="457200" rtl="0" algn="l">
              <a:spcBef>
                <a:spcPts val="0"/>
              </a:spcBef>
              <a:spcAft>
                <a:spcPts val="0"/>
              </a:spcAft>
              <a:buSzPts val="1100"/>
              <a:buChar char="-"/>
            </a:pPr>
            <a:r>
              <a:rPr lang="el"/>
              <a:t>Its like sending a request from your programm and getting a reply from the another software</a:t>
            </a:r>
            <a:endParaRPr/>
          </a:p>
          <a:p>
            <a:pPr indent="0" lvl="0" marL="0" rtl="0" algn="l">
              <a:spcBef>
                <a:spcPts val="0"/>
              </a:spcBef>
              <a:spcAft>
                <a:spcPts val="0"/>
              </a:spcAft>
              <a:buNone/>
            </a:pPr>
            <a:r>
              <a:rPr lang="el"/>
              <a:t>Picture this analogy</a:t>
            </a:r>
            <a:endParaRPr/>
          </a:p>
          <a:p>
            <a:pPr indent="-298450" lvl="0" marL="457200" rtl="0" algn="l">
              <a:spcBef>
                <a:spcPts val="0"/>
              </a:spcBef>
              <a:spcAft>
                <a:spcPts val="0"/>
              </a:spcAft>
              <a:buSzPts val="1100"/>
              <a:buChar char="-"/>
            </a:pPr>
            <a:r>
              <a:rPr lang="el"/>
              <a:t>An API is a waiter in a restaurant. You make a request, an order, you want to roder a plate and the waiter takes your request ot the kitchen (the other system)</a:t>
            </a:r>
            <a:endParaRPr/>
          </a:p>
          <a:p>
            <a:pPr indent="-298450" lvl="0" marL="457200" rtl="0" algn="l">
              <a:spcBef>
                <a:spcPts val="0"/>
              </a:spcBef>
              <a:spcAft>
                <a:spcPts val="0"/>
              </a:spcAft>
              <a:buSzPts val="1100"/>
              <a:buChar char="-"/>
            </a:pPr>
            <a:r>
              <a:rPr lang="el"/>
              <a:t>The system then takes some actions, prepares your plate</a:t>
            </a:r>
            <a:endParaRPr/>
          </a:p>
          <a:p>
            <a:pPr indent="-298450" lvl="0" marL="457200" rtl="0" algn="l">
              <a:spcBef>
                <a:spcPts val="0"/>
              </a:spcBef>
              <a:spcAft>
                <a:spcPts val="0"/>
              </a:spcAft>
              <a:buSzPts val="1100"/>
              <a:buChar char="-"/>
            </a:pPr>
            <a:r>
              <a:rPr lang="el"/>
              <a:t>Finaly the waiter(the API) takes the result of your request and returns it to you</a:t>
            </a:r>
            <a:endParaRPr/>
          </a:p>
          <a:p>
            <a:pPr indent="0" lvl="0" marL="0" rtl="0" algn="l">
              <a:spcBef>
                <a:spcPts val="0"/>
              </a:spcBef>
              <a:spcAft>
                <a:spcPts val="0"/>
              </a:spcAft>
              <a:buNone/>
            </a:pPr>
            <a:r>
              <a:rPr lang="el"/>
              <a:t>Lets see some simple examples with API calls to tweeter and google maps</a:t>
            </a:r>
            <a:endParaRPr/>
          </a:p>
          <a:p>
            <a:pPr indent="0" lvl="0" marL="0" rtl="0" algn="l">
              <a:spcBef>
                <a:spcPts val="0"/>
              </a:spcBef>
              <a:spcAft>
                <a:spcPts val="0"/>
              </a:spcAft>
              <a:buNone/>
            </a:pPr>
            <a:r>
              <a:rPr lang="el"/>
              <a:t>(read the examples)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2968c831646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2968c831646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lets see how APIs work in the ML world.</a:t>
            </a:r>
            <a:endParaRPr/>
          </a:p>
          <a:p>
            <a:pPr indent="0" lvl="0" marL="0" rtl="0" algn="l">
              <a:spcBef>
                <a:spcPts val="0"/>
              </a:spcBef>
              <a:spcAft>
                <a:spcPts val="0"/>
              </a:spcAft>
              <a:buNone/>
            </a:pPr>
            <a:r>
              <a:rPr lang="el"/>
              <a:t>An API is the bridge betweein taking the pretraied model and throwing it to the world. </a:t>
            </a:r>
            <a:endParaRPr/>
          </a:p>
          <a:p>
            <a:pPr indent="0" lvl="0" marL="0" rtl="0" algn="l">
              <a:spcBef>
                <a:spcPts val="0"/>
              </a:spcBef>
              <a:spcAft>
                <a:spcPts val="0"/>
              </a:spcAft>
              <a:buNone/>
            </a:pPr>
            <a:r>
              <a:rPr lang="el"/>
              <a:t>To make it simply it allows our pretrained model that works on our machine to be used by other </a:t>
            </a:r>
            <a:r>
              <a:rPr lang="el"/>
              <a:t>users</a:t>
            </a:r>
            <a:r>
              <a:rPr lang="el"/>
              <a:t>  or other team member </a:t>
            </a:r>
            <a:r>
              <a:rPr lang="el"/>
              <a:t>somewhere</a:t>
            </a:r>
            <a:r>
              <a:rPr lang="el"/>
              <a:t> else .</a:t>
            </a:r>
            <a:endParaRPr/>
          </a:p>
          <a:p>
            <a:pPr indent="0" lvl="0" marL="0" rtl="0" algn="l">
              <a:spcBef>
                <a:spcPts val="0"/>
              </a:spcBef>
              <a:spcAft>
                <a:spcPts val="0"/>
              </a:spcAft>
              <a:buNone/>
            </a:pPr>
            <a:r>
              <a:rPr lang="el"/>
              <a:t>They can make applications or simply integrate it in their </a:t>
            </a:r>
            <a:r>
              <a:rPr lang="el"/>
              <a:t>applications</a:t>
            </a:r>
            <a:endParaRPr/>
          </a:p>
          <a:p>
            <a:pPr indent="0" lvl="0" marL="0" rtl="0" algn="l">
              <a:spcBef>
                <a:spcPts val="0"/>
              </a:spcBef>
              <a:spcAft>
                <a:spcPts val="0"/>
              </a:spcAft>
              <a:buNone/>
            </a:pPr>
            <a:r>
              <a:rPr lang="el"/>
              <a:t>Lets review some examples (read the examples here)</a:t>
            </a:r>
            <a:endParaRPr/>
          </a:p>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297055b1525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297055b1525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In 2023, APIs are everywhere. Its the key that has enabled the </a:t>
            </a:r>
            <a:r>
              <a:rPr lang="el"/>
              <a:t>revolution</a:t>
            </a:r>
            <a:r>
              <a:rPr lang="el"/>
              <a:t> of AI that we are witnessing. </a:t>
            </a:r>
            <a:endParaRPr/>
          </a:p>
          <a:p>
            <a:pPr indent="0" lvl="0" marL="0" rtl="0" algn="l">
              <a:spcBef>
                <a:spcPts val="0"/>
              </a:spcBef>
              <a:spcAft>
                <a:spcPts val="0"/>
              </a:spcAft>
              <a:buNone/>
            </a:pPr>
            <a:r>
              <a:rPr lang="el"/>
              <a:t>There are </a:t>
            </a:r>
            <a:r>
              <a:rPr lang="el"/>
              <a:t>thousands</a:t>
            </a:r>
            <a:r>
              <a:rPr lang="el"/>
              <a:t> of startups that are being developed every month that simply leverage an API from a pre-trained model.</a:t>
            </a:r>
            <a:endParaRPr/>
          </a:p>
          <a:p>
            <a:pPr indent="0" lvl="0" marL="0" rtl="0" algn="l">
              <a:spcBef>
                <a:spcPts val="0"/>
              </a:spcBef>
              <a:spcAft>
                <a:spcPts val="0"/>
              </a:spcAft>
              <a:buNone/>
            </a:pPr>
            <a:r>
              <a:rPr lang="el"/>
              <a:t>So whats the idea? A big company like OpenAI takes a big model that is hard to built and makes it available through an API</a:t>
            </a:r>
            <a:endParaRPr/>
          </a:p>
          <a:p>
            <a:pPr indent="0" lvl="0" marL="0" rtl="0" algn="l">
              <a:spcBef>
                <a:spcPts val="0"/>
              </a:spcBef>
              <a:spcAft>
                <a:spcPts val="0"/>
              </a:spcAft>
              <a:buNone/>
            </a:pPr>
            <a:r>
              <a:rPr lang="el"/>
              <a:t>Users can interact with these models and integrate them into their applications.</a:t>
            </a:r>
            <a:endParaRPr/>
          </a:p>
          <a:p>
            <a:pPr indent="0" lvl="0" marL="0" rtl="0" algn="l">
              <a:spcBef>
                <a:spcPts val="0"/>
              </a:spcBef>
              <a:spcAft>
                <a:spcPts val="0"/>
              </a:spcAft>
              <a:buNone/>
            </a:pPr>
            <a:r>
              <a:rPr lang="el"/>
              <a:t>Of course with a small fee per request!</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97055b1525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6" name="Google Shape;1056;g297055b1525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if you remember we have used several examples when we developed streamlit applications.</a:t>
            </a:r>
            <a:endParaRPr/>
          </a:p>
          <a:p>
            <a:pPr indent="0" lvl="0" marL="0" rtl="0" algn="l">
              <a:spcBef>
                <a:spcPts val="0"/>
              </a:spcBef>
              <a:spcAft>
                <a:spcPts val="0"/>
              </a:spcAft>
              <a:buNone/>
            </a:pPr>
            <a:r>
              <a:rPr lang="el"/>
              <a:t>API calls to LLMs is the key in our modern world.</a:t>
            </a:r>
            <a:endParaRPr/>
          </a:p>
          <a:p>
            <a:pPr indent="0" lvl="0" marL="0" rtl="0" algn="l">
              <a:spcBef>
                <a:spcPts val="0"/>
              </a:spcBef>
              <a:spcAft>
                <a:spcPts val="0"/>
              </a:spcAft>
              <a:buNone/>
            </a:pPr>
            <a:r>
              <a:rPr lang="el"/>
              <a:t>You can see how simple it is.</a:t>
            </a:r>
            <a:endParaRPr/>
          </a:p>
          <a:p>
            <a:pPr indent="0" lvl="0" marL="0" rtl="0" algn="l">
              <a:spcBef>
                <a:spcPts val="0"/>
              </a:spcBef>
              <a:spcAft>
                <a:spcPts val="0"/>
              </a:spcAft>
              <a:buNone/>
            </a:pPr>
            <a:r>
              <a:rPr lang="el"/>
              <a:t>I just make an API call to Zephyr-7b, a recent model that is </a:t>
            </a:r>
            <a:r>
              <a:rPr lang="el"/>
              <a:t>hosted</a:t>
            </a:r>
            <a:r>
              <a:rPr lang="el"/>
              <a:t> on Hugging Face</a:t>
            </a:r>
            <a:endParaRPr/>
          </a:p>
          <a:p>
            <a:pPr indent="0" lvl="0" marL="0" rtl="0" algn="l">
              <a:spcBef>
                <a:spcPts val="0"/>
              </a:spcBef>
              <a:spcAft>
                <a:spcPts val="0"/>
              </a:spcAft>
              <a:buNone/>
            </a:pPr>
            <a:r>
              <a:rPr lang="el"/>
              <a:t>So HuggingFace is the reposotiory for all pretraine dmodels.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Or check this example, how easy it is to use gpt-3 from openAI to make </a:t>
            </a:r>
            <a:r>
              <a:rPr lang="el"/>
              <a:t>request</a:t>
            </a:r>
            <a:r>
              <a:rPr lang="el"/>
              <a:t>! Very </a:t>
            </a:r>
            <a:r>
              <a:rPr lang="el"/>
              <a:t>straightforward</a:t>
            </a:r>
            <a:r>
              <a:rPr lang="el"/>
              <a:t>! </a:t>
            </a:r>
            <a:endParaRPr/>
          </a:p>
          <a:p>
            <a:pPr indent="0" lvl="0" marL="0" rtl="0" algn="l">
              <a:spcBef>
                <a:spcPts val="0"/>
              </a:spcBef>
              <a:spcAft>
                <a:spcPts val="0"/>
              </a:spcAft>
              <a:buNone/>
            </a:pPr>
            <a:r>
              <a:rPr lang="el"/>
              <a:t>So in some sense, users through APIs can integrated big models to their pipelines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968c83164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2968c83164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what an API is for our mL world.</a:t>
            </a:r>
            <a:endParaRPr/>
          </a:p>
          <a:p>
            <a:pPr indent="0" lvl="0" marL="0" rtl="0" algn="l">
              <a:spcBef>
                <a:spcPts val="0"/>
              </a:spcBef>
              <a:spcAft>
                <a:spcPts val="0"/>
              </a:spcAft>
              <a:buNone/>
            </a:pPr>
            <a:r>
              <a:rPr lang="el"/>
              <a:t>(Read the example)</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2762a68752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2762a68752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now that we have an idea for the significance of APIs lets see how we can make them!</a:t>
            </a:r>
            <a:endParaRPr/>
          </a:p>
          <a:p>
            <a:pPr indent="0" lvl="0" marL="0" rtl="0" algn="l">
              <a:spcBef>
                <a:spcPts val="0"/>
              </a:spcBef>
              <a:spcAft>
                <a:spcPts val="0"/>
              </a:spcAft>
              <a:buNone/>
            </a:pPr>
            <a:r>
              <a:rPr lang="el"/>
              <a:t>We are going to use FastAPI. As of this week its the second most used framework after Django</a:t>
            </a:r>
            <a:endParaRPr/>
          </a:p>
          <a:p>
            <a:pPr indent="0" lvl="0" marL="0" rtl="0" algn="l">
              <a:spcBef>
                <a:spcPts val="0"/>
              </a:spcBef>
              <a:spcAft>
                <a:spcPts val="0"/>
              </a:spcAft>
              <a:buNone/>
            </a:pPr>
            <a:r>
              <a:rPr lang="el"/>
              <a:t>I find it more easy to work with FastAPI and thats why I </a:t>
            </a:r>
            <a:r>
              <a:rPr lang="el"/>
              <a:t>preferred</a:t>
            </a:r>
            <a:r>
              <a:rPr lang="el"/>
              <a:t> it. </a:t>
            </a:r>
            <a:endParaRPr/>
          </a:p>
          <a:p>
            <a:pPr indent="-298450" lvl="0" marL="457200" rtl="0" algn="l">
              <a:spcBef>
                <a:spcPts val="0"/>
              </a:spcBef>
              <a:spcAft>
                <a:spcPts val="0"/>
              </a:spcAft>
              <a:buSzPts val="1100"/>
              <a:buChar char="-"/>
            </a:pPr>
            <a:r>
              <a:rPr lang="el"/>
              <a:t>Its very simple, fast and relatively </a:t>
            </a:r>
            <a:r>
              <a:rPr lang="el"/>
              <a:t>straightforward</a:t>
            </a:r>
            <a:r>
              <a:rPr lang="el"/>
              <a:t> to deploy applications using FastAPI</a:t>
            </a:r>
            <a:endParaRPr/>
          </a:p>
          <a:p>
            <a:pPr indent="0" lvl="0" marL="0" rtl="0" algn="l">
              <a:spcBef>
                <a:spcPts val="0"/>
              </a:spcBef>
              <a:spcAft>
                <a:spcPts val="0"/>
              </a:spcAft>
              <a:buNone/>
            </a:pPr>
            <a:r>
              <a:rPr lang="el"/>
              <a:t>On the right you can see the general flow of an application using FastAPI.</a:t>
            </a:r>
            <a:endParaRPr/>
          </a:p>
          <a:p>
            <a:pPr indent="-298450" lvl="0" marL="457200" rtl="0" algn="l">
              <a:spcBef>
                <a:spcPts val="0"/>
              </a:spcBef>
              <a:spcAft>
                <a:spcPts val="0"/>
              </a:spcAft>
              <a:buSzPts val="1100"/>
              <a:buChar char="-"/>
            </a:pPr>
            <a:r>
              <a:rPr lang="el"/>
              <a:t>You train a model, </a:t>
            </a:r>
            <a:endParaRPr/>
          </a:p>
          <a:p>
            <a:pPr indent="-298450" lvl="0" marL="457200" rtl="0" algn="l">
              <a:spcBef>
                <a:spcPts val="0"/>
              </a:spcBef>
              <a:spcAft>
                <a:spcPts val="0"/>
              </a:spcAft>
              <a:buSzPts val="1100"/>
              <a:buChar char="-"/>
            </a:pPr>
            <a:r>
              <a:rPr lang="el"/>
              <a:t>You store it somewhere</a:t>
            </a:r>
            <a:endParaRPr/>
          </a:p>
          <a:p>
            <a:pPr indent="-298450" lvl="0" marL="457200" rtl="0" algn="l">
              <a:spcBef>
                <a:spcPts val="0"/>
              </a:spcBef>
              <a:spcAft>
                <a:spcPts val="0"/>
              </a:spcAft>
              <a:buSzPts val="1100"/>
              <a:buChar char="-"/>
            </a:pPr>
            <a:r>
              <a:rPr lang="el"/>
              <a:t>You create the API using FastAPI </a:t>
            </a:r>
            <a:endParaRPr/>
          </a:p>
          <a:p>
            <a:pPr indent="-298450" lvl="0" marL="457200" rtl="0" algn="l">
              <a:spcBef>
                <a:spcPts val="0"/>
              </a:spcBef>
              <a:spcAft>
                <a:spcPts val="0"/>
              </a:spcAft>
              <a:buSzPts val="1100"/>
              <a:buChar char="-"/>
            </a:pPr>
            <a:r>
              <a:rPr lang="el"/>
              <a:t>You dockerize it</a:t>
            </a:r>
            <a:endParaRPr/>
          </a:p>
          <a:p>
            <a:pPr indent="-298450" lvl="0" marL="457200" rtl="0" algn="l">
              <a:spcBef>
                <a:spcPts val="0"/>
              </a:spcBef>
              <a:spcAft>
                <a:spcPts val="0"/>
              </a:spcAft>
              <a:buSzPts val="1100"/>
              <a:buChar char="-"/>
            </a:pPr>
            <a:r>
              <a:rPr lang="el"/>
              <a:t>Users can then make predictions</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762a68752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2762a68752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a disclaimer.</a:t>
            </a:r>
            <a:endParaRPr/>
          </a:p>
          <a:p>
            <a:pPr indent="0" lvl="0" marL="0" rtl="0" algn="l">
              <a:spcBef>
                <a:spcPts val="0"/>
              </a:spcBef>
              <a:spcAft>
                <a:spcPts val="0"/>
              </a:spcAft>
              <a:buNone/>
            </a:pPr>
            <a:r>
              <a:rPr lang="el"/>
              <a:t>Flask is the msot well know framework for APIs.</a:t>
            </a:r>
            <a:endParaRPr/>
          </a:p>
          <a:p>
            <a:pPr indent="0" lvl="0" marL="0" rtl="0" algn="l">
              <a:spcBef>
                <a:spcPts val="0"/>
              </a:spcBef>
              <a:spcAft>
                <a:spcPts val="0"/>
              </a:spcAft>
              <a:buNone/>
            </a:pPr>
            <a:r>
              <a:rPr lang="el"/>
              <a:t>However there are some limitations and I have a reason for picking FastAPI.</a:t>
            </a:r>
            <a:endParaRPr/>
          </a:p>
          <a:p>
            <a:pPr indent="0" lvl="0" marL="0" rtl="0" algn="l">
              <a:spcBef>
                <a:spcPts val="0"/>
              </a:spcBef>
              <a:spcAft>
                <a:spcPts val="0"/>
              </a:spcAft>
              <a:buNone/>
            </a:pPr>
            <a:r>
              <a:rPr lang="el"/>
              <a:t>The main reasons are </a:t>
            </a:r>
            <a:r>
              <a:rPr lang="el"/>
              <a:t>speed</a:t>
            </a:r>
            <a:r>
              <a:rPr lang="el"/>
              <a:t> and how user frielindly it is.</a:t>
            </a:r>
            <a:endParaRPr/>
          </a:p>
          <a:p>
            <a:pPr indent="0" lvl="0" marL="0" rtl="0" algn="l">
              <a:spcBef>
                <a:spcPts val="0"/>
              </a:spcBef>
              <a:spcAft>
                <a:spcPts val="0"/>
              </a:spcAft>
              <a:buNone/>
            </a:pPr>
            <a:r>
              <a:rPr lang="el"/>
              <a:t>It aligns very well with AI applications and you can easility combine it with streamlit and Docker</a:t>
            </a:r>
            <a:endParaRPr/>
          </a:p>
          <a:p>
            <a:pPr indent="0" lvl="0" marL="0" rtl="0" algn="l">
              <a:spcBef>
                <a:spcPts val="0"/>
              </a:spcBef>
              <a:spcAft>
                <a:spcPts val="0"/>
              </a:spcAft>
              <a:buNone/>
            </a:pPr>
            <a:r>
              <a:rPr lang="el"/>
              <a:t>So for this c ourse we are going to use FastAPI</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968c83164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2968c83164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This is the general flow for deploying models using FastAPI.</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(Just review the steps here one by one!)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Pretty </a:t>
            </a:r>
            <a:r>
              <a:rPr lang="el"/>
              <a:t>straightforward</a:t>
            </a:r>
            <a:r>
              <a:rPr lang="el"/>
              <a:t>.</a:t>
            </a:r>
            <a:endParaRPr/>
          </a:p>
          <a:p>
            <a:pPr indent="0" lvl="0" marL="0" rtl="0" algn="l">
              <a:spcBef>
                <a:spcPts val="0"/>
              </a:spcBef>
              <a:spcAft>
                <a:spcPts val="0"/>
              </a:spcAft>
              <a:buNone/>
            </a:pPr>
            <a:r>
              <a:rPr lang="el"/>
              <a:t>We are going to see some examples later so you understand it better!</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2762a68752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2762a68752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now lets see how we can combine our two frameworks and make them work together.</a:t>
            </a:r>
            <a:endParaRPr/>
          </a:p>
          <a:p>
            <a:pPr indent="0" lvl="0" marL="0" rtl="0" algn="l">
              <a:spcBef>
                <a:spcPts val="0"/>
              </a:spcBef>
              <a:spcAft>
                <a:spcPts val="0"/>
              </a:spcAft>
              <a:buNone/>
            </a:pPr>
            <a:r>
              <a:rPr lang="el"/>
              <a:t>As we said </a:t>
            </a:r>
            <a:endParaRPr/>
          </a:p>
          <a:p>
            <a:pPr indent="-298450" lvl="0" marL="457200" rtl="0" algn="l">
              <a:spcBef>
                <a:spcPts val="0"/>
              </a:spcBef>
              <a:spcAft>
                <a:spcPts val="0"/>
              </a:spcAft>
              <a:buSzPts val="1100"/>
              <a:buChar char="-"/>
            </a:pPr>
            <a:r>
              <a:rPr lang="el"/>
              <a:t>FastAPI is used to make the communication between our pretrained models, our database etc</a:t>
            </a:r>
            <a:endParaRPr/>
          </a:p>
          <a:p>
            <a:pPr indent="-298450" lvl="0" marL="457200" rtl="0" algn="l">
              <a:spcBef>
                <a:spcPts val="0"/>
              </a:spcBef>
              <a:spcAft>
                <a:spcPts val="0"/>
              </a:spcAft>
              <a:buSzPts val="1100"/>
              <a:buChar char="-"/>
            </a:pPr>
            <a:r>
              <a:rPr lang="el"/>
              <a:t>Then we have Docker which will ensure that our application (that uses FastAPI to talk to a model) will work the same across all environments</a:t>
            </a:r>
            <a:endParaRPr/>
          </a:p>
          <a:p>
            <a:pPr indent="0" lvl="0" marL="0" rtl="0" algn="l">
              <a:spcBef>
                <a:spcPts val="0"/>
              </a:spcBef>
              <a:spcAft>
                <a:spcPts val="0"/>
              </a:spcAft>
              <a:buNone/>
            </a:pPr>
            <a:r>
              <a:rPr lang="el"/>
              <a:t>If you use these two you can get </a:t>
            </a:r>
            <a:r>
              <a:rPr lang="el"/>
              <a:t>consistent</a:t>
            </a:r>
            <a:r>
              <a:rPr lang="el"/>
              <a:t> predictions, reproducible results</a:t>
            </a:r>
            <a:endParaRPr/>
          </a:p>
          <a:p>
            <a:pPr indent="0" lvl="0" marL="0" rtl="0" algn="l">
              <a:spcBef>
                <a:spcPts val="0"/>
              </a:spcBef>
              <a:spcAft>
                <a:spcPts val="0"/>
              </a:spcAft>
              <a:buNone/>
            </a:pPr>
            <a:r>
              <a:rPr lang="el"/>
              <a:t>Its very easy to deploy and easy to scale!</a:t>
            </a:r>
            <a:endParaRPr/>
          </a:p>
          <a:p>
            <a:pPr indent="0" lvl="0" marL="0" rtl="0" algn="l">
              <a:spcBef>
                <a:spcPts val="0"/>
              </a:spcBef>
              <a:spcAft>
                <a:spcPts val="0"/>
              </a:spcAft>
              <a:buNone/>
            </a:pPr>
            <a:r>
              <a:rPr lang="el"/>
              <a:t>We are going to see some examples later!</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97055b1525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97055b1525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this is an example of how we use Docker and FastAPI</a:t>
            </a:r>
            <a:endParaRPr/>
          </a:p>
          <a:p>
            <a:pPr indent="-298450" lvl="0" marL="457200" rtl="0" algn="l">
              <a:spcBef>
                <a:spcPts val="0"/>
              </a:spcBef>
              <a:spcAft>
                <a:spcPts val="0"/>
              </a:spcAft>
              <a:buSzPts val="1100"/>
              <a:buChar char="-"/>
            </a:pPr>
            <a:r>
              <a:rPr lang="el"/>
              <a:t>We have a pretrained model which we load </a:t>
            </a:r>
            <a:endParaRPr/>
          </a:p>
          <a:p>
            <a:pPr indent="-298450" lvl="0" marL="457200" rtl="0" algn="l">
              <a:spcBef>
                <a:spcPts val="0"/>
              </a:spcBef>
              <a:spcAft>
                <a:spcPts val="0"/>
              </a:spcAft>
              <a:buSzPts val="1100"/>
              <a:buChar char="-"/>
            </a:pPr>
            <a:r>
              <a:rPr lang="el"/>
              <a:t>We define the FastAPI app.</a:t>
            </a:r>
            <a:endParaRPr/>
          </a:p>
          <a:p>
            <a:pPr indent="-298450" lvl="0" marL="457200" rtl="0" algn="l">
              <a:spcBef>
                <a:spcPts val="0"/>
              </a:spcBef>
              <a:spcAft>
                <a:spcPts val="0"/>
              </a:spcAft>
              <a:buSzPts val="1100"/>
              <a:buChar char="-"/>
            </a:pPr>
            <a:r>
              <a:rPr lang="el"/>
              <a:t>Pay attention that we have also imported BaseModel from pydantic. Its a very important step to making robust API calls with FastAPI!</a:t>
            </a:r>
            <a:endParaRPr/>
          </a:p>
          <a:p>
            <a:pPr indent="-298450" lvl="0" marL="457200" rtl="0" algn="l">
              <a:spcBef>
                <a:spcPts val="0"/>
              </a:spcBef>
              <a:spcAft>
                <a:spcPts val="0"/>
              </a:spcAft>
              <a:buSzPts val="1100"/>
              <a:buChar char="-"/>
            </a:pPr>
            <a:r>
              <a:rPr lang="el"/>
              <a:t>We define a class that inherits from the base model and we simply define every feature we need for predictions. for every feature we also define its type</a:t>
            </a:r>
            <a:endParaRPr/>
          </a:p>
          <a:p>
            <a:pPr indent="-298450" lvl="0" marL="457200" rtl="0" algn="l">
              <a:spcBef>
                <a:spcPts val="0"/>
              </a:spcBef>
              <a:spcAft>
                <a:spcPts val="0"/>
              </a:spcAft>
              <a:buSzPts val="1100"/>
              <a:buChar char="-"/>
            </a:pPr>
            <a:r>
              <a:rPr lang="el"/>
              <a:t>We do that to ensure that nothing will fail and that the API call will always use the same data types</a:t>
            </a:r>
            <a:endParaRPr/>
          </a:p>
          <a:p>
            <a:pPr indent="-298450" lvl="0" marL="457200" rtl="0" algn="l">
              <a:spcBef>
                <a:spcPts val="0"/>
              </a:spcBef>
              <a:spcAft>
                <a:spcPts val="0"/>
              </a:spcAft>
              <a:buSzPts val="1100"/>
              <a:buChar char="-"/>
            </a:pPr>
            <a:r>
              <a:rPr lang="el"/>
              <a:t>We then define a function that makes predictions</a:t>
            </a:r>
            <a:endParaRPr/>
          </a:p>
          <a:p>
            <a:pPr indent="-298450" lvl="0" marL="457200" rtl="0" algn="l">
              <a:spcBef>
                <a:spcPts val="0"/>
              </a:spcBef>
              <a:spcAft>
                <a:spcPts val="0"/>
              </a:spcAft>
              <a:buSzPts val="1100"/>
              <a:buChar char="-"/>
            </a:pPr>
            <a:r>
              <a:rPr lang="el"/>
              <a:t>And finally we have the predict() function that has decorated the app from fastAPI and takes as input the Class we have defined before</a:t>
            </a:r>
            <a:endParaRPr/>
          </a:p>
          <a:p>
            <a:pPr indent="-298450" lvl="0" marL="457200" rtl="0" algn="l">
              <a:spcBef>
                <a:spcPts val="0"/>
              </a:spcBef>
              <a:spcAft>
                <a:spcPts val="0"/>
              </a:spcAft>
              <a:buSzPts val="1100"/>
              <a:buChar char="-"/>
            </a:pPr>
            <a:r>
              <a:rPr lang="el"/>
              <a:t>What the function does is to </a:t>
            </a:r>
            <a:r>
              <a:rPr lang="el"/>
              <a:t>take the other predictions function and use it to return predictions</a:t>
            </a:r>
            <a:endParaRPr/>
          </a:p>
          <a:p>
            <a:pPr indent="0" lvl="0" marL="0" rtl="0" algn="l">
              <a:spcBef>
                <a:spcPts val="0"/>
              </a:spcBef>
              <a:spcAft>
                <a:spcPts val="0"/>
              </a:spcAft>
              <a:buNone/>
            </a:pPr>
            <a:r>
              <a:rPr lang="el"/>
              <a:t>After we finished with FastAPI we dockerize!</a:t>
            </a:r>
            <a:endParaRPr/>
          </a:p>
          <a:p>
            <a:pPr indent="-298450" lvl="0" marL="457200" rtl="0" algn="l">
              <a:spcBef>
                <a:spcPts val="0"/>
              </a:spcBef>
              <a:spcAft>
                <a:spcPts val="0"/>
              </a:spcAft>
              <a:buSzPts val="1100"/>
              <a:buChar char="-"/>
            </a:pPr>
            <a:r>
              <a:rPr lang="el"/>
              <a:t>the only difference with what we had before is that also need to copy the saved model</a:t>
            </a:r>
            <a:endParaRPr/>
          </a:p>
          <a:p>
            <a:pPr indent="-298450" lvl="0" marL="457200" rtl="0" algn="l">
              <a:spcBef>
                <a:spcPts val="0"/>
              </a:spcBef>
              <a:spcAft>
                <a:spcPts val="0"/>
              </a:spcAft>
              <a:buSzPts val="1100"/>
              <a:buChar char="-"/>
            </a:pPr>
            <a:r>
              <a:rPr lang="el"/>
              <a:t>Attention here, you can copy the whole folder that has main.py and model.pkl or do it individually</a:t>
            </a:r>
            <a:endParaRPr/>
          </a:p>
          <a:p>
            <a:pPr indent="-298450" lvl="0" marL="457200" rtl="0" algn="l">
              <a:spcBef>
                <a:spcPts val="0"/>
              </a:spcBef>
              <a:spcAft>
                <a:spcPts val="0"/>
              </a:spcAft>
              <a:buSzPts val="1100"/>
              <a:buChar char="-"/>
            </a:pPr>
            <a:r>
              <a:rPr lang="el"/>
              <a:t>finally you just build the image and run a container!</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297055b1525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297055b1525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once we build our dockerzied application this is how we make predictions.</a:t>
            </a:r>
            <a:endParaRPr/>
          </a:p>
          <a:p>
            <a:pPr indent="0" lvl="0" marL="0" rtl="0" algn="l">
              <a:spcBef>
                <a:spcPts val="0"/>
              </a:spcBef>
              <a:spcAft>
                <a:spcPts val="0"/>
              </a:spcAft>
              <a:buNone/>
            </a:pPr>
            <a:r>
              <a:rPr lang="el"/>
              <a:t>There are two ways.</a:t>
            </a:r>
            <a:endParaRPr/>
          </a:p>
          <a:p>
            <a:pPr indent="0" lvl="0" marL="0" rtl="0" algn="l">
              <a:spcBef>
                <a:spcPts val="0"/>
              </a:spcBef>
              <a:spcAft>
                <a:spcPts val="0"/>
              </a:spcAft>
              <a:buNone/>
            </a:pPr>
            <a:r>
              <a:rPr lang="el"/>
              <a:t>Well there are three but I am showing you the two here</a:t>
            </a:r>
            <a:endParaRPr/>
          </a:p>
          <a:p>
            <a:pPr indent="-298450" lvl="0" marL="457200" rtl="0" algn="l">
              <a:spcBef>
                <a:spcPts val="0"/>
              </a:spcBef>
              <a:spcAft>
                <a:spcPts val="0"/>
              </a:spcAft>
              <a:buSzPts val="1100"/>
              <a:buChar char="-"/>
            </a:pPr>
            <a:r>
              <a:rPr lang="el"/>
              <a:t>The first, the one that is missing is through an interface, a </a:t>
            </a:r>
            <a:r>
              <a:rPr lang="el"/>
              <a:t>dashboard</a:t>
            </a:r>
            <a:r>
              <a:rPr lang="el"/>
              <a:t>. We will see examples later!</a:t>
            </a:r>
            <a:endParaRPr/>
          </a:p>
          <a:p>
            <a:pPr indent="-298450" lvl="0" marL="457200" rtl="0" algn="l">
              <a:spcBef>
                <a:spcPts val="0"/>
              </a:spcBef>
              <a:spcAft>
                <a:spcPts val="0"/>
              </a:spcAft>
              <a:buSzPts val="1100"/>
              <a:buChar char="-"/>
            </a:pPr>
            <a:r>
              <a:rPr lang="el"/>
              <a:t>The second is from our scripts. This is used to integrate a loaded model into a bigger application. Like the examples we had with chatgpt and the other models from hugging face</a:t>
            </a:r>
            <a:endParaRPr/>
          </a:p>
          <a:p>
            <a:pPr indent="-298450" lvl="0" marL="457200" rtl="0" algn="l">
              <a:spcBef>
                <a:spcPts val="0"/>
              </a:spcBef>
              <a:spcAft>
                <a:spcPts val="0"/>
              </a:spcAft>
              <a:buSzPts val="1100"/>
              <a:buChar char="-"/>
            </a:pPr>
            <a:r>
              <a:rPr lang="el"/>
              <a:t>And finally we have the terminal. I explain what each command means so you can use it or </a:t>
            </a:r>
            <a:r>
              <a:rPr lang="el"/>
              <a:t>run</a:t>
            </a:r>
            <a:r>
              <a:rPr lang="el"/>
              <a:t> something </a:t>
            </a:r>
            <a:r>
              <a:rPr lang="el"/>
              <a:t>equivalent</a:t>
            </a:r>
            <a:r>
              <a:rPr lang="el"/>
              <a:t> </a:t>
            </a:r>
            <a:endParaRPr/>
          </a:p>
          <a:p>
            <a:pPr indent="0" lvl="0" marL="0" rtl="0" algn="l">
              <a:spcBef>
                <a:spcPts val="0"/>
              </a:spcBef>
              <a:spcAft>
                <a:spcPts val="0"/>
              </a:spcAft>
              <a:buNone/>
            </a:pPr>
            <a:r>
              <a:rPr lang="el"/>
              <a:t>We have some examples on the second hour we are going to see how it goes!</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297055b1525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297055b1525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docker.com/" TargetMode="External"/><Relationship Id="rId4" Type="http://schemas.openxmlformats.org/officeDocument/2006/relationships/hyperlink" Target="https://wslstorestorage.blob.core.windows.net/wslblob/wsl_update_x64.msi" TargetMode="External"/><Relationship Id="rId5" Type="http://schemas.openxmlformats.org/officeDocument/2006/relationships/hyperlink" Target="https://hub.docker.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3.png"/><Relationship Id="rId4" Type="http://schemas.openxmlformats.org/officeDocument/2006/relationships/image" Target="../media/image44.png"/><Relationship Id="rId5" Type="http://schemas.openxmlformats.org/officeDocument/2006/relationships/image" Target="../media/image15.png"/><Relationship Id="rId6"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3.png"/><Relationship Id="rId4" Type="http://schemas.openxmlformats.org/officeDocument/2006/relationships/image" Target="../media/image28.png"/><Relationship Id="rId5" Type="http://schemas.openxmlformats.org/officeDocument/2006/relationships/image" Target="../media/image10.png"/><Relationship Id="rId6"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5.png"/><Relationship Id="rId4" Type="http://schemas.openxmlformats.org/officeDocument/2006/relationships/image" Target="../media/image47.png"/><Relationship Id="rId5"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3.png"/><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1.pn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fastapi.tiangolo.com/tutorial/first-steps/" TargetMode="External"/><Relationship Id="rId4" Type="http://schemas.openxmlformats.org/officeDocument/2006/relationships/image" Target="../media/image7.png"/><Relationship Id="rId5" Type="http://schemas.openxmlformats.org/officeDocument/2006/relationships/image" Target="../media/image2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8.png"/><Relationship Id="rId4" Type="http://schemas.openxmlformats.org/officeDocument/2006/relationships/image" Target="../media/image46.png"/><Relationship Id="rId5" Type="http://schemas.openxmlformats.org/officeDocument/2006/relationships/image" Target="../media/image32.png"/><Relationship Id="rId6" Type="http://schemas.openxmlformats.org/officeDocument/2006/relationships/image" Target="../media/image27.png"/><Relationship Id="rId7" Type="http://schemas.openxmlformats.org/officeDocument/2006/relationships/image" Target="../media/image36.png"/><Relationship Id="rId8" Type="http://schemas.openxmlformats.org/officeDocument/2006/relationships/image" Target="../media/image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Cloud for AI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a:t>Course 8: </a:t>
            </a:r>
            <a:r>
              <a:rPr lang="el">
                <a:solidFill>
                  <a:srgbClr val="FF00FF"/>
                </a:solidFill>
              </a:rPr>
              <a:t>Deployment Technologies</a:t>
            </a:r>
            <a:endParaRPr>
              <a:solidFill>
                <a:srgbClr val="FF00FF"/>
              </a:solidFill>
            </a:endParaRPr>
          </a:p>
        </p:txBody>
      </p:sp>
      <p:pic>
        <p:nvPicPr>
          <p:cNvPr id="56" name="Google Shape;56;p13"/>
          <p:cNvPicPr preferRelativeResize="0"/>
          <p:nvPr/>
        </p:nvPicPr>
        <p:blipFill>
          <a:blip r:embed="rId3">
            <a:alphaModFix/>
          </a:blip>
          <a:stretch>
            <a:fillRect/>
          </a:stretch>
        </p:blipFill>
        <p:spPr>
          <a:xfrm>
            <a:off x="596375" y="4041963"/>
            <a:ext cx="8547614" cy="1211975"/>
          </a:xfrm>
          <a:prstGeom prst="rect">
            <a:avLst/>
          </a:prstGeom>
          <a:noFill/>
          <a:ln cap="flat" cmpd="sng" w="9525">
            <a:solidFill>
              <a:schemeClr val="lt1"/>
            </a:solidFill>
            <a:prstDash val="solid"/>
            <a:round/>
            <a:headEnd len="sm" w="sm" type="none"/>
            <a:tailEnd len="sm" w="sm" type="none"/>
          </a:ln>
        </p:spPr>
      </p:pic>
      <p:sp>
        <p:nvSpPr>
          <p:cNvPr id="57" name="Google Shape;57;p13"/>
          <p:cNvSpPr txBox="1"/>
          <p:nvPr>
            <p:ph idx="1" type="subTitle"/>
          </p:nvPr>
        </p:nvSpPr>
        <p:spPr>
          <a:xfrm>
            <a:off x="0" y="4435375"/>
            <a:ext cx="2750100" cy="6180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l" sz="1800">
                <a:solidFill>
                  <a:schemeClr val="dk1"/>
                </a:solidFill>
              </a:rPr>
              <a:t>Filotas Theodosiou</a:t>
            </a:r>
            <a:endParaRPr sz="1800">
              <a:solidFill>
                <a:schemeClr val="dk1"/>
              </a:solidFill>
            </a:endParaRPr>
          </a:p>
        </p:txBody>
      </p:sp>
      <p:pic>
        <p:nvPicPr>
          <p:cNvPr id="58" name="Google Shape;58;p13"/>
          <p:cNvPicPr preferRelativeResize="0"/>
          <p:nvPr/>
        </p:nvPicPr>
        <p:blipFill>
          <a:blip r:embed="rId4">
            <a:alphaModFix/>
          </a:blip>
          <a:stretch>
            <a:fillRect/>
          </a:stretch>
        </p:blipFill>
        <p:spPr>
          <a:xfrm>
            <a:off x="6447225" y="4152422"/>
            <a:ext cx="1101225" cy="99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What are we going talk about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are we going to talk about today</a:t>
            </a:r>
            <a:endParaRPr/>
          </a:p>
        </p:txBody>
      </p:sp>
      <p:pic>
        <p:nvPicPr>
          <p:cNvPr id="69" name="Google Shape;69;p15"/>
          <p:cNvPicPr preferRelativeResize="0"/>
          <p:nvPr/>
        </p:nvPicPr>
        <p:blipFill rotWithShape="1">
          <a:blip r:embed="rId3">
            <a:alphaModFix/>
          </a:blip>
          <a:srcRect b="-3270" l="13450" r="-13450" t="3269"/>
          <a:stretch/>
        </p:blipFill>
        <p:spPr>
          <a:xfrm>
            <a:off x="530799" y="1414621"/>
            <a:ext cx="1333950" cy="1141376"/>
          </a:xfrm>
          <a:prstGeom prst="rect">
            <a:avLst/>
          </a:prstGeom>
          <a:noFill/>
          <a:ln>
            <a:noFill/>
          </a:ln>
        </p:spPr>
      </p:pic>
      <p:pic>
        <p:nvPicPr>
          <p:cNvPr id="70" name="Google Shape;70;p15"/>
          <p:cNvPicPr preferRelativeResize="0"/>
          <p:nvPr/>
        </p:nvPicPr>
        <p:blipFill>
          <a:blip r:embed="rId4">
            <a:alphaModFix/>
          </a:blip>
          <a:stretch>
            <a:fillRect/>
          </a:stretch>
        </p:blipFill>
        <p:spPr>
          <a:xfrm>
            <a:off x="2243169" y="1359599"/>
            <a:ext cx="2502830" cy="1251425"/>
          </a:xfrm>
          <a:prstGeom prst="rect">
            <a:avLst/>
          </a:prstGeom>
          <a:noFill/>
          <a:ln>
            <a:noFill/>
          </a:ln>
        </p:spPr>
      </p:pic>
      <p:pic>
        <p:nvPicPr>
          <p:cNvPr id="71" name="Google Shape;71;p15"/>
          <p:cNvPicPr preferRelativeResize="0"/>
          <p:nvPr/>
        </p:nvPicPr>
        <p:blipFill>
          <a:blip r:embed="rId5">
            <a:alphaModFix/>
          </a:blip>
          <a:stretch>
            <a:fillRect/>
          </a:stretch>
        </p:blipFill>
        <p:spPr>
          <a:xfrm>
            <a:off x="5079625" y="1503949"/>
            <a:ext cx="2092475" cy="962725"/>
          </a:xfrm>
          <a:prstGeom prst="rect">
            <a:avLst/>
          </a:prstGeom>
          <a:noFill/>
          <a:ln>
            <a:noFill/>
          </a:ln>
        </p:spPr>
      </p:pic>
      <p:pic>
        <p:nvPicPr>
          <p:cNvPr id="72" name="Google Shape;72;p15"/>
          <p:cNvPicPr preferRelativeResize="0"/>
          <p:nvPr/>
        </p:nvPicPr>
        <p:blipFill>
          <a:blip r:embed="rId6">
            <a:alphaModFix/>
          </a:blip>
          <a:stretch>
            <a:fillRect/>
          </a:stretch>
        </p:blipFill>
        <p:spPr>
          <a:xfrm>
            <a:off x="7209470" y="1469647"/>
            <a:ext cx="1384377" cy="1141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p:cNvPicPr preferRelativeResize="0"/>
          <p:nvPr/>
        </p:nvPicPr>
        <p:blipFill>
          <a:blip r:embed="rId3">
            <a:alphaModFix/>
          </a:blip>
          <a:stretch>
            <a:fillRect/>
          </a:stretch>
        </p:blipFill>
        <p:spPr>
          <a:xfrm>
            <a:off x="2333451" y="98925"/>
            <a:ext cx="3819850" cy="4781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Git and GitHub</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3" name="Google Shape;83;p17"/>
          <p:cNvSpPr txBox="1"/>
          <p:nvPr>
            <p:ph idx="1" type="body"/>
          </p:nvPr>
        </p:nvSpPr>
        <p:spPr>
          <a:xfrm>
            <a:off x="311700" y="1446400"/>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l"/>
              <a:t>Version Control</a:t>
            </a:r>
            <a:endParaRPr/>
          </a:p>
          <a:p>
            <a:pPr indent="-342900" lvl="0" marL="457200" rtl="0" algn="l">
              <a:lnSpc>
                <a:spcPct val="150000"/>
              </a:lnSpc>
              <a:spcBef>
                <a:spcPts val="0"/>
              </a:spcBef>
              <a:spcAft>
                <a:spcPts val="0"/>
              </a:spcAft>
              <a:buSzPts val="1800"/>
              <a:buChar char="●"/>
            </a:pPr>
            <a:r>
              <a:rPr lang="el"/>
              <a:t>Git, Git repository</a:t>
            </a:r>
            <a:endParaRPr/>
          </a:p>
          <a:p>
            <a:pPr indent="-342900" lvl="0" marL="457200" rtl="0" algn="l">
              <a:lnSpc>
                <a:spcPct val="150000"/>
              </a:lnSpc>
              <a:spcBef>
                <a:spcPts val="0"/>
              </a:spcBef>
              <a:spcAft>
                <a:spcPts val="0"/>
              </a:spcAft>
              <a:buSzPts val="1800"/>
              <a:buChar char="●"/>
            </a:pPr>
            <a:r>
              <a:rPr lang="el"/>
              <a:t>Git vs Github</a:t>
            </a:r>
            <a:endParaRPr/>
          </a:p>
          <a:p>
            <a:pPr indent="-342900" lvl="0" marL="457200" rtl="0" algn="l">
              <a:lnSpc>
                <a:spcPct val="150000"/>
              </a:lnSpc>
              <a:spcBef>
                <a:spcPts val="0"/>
              </a:spcBef>
              <a:spcAft>
                <a:spcPts val="0"/>
              </a:spcAft>
              <a:buSzPts val="1800"/>
              <a:buChar char="●"/>
            </a:pPr>
            <a:r>
              <a:rPr lang="el"/>
              <a:t>Setup git environment</a:t>
            </a:r>
            <a:endParaRPr/>
          </a:p>
          <a:p>
            <a:pPr indent="-342900" lvl="0" marL="457200" rtl="0" algn="l">
              <a:lnSpc>
                <a:spcPct val="150000"/>
              </a:lnSpc>
              <a:spcBef>
                <a:spcPts val="0"/>
              </a:spcBef>
              <a:spcAft>
                <a:spcPts val="0"/>
              </a:spcAft>
              <a:buSzPts val="1800"/>
              <a:buChar char="●"/>
            </a:pPr>
            <a:r>
              <a:rPr lang="el"/>
              <a:t>Create a git repository</a:t>
            </a:r>
            <a:endParaRPr/>
          </a:p>
          <a:p>
            <a:pPr indent="-342900" lvl="0" marL="457200" rtl="0" algn="l">
              <a:lnSpc>
                <a:spcPct val="150000"/>
              </a:lnSpc>
              <a:spcBef>
                <a:spcPts val="0"/>
              </a:spcBef>
              <a:spcAft>
                <a:spcPts val="0"/>
              </a:spcAft>
              <a:buSzPts val="1800"/>
              <a:buChar char="●"/>
            </a:pPr>
            <a:r>
              <a:rPr lang="el"/>
              <a:t>Git tools</a:t>
            </a:r>
            <a:endParaRPr/>
          </a:p>
        </p:txBody>
      </p:sp>
      <p:pic>
        <p:nvPicPr>
          <p:cNvPr id="84" name="Google Shape;84;p17"/>
          <p:cNvPicPr preferRelativeResize="0"/>
          <p:nvPr/>
        </p:nvPicPr>
        <p:blipFill>
          <a:blip r:embed="rId3">
            <a:alphaModFix/>
          </a:blip>
          <a:stretch>
            <a:fillRect/>
          </a:stretch>
        </p:blipFill>
        <p:spPr>
          <a:xfrm>
            <a:off x="5156450" y="1134713"/>
            <a:ext cx="2505075" cy="1152525"/>
          </a:xfrm>
          <a:prstGeom prst="rect">
            <a:avLst/>
          </a:prstGeom>
          <a:noFill/>
          <a:ln>
            <a:noFill/>
          </a:ln>
        </p:spPr>
      </p:pic>
      <p:pic>
        <p:nvPicPr>
          <p:cNvPr id="85" name="Google Shape;85;p17"/>
          <p:cNvPicPr preferRelativeResize="0"/>
          <p:nvPr/>
        </p:nvPicPr>
        <p:blipFill>
          <a:blip r:embed="rId4">
            <a:alphaModFix/>
          </a:blip>
          <a:stretch>
            <a:fillRect/>
          </a:stretch>
        </p:blipFill>
        <p:spPr>
          <a:xfrm>
            <a:off x="5513638" y="2668263"/>
            <a:ext cx="1790700" cy="1476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version control?</a:t>
            </a:r>
            <a:endParaRPr/>
          </a:p>
        </p:txBody>
      </p:sp>
      <p:sp>
        <p:nvSpPr>
          <p:cNvPr id="91" name="Google Shape;91;p18"/>
          <p:cNvSpPr txBox="1"/>
          <p:nvPr>
            <p:ph idx="1" type="body"/>
          </p:nvPr>
        </p:nvSpPr>
        <p:spPr>
          <a:xfrm>
            <a:off x="311700" y="1219750"/>
            <a:ext cx="8520600" cy="342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600"/>
              <a:t>Four important reasons</a:t>
            </a:r>
            <a:endParaRPr sz="1600"/>
          </a:p>
          <a:p>
            <a:pPr indent="-330200" lvl="0" marL="457200" rtl="0" algn="l">
              <a:spcBef>
                <a:spcPts val="1200"/>
              </a:spcBef>
              <a:spcAft>
                <a:spcPts val="0"/>
              </a:spcAft>
              <a:buSzPts val="1600"/>
              <a:buAutoNum type="arabicPeriod"/>
            </a:pPr>
            <a:r>
              <a:rPr lang="el" sz="1600">
                <a:solidFill>
                  <a:srgbClr val="FF00FF"/>
                </a:solidFill>
              </a:rPr>
              <a:t>Collaboration </a:t>
            </a:r>
            <a:r>
              <a:rPr lang="el" sz="1600"/>
              <a:t>-&gt; develop simultaneously on different branches and collaborate</a:t>
            </a:r>
            <a:endParaRPr sz="1600"/>
          </a:p>
          <a:p>
            <a:pPr indent="-330200" lvl="0" marL="457200" rtl="0" algn="l">
              <a:spcBef>
                <a:spcPts val="0"/>
              </a:spcBef>
              <a:spcAft>
                <a:spcPts val="0"/>
              </a:spcAft>
              <a:buSzPts val="1600"/>
              <a:buAutoNum type="arabicPeriod"/>
            </a:pPr>
            <a:r>
              <a:rPr lang="el" sz="1600">
                <a:solidFill>
                  <a:srgbClr val="FF00FF"/>
                </a:solidFill>
              </a:rPr>
              <a:t>Versioning </a:t>
            </a:r>
            <a:r>
              <a:rPr lang="el" sz="1600"/>
              <a:t>-&gt; Keep history of previous versions</a:t>
            </a:r>
            <a:endParaRPr sz="1600"/>
          </a:p>
          <a:p>
            <a:pPr indent="-330200" lvl="0" marL="457200" rtl="0" algn="l">
              <a:spcBef>
                <a:spcPts val="0"/>
              </a:spcBef>
              <a:spcAft>
                <a:spcPts val="0"/>
              </a:spcAft>
              <a:buSzPts val="1600"/>
              <a:buAutoNum type="arabicPeriod"/>
            </a:pPr>
            <a:r>
              <a:rPr lang="el" sz="1600"/>
              <a:t>Rolling Back</a:t>
            </a:r>
            <a:endParaRPr sz="1600"/>
          </a:p>
          <a:p>
            <a:pPr indent="-330200" lvl="0" marL="457200" rtl="0" algn="l">
              <a:spcBef>
                <a:spcPts val="0"/>
              </a:spcBef>
              <a:spcAft>
                <a:spcPts val="0"/>
              </a:spcAft>
              <a:buSzPts val="1600"/>
              <a:buAutoNum type="arabicPeriod"/>
            </a:pPr>
            <a:r>
              <a:rPr lang="el" sz="1600"/>
              <a:t>Understanding</a:t>
            </a:r>
            <a:endParaRPr sz="1600"/>
          </a:p>
          <a:p>
            <a:pPr indent="0" lvl="0" marL="0" rtl="0" algn="l">
              <a:spcBef>
                <a:spcPts val="1200"/>
              </a:spcBef>
              <a:spcAft>
                <a:spcPts val="0"/>
              </a:spcAft>
              <a:buNone/>
            </a:pPr>
            <a:r>
              <a:rPr lang="el" sz="1600"/>
              <a:t>Imaginary (or not) scenario: Multiple students are doing a project together</a:t>
            </a:r>
            <a:endParaRPr sz="1600"/>
          </a:p>
          <a:p>
            <a:pPr indent="0" lvl="0" marL="0" rtl="0" algn="l">
              <a:spcBef>
                <a:spcPts val="1200"/>
              </a:spcBef>
              <a:spcAft>
                <a:spcPts val="1200"/>
              </a:spcAft>
              <a:buNone/>
            </a:pPr>
            <a:r>
              <a:rPr lang="el" sz="1600"/>
              <a:t>How do they communicate their changes?</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is Git?</a:t>
            </a:r>
            <a:endParaRPr/>
          </a:p>
        </p:txBody>
      </p:sp>
      <p:sp>
        <p:nvSpPr>
          <p:cNvPr id="97" name="Google Shape;97;p19"/>
          <p:cNvSpPr txBox="1"/>
          <p:nvPr>
            <p:ph idx="1" type="body"/>
          </p:nvPr>
        </p:nvSpPr>
        <p:spPr>
          <a:xfrm>
            <a:off x="311700" y="1234725"/>
            <a:ext cx="85206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l">
                <a:solidFill>
                  <a:srgbClr val="FF00FF"/>
                </a:solidFill>
              </a:rPr>
              <a:t>Git (Global Information Tracker) is distributed version-control system.</a:t>
            </a:r>
            <a:endParaRPr>
              <a:solidFill>
                <a:srgbClr val="FF00FF"/>
              </a:solidFill>
            </a:endParaRPr>
          </a:p>
          <a:p>
            <a:pPr indent="-342900" lvl="0" marL="457200" rtl="0" algn="l">
              <a:lnSpc>
                <a:spcPct val="150000"/>
              </a:lnSpc>
              <a:spcBef>
                <a:spcPts val="1200"/>
              </a:spcBef>
              <a:spcAft>
                <a:spcPts val="0"/>
              </a:spcAft>
              <a:buSzPts val="1800"/>
              <a:buChar char="●"/>
            </a:pPr>
            <a:r>
              <a:rPr lang="el"/>
              <a:t>You keep files in a repository on your local machine</a:t>
            </a:r>
            <a:endParaRPr/>
          </a:p>
          <a:p>
            <a:pPr indent="-342900" lvl="0" marL="457200" rtl="0" algn="l">
              <a:lnSpc>
                <a:spcPct val="150000"/>
              </a:lnSpc>
              <a:spcBef>
                <a:spcPts val="0"/>
              </a:spcBef>
              <a:spcAft>
                <a:spcPts val="0"/>
              </a:spcAft>
              <a:buSzPts val="1800"/>
              <a:buChar char="●"/>
            </a:pPr>
            <a:r>
              <a:rPr lang="el"/>
              <a:t>You synchronize your repository with a repository on a server</a:t>
            </a:r>
            <a:endParaRPr/>
          </a:p>
          <a:p>
            <a:pPr indent="-342900" lvl="0" marL="457200" rtl="0" algn="l">
              <a:lnSpc>
                <a:spcPct val="150000"/>
              </a:lnSpc>
              <a:spcBef>
                <a:spcPts val="0"/>
              </a:spcBef>
              <a:spcAft>
                <a:spcPts val="0"/>
              </a:spcAft>
              <a:buSzPts val="1800"/>
              <a:buChar char="●"/>
            </a:pPr>
            <a:r>
              <a:rPr lang="el"/>
              <a:t>Synchronizes changes when changing laptops.</a:t>
            </a:r>
            <a:endParaRPr/>
          </a:p>
          <a:p>
            <a:pPr indent="-342900" lvl="0" marL="457200" rtl="0" algn="l">
              <a:lnSpc>
                <a:spcPct val="150000"/>
              </a:lnSpc>
              <a:spcBef>
                <a:spcPts val="0"/>
              </a:spcBef>
              <a:spcAft>
                <a:spcPts val="0"/>
              </a:spcAft>
              <a:buSzPts val="1800"/>
              <a:buChar char="●"/>
            </a:pPr>
            <a:r>
              <a:rPr lang="el"/>
              <a:t>If you partners uploads some changes you can pick them up by synchronizing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Git vs Github</a:t>
            </a:r>
            <a:endParaRPr/>
          </a:p>
        </p:txBody>
      </p:sp>
      <p:pic>
        <p:nvPicPr>
          <p:cNvPr id="103" name="Google Shape;103;p20"/>
          <p:cNvPicPr preferRelativeResize="0"/>
          <p:nvPr/>
        </p:nvPicPr>
        <p:blipFill>
          <a:blip r:embed="rId3">
            <a:alphaModFix/>
          </a:blip>
          <a:stretch>
            <a:fillRect/>
          </a:stretch>
        </p:blipFill>
        <p:spPr>
          <a:xfrm>
            <a:off x="3364450" y="1159625"/>
            <a:ext cx="5580538" cy="3820975"/>
          </a:xfrm>
          <a:prstGeom prst="rect">
            <a:avLst/>
          </a:prstGeom>
          <a:noFill/>
          <a:ln>
            <a:noFill/>
          </a:ln>
        </p:spPr>
      </p:pic>
      <p:sp>
        <p:nvSpPr>
          <p:cNvPr id="104" name="Google Shape;104;p20"/>
          <p:cNvSpPr txBox="1"/>
          <p:nvPr/>
        </p:nvSpPr>
        <p:spPr>
          <a:xfrm>
            <a:off x="311700" y="2051100"/>
            <a:ext cx="2802600" cy="157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Github is a site for online storage of Git repositories.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You do not need to use Github in order to use Git</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Simple Model on Git</a:t>
            </a:r>
            <a:endParaRPr/>
          </a:p>
        </p:txBody>
      </p:sp>
      <p:sp>
        <p:nvSpPr>
          <p:cNvPr id="110" name="Google Shape;110;p21"/>
          <p:cNvSpPr txBox="1"/>
          <p:nvPr>
            <p:ph idx="1" type="body"/>
          </p:nvPr>
        </p:nvSpPr>
        <p:spPr>
          <a:xfrm>
            <a:off x="619175" y="4140950"/>
            <a:ext cx="2804700" cy="6438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1200"/>
              </a:spcAft>
              <a:buSzPts val="1018"/>
              <a:buNone/>
            </a:pPr>
            <a:r>
              <a:rPr lang="el" sz="1400"/>
              <a:t>Files on my local repository named: “my-project”</a:t>
            </a:r>
            <a:endParaRPr sz="1400"/>
          </a:p>
        </p:txBody>
      </p:sp>
      <p:grpSp>
        <p:nvGrpSpPr>
          <p:cNvPr id="111" name="Google Shape;111;p21"/>
          <p:cNvGrpSpPr/>
          <p:nvPr/>
        </p:nvGrpSpPr>
        <p:grpSpPr>
          <a:xfrm>
            <a:off x="537421" y="1179902"/>
            <a:ext cx="3175424" cy="2491667"/>
            <a:chOff x="0" y="1151006"/>
            <a:chExt cx="2209759" cy="1719221"/>
          </a:xfrm>
        </p:grpSpPr>
        <p:sp>
          <p:nvSpPr>
            <p:cNvPr id="112" name="Google Shape;112;p21"/>
            <p:cNvSpPr/>
            <p:nvPr/>
          </p:nvSpPr>
          <p:spPr>
            <a:xfrm>
              <a:off x="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1"/>
            <p:cNvSpPr txBox="1"/>
            <p:nvPr/>
          </p:nvSpPr>
          <p:spPr>
            <a:xfrm>
              <a:off x="850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my-project</a:t>
              </a:r>
              <a:endParaRPr sz="600">
                <a:solidFill>
                  <a:srgbClr val="FFFFFF"/>
                </a:solidFill>
                <a:latin typeface="Calibri"/>
                <a:ea typeface="Calibri"/>
                <a:cs typeface="Calibri"/>
                <a:sym typeface="Calibri"/>
              </a:endParaRPr>
            </a:p>
          </p:txBody>
        </p:sp>
        <p:sp>
          <p:nvSpPr>
            <p:cNvPr id="114" name="Google Shape;114;p21"/>
            <p:cNvSpPr/>
            <p:nvPr/>
          </p:nvSpPr>
          <p:spPr>
            <a:xfrm>
              <a:off x="580745" y="1320547"/>
              <a:ext cx="123300" cy="12900"/>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1"/>
            <p:cNvSpPr txBox="1"/>
            <p:nvPr/>
          </p:nvSpPr>
          <p:spPr>
            <a:xfrm>
              <a:off x="639363" y="1323933"/>
              <a:ext cx="6300" cy="63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16" name="Google Shape;116;p21"/>
            <p:cNvSpPr/>
            <p:nvPr/>
          </p:nvSpPr>
          <p:spPr>
            <a:xfrm>
              <a:off x="70415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1"/>
            <p:cNvSpPr txBox="1"/>
            <p:nvPr/>
          </p:nvSpPr>
          <p:spPr>
            <a:xfrm>
              <a:off x="71265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docs</a:t>
              </a:r>
              <a:endParaRPr sz="600">
                <a:solidFill>
                  <a:srgbClr val="FFFFFF"/>
                </a:solidFill>
                <a:latin typeface="Calibri"/>
                <a:ea typeface="Calibri"/>
                <a:cs typeface="Calibri"/>
                <a:sym typeface="Calibri"/>
              </a:endParaRPr>
            </a:p>
          </p:txBody>
        </p:sp>
        <p:sp>
          <p:nvSpPr>
            <p:cNvPr id="118" name="Google Shape;118;p21"/>
            <p:cNvSpPr/>
            <p:nvPr/>
          </p:nvSpPr>
          <p:spPr>
            <a:xfrm rot="-307882">
              <a:off x="1284226" y="1305095"/>
              <a:ext cx="345485" cy="129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1"/>
            <p:cNvSpPr txBox="1"/>
            <p:nvPr/>
          </p:nvSpPr>
          <p:spPr>
            <a:xfrm rot="-300787">
              <a:off x="1448272" y="1302991"/>
              <a:ext cx="17166" cy="171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20" name="Google Shape;120;p21"/>
            <p:cNvSpPr/>
            <p:nvPr/>
          </p:nvSpPr>
          <p:spPr>
            <a:xfrm>
              <a:off x="1628959" y="1151006"/>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1"/>
            <p:cNvSpPr txBox="1"/>
            <p:nvPr/>
          </p:nvSpPr>
          <p:spPr>
            <a:xfrm>
              <a:off x="1637464" y="1159511"/>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manual.docx</a:t>
              </a:r>
              <a:endParaRPr sz="600">
                <a:solidFill>
                  <a:srgbClr val="FFFFFF"/>
                </a:solidFill>
                <a:latin typeface="Calibri"/>
                <a:ea typeface="Calibri"/>
                <a:cs typeface="Calibri"/>
                <a:sym typeface="Calibri"/>
              </a:endParaRPr>
            </a:p>
          </p:txBody>
        </p:sp>
        <p:sp>
          <p:nvSpPr>
            <p:cNvPr id="122" name="Google Shape;122;p21"/>
            <p:cNvSpPr/>
            <p:nvPr/>
          </p:nvSpPr>
          <p:spPr>
            <a:xfrm rot="2156727">
              <a:off x="1245287" y="1442828"/>
              <a:ext cx="416514" cy="12903"/>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nvSpPr>
          <p:spPr>
            <a:xfrm rot="2172567">
              <a:off x="1443057" y="1438898"/>
              <a:ext cx="20821" cy="2082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24" name="Google Shape;124;p21"/>
            <p:cNvSpPr/>
            <p:nvPr/>
          </p:nvSpPr>
          <p:spPr>
            <a:xfrm>
              <a:off x="1622176" y="1426404"/>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nvSpPr>
          <p:spPr>
            <a:xfrm>
              <a:off x="1630681" y="1434909"/>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user_docs.docx</a:t>
              </a:r>
              <a:endParaRPr sz="600">
                <a:solidFill>
                  <a:srgbClr val="FFFFFF"/>
                </a:solidFill>
                <a:latin typeface="Calibri"/>
                <a:ea typeface="Calibri"/>
                <a:cs typeface="Calibri"/>
                <a:sym typeface="Calibri"/>
              </a:endParaRPr>
            </a:p>
          </p:txBody>
        </p:sp>
        <p:sp>
          <p:nvSpPr>
            <p:cNvPr id="126" name="Google Shape;126;p21"/>
            <p:cNvSpPr/>
            <p:nvPr/>
          </p:nvSpPr>
          <p:spPr>
            <a:xfrm rot="4503976">
              <a:off x="403116" y="1551637"/>
              <a:ext cx="478460" cy="13025"/>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txBox="1"/>
            <p:nvPr/>
          </p:nvSpPr>
          <p:spPr>
            <a:xfrm rot="4484693">
              <a:off x="630551" y="1546305"/>
              <a:ext cx="23944" cy="2394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28" name="Google Shape;128;p21"/>
            <p:cNvSpPr/>
            <p:nvPr/>
          </p:nvSpPr>
          <p:spPr>
            <a:xfrm>
              <a:off x="704150" y="1644239"/>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txBox="1"/>
            <p:nvPr/>
          </p:nvSpPr>
          <p:spPr>
            <a:xfrm>
              <a:off x="712655" y="1652744"/>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src</a:t>
              </a:r>
              <a:endParaRPr sz="600">
                <a:solidFill>
                  <a:srgbClr val="FFFFFF"/>
                </a:solidFill>
                <a:latin typeface="Calibri"/>
                <a:ea typeface="Calibri"/>
                <a:cs typeface="Calibri"/>
                <a:sym typeface="Calibri"/>
              </a:endParaRPr>
            </a:p>
          </p:txBody>
        </p:sp>
        <p:sp>
          <p:nvSpPr>
            <p:cNvPr id="130" name="Google Shape;130;p21"/>
            <p:cNvSpPr/>
            <p:nvPr/>
          </p:nvSpPr>
          <p:spPr>
            <a:xfrm rot="1093949">
              <a:off x="1276061" y="1837532"/>
              <a:ext cx="349023"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1"/>
            <p:cNvSpPr txBox="1"/>
            <p:nvPr/>
          </p:nvSpPr>
          <p:spPr>
            <a:xfrm rot="1087312">
              <a:off x="1441897" y="1835318"/>
              <a:ext cx="17361" cy="1736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32" name="Google Shape;132;p21"/>
            <p:cNvSpPr/>
            <p:nvPr/>
          </p:nvSpPr>
          <p:spPr>
            <a:xfrm>
              <a:off x="1616264" y="1753518"/>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1"/>
            <p:cNvSpPr txBox="1"/>
            <p:nvPr/>
          </p:nvSpPr>
          <p:spPr>
            <a:xfrm>
              <a:off x="1624769" y="1762023"/>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main.rkt</a:t>
              </a:r>
              <a:endParaRPr sz="600">
                <a:solidFill>
                  <a:srgbClr val="FFFFFF"/>
                </a:solidFill>
                <a:latin typeface="Calibri"/>
                <a:ea typeface="Calibri"/>
                <a:cs typeface="Calibri"/>
                <a:sym typeface="Calibri"/>
              </a:endParaRPr>
            </a:p>
          </p:txBody>
        </p:sp>
        <p:sp>
          <p:nvSpPr>
            <p:cNvPr id="134" name="Google Shape;134;p21"/>
            <p:cNvSpPr/>
            <p:nvPr/>
          </p:nvSpPr>
          <p:spPr>
            <a:xfrm rot="2930013">
              <a:off x="1199846" y="1970488"/>
              <a:ext cx="498140" cy="127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1"/>
            <p:cNvSpPr txBox="1"/>
            <p:nvPr/>
          </p:nvSpPr>
          <p:spPr>
            <a:xfrm rot="2932711">
              <a:off x="1436319" y="1964536"/>
              <a:ext cx="25089" cy="2508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36" name="Google Shape;136;p21"/>
            <p:cNvSpPr/>
            <p:nvPr/>
          </p:nvSpPr>
          <p:spPr>
            <a:xfrm>
              <a:off x="1612878" y="2019300"/>
              <a:ext cx="5631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1"/>
            <p:cNvSpPr txBox="1"/>
            <p:nvPr/>
          </p:nvSpPr>
          <p:spPr>
            <a:xfrm>
              <a:off x="1621383" y="2027805"/>
              <a:ext cx="5460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module1.rkt</a:t>
              </a:r>
              <a:endParaRPr sz="600">
                <a:solidFill>
                  <a:srgbClr val="FFFFFF"/>
                </a:solidFill>
                <a:latin typeface="Calibri"/>
                <a:ea typeface="Calibri"/>
                <a:cs typeface="Calibri"/>
                <a:sym typeface="Calibri"/>
              </a:endParaRPr>
            </a:p>
          </p:txBody>
        </p:sp>
        <p:sp>
          <p:nvSpPr>
            <p:cNvPr id="138" name="Google Shape;138;p21"/>
            <p:cNvSpPr/>
            <p:nvPr/>
          </p:nvSpPr>
          <p:spPr>
            <a:xfrm rot="3804838">
              <a:off x="1082447" y="2110472"/>
              <a:ext cx="732670" cy="13015"/>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txBox="1"/>
            <p:nvPr/>
          </p:nvSpPr>
          <p:spPr>
            <a:xfrm rot="3793505">
              <a:off x="1430657" y="2098791"/>
              <a:ext cx="36627" cy="3662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40" name="Google Shape;140;p21"/>
            <p:cNvSpPr/>
            <p:nvPr/>
          </p:nvSpPr>
          <p:spPr>
            <a:xfrm>
              <a:off x="1612878" y="229956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1"/>
            <p:cNvSpPr txBox="1"/>
            <p:nvPr/>
          </p:nvSpPr>
          <p:spPr>
            <a:xfrm>
              <a:off x="1621383" y="230806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module2.rkt</a:t>
              </a:r>
              <a:endParaRPr sz="600">
                <a:solidFill>
                  <a:srgbClr val="FFFFFF"/>
                </a:solidFill>
                <a:latin typeface="Calibri"/>
                <a:ea typeface="Calibri"/>
                <a:cs typeface="Calibri"/>
                <a:sym typeface="Calibri"/>
              </a:endParaRPr>
            </a:p>
          </p:txBody>
        </p:sp>
        <p:sp>
          <p:nvSpPr>
            <p:cNvPr id="142" name="Google Shape;142;p21"/>
            <p:cNvSpPr/>
            <p:nvPr/>
          </p:nvSpPr>
          <p:spPr>
            <a:xfrm rot="4241272">
              <a:off x="953057" y="2250737"/>
              <a:ext cx="991490"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1"/>
            <p:cNvSpPr txBox="1"/>
            <p:nvPr/>
          </p:nvSpPr>
          <p:spPr>
            <a:xfrm rot="4234751">
              <a:off x="1424115" y="2232468"/>
              <a:ext cx="49623" cy="4962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44" name="Google Shape;144;p21"/>
            <p:cNvSpPr/>
            <p:nvPr/>
          </p:nvSpPr>
          <p:spPr>
            <a:xfrm>
              <a:off x="1612878" y="2579827"/>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1"/>
            <p:cNvSpPr txBox="1"/>
            <p:nvPr/>
          </p:nvSpPr>
          <p:spPr>
            <a:xfrm>
              <a:off x="1621383" y="2588332"/>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module3.rkt</a:t>
              </a:r>
              <a:endParaRPr sz="600">
                <a:solidFill>
                  <a:srgbClr val="FFFFFF"/>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Git Repository</a:t>
            </a:r>
            <a:endParaRPr/>
          </a:p>
        </p:txBody>
      </p:sp>
      <p:grpSp>
        <p:nvGrpSpPr>
          <p:cNvPr id="151" name="Google Shape;151;p22"/>
          <p:cNvGrpSpPr/>
          <p:nvPr/>
        </p:nvGrpSpPr>
        <p:grpSpPr>
          <a:xfrm>
            <a:off x="153950" y="2629906"/>
            <a:ext cx="2209759" cy="1719221"/>
            <a:chOff x="0" y="1151006"/>
            <a:chExt cx="2209759" cy="1719221"/>
          </a:xfrm>
        </p:grpSpPr>
        <p:sp>
          <p:nvSpPr>
            <p:cNvPr id="152" name="Google Shape;152;p22"/>
            <p:cNvSpPr/>
            <p:nvPr/>
          </p:nvSpPr>
          <p:spPr>
            <a:xfrm>
              <a:off x="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2"/>
            <p:cNvSpPr txBox="1"/>
            <p:nvPr/>
          </p:nvSpPr>
          <p:spPr>
            <a:xfrm>
              <a:off x="850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my-project</a:t>
              </a:r>
              <a:endParaRPr sz="600">
                <a:solidFill>
                  <a:srgbClr val="FFFFFF"/>
                </a:solidFill>
                <a:latin typeface="Calibri"/>
                <a:ea typeface="Calibri"/>
                <a:cs typeface="Calibri"/>
                <a:sym typeface="Calibri"/>
              </a:endParaRPr>
            </a:p>
          </p:txBody>
        </p:sp>
        <p:sp>
          <p:nvSpPr>
            <p:cNvPr id="154" name="Google Shape;154;p22"/>
            <p:cNvSpPr/>
            <p:nvPr/>
          </p:nvSpPr>
          <p:spPr>
            <a:xfrm>
              <a:off x="580745" y="1320547"/>
              <a:ext cx="123300" cy="12900"/>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2"/>
            <p:cNvSpPr txBox="1"/>
            <p:nvPr/>
          </p:nvSpPr>
          <p:spPr>
            <a:xfrm>
              <a:off x="639363" y="1323933"/>
              <a:ext cx="6300" cy="63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56" name="Google Shape;156;p22"/>
            <p:cNvSpPr/>
            <p:nvPr/>
          </p:nvSpPr>
          <p:spPr>
            <a:xfrm>
              <a:off x="70415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txBox="1"/>
            <p:nvPr/>
          </p:nvSpPr>
          <p:spPr>
            <a:xfrm>
              <a:off x="71265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docs</a:t>
              </a:r>
              <a:endParaRPr sz="600">
                <a:solidFill>
                  <a:srgbClr val="FFFFFF"/>
                </a:solidFill>
                <a:latin typeface="Calibri"/>
                <a:ea typeface="Calibri"/>
                <a:cs typeface="Calibri"/>
                <a:sym typeface="Calibri"/>
              </a:endParaRPr>
            </a:p>
          </p:txBody>
        </p:sp>
        <p:sp>
          <p:nvSpPr>
            <p:cNvPr id="158" name="Google Shape;158;p22"/>
            <p:cNvSpPr/>
            <p:nvPr/>
          </p:nvSpPr>
          <p:spPr>
            <a:xfrm rot="-307882">
              <a:off x="1284226" y="1305095"/>
              <a:ext cx="345485" cy="129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2"/>
            <p:cNvSpPr txBox="1"/>
            <p:nvPr/>
          </p:nvSpPr>
          <p:spPr>
            <a:xfrm rot="-300787">
              <a:off x="1448272" y="1302991"/>
              <a:ext cx="17166" cy="171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60" name="Google Shape;160;p22"/>
            <p:cNvSpPr/>
            <p:nvPr/>
          </p:nvSpPr>
          <p:spPr>
            <a:xfrm>
              <a:off x="1628959" y="1151006"/>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2"/>
            <p:cNvSpPr txBox="1"/>
            <p:nvPr/>
          </p:nvSpPr>
          <p:spPr>
            <a:xfrm>
              <a:off x="1637464" y="1159511"/>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manual.docx</a:t>
              </a:r>
              <a:endParaRPr sz="600">
                <a:solidFill>
                  <a:srgbClr val="FFFFFF"/>
                </a:solidFill>
                <a:latin typeface="Calibri"/>
                <a:ea typeface="Calibri"/>
                <a:cs typeface="Calibri"/>
                <a:sym typeface="Calibri"/>
              </a:endParaRPr>
            </a:p>
          </p:txBody>
        </p:sp>
        <p:sp>
          <p:nvSpPr>
            <p:cNvPr id="162" name="Google Shape;162;p22"/>
            <p:cNvSpPr/>
            <p:nvPr/>
          </p:nvSpPr>
          <p:spPr>
            <a:xfrm rot="2156727">
              <a:off x="1245287" y="1442828"/>
              <a:ext cx="416514" cy="12903"/>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2"/>
            <p:cNvSpPr txBox="1"/>
            <p:nvPr/>
          </p:nvSpPr>
          <p:spPr>
            <a:xfrm rot="2172567">
              <a:off x="1443057" y="1438898"/>
              <a:ext cx="20821" cy="2082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64" name="Google Shape;164;p22"/>
            <p:cNvSpPr/>
            <p:nvPr/>
          </p:nvSpPr>
          <p:spPr>
            <a:xfrm>
              <a:off x="1622176" y="1426404"/>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2"/>
            <p:cNvSpPr txBox="1"/>
            <p:nvPr/>
          </p:nvSpPr>
          <p:spPr>
            <a:xfrm>
              <a:off x="1630681" y="1434909"/>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user_docs.docx</a:t>
              </a:r>
              <a:endParaRPr sz="600">
                <a:solidFill>
                  <a:srgbClr val="FFFFFF"/>
                </a:solidFill>
                <a:latin typeface="Calibri"/>
                <a:ea typeface="Calibri"/>
                <a:cs typeface="Calibri"/>
                <a:sym typeface="Calibri"/>
              </a:endParaRPr>
            </a:p>
          </p:txBody>
        </p:sp>
        <p:sp>
          <p:nvSpPr>
            <p:cNvPr id="166" name="Google Shape;166;p22"/>
            <p:cNvSpPr/>
            <p:nvPr/>
          </p:nvSpPr>
          <p:spPr>
            <a:xfrm rot="4503976">
              <a:off x="403116" y="1551637"/>
              <a:ext cx="478460" cy="13025"/>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txBox="1"/>
            <p:nvPr/>
          </p:nvSpPr>
          <p:spPr>
            <a:xfrm rot="4484693">
              <a:off x="630551" y="1546305"/>
              <a:ext cx="23944" cy="2394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68" name="Google Shape;168;p22"/>
            <p:cNvSpPr/>
            <p:nvPr/>
          </p:nvSpPr>
          <p:spPr>
            <a:xfrm>
              <a:off x="704150" y="1644239"/>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2"/>
            <p:cNvSpPr txBox="1"/>
            <p:nvPr/>
          </p:nvSpPr>
          <p:spPr>
            <a:xfrm>
              <a:off x="712655" y="1652744"/>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src</a:t>
              </a:r>
              <a:endParaRPr sz="600">
                <a:solidFill>
                  <a:srgbClr val="FFFFFF"/>
                </a:solidFill>
                <a:latin typeface="Calibri"/>
                <a:ea typeface="Calibri"/>
                <a:cs typeface="Calibri"/>
                <a:sym typeface="Calibri"/>
              </a:endParaRPr>
            </a:p>
          </p:txBody>
        </p:sp>
        <p:sp>
          <p:nvSpPr>
            <p:cNvPr id="170" name="Google Shape;170;p22"/>
            <p:cNvSpPr/>
            <p:nvPr/>
          </p:nvSpPr>
          <p:spPr>
            <a:xfrm rot="1093949">
              <a:off x="1276061" y="1837532"/>
              <a:ext cx="349023"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2"/>
            <p:cNvSpPr txBox="1"/>
            <p:nvPr/>
          </p:nvSpPr>
          <p:spPr>
            <a:xfrm rot="1087312">
              <a:off x="1441897" y="1835318"/>
              <a:ext cx="17361" cy="1736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72" name="Google Shape;172;p22"/>
            <p:cNvSpPr/>
            <p:nvPr/>
          </p:nvSpPr>
          <p:spPr>
            <a:xfrm>
              <a:off x="1616264" y="1753518"/>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
            <p:cNvSpPr txBox="1"/>
            <p:nvPr/>
          </p:nvSpPr>
          <p:spPr>
            <a:xfrm>
              <a:off x="1624769" y="1762023"/>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main.rkt</a:t>
              </a:r>
              <a:endParaRPr sz="600">
                <a:solidFill>
                  <a:srgbClr val="FFFFFF"/>
                </a:solidFill>
                <a:latin typeface="Calibri"/>
                <a:ea typeface="Calibri"/>
                <a:cs typeface="Calibri"/>
                <a:sym typeface="Calibri"/>
              </a:endParaRPr>
            </a:p>
          </p:txBody>
        </p:sp>
        <p:sp>
          <p:nvSpPr>
            <p:cNvPr id="174" name="Google Shape;174;p22"/>
            <p:cNvSpPr/>
            <p:nvPr/>
          </p:nvSpPr>
          <p:spPr>
            <a:xfrm rot="2930013">
              <a:off x="1199846" y="1970488"/>
              <a:ext cx="498140" cy="127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2"/>
            <p:cNvSpPr txBox="1"/>
            <p:nvPr/>
          </p:nvSpPr>
          <p:spPr>
            <a:xfrm rot="2932711">
              <a:off x="1436319" y="1964536"/>
              <a:ext cx="25089" cy="2508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76" name="Google Shape;176;p22"/>
            <p:cNvSpPr/>
            <p:nvPr/>
          </p:nvSpPr>
          <p:spPr>
            <a:xfrm>
              <a:off x="1612878" y="2019300"/>
              <a:ext cx="5631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2"/>
            <p:cNvSpPr txBox="1"/>
            <p:nvPr/>
          </p:nvSpPr>
          <p:spPr>
            <a:xfrm>
              <a:off x="1621383" y="2027805"/>
              <a:ext cx="5460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module1.rkt</a:t>
              </a:r>
              <a:endParaRPr sz="600">
                <a:solidFill>
                  <a:srgbClr val="FFFFFF"/>
                </a:solidFill>
                <a:latin typeface="Calibri"/>
                <a:ea typeface="Calibri"/>
                <a:cs typeface="Calibri"/>
                <a:sym typeface="Calibri"/>
              </a:endParaRPr>
            </a:p>
          </p:txBody>
        </p:sp>
        <p:sp>
          <p:nvSpPr>
            <p:cNvPr id="178" name="Google Shape;178;p22"/>
            <p:cNvSpPr/>
            <p:nvPr/>
          </p:nvSpPr>
          <p:spPr>
            <a:xfrm rot="3804838">
              <a:off x="1082447" y="2110472"/>
              <a:ext cx="732670" cy="13015"/>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2"/>
            <p:cNvSpPr txBox="1"/>
            <p:nvPr/>
          </p:nvSpPr>
          <p:spPr>
            <a:xfrm rot="3793505">
              <a:off x="1430657" y="2098791"/>
              <a:ext cx="36627" cy="3662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80" name="Google Shape;180;p22"/>
            <p:cNvSpPr/>
            <p:nvPr/>
          </p:nvSpPr>
          <p:spPr>
            <a:xfrm>
              <a:off x="1612878" y="229956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
            <p:cNvSpPr txBox="1"/>
            <p:nvPr/>
          </p:nvSpPr>
          <p:spPr>
            <a:xfrm>
              <a:off x="1621383" y="230806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module2.rkt</a:t>
              </a:r>
              <a:endParaRPr sz="600">
                <a:solidFill>
                  <a:srgbClr val="FFFFFF"/>
                </a:solidFill>
                <a:latin typeface="Calibri"/>
                <a:ea typeface="Calibri"/>
                <a:cs typeface="Calibri"/>
                <a:sym typeface="Calibri"/>
              </a:endParaRPr>
            </a:p>
          </p:txBody>
        </p:sp>
        <p:sp>
          <p:nvSpPr>
            <p:cNvPr id="182" name="Google Shape;182;p22"/>
            <p:cNvSpPr/>
            <p:nvPr/>
          </p:nvSpPr>
          <p:spPr>
            <a:xfrm rot="4241272">
              <a:off x="953057" y="2250737"/>
              <a:ext cx="991490"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2"/>
            <p:cNvSpPr txBox="1"/>
            <p:nvPr/>
          </p:nvSpPr>
          <p:spPr>
            <a:xfrm rot="4234751">
              <a:off x="1424115" y="2232468"/>
              <a:ext cx="49623" cy="4962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184" name="Google Shape;184;p22"/>
            <p:cNvSpPr/>
            <p:nvPr/>
          </p:nvSpPr>
          <p:spPr>
            <a:xfrm>
              <a:off x="1612878" y="2579827"/>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txBox="1"/>
            <p:nvPr/>
          </p:nvSpPr>
          <p:spPr>
            <a:xfrm>
              <a:off x="1621383" y="2588332"/>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module3.rkt</a:t>
              </a:r>
              <a:endParaRPr sz="600">
                <a:solidFill>
                  <a:srgbClr val="FFFFFF"/>
                </a:solidFill>
                <a:latin typeface="Calibri"/>
                <a:ea typeface="Calibri"/>
                <a:cs typeface="Calibri"/>
                <a:sym typeface="Calibri"/>
              </a:endParaRPr>
            </a:p>
          </p:txBody>
        </p:sp>
      </p:grpSp>
      <p:sp>
        <p:nvSpPr>
          <p:cNvPr id="186" name="Google Shape;186;p22"/>
          <p:cNvSpPr/>
          <p:nvPr/>
        </p:nvSpPr>
        <p:spPr>
          <a:xfrm>
            <a:off x="1296950" y="1859900"/>
            <a:ext cx="1052400" cy="602400"/>
          </a:xfrm>
          <a:prstGeom prst="roundRect">
            <a:avLst>
              <a:gd fmla="val 10000" name="adj"/>
            </a:avLst>
          </a:prstGeom>
          <a:solidFill>
            <a:srgbClr val="FF00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187" name="Google Shape;187;p22"/>
          <p:cNvSpPr/>
          <p:nvPr/>
        </p:nvSpPr>
        <p:spPr>
          <a:xfrm>
            <a:off x="2897150" y="15859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188" name="Google Shape;188;p22"/>
          <p:cNvCxnSpPr>
            <a:stCxn id="186" idx="3"/>
            <a:endCxn id="187" idx="2"/>
          </p:cNvCxnSpPr>
          <p:nvPr/>
        </p:nvCxnSpPr>
        <p:spPr>
          <a:xfrm>
            <a:off x="2349350" y="21611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189" name="Google Shape;189;p22"/>
          <p:cNvCxnSpPr>
            <a:endCxn id="186" idx="1"/>
          </p:cNvCxnSpPr>
          <p:nvPr/>
        </p:nvCxnSpPr>
        <p:spPr>
          <a:xfrm flipH="1" rot="10800000">
            <a:off x="687350" y="2161100"/>
            <a:ext cx="609600" cy="689400"/>
          </a:xfrm>
          <a:prstGeom prst="straightConnector1">
            <a:avLst/>
          </a:prstGeom>
          <a:noFill/>
          <a:ln cap="flat" cmpd="sng" w="9525">
            <a:solidFill>
              <a:srgbClr val="4A7DBA"/>
            </a:solidFill>
            <a:prstDash val="solid"/>
            <a:round/>
            <a:headEnd len="sm" w="sm" type="none"/>
            <a:tailEnd len="med" w="med" type="stealth"/>
          </a:ln>
        </p:spPr>
      </p:cxnSp>
      <p:sp>
        <p:nvSpPr>
          <p:cNvPr id="190" name="Google Shape;190;p22"/>
          <p:cNvSpPr txBox="1"/>
          <p:nvPr/>
        </p:nvSpPr>
        <p:spPr>
          <a:xfrm>
            <a:off x="4126475" y="1333225"/>
            <a:ext cx="4986900" cy="21057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50000"/>
              </a:lnSpc>
              <a:spcBef>
                <a:spcPts val="0"/>
              </a:spcBef>
              <a:spcAft>
                <a:spcPts val="0"/>
              </a:spcAft>
              <a:buSzPts val="1400"/>
              <a:buAutoNum type="arabicPeriod"/>
            </a:pPr>
            <a:r>
              <a:rPr lang="el"/>
              <a:t>You initialize a git repository with .git p</a:t>
            </a:r>
            <a:r>
              <a:rPr lang="el">
                <a:solidFill>
                  <a:srgbClr val="000000"/>
                </a:solidFill>
              </a:rPr>
              <a:t>oint</a:t>
            </a:r>
            <a:r>
              <a:rPr lang="el"/>
              <a:t>ing</a:t>
            </a:r>
            <a:r>
              <a:rPr lang="el">
                <a:solidFill>
                  <a:srgbClr val="000000"/>
                </a:solidFill>
              </a:rPr>
              <a:t> at a mini-filesystem.   </a:t>
            </a:r>
            <a:endParaRPr/>
          </a:p>
          <a:p>
            <a:pPr indent="-317500" lvl="0" marL="457200" marR="0" rtl="0" algn="l">
              <a:lnSpc>
                <a:spcPct val="150000"/>
              </a:lnSpc>
              <a:spcBef>
                <a:spcPts val="0"/>
              </a:spcBef>
              <a:spcAft>
                <a:spcPts val="0"/>
              </a:spcAft>
              <a:buSzPts val="1400"/>
              <a:buAutoNum type="arabicPeriod"/>
            </a:pPr>
            <a:r>
              <a:rPr lang="el"/>
              <a:t>It keeps</a:t>
            </a:r>
            <a:r>
              <a:rPr lang="el">
                <a:solidFill>
                  <a:srgbClr val="000000"/>
                </a:solidFill>
              </a:rPr>
              <a:t> all your data, plus the </a:t>
            </a:r>
            <a:r>
              <a:rPr lang="el"/>
              <a:t>instructions</a:t>
            </a:r>
            <a:r>
              <a:rPr lang="el">
                <a:solidFill>
                  <a:srgbClr val="000000"/>
                </a:solidFill>
              </a:rPr>
              <a:t> git needs to do its job.  </a:t>
            </a:r>
            <a:endParaRPr/>
          </a:p>
          <a:p>
            <a:pPr indent="-317500" lvl="0" marL="457200" marR="0" rtl="0" algn="l">
              <a:lnSpc>
                <a:spcPct val="150000"/>
              </a:lnSpc>
              <a:spcBef>
                <a:spcPts val="0"/>
              </a:spcBef>
              <a:spcAft>
                <a:spcPts val="0"/>
              </a:spcAft>
              <a:buClr>
                <a:srgbClr val="000000"/>
              </a:buClr>
              <a:buSzPts val="1400"/>
              <a:buAutoNum type="arabicPeriod"/>
            </a:pPr>
            <a:r>
              <a:rPr lang="el">
                <a:solidFill>
                  <a:srgbClr val="000000"/>
                </a:solidFill>
              </a:rPr>
              <a:t>All this sits on your local machine.</a:t>
            </a:r>
            <a:endParaRPr/>
          </a:p>
          <a:p>
            <a:pPr indent="-317500" lvl="0" marL="457200" marR="0" rtl="0" algn="l">
              <a:lnSpc>
                <a:spcPct val="150000"/>
              </a:lnSpc>
              <a:spcBef>
                <a:spcPts val="0"/>
              </a:spcBef>
              <a:spcAft>
                <a:spcPts val="0"/>
              </a:spcAft>
              <a:buSzPts val="1400"/>
              <a:buAutoNum type="arabicPeriod"/>
            </a:pPr>
            <a:r>
              <a:rPr lang="el"/>
              <a:t>Github (git client) manages .git for you.</a:t>
            </a:r>
            <a:endParaRPr/>
          </a:p>
        </p:txBody>
      </p:sp>
      <p:sp>
        <p:nvSpPr>
          <p:cNvPr id="191" name="Google Shape;191;p22"/>
          <p:cNvSpPr/>
          <p:nvPr/>
        </p:nvSpPr>
        <p:spPr>
          <a:xfrm>
            <a:off x="1908550" y="1374000"/>
            <a:ext cx="2225400" cy="424025"/>
          </a:xfrm>
          <a:custGeom>
            <a:rect b="b" l="l" r="r" t="t"/>
            <a:pathLst>
              <a:path extrusionOk="0" h="16961" w="89016">
                <a:moveTo>
                  <a:pt x="0" y="16961"/>
                </a:moveTo>
                <a:cubicBezTo>
                  <a:pt x="5699" y="14210"/>
                  <a:pt x="19356" y="2468"/>
                  <a:pt x="34192" y="454"/>
                </a:cubicBezTo>
                <a:cubicBezTo>
                  <a:pt x="49028" y="-1560"/>
                  <a:pt x="79879" y="4139"/>
                  <a:pt x="89016" y="4876"/>
                </a:cubicBezTo>
              </a:path>
            </a:pathLst>
          </a:custGeom>
          <a:noFill/>
          <a:ln cap="flat" cmpd="sng" w="19050">
            <a:solidFill>
              <a:schemeClr val="dk2"/>
            </a:solidFill>
            <a:prstDash val="solid"/>
            <a:round/>
            <a:headEnd len="med" w="med" type="none"/>
            <a:tailEnd len="med" w="med" type="stealth"/>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Git Repository</a:t>
            </a:r>
            <a:endParaRPr/>
          </a:p>
        </p:txBody>
      </p:sp>
      <p:grpSp>
        <p:nvGrpSpPr>
          <p:cNvPr id="197" name="Google Shape;197;p23"/>
          <p:cNvGrpSpPr/>
          <p:nvPr/>
        </p:nvGrpSpPr>
        <p:grpSpPr>
          <a:xfrm>
            <a:off x="153950" y="2629906"/>
            <a:ext cx="2209759" cy="1719221"/>
            <a:chOff x="0" y="1151006"/>
            <a:chExt cx="2209759" cy="1719221"/>
          </a:xfrm>
        </p:grpSpPr>
        <p:sp>
          <p:nvSpPr>
            <p:cNvPr id="198" name="Google Shape;198;p23"/>
            <p:cNvSpPr/>
            <p:nvPr/>
          </p:nvSpPr>
          <p:spPr>
            <a:xfrm>
              <a:off x="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txBox="1"/>
            <p:nvPr/>
          </p:nvSpPr>
          <p:spPr>
            <a:xfrm>
              <a:off x="850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my-project</a:t>
              </a:r>
              <a:endParaRPr sz="600">
                <a:solidFill>
                  <a:srgbClr val="FFFFFF"/>
                </a:solidFill>
                <a:latin typeface="Calibri"/>
                <a:ea typeface="Calibri"/>
                <a:cs typeface="Calibri"/>
                <a:sym typeface="Calibri"/>
              </a:endParaRPr>
            </a:p>
          </p:txBody>
        </p:sp>
        <p:sp>
          <p:nvSpPr>
            <p:cNvPr id="200" name="Google Shape;200;p23"/>
            <p:cNvSpPr/>
            <p:nvPr/>
          </p:nvSpPr>
          <p:spPr>
            <a:xfrm>
              <a:off x="580745" y="1320547"/>
              <a:ext cx="123300" cy="12900"/>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txBox="1"/>
            <p:nvPr/>
          </p:nvSpPr>
          <p:spPr>
            <a:xfrm>
              <a:off x="639363" y="1323933"/>
              <a:ext cx="6300" cy="63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02" name="Google Shape;202;p23"/>
            <p:cNvSpPr/>
            <p:nvPr/>
          </p:nvSpPr>
          <p:spPr>
            <a:xfrm>
              <a:off x="70415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
            <p:cNvSpPr txBox="1"/>
            <p:nvPr/>
          </p:nvSpPr>
          <p:spPr>
            <a:xfrm>
              <a:off x="71265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docs</a:t>
              </a:r>
              <a:endParaRPr sz="600">
                <a:solidFill>
                  <a:srgbClr val="FFFFFF"/>
                </a:solidFill>
                <a:latin typeface="Calibri"/>
                <a:ea typeface="Calibri"/>
                <a:cs typeface="Calibri"/>
                <a:sym typeface="Calibri"/>
              </a:endParaRPr>
            </a:p>
          </p:txBody>
        </p:sp>
        <p:sp>
          <p:nvSpPr>
            <p:cNvPr id="204" name="Google Shape;204;p23"/>
            <p:cNvSpPr/>
            <p:nvPr/>
          </p:nvSpPr>
          <p:spPr>
            <a:xfrm rot="-307882">
              <a:off x="1284226" y="1305095"/>
              <a:ext cx="345485" cy="129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3"/>
            <p:cNvSpPr txBox="1"/>
            <p:nvPr/>
          </p:nvSpPr>
          <p:spPr>
            <a:xfrm rot="-300787">
              <a:off x="1448272" y="1302991"/>
              <a:ext cx="17166" cy="171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06" name="Google Shape;206;p23"/>
            <p:cNvSpPr/>
            <p:nvPr/>
          </p:nvSpPr>
          <p:spPr>
            <a:xfrm>
              <a:off x="1628959" y="1151006"/>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txBox="1"/>
            <p:nvPr/>
          </p:nvSpPr>
          <p:spPr>
            <a:xfrm>
              <a:off x="1637464" y="1159511"/>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manual.docx</a:t>
              </a:r>
              <a:endParaRPr sz="600">
                <a:solidFill>
                  <a:srgbClr val="FFFFFF"/>
                </a:solidFill>
                <a:latin typeface="Calibri"/>
                <a:ea typeface="Calibri"/>
                <a:cs typeface="Calibri"/>
                <a:sym typeface="Calibri"/>
              </a:endParaRPr>
            </a:p>
          </p:txBody>
        </p:sp>
        <p:sp>
          <p:nvSpPr>
            <p:cNvPr id="208" name="Google Shape;208;p23"/>
            <p:cNvSpPr/>
            <p:nvPr/>
          </p:nvSpPr>
          <p:spPr>
            <a:xfrm rot="2156727">
              <a:off x="1245287" y="1442828"/>
              <a:ext cx="416514" cy="12903"/>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3"/>
            <p:cNvSpPr txBox="1"/>
            <p:nvPr/>
          </p:nvSpPr>
          <p:spPr>
            <a:xfrm rot="2172567">
              <a:off x="1443057" y="1438898"/>
              <a:ext cx="20821" cy="2082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10" name="Google Shape;210;p23"/>
            <p:cNvSpPr/>
            <p:nvPr/>
          </p:nvSpPr>
          <p:spPr>
            <a:xfrm>
              <a:off x="1622176" y="1426404"/>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3"/>
            <p:cNvSpPr txBox="1"/>
            <p:nvPr/>
          </p:nvSpPr>
          <p:spPr>
            <a:xfrm>
              <a:off x="1630681" y="1434909"/>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user_docs.docx</a:t>
              </a:r>
              <a:endParaRPr sz="600">
                <a:solidFill>
                  <a:srgbClr val="FFFFFF"/>
                </a:solidFill>
                <a:latin typeface="Calibri"/>
                <a:ea typeface="Calibri"/>
                <a:cs typeface="Calibri"/>
                <a:sym typeface="Calibri"/>
              </a:endParaRPr>
            </a:p>
          </p:txBody>
        </p:sp>
        <p:sp>
          <p:nvSpPr>
            <p:cNvPr id="212" name="Google Shape;212;p23"/>
            <p:cNvSpPr/>
            <p:nvPr/>
          </p:nvSpPr>
          <p:spPr>
            <a:xfrm rot="4503976">
              <a:off x="403116" y="1551637"/>
              <a:ext cx="478460" cy="13025"/>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3"/>
            <p:cNvSpPr txBox="1"/>
            <p:nvPr/>
          </p:nvSpPr>
          <p:spPr>
            <a:xfrm rot="4484693">
              <a:off x="630551" y="1546305"/>
              <a:ext cx="23944" cy="2394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14" name="Google Shape;214;p23"/>
            <p:cNvSpPr/>
            <p:nvPr/>
          </p:nvSpPr>
          <p:spPr>
            <a:xfrm>
              <a:off x="704150" y="1644239"/>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3"/>
            <p:cNvSpPr txBox="1"/>
            <p:nvPr/>
          </p:nvSpPr>
          <p:spPr>
            <a:xfrm>
              <a:off x="712655" y="1652744"/>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src</a:t>
              </a:r>
              <a:endParaRPr sz="600">
                <a:solidFill>
                  <a:srgbClr val="FFFFFF"/>
                </a:solidFill>
                <a:latin typeface="Calibri"/>
                <a:ea typeface="Calibri"/>
                <a:cs typeface="Calibri"/>
                <a:sym typeface="Calibri"/>
              </a:endParaRPr>
            </a:p>
          </p:txBody>
        </p:sp>
        <p:sp>
          <p:nvSpPr>
            <p:cNvPr id="216" name="Google Shape;216;p23"/>
            <p:cNvSpPr/>
            <p:nvPr/>
          </p:nvSpPr>
          <p:spPr>
            <a:xfrm rot="1093949">
              <a:off x="1276061" y="1837532"/>
              <a:ext cx="349023"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3"/>
            <p:cNvSpPr txBox="1"/>
            <p:nvPr/>
          </p:nvSpPr>
          <p:spPr>
            <a:xfrm rot="1087312">
              <a:off x="1441897" y="1835318"/>
              <a:ext cx="17361" cy="1736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18" name="Google Shape;218;p23"/>
            <p:cNvSpPr/>
            <p:nvPr/>
          </p:nvSpPr>
          <p:spPr>
            <a:xfrm>
              <a:off x="1616264" y="1753518"/>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3"/>
            <p:cNvSpPr txBox="1"/>
            <p:nvPr/>
          </p:nvSpPr>
          <p:spPr>
            <a:xfrm>
              <a:off x="1624769" y="1762023"/>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main.rkt</a:t>
              </a:r>
              <a:endParaRPr sz="600">
                <a:solidFill>
                  <a:srgbClr val="FFFFFF"/>
                </a:solidFill>
                <a:latin typeface="Calibri"/>
                <a:ea typeface="Calibri"/>
                <a:cs typeface="Calibri"/>
                <a:sym typeface="Calibri"/>
              </a:endParaRPr>
            </a:p>
          </p:txBody>
        </p:sp>
        <p:sp>
          <p:nvSpPr>
            <p:cNvPr id="220" name="Google Shape;220;p23"/>
            <p:cNvSpPr/>
            <p:nvPr/>
          </p:nvSpPr>
          <p:spPr>
            <a:xfrm rot="2930013">
              <a:off x="1199846" y="1970488"/>
              <a:ext cx="498140" cy="127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txBox="1"/>
            <p:nvPr/>
          </p:nvSpPr>
          <p:spPr>
            <a:xfrm rot="2932711">
              <a:off x="1436319" y="1964536"/>
              <a:ext cx="25089" cy="2508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22" name="Google Shape;222;p23"/>
            <p:cNvSpPr/>
            <p:nvPr/>
          </p:nvSpPr>
          <p:spPr>
            <a:xfrm>
              <a:off x="1612878" y="2019300"/>
              <a:ext cx="5631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3"/>
            <p:cNvSpPr txBox="1"/>
            <p:nvPr/>
          </p:nvSpPr>
          <p:spPr>
            <a:xfrm>
              <a:off x="1621383" y="2027805"/>
              <a:ext cx="5460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module1.rkt</a:t>
              </a:r>
              <a:endParaRPr sz="600">
                <a:solidFill>
                  <a:srgbClr val="FFFFFF"/>
                </a:solidFill>
                <a:latin typeface="Calibri"/>
                <a:ea typeface="Calibri"/>
                <a:cs typeface="Calibri"/>
                <a:sym typeface="Calibri"/>
              </a:endParaRPr>
            </a:p>
          </p:txBody>
        </p:sp>
        <p:sp>
          <p:nvSpPr>
            <p:cNvPr id="224" name="Google Shape;224;p23"/>
            <p:cNvSpPr/>
            <p:nvPr/>
          </p:nvSpPr>
          <p:spPr>
            <a:xfrm rot="3804838">
              <a:off x="1082447" y="2110472"/>
              <a:ext cx="732670" cy="13015"/>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3"/>
            <p:cNvSpPr txBox="1"/>
            <p:nvPr/>
          </p:nvSpPr>
          <p:spPr>
            <a:xfrm rot="3793505">
              <a:off x="1430657" y="2098791"/>
              <a:ext cx="36627" cy="3662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26" name="Google Shape;226;p23"/>
            <p:cNvSpPr/>
            <p:nvPr/>
          </p:nvSpPr>
          <p:spPr>
            <a:xfrm>
              <a:off x="1612878" y="229956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txBox="1"/>
            <p:nvPr/>
          </p:nvSpPr>
          <p:spPr>
            <a:xfrm>
              <a:off x="1621383" y="230806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module2.rkt</a:t>
              </a:r>
              <a:endParaRPr sz="600">
                <a:solidFill>
                  <a:srgbClr val="FFFFFF"/>
                </a:solidFill>
                <a:latin typeface="Calibri"/>
                <a:ea typeface="Calibri"/>
                <a:cs typeface="Calibri"/>
                <a:sym typeface="Calibri"/>
              </a:endParaRPr>
            </a:p>
          </p:txBody>
        </p:sp>
        <p:sp>
          <p:nvSpPr>
            <p:cNvPr id="228" name="Google Shape;228;p23"/>
            <p:cNvSpPr/>
            <p:nvPr/>
          </p:nvSpPr>
          <p:spPr>
            <a:xfrm rot="4241272">
              <a:off x="953057" y="2250737"/>
              <a:ext cx="991490"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nvSpPr>
          <p:spPr>
            <a:xfrm rot="4234751">
              <a:off x="1424115" y="2232468"/>
              <a:ext cx="49623" cy="4962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30" name="Google Shape;230;p23"/>
            <p:cNvSpPr/>
            <p:nvPr/>
          </p:nvSpPr>
          <p:spPr>
            <a:xfrm>
              <a:off x="1612878" y="2579827"/>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3"/>
            <p:cNvSpPr txBox="1"/>
            <p:nvPr/>
          </p:nvSpPr>
          <p:spPr>
            <a:xfrm>
              <a:off x="1621383" y="2588332"/>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module3.rkt</a:t>
              </a:r>
              <a:endParaRPr sz="600">
                <a:solidFill>
                  <a:srgbClr val="FFFFFF"/>
                </a:solidFill>
                <a:latin typeface="Calibri"/>
                <a:ea typeface="Calibri"/>
                <a:cs typeface="Calibri"/>
                <a:sym typeface="Calibri"/>
              </a:endParaRPr>
            </a:p>
          </p:txBody>
        </p:sp>
      </p:grpSp>
      <p:sp>
        <p:nvSpPr>
          <p:cNvPr id="232" name="Google Shape;232;p23"/>
          <p:cNvSpPr/>
          <p:nvPr/>
        </p:nvSpPr>
        <p:spPr>
          <a:xfrm>
            <a:off x="1296950" y="1859900"/>
            <a:ext cx="1052400" cy="602400"/>
          </a:xfrm>
          <a:prstGeom prst="roundRect">
            <a:avLst>
              <a:gd fmla="val 10000" name="adj"/>
            </a:avLst>
          </a:prstGeom>
          <a:solidFill>
            <a:srgbClr val="FF00FF"/>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233" name="Google Shape;233;p23"/>
          <p:cNvSpPr/>
          <p:nvPr/>
        </p:nvSpPr>
        <p:spPr>
          <a:xfrm>
            <a:off x="2897150" y="15859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234" name="Google Shape;234;p23"/>
          <p:cNvCxnSpPr>
            <a:stCxn id="232" idx="3"/>
            <a:endCxn id="233" idx="2"/>
          </p:cNvCxnSpPr>
          <p:nvPr/>
        </p:nvCxnSpPr>
        <p:spPr>
          <a:xfrm>
            <a:off x="2349350" y="21611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235" name="Google Shape;235;p23"/>
          <p:cNvCxnSpPr>
            <a:endCxn id="232" idx="1"/>
          </p:cNvCxnSpPr>
          <p:nvPr/>
        </p:nvCxnSpPr>
        <p:spPr>
          <a:xfrm flipH="1" rot="10800000">
            <a:off x="687350" y="2161100"/>
            <a:ext cx="609600" cy="689400"/>
          </a:xfrm>
          <a:prstGeom prst="straightConnector1">
            <a:avLst/>
          </a:prstGeom>
          <a:noFill/>
          <a:ln cap="flat" cmpd="sng" w="9525">
            <a:solidFill>
              <a:srgbClr val="4A7DBA"/>
            </a:solidFill>
            <a:prstDash val="solid"/>
            <a:round/>
            <a:headEnd len="sm" w="sm" type="none"/>
            <a:tailEnd len="med" w="med" type="stealth"/>
          </a:ln>
        </p:spPr>
      </p:cxnSp>
      <p:sp>
        <p:nvSpPr>
          <p:cNvPr id="236" name="Google Shape;236;p23"/>
          <p:cNvSpPr txBox="1"/>
          <p:nvPr/>
        </p:nvSpPr>
        <p:spPr>
          <a:xfrm>
            <a:off x="4126475" y="1333225"/>
            <a:ext cx="4986900" cy="21057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50000"/>
              </a:lnSpc>
              <a:spcBef>
                <a:spcPts val="0"/>
              </a:spcBef>
              <a:spcAft>
                <a:spcPts val="0"/>
              </a:spcAft>
              <a:buSzPts val="1400"/>
              <a:buAutoNum type="arabicPeriod"/>
            </a:pPr>
            <a:r>
              <a:rPr lang="el"/>
              <a:t>You initialize a git repository with .git p</a:t>
            </a:r>
            <a:r>
              <a:rPr lang="el">
                <a:solidFill>
                  <a:srgbClr val="000000"/>
                </a:solidFill>
              </a:rPr>
              <a:t>oint</a:t>
            </a:r>
            <a:r>
              <a:rPr lang="el"/>
              <a:t>ing</a:t>
            </a:r>
            <a:r>
              <a:rPr lang="el">
                <a:solidFill>
                  <a:srgbClr val="000000"/>
                </a:solidFill>
              </a:rPr>
              <a:t> at a mini-filesystem.   </a:t>
            </a:r>
            <a:endParaRPr/>
          </a:p>
          <a:p>
            <a:pPr indent="-317500" lvl="0" marL="457200" marR="0" rtl="0" algn="l">
              <a:lnSpc>
                <a:spcPct val="150000"/>
              </a:lnSpc>
              <a:spcBef>
                <a:spcPts val="0"/>
              </a:spcBef>
              <a:spcAft>
                <a:spcPts val="0"/>
              </a:spcAft>
              <a:buSzPts val="1400"/>
              <a:buAutoNum type="arabicPeriod"/>
            </a:pPr>
            <a:r>
              <a:rPr lang="el"/>
              <a:t>It keeps</a:t>
            </a:r>
            <a:r>
              <a:rPr lang="el">
                <a:solidFill>
                  <a:srgbClr val="000000"/>
                </a:solidFill>
              </a:rPr>
              <a:t> all your data, plus the </a:t>
            </a:r>
            <a:r>
              <a:rPr lang="el"/>
              <a:t>instructions</a:t>
            </a:r>
            <a:r>
              <a:rPr lang="el">
                <a:solidFill>
                  <a:srgbClr val="000000"/>
                </a:solidFill>
              </a:rPr>
              <a:t> git needs to do its job.  </a:t>
            </a:r>
            <a:endParaRPr/>
          </a:p>
          <a:p>
            <a:pPr indent="-317500" lvl="0" marL="457200" marR="0" rtl="0" algn="l">
              <a:lnSpc>
                <a:spcPct val="150000"/>
              </a:lnSpc>
              <a:spcBef>
                <a:spcPts val="0"/>
              </a:spcBef>
              <a:spcAft>
                <a:spcPts val="0"/>
              </a:spcAft>
              <a:buClr>
                <a:srgbClr val="000000"/>
              </a:buClr>
              <a:buSzPts val="1400"/>
              <a:buAutoNum type="arabicPeriod"/>
            </a:pPr>
            <a:r>
              <a:rPr lang="el">
                <a:solidFill>
                  <a:srgbClr val="000000"/>
                </a:solidFill>
              </a:rPr>
              <a:t>All this sits on your local machine.</a:t>
            </a:r>
            <a:endParaRPr/>
          </a:p>
          <a:p>
            <a:pPr indent="-317500" lvl="0" marL="457200" marR="0" rtl="0" algn="l">
              <a:lnSpc>
                <a:spcPct val="150000"/>
              </a:lnSpc>
              <a:spcBef>
                <a:spcPts val="0"/>
              </a:spcBef>
              <a:spcAft>
                <a:spcPts val="0"/>
              </a:spcAft>
              <a:buSzPts val="1400"/>
              <a:buAutoNum type="arabicPeriod"/>
            </a:pPr>
            <a:r>
              <a:rPr lang="el"/>
              <a:t>Github (git client) manages .git for you.</a:t>
            </a:r>
            <a:endParaRPr/>
          </a:p>
        </p:txBody>
      </p:sp>
      <p:sp>
        <p:nvSpPr>
          <p:cNvPr id="237" name="Google Shape;237;p23"/>
          <p:cNvSpPr/>
          <p:nvPr/>
        </p:nvSpPr>
        <p:spPr>
          <a:xfrm>
            <a:off x="1908550" y="1374000"/>
            <a:ext cx="2225400" cy="424025"/>
          </a:xfrm>
          <a:custGeom>
            <a:rect b="b" l="l" r="r" t="t"/>
            <a:pathLst>
              <a:path extrusionOk="0" h="16961" w="89016">
                <a:moveTo>
                  <a:pt x="0" y="16961"/>
                </a:moveTo>
                <a:cubicBezTo>
                  <a:pt x="5699" y="14210"/>
                  <a:pt x="19356" y="2468"/>
                  <a:pt x="34192" y="454"/>
                </a:cubicBezTo>
                <a:cubicBezTo>
                  <a:pt x="49028" y="-1560"/>
                  <a:pt x="79879" y="4139"/>
                  <a:pt x="89016" y="4876"/>
                </a:cubicBezTo>
              </a:path>
            </a:pathLst>
          </a:custGeom>
          <a:noFill/>
          <a:ln cap="flat" cmpd="sng" w="19050">
            <a:solidFill>
              <a:schemeClr val="dk2"/>
            </a:solidFill>
            <a:prstDash val="solid"/>
            <a:round/>
            <a:headEnd len="med" w="med" type="none"/>
            <a:tailEnd len="med" w="med" type="stealth"/>
          </a:ln>
        </p:spPr>
      </p:sp>
      <p:sp>
        <p:nvSpPr>
          <p:cNvPr id="238" name="Google Shape;238;p23"/>
          <p:cNvSpPr txBox="1"/>
          <p:nvPr>
            <p:ph idx="1" type="body"/>
          </p:nvPr>
        </p:nvSpPr>
        <p:spPr>
          <a:xfrm>
            <a:off x="673050" y="4483700"/>
            <a:ext cx="7797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l" sz="1600">
                <a:solidFill>
                  <a:srgbClr val="FF00FF"/>
                </a:solidFill>
              </a:rPr>
              <a:t>You can edit your local files directly -&gt; Edit, add, delete using any tools you want</a:t>
            </a:r>
            <a:endParaRPr sz="1600">
              <a:solidFill>
                <a:srgbClr val="FF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Local Actions: A Commit</a:t>
            </a:r>
            <a:endParaRPr/>
          </a:p>
        </p:txBody>
      </p:sp>
      <p:sp>
        <p:nvSpPr>
          <p:cNvPr id="244" name="Google Shape;244;p24"/>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l">
                <a:solidFill>
                  <a:srgbClr val="FF00FF"/>
                </a:solidFill>
              </a:rPr>
              <a:t>You can edit your local files directly -&gt; Edit, add, delete using any tools you want</a:t>
            </a:r>
            <a:endParaRPr>
              <a:solidFill>
                <a:srgbClr val="FF00FF"/>
              </a:solidFill>
            </a:endParaRPr>
          </a:p>
        </p:txBody>
      </p:sp>
      <p:pic>
        <p:nvPicPr>
          <p:cNvPr id="245" name="Google Shape;245;p24"/>
          <p:cNvPicPr preferRelativeResize="0"/>
          <p:nvPr/>
        </p:nvPicPr>
        <p:blipFill>
          <a:blip r:embed="rId3">
            <a:alphaModFix/>
          </a:blip>
          <a:stretch>
            <a:fillRect/>
          </a:stretch>
        </p:blipFill>
        <p:spPr>
          <a:xfrm>
            <a:off x="834700" y="1725175"/>
            <a:ext cx="6762750" cy="2581275"/>
          </a:xfrm>
          <a:prstGeom prst="rect">
            <a:avLst/>
          </a:prstGeom>
          <a:noFill/>
          <a:ln>
            <a:noFill/>
          </a:ln>
        </p:spPr>
      </p:pic>
      <p:cxnSp>
        <p:nvCxnSpPr>
          <p:cNvPr id="246" name="Google Shape;246;p24"/>
          <p:cNvCxnSpPr/>
          <p:nvPr/>
        </p:nvCxnSpPr>
        <p:spPr>
          <a:xfrm rot="10800000">
            <a:off x="1492600" y="2985600"/>
            <a:ext cx="262500" cy="1101900"/>
          </a:xfrm>
          <a:prstGeom prst="straightConnector1">
            <a:avLst/>
          </a:prstGeom>
          <a:noFill/>
          <a:ln cap="flat" cmpd="sng" w="9525">
            <a:solidFill>
              <a:schemeClr val="dk2"/>
            </a:solidFill>
            <a:prstDash val="solid"/>
            <a:round/>
            <a:headEnd len="med" w="med" type="none"/>
            <a:tailEnd len="med" w="med" type="triangle"/>
          </a:ln>
        </p:spPr>
      </p:cxnSp>
      <p:sp>
        <p:nvSpPr>
          <p:cNvPr id="247" name="Google Shape;247;p24"/>
          <p:cNvSpPr txBox="1"/>
          <p:nvPr/>
        </p:nvSpPr>
        <p:spPr>
          <a:xfrm>
            <a:off x="1293225" y="3991450"/>
            <a:ext cx="1994400" cy="3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Add a new row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Local Actions: A Commit</a:t>
            </a:r>
            <a:endParaRPr/>
          </a:p>
        </p:txBody>
      </p:sp>
      <p:sp>
        <p:nvSpPr>
          <p:cNvPr id="253" name="Google Shape;253;p25"/>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l">
                <a:solidFill>
                  <a:srgbClr val="FF00FF"/>
                </a:solidFill>
              </a:rPr>
              <a:t>You can edit your local files directly -&gt; Edit, add, delete using any tools you want</a:t>
            </a:r>
            <a:endParaRPr>
              <a:solidFill>
                <a:srgbClr val="FF00FF"/>
              </a:solidFill>
            </a:endParaRPr>
          </a:p>
        </p:txBody>
      </p:sp>
      <p:grpSp>
        <p:nvGrpSpPr>
          <p:cNvPr id="254" name="Google Shape;254;p25"/>
          <p:cNvGrpSpPr/>
          <p:nvPr/>
        </p:nvGrpSpPr>
        <p:grpSpPr>
          <a:xfrm>
            <a:off x="479350" y="1859936"/>
            <a:ext cx="3657600" cy="2763141"/>
            <a:chOff x="1371600" y="1250086"/>
            <a:chExt cx="3657600" cy="2763141"/>
          </a:xfrm>
        </p:grpSpPr>
        <p:grpSp>
          <p:nvGrpSpPr>
            <p:cNvPr id="255" name="Google Shape;255;p25"/>
            <p:cNvGrpSpPr/>
            <p:nvPr/>
          </p:nvGrpSpPr>
          <p:grpSpPr>
            <a:xfrm>
              <a:off x="1371600" y="2294006"/>
              <a:ext cx="2209759" cy="1719221"/>
              <a:chOff x="0" y="1151006"/>
              <a:chExt cx="2209759" cy="1719221"/>
            </a:xfrm>
          </p:grpSpPr>
          <p:sp>
            <p:nvSpPr>
              <p:cNvPr id="256" name="Google Shape;256;p25"/>
              <p:cNvSpPr/>
              <p:nvPr/>
            </p:nvSpPr>
            <p:spPr>
              <a:xfrm>
                <a:off x="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5"/>
              <p:cNvSpPr txBox="1"/>
              <p:nvPr/>
            </p:nvSpPr>
            <p:spPr>
              <a:xfrm>
                <a:off x="850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my-project</a:t>
                </a:r>
                <a:endParaRPr sz="600">
                  <a:solidFill>
                    <a:srgbClr val="FFFFFF"/>
                  </a:solidFill>
                  <a:latin typeface="Calibri"/>
                  <a:ea typeface="Calibri"/>
                  <a:cs typeface="Calibri"/>
                  <a:sym typeface="Calibri"/>
                </a:endParaRPr>
              </a:p>
            </p:txBody>
          </p:sp>
          <p:sp>
            <p:nvSpPr>
              <p:cNvPr id="258" name="Google Shape;258;p25"/>
              <p:cNvSpPr/>
              <p:nvPr/>
            </p:nvSpPr>
            <p:spPr>
              <a:xfrm>
                <a:off x="580745" y="1320547"/>
                <a:ext cx="123300" cy="12900"/>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txBox="1"/>
              <p:nvPr/>
            </p:nvSpPr>
            <p:spPr>
              <a:xfrm>
                <a:off x="639363" y="1323933"/>
                <a:ext cx="6300" cy="63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60" name="Google Shape;260;p25"/>
              <p:cNvSpPr/>
              <p:nvPr/>
            </p:nvSpPr>
            <p:spPr>
              <a:xfrm>
                <a:off x="70415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5"/>
              <p:cNvSpPr txBox="1"/>
              <p:nvPr/>
            </p:nvSpPr>
            <p:spPr>
              <a:xfrm>
                <a:off x="71265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docs</a:t>
                </a:r>
                <a:endParaRPr sz="600">
                  <a:solidFill>
                    <a:srgbClr val="FFFFFF"/>
                  </a:solidFill>
                  <a:latin typeface="Calibri"/>
                  <a:ea typeface="Calibri"/>
                  <a:cs typeface="Calibri"/>
                  <a:sym typeface="Calibri"/>
                </a:endParaRPr>
              </a:p>
            </p:txBody>
          </p:sp>
          <p:sp>
            <p:nvSpPr>
              <p:cNvPr id="262" name="Google Shape;262;p25"/>
              <p:cNvSpPr/>
              <p:nvPr/>
            </p:nvSpPr>
            <p:spPr>
              <a:xfrm rot="-307882">
                <a:off x="1284226" y="1305095"/>
                <a:ext cx="345485" cy="129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
              <p:cNvSpPr txBox="1"/>
              <p:nvPr/>
            </p:nvSpPr>
            <p:spPr>
              <a:xfrm rot="-300787">
                <a:off x="1448272" y="1302991"/>
                <a:ext cx="17166" cy="171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64" name="Google Shape;264;p25"/>
              <p:cNvSpPr/>
              <p:nvPr/>
            </p:nvSpPr>
            <p:spPr>
              <a:xfrm>
                <a:off x="1628959" y="1151006"/>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txBox="1"/>
              <p:nvPr/>
            </p:nvSpPr>
            <p:spPr>
              <a:xfrm>
                <a:off x="1637464" y="1159511"/>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manual.docx</a:t>
                </a:r>
                <a:endParaRPr sz="600">
                  <a:solidFill>
                    <a:srgbClr val="FFFFFF"/>
                  </a:solidFill>
                  <a:latin typeface="Calibri"/>
                  <a:ea typeface="Calibri"/>
                  <a:cs typeface="Calibri"/>
                  <a:sym typeface="Calibri"/>
                </a:endParaRPr>
              </a:p>
            </p:txBody>
          </p:sp>
          <p:sp>
            <p:nvSpPr>
              <p:cNvPr id="266" name="Google Shape;266;p25"/>
              <p:cNvSpPr/>
              <p:nvPr/>
            </p:nvSpPr>
            <p:spPr>
              <a:xfrm rot="2156727">
                <a:off x="1245287" y="1442828"/>
                <a:ext cx="416514" cy="12903"/>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txBox="1"/>
              <p:nvPr/>
            </p:nvSpPr>
            <p:spPr>
              <a:xfrm rot="2172567">
                <a:off x="1443057" y="1438898"/>
                <a:ext cx="20821" cy="2082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68" name="Google Shape;268;p25"/>
              <p:cNvSpPr/>
              <p:nvPr/>
            </p:nvSpPr>
            <p:spPr>
              <a:xfrm>
                <a:off x="1622176" y="1426404"/>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txBox="1"/>
              <p:nvPr/>
            </p:nvSpPr>
            <p:spPr>
              <a:xfrm>
                <a:off x="1630681" y="1434909"/>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user_docs.docx</a:t>
                </a:r>
                <a:endParaRPr sz="600">
                  <a:solidFill>
                    <a:srgbClr val="FFFFFF"/>
                  </a:solidFill>
                  <a:latin typeface="Calibri"/>
                  <a:ea typeface="Calibri"/>
                  <a:cs typeface="Calibri"/>
                  <a:sym typeface="Calibri"/>
                </a:endParaRPr>
              </a:p>
            </p:txBody>
          </p:sp>
          <p:sp>
            <p:nvSpPr>
              <p:cNvPr id="270" name="Google Shape;270;p25"/>
              <p:cNvSpPr/>
              <p:nvPr/>
            </p:nvSpPr>
            <p:spPr>
              <a:xfrm rot="4503976">
                <a:off x="403116" y="1551637"/>
                <a:ext cx="478460" cy="13025"/>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5"/>
              <p:cNvSpPr txBox="1"/>
              <p:nvPr/>
            </p:nvSpPr>
            <p:spPr>
              <a:xfrm rot="4484693">
                <a:off x="630551" y="1546305"/>
                <a:ext cx="23944" cy="2394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72" name="Google Shape;272;p25"/>
              <p:cNvSpPr/>
              <p:nvPr/>
            </p:nvSpPr>
            <p:spPr>
              <a:xfrm>
                <a:off x="704150" y="1644239"/>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5"/>
              <p:cNvSpPr txBox="1"/>
              <p:nvPr/>
            </p:nvSpPr>
            <p:spPr>
              <a:xfrm>
                <a:off x="712655" y="1652744"/>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src</a:t>
                </a:r>
                <a:endParaRPr sz="600">
                  <a:solidFill>
                    <a:srgbClr val="FFFFFF"/>
                  </a:solidFill>
                  <a:latin typeface="Calibri"/>
                  <a:ea typeface="Calibri"/>
                  <a:cs typeface="Calibri"/>
                  <a:sym typeface="Calibri"/>
                </a:endParaRPr>
              </a:p>
            </p:txBody>
          </p:sp>
          <p:sp>
            <p:nvSpPr>
              <p:cNvPr id="274" name="Google Shape;274;p25"/>
              <p:cNvSpPr/>
              <p:nvPr/>
            </p:nvSpPr>
            <p:spPr>
              <a:xfrm rot="1093949">
                <a:off x="1276061" y="1837532"/>
                <a:ext cx="349023"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txBox="1"/>
              <p:nvPr/>
            </p:nvSpPr>
            <p:spPr>
              <a:xfrm rot="1087312">
                <a:off x="1441897" y="1835318"/>
                <a:ext cx="17361" cy="1736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76" name="Google Shape;276;p25"/>
              <p:cNvSpPr/>
              <p:nvPr/>
            </p:nvSpPr>
            <p:spPr>
              <a:xfrm>
                <a:off x="1616264" y="1753518"/>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
              <p:cNvSpPr txBox="1"/>
              <p:nvPr/>
            </p:nvSpPr>
            <p:spPr>
              <a:xfrm>
                <a:off x="1624769" y="1762023"/>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main.rkt</a:t>
                </a:r>
                <a:endParaRPr sz="600">
                  <a:solidFill>
                    <a:srgbClr val="FFFFFF"/>
                  </a:solidFill>
                  <a:latin typeface="Calibri"/>
                  <a:ea typeface="Calibri"/>
                  <a:cs typeface="Calibri"/>
                  <a:sym typeface="Calibri"/>
                </a:endParaRPr>
              </a:p>
            </p:txBody>
          </p:sp>
          <p:sp>
            <p:nvSpPr>
              <p:cNvPr id="278" name="Google Shape;278;p25"/>
              <p:cNvSpPr/>
              <p:nvPr/>
            </p:nvSpPr>
            <p:spPr>
              <a:xfrm rot="2930013">
                <a:off x="1199846" y="1970488"/>
                <a:ext cx="498140" cy="127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txBox="1"/>
              <p:nvPr/>
            </p:nvSpPr>
            <p:spPr>
              <a:xfrm rot="2932711">
                <a:off x="1436319" y="1964536"/>
                <a:ext cx="25089" cy="2508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80" name="Google Shape;280;p25"/>
              <p:cNvSpPr/>
              <p:nvPr/>
            </p:nvSpPr>
            <p:spPr>
              <a:xfrm>
                <a:off x="1612878" y="2019300"/>
                <a:ext cx="5631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5"/>
              <p:cNvSpPr txBox="1"/>
              <p:nvPr/>
            </p:nvSpPr>
            <p:spPr>
              <a:xfrm>
                <a:off x="1621383" y="2027805"/>
                <a:ext cx="5460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module1.rkt</a:t>
                </a:r>
                <a:endParaRPr sz="600">
                  <a:solidFill>
                    <a:srgbClr val="FFFFFF"/>
                  </a:solidFill>
                  <a:latin typeface="Calibri"/>
                  <a:ea typeface="Calibri"/>
                  <a:cs typeface="Calibri"/>
                  <a:sym typeface="Calibri"/>
                </a:endParaRPr>
              </a:p>
            </p:txBody>
          </p:sp>
          <p:sp>
            <p:nvSpPr>
              <p:cNvPr id="282" name="Google Shape;282;p25"/>
              <p:cNvSpPr/>
              <p:nvPr/>
            </p:nvSpPr>
            <p:spPr>
              <a:xfrm rot="3804838">
                <a:off x="1082447" y="2110472"/>
                <a:ext cx="732670" cy="13015"/>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5"/>
              <p:cNvSpPr txBox="1"/>
              <p:nvPr/>
            </p:nvSpPr>
            <p:spPr>
              <a:xfrm rot="3793505">
                <a:off x="1430657" y="2098791"/>
                <a:ext cx="36627" cy="3662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84" name="Google Shape;284;p25"/>
              <p:cNvSpPr/>
              <p:nvPr/>
            </p:nvSpPr>
            <p:spPr>
              <a:xfrm>
                <a:off x="1612878" y="229956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5"/>
              <p:cNvSpPr txBox="1"/>
              <p:nvPr/>
            </p:nvSpPr>
            <p:spPr>
              <a:xfrm>
                <a:off x="1621383" y="230806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module2.rkt</a:t>
                </a:r>
                <a:endParaRPr sz="600">
                  <a:solidFill>
                    <a:srgbClr val="FFFFFF"/>
                  </a:solidFill>
                  <a:latin typeface="Calibri"/>
                  <a:ea typeface="Calibri"/>
                  <a:cs typeface="Calibri"/>
                  <a:sym typeface="Calibri"/>
                </a:endParaRPr>
              </a:p>
            </p:txBody>
          </p:sp>
          <p:sp>
            <p:nvSpPr>
              <p:cNvPr id="286" name="Google Shape;286;p25"/>
              <p:cNvSpPr/>
              <p:nvPr/>
            </p:nvSpPr>
            <p:spPr>
              <a:xfrm rot="4241272">
                <a:off x="953057" y="2250737"/>
                <a:ext cx="991490"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5"/>
              <p:cNvSpPr txBox="1"/>
              <p:nvPr/>
            </p:nvSpPr>
            <p:spPr>
              <a:xfrm rot="4234751">
                <a:off x="1424115" y="2232468"/>
                <a:ext cx="49623" cy="4962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288" name="Google Shape;288;p25"/>
              <p:cNvSpPr/>
              <p:nvPr/>
            </p:nvSpPr>
            <p:spPr>
              <a:xfrm>
                <a:off x="1612878" y="2579827"/>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5"/>
              <p:cNvSpPr txBox="1"/>
              <p:nvPr/>
            </p:nvSpPr>
            <p:spPr>
              <a:xfrm>
                <a:off x="1621383" y="2588332"/>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module3.rkt</a:t>
                </a:r>
                <a:endParaRPr sz="600">
                  <a:solidFill>
                    <a:srgbClr val="FFFFFF"/>
                  </a:solidFill>
                  <a:latin typeface="Calibri"/>
                  <a:ea typeface="Calibri"/>
                  <a:cs typeface="Calibri"/>
                  <a:sym typeface="Calibri"/>
                </a:endParaRPr>
              </a:p>
            </p:txBody>
          </p:sp>
        </p:grpSp>
        <p:sp>
          <p:nvSpPr>
            <p:cNvPr id="290" name="Google Shape;290;p25"/>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291" name="Google Shape;291;p25"/>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292" name="Google Shape;292;p25"/>
            <p:cNvCxnSpPr>
              <a:stCxn id="290" idx="3"/>
              <a:endCxn id="291"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293" name="Google Shape;293;p25"/>
            <p:cNvCxnSpPr>
              <a:endCxn id="290"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294" name="Google Shape;294;p25"/>
          <p:cNvSpPr/>
          <p:nvPr/>
        </p:nvSpPr>
        <p:spPr>
          <a:xfrm>
            <a:off x="2841550" y="3124450"/>
            <a:ext cx="1079100" cy="1295400"/>
          </a:xfrm>
          <a:prstGeom prst="bentUpArrow">
            <a:avLst>
              <a:gd fmla="val 33917" name="adj1"/>
              <a:gd fmla="val 25000" name="adj2"/>
              <a:gd fmla="val 25000"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commit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Local Actions: A Commit</a:t>
            </a:r>
            <a:endParaRPr/>
          </a:p>
        </p:txBody>
      </p:sp>
      <p:sp>
        <p:nvSpPr>
          <p:cNvPr id="300" name="Google Shape;300;p26"/>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l">
                <a:solidFill>
                  <a:srgbClr val="FF00FF"/>
                </a:solidFill>
              </a:rPr>
              <a:t>You can edit your local files directly -&gt; Edit, add, delete using any tools you want</a:t>
            </a:r>
            <a:endParaRPr>
              <a:solidFill>
                <a:srgbClr val="FF00FF"/>
              </a:solidFill>
            </a:endParaRPr>
          </a:p>
        </p:txBody>
      </p:sp>
      <p:grpSp>
        <p:nvGrpSpPr>
          <p:cNvPr id="301" name="Google Shape;301;p26"/>
          <p:cNvGrpSpPr/>
          <p:nvPr/>
        </p:nvGrpSpPr>
        <p:grpSpPr>
          <a:xfrm>
            <a:off x="479350" y="1859936"/>
            <a:ext cx="3657600" cy="2763141"/>
            <a:chOff x="1371600" y="1250086"/>
            <a:chExt cx="3657600" cy="2763141"/>
          </a:xfrm>
        </p:grpSpPr>
        <p:grpSp>
          <p:nvGrpSpPr>
            <p:cNvPr id="302" name="Google Shape;302;p26"/>
            <p:cNvGrpSpPr/>
            <p:nvPr/>
          </p:nvGrpSpPr>
          <p:grpSpPr>
            <a:xfrm>
              <a:off x="1371600" y="2294006"/>
              <a:ext cx="2209759" cy="1719221"/>
              <a:chOff x="0" y="1151006"/>
              <a:chExt cx="2209759" cy="1719221"/>
            </a:xfrm>
          </p:grpSpPr>
          <p:sp>
            <p:nvSpPr>
              <p:cNvPr id="303" name="Google Shape;303;p26"/>
              <p:cNvSpPr/>
              <p:nvPr/>
            </p:nvSpPr>
            <p:spPr>
              <a:xfrm>
                <a:off x="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6"/>
              <p:cNvSpPr txBox="1"/>
              <p:nvPr/>
            </p:nvSpPr>
            <p:spPr>
              <a:xfrm>
                <a:off x="850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my-project</a:t>
                </a:r>
                <a:endParaRPr sz="600">
                  <a:solidFill>
                    <a:srgbClr val="FFFFFF"/>
                  </a:solidFill>
                  <a:latin typeface="Calibri"/>
                  <a:ea typeface="Calibri"/>
                  <a:cs typeface="Calibri"/>
                  <a:sym typeface="Calibri"/>
                </a:endParaRPr>
              </a:p>
            </p:txBody>
          </p:sp>
          <p:sp>
            <p:nvSpPr>
              <p:cNvPr id="305" name="Google Shape;305;p26"/>
              <p:cNvSpPr/>
              <p:nvPr/>
            </p:nvSpPr>
            <p:spPr>
              <a:xfrm>
                <a:off x="580745" y="1320547"/>
                <a:ext cx="123300" cy="12900"/>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6"/>
              <p:cNvSpPr txBox="1"/>
              <p:nvPr/>
            </p:nvSpPr>
            <p:spPr>
              <a:xfrm>
                <a:off x="639363" y="1323933"/>
                <a:ext cx="6300" cy="63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07" name="Google Shape;307;p26"/>
              <p:cNvSpPr/>
              <p:nvPr/>
            </p:nvSpPr>
            <p:spPr>
              <a:xfrm>
                <a:off x="704150" y="118183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6"/>
              <p:cNvSpPr txBox="1"/>
              <p:nvPr/>
            </p:nvSpPr>
            <p:spPr>
              <a:xfrm>
                <a:off x="712655" y="119033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docs</a:t>
                </a:r>
                <a:endParaRPr sz="600">
                  <a:solidFill>
                    <a:srgbClr val="FFFFFF"/>
                  </a:solidFill>
                  <a:latin typeface="Calibri"/>
                  <a:ea typeface="Calibri"/>
                  <a:cs typeface="Calibri"/>
                  <a:sym typeface="Calibri"/>
                </a:endParaRPr>
              </a:p>
            </p:txBody>
          </p:sp>
          <p:sp>
            <p:nvSpPr>
              <p:cNvPr id="309" name="Google Shape;309;p26"/>
              <p:cNvSpPr/>
              <p:nvPr/>
            </p:nvSpPr>
            <p:spPr>
              <a:xfrm rot="-307882">
                <a:off x="1284226" y="1305095"/>
                <a:ext cx="345485" cy="129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6"/>
              <p:cNvSpPr txBox="1"/>
              <p:nvPr/>
            </p:nvSpPr>
            <p:spPr>
              <a:xfrm rot="-300787">
                <a:off x="1448272" y="1302991"/>
                <a:ext cx="17166" cy="1716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11" name="Google Shape;311;p26"/>
              <p:cNvSpPr/>
              <p:nvPr/>
            </p:nvSpPr>
            <p:spPr>
              <a:xfrm>
                <a:off x="1628959" y="1151006"/>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6"/>
              <p:cNvSpPr txBox="1"/>
              <p:nvPr/>
            </p:nvSpPr>
            <p:spPr>
              <a:xfrm>
                <a:off x="1637464" y="1159511"/>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manual.docx</a:t>
                </a:r>
                <a:endParaRPr sz="600">
                  <a:solidFill>
                    <a:srgbClr val="FFFFFF"/>
                  </a:solidFill>
                  <a:latin typeface="Calibri"/>
                  <a:ea typeface="Calibri"/>
                  <a:cs typeface="Calibri"/>
                  <a:sym typeface="Calibri"/>
                </a:endParaRPr>
              </a:p>
            </p:txBody>
          </p:sp>
          <p:sp>
            <p:nvSpPr>
              <p:cNvPr id="313" name="Google Shape;313;p26"/>
              <p:cNvSpPr/>
              <p:nvPr/>
            </p:nvSpPr>
            <p:spPr>
              <a:xfrm rot="2156727">
                <a:off x="1245287" y="1442828"/>
                <a:ext cx="416514" cy="12903"/>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6"/>
              <p:cNvSpPr txBox="1"/>
              <p:nvPr/>
            </p:nvSpPr>
            <p:spPr>
              <a:xfrm rot="2172567">
                <a:off x="1443057" y="1438898"/>
                <a:ext cx="20821" cy="2082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15" name="Google Shape;315;p26"/>
              <p:cNvSpPr/>
              <p:nvPr/>
            </p:nvSpPr>
            <p:spPr>
              <a:xfrm>
                <a:off x="1622176" y="1426404"/>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6"/>
              <p:cNvSpPr txBox="1"/>
              <p:nvPr/>
            </p:nvSpPr>
            <p:spPr>
              <a:xfrm>
                <a:off x="1630681" y="1434909"/>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user_docs.docx</a:t>
                </a:r>
                <a:endParaRPr sz="600">
                  <a:solidFill>
                    <a:srgbClr val="FFFFFF"/>
                  </a:solidFill>
                  <a:latin typeface="Calibri"/>
                  <a:ea typeface="Calibri"/>
                  <a:cs typeface="Calibri"/>
                  <a:sym typeface="Calibri"/>
                </a:endParaRPr>
              </a:p>
            </p:txBody>
          </p:sp>
          <p:sp>
            <p:nvSpPr>
              <p:cNvPr id="317" name="Google Shape;317;p26"/>
              <p:cNvSpPr/>
              <p:nvPr/>
            </p:nvSpPr>
            <p:spPr>
              <a:xfrm rot="4503976">
                <a:off x="403116" y="1551637"/>
                <a:ext cx="478460" cy="13025"/>
              </a:xfrm>
              <a:custGeom>
                <a:rect b="b" l="l" r="r" t="t"/>
                <a:pathLst>
                  <a:path extrusionOk="0" h="120000" w="120000">
                    <a:moveTo>
                      <a:pt x="0" y="59995"/>
                    </a:moveTo>
                    <a:lnTo>
                      <a:pt x="120000" y="59995"/>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6"/>
              <p:cNvSpPr txBox="1"/>
              <p:nvPr/>
            </p:nvSpPr>
            <p:spPr>
              <a:xfrm rot="4484693">
                <a:off x="630551" y="1546305"/>
                <a:ext cx="23944" cy="2394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19" name="Google Shape;319;p26"/>
              <p:cNvSpPr/>
              <p:nvPr/>
            </p:nvSpPr>
            <p:spPr>
              <a:xfrm>
                <a:off x="704150" y="1644239"/>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6"/>
              <p:cNvSpPr txBox="1"/>
              <p:nvPr/>
            </p:nvSpPr>
            <p:spPr>
              <a:xfrm>
                <a:off x="712655" y="1652744"/>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src</a:t>
                </a:r>
                <a:endParaRPr sz="600">
                  <a:solidFill>
                    <a:srgbClr val="FFFFFF"/>
                  </a:solidFill>
                  <a:latin typeface="Calibri"/>
                  <a:ea typeface="Calibri"/>
                  <a:cs typeface="Calibri"/>
                  <a:sym typeface="Calibri"/>
                </a:endParaRPr>
              </a:p>
            </p:txBody>
          </p:sp>
          <p:sp>
            <p:nvSpPr>
              <p:cNvPr id="321" name="Google Shape;321;p26"/>
              <p:cNvSpPr/>
              <p:nvPr/>
            </p:nvSpPr>
            <p:spPr>
              <a:xfrm rot="1093949">
                <a:off x="1276061" y="1837532"/>
                <a:ext cx="349023"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6"/>
              <p:cNvSpPr txBox="1"/>
              <p:nvPr/>
            </p:nvSpPr>
            <p:spPr>
              <a:xfrm rot="1087312">
                <a:off x="1441897" y="1835318"/>
                <a:ext cx="17361" cy="1736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23" name="Google Shape;323;p26"/>
              <p:cNvSpPr/>
              <p:nvPr/>
            </p:nvSpPr>
            <p:spPr>
              <a:xfrm>
                <a:off x="1616264" y="1753518"/>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6"/>
              <p:cNvSpPr txBox="1"/>
              <p:nvPr/>
            </p:nvSpPr>
            <p:spPr>
              <a:xfrm>
                <a:off x="1624769" y="1762023"/>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main.rkt</a:t>
                </a:r>
                <a:endParaRPr sz="600">
                  <a:solidFill>
                    <a:srgbClr val="FFFFFF"/>
                  </a:solidFill>
                  <a:latin typeface="Calibri"/>
                  <a:ea typeface="Calibri"/>
                  <a:cs typeface="Calibri"/>
                  <a:sym typeface="Calibri"/>
                </a:endParaRPr>
              </a:p>
            </p:txBody>
          </p:sp>
          <p:sp>
            <p:nvSpPr>
              <p:cNvPr id="325" name="Google Shape;325;p26"/>
              <p:cNvSpPr/>
              <p:nvPr/>
            </p:nvSpPr>
            <p:spPr>
              <a:xfrm rot="2930013">
                <a:off x="1199846" y="1970488"/>
                <a:ext cx="498140" cy="12756"/>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txBox="1"/>
              <p:nvPr/>
            </p:nvSpPr>
            <p:spPr>
              <a:xfrm rot="2932711">
                <a:off x="1436319" y="1964536"/>
                <a:ext cx="25089" cy="2508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27" name="Google Shape;327;p26"/>
              <p:cNvSpPr/>
              <p:nvPr/>
            </p:nvSpPr>
            <p:spPr>
              <a:xfrm>
                <a:off x="1612878" y="2019300"/>
                <a:ext cx="5631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6"/>
              <p:cNvSpPr txBox="1"/>
              <p:nvPr/>
            </p:nvSpPr>
            <p:spPr>
              <a:xfrm>
                <a:off x="1621383" y="2027805"/>
                <a:ext cx="5460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module1.rkt</a:t>
                </a:r>
                <a:endParaRPr sz="600">
                  <a:solidFill>
                    <a:srgbClr val="FFFFFF"/>
                  </a:solidFill>
                  <a:latin typeface="Calibri"/>
                  <a:ea typeface="Calibri"/>
                  <a:cs typeface="Calibri"/>
                  <a:sym typeface="Calibri"/>
                </a:endParaRPr>
              </a:p>
            </p:txBody>
          </p:sp>
          <p:sp>
            <p:nvSpPr>
              <p:cNvPr id="329" name="Google Shape;329;p26"/>
              <p:cNvSpPr/>
              <p:nvPr/>
            </p:nvSpPr>
            <p:spPr>
              <a:xfrm rot="3804838">
                <a:off x="1082447" y="2110472"/>
                <a:ext cx="732670" cy="13015"/>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6"/>
              <p:cNvSpPr txBox="1"/>
              <p:nvPr/>
            </p:nvSpPr>
            <p:spPr>
              <a:xfrm rot="3793505">
                <a:off x="1430657" y="2098791"/>
                <a:ext cx="36627" cy="3662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31" name="Google Shape;331;p26"/>
              <p:cNvSpPr/>
              <p:nvPr/>
            </p:nvSpPr>
            <p:spPr>
              <a:xfrm>
                <a:off x="1612878" y="2299562"/>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6"/>
              <p:cNvSpPr txBox="1"/>
              <p:nvPr/>
            </p:nvSpPr>
            <p:spPr>
              <a:xfrm>
                <a:off x="1621383" y="2308067"/>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module2.rkt</a:t>
                </a:r>
                <a:endParaRPr sz="600">
                  <a:solidFill>
                    <a:srgbClr val="FFFFFF"/>
                  </a:solidFill>
                  <a:latin typeface="Calibri"/>
                  <a:ea typeface="Calibri"/>
                  <a:cs typeface="Calibri"/>
                  <a:sym typeface="Calibri"/>
                </a:endParaRPr>
              </a:p>
            </p:txBody>
          </p:sp>
          <p:sp>
            <p:nvSpPr>
              <p:cNvPr id="333" name="Google Shape;333;p26"/>
              <p:cNvSpPr/>
              <p:nvPr/>
            </p:nvSpPr>
            <p:spPr>
              <a:xfrm rot="4241272">
                <a:off x="953057" y="2250737"/>
                <a:ext cx="991490" cy="12997"/>
              </a:xfrm>
              <a:custGeom>
                <a:rect b="b" l="l" r="r" t="t"/>
                <a:pathLst>
                  <a:path extrusionOk="0" h="120000" w="120000">
                    <a:moveTo>
                      <a:pt x="0" y="59995"/>
                    </a:moveTo>
                    <a:lnTo>
                      <a:pt x="120000" y="59995"/>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6"/>
              <p:cNvSpPr txBox="1"/>
              <p:nvPr/>
            </p:nvSpPr>
            <p:spPr>
              <a:xfrm rot="4234751">
                <a:off x="1424115" y="2232468"/>
                <a:ext cx="49623" cy="4962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500">
                  <a:solidFill>
                    <a:srgbClr val="000000"/>
                  </a:solidFill>
                  <a:latin typeface="Calibri"/>
                  <a:ea typeface="Calibri"/>
                  <a:cs typeface="Calibri"/>
                  <a:sym typeface="Calibri"/>
                </a:endParaRPr>
              </a:p>
            </p:txBody>
          </p:sp>
          <p:sp>
            <p:nvSpPr>
              <p:cNvPr id="335" name="Google Shape;335;p26"/>
              <p:cNvSpPr/>
              <p:nvPr/>
            </p:nvSpPr>
            <p:spPr>
              <a:xfrm>
                <a:off x="1612878" y="2579827"/>
                <a:ext cx="580800" cy="290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6"/>
              <p:cNvSpPr txBox="1"/>
              <p:nvPr/>
            </p:nvSpPr>
            <p:spPr>
              <a:xfrm>
                <a:off x="1621383" y="2588332"/>
                <a:ext cx="563700" cy="273300"/>
              </a:xfrm>
              <a:prstGeom prst="rect">
                <a:avLst/>
              </a:prstGeom>
              <a:noFill/>
              <a:ln>
                <a:noFill/>
              </a:ln>
            </p:spPr>
            <p:txBody>
              <a:bodyPr anchorCtr="0" anchor="ctr" bIns="3800" lIns="3800" spcFirstLastPara="1" rIns="3800" wrap="square" tIns="3800">
                <a:noAutofit/>
              </a:bodyPr>
              <a:lstStyle/>
              <a:p>
                <a:pPr indent="0" lvl="0" marL="0" marR="0" rtl="0" algn="ctr">
                  <a:lnSpc>
                    <a:spcPct val="90000"/>
                  </a:lnSpc>
                  <a:spcBef>
                    <a:spcPts val="0"/>
                  </a:spcBef>
                  <a:spcAft>
                    <a:spcPts val="0"/>
                  </a:spcAft>
                  <a:buNone/>
                </a:pPr>
                <a:r>
                  <a:rPr lang="el" sz="600">
                    <a:solidFill>
                      <a:srgbClr val="FFFFFF"/>
                    </a:solidFill>
                    <a:latin typeface="Calibri"/>
                    <a:ea typeface="Calibri"/>
                    <a:cs typeface="Calibri"/>
                    <a:sym typeface="Calibri"/>
                  </a:rPr>
                  <a:t>module3.rkt</a:t>
                </a:r>
                <a:endParaRPr sz="600">
                  <a:solidFill>
                    <a:srgbClr val="FFFFFF"/>
                  </a:solidFill>
                  <a:latin typeface="Calibri"/>
                  <a:ea typeface="Calibri"/>
                  <a:cs typeface="Calibri"/>
                  <a:sym typeface="Calibri"/>
                </a:endParaRPr>
              </a:p>
            </p:txBody>
          </p:sp>
        </p:grpSp>
        <p:sp>
          <p:nvSpPr>
            <p:cNvPr id="337" name="Google Shape;337;p26"/>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338" name="Google Shape;338;p26"/>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339" name="Google Shape;339;p26"/>
            <p:cNvCxnSpPr>
              <a:stCxn id="337" idx="3"/>
              <a:endCxn id="338"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340" name="Google Shape;340;p26"/>
            <p:cNvCxnSpPr>
              <a:endCxn id="337"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341" name="Google Shape;341;p26"/>
          <p:cNvSpPr/>
          <p:nvPr/>
        </p:nvSpPr>
        <p:spPr>
          <a:xfrm>
            <a:off x="2841550" y="3124450"/>
            <a:ext cx="1079100" cy="1295400"/>
          </a:xfrm>
          <a:prstGeom prst="bentUpArrow">
            <a:avLst>
              <a:gd fmla="val 33917" name="adj1"/>
              <a:gd fmla="val 25000" name="adj2"/>
              <a:gd fmla="val 25000"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commit</a:t>
            </a:r>
            <a:endParaRPr/>
          </a:p>
        </p:txBody>
      </p:sp>
      <p:sp>
        <p:nvSpPr>
          <p:cNvPr id="342" name="Google Shape;342;p26"/>
          <p:cNvSpPr/>
          <p:nvPr/>
        </p:nvSpPr>
        <p:spPr>
          <a:xfrm>
            <a:off x="4656000" y="2571752"/>
            <a:ext cx="3352800" cy="1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When you do a “commit”, you record all your local changes into the mini-</a:t>
            </a:r>
            <a:r>
              <a:rPr lang="el" sz="1800">
                <a:latin typeface="Calibri"/>
                <a:ea typeface="Calibri"/>
                <a:cs typeface="Calibri"/>
                <a:sym typeface="Calibri"/>
              </a:rPr>
              <a:t>filesystem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Push</a:t>
            </a:r>
            <a:endParaRPr/>
          </a:p>
        </p:txBody>
      </p:sp>
      <p:grpSp>
        <p:nvGrpSpPr>
          <p:cNvPr id="348" name="Google Shape;348;p27"/>
          <p:cNvGrpSpPr/>
          <p:nvPr/>
        </p:nvGrpSpPr>
        <p:grpSpPr>
          <a:xfrm>
            <a:off x="241419" y="1856496"/>
            <a:ext cx="2819278" cy="1703113"/>
            <a:chOff x="1371600" y="1250086"/>
            <a:chExt cx="3657600" cy="2149039"/>
          </a:xfrm>
        </p:grpSpPr>
        <p:grpSp>
          <p:nvGrpSpPr>
            <p:cNvPr id="349" name="Google Shape;349;p27"/>
            <p:cNvGrpSpPr/>
            <p:nvPr/>
          </p:nvGrpSpPr>
          <p:grpSpPr>
            <a:xfrm>
              <a:off x="1371600" y="2073809"/>
              <a:ext cx="1703275" cy="1325316"/>
              <a:chOff x="0" y="930809"/>
              <a:chExt cx="1703275" cy="1325316"/>
            </a:xfrm>
          </p:grpSpPr>
          <p:sp>
            <p:nvSpPr>
              <p:cNvPr id="350" name="Google Shape;350;p27"/>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352" name="Google Shape;352;p27"/>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54" name="Google Shape;354;p27"/>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356" name="Google Shape;356;p27"/>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58" name="Google Shape;358;p27"/>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360" name="Google Shape;360;p27"/>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62" name="Google Shape;362;p27"/>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7"/>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364" name="Google Shape;364;p27"/>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66" name="Google Shape;366;p27"/>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368" name="Google Shape;368;p27"/>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70" name="Google Shape;370;p27"/>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372" name="Google Shape;372;p27"/>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74" name="Google Shape;374;p27"/>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376" name="Google Shape;376;p27"/>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7"/>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78" name="Google Shape;378;p27"/>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380" name="Google Shape;380;p27"/>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382" name="Google Shape;382;p27"/>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384" name="Google Shape;384;p27"/>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385" name="Google Shape;385;p27"/>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386" name="Google Shape;386;p27"/>
            <p:cNvCxnSpPr>
              <a:stCxn id="384" idx="3"/>
              <a:endCxn id="385"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387" name="Google Shape;387;p27"/>
            <p:cNvCxnSpPr>
              <a:endCxn id="384"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388" name="Google Shape;388;p27"/>
          <p:cNvSpPr/>
          <p:nvPr/>
        </p:nvSpPr>
        <p:spPr>
          <a:xfrm>
            <a:off x="5431800" y="1856437"/>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9" name="Google Shape;389;p27"/>
          <p:cNvSpPr txBox="1"/>
          <p:nvPr/>
        </p:nvSpPr>
        <p:spPr>
          <a:xfrm>
            <a:off x="1122528" y="11562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390" name="Google Shape;390;p27"/>
          <p:cNvSpPr txBox="1"/>
          <p:nvPr/>
        </p:nvSpPr>
        <p:spPr>
          <a:xfrm>
            <a:off x="5431800"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391" name="Google Shape;391;p27"/>
          <p:cNvSpPr/>
          <p:nvPr/>
        </p:nvSpPr>
        <p:spPr>
          <a:xfrm>
            <a:off x="1944025" y="2820400"/>
            <a:ext cx="864000" cy="635400"/>
          </a:xfrm>
          <a:prstGeom prst="bentUpArrow">
            <a:avLst>
              <a:gd fmla="val 32867" name="adj1"/>
              <a:gd fmla="val 25000" name="adj2"/>
              <a:gd fmla="val 25000"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300">
                <a:solidFill>
                  <a:srgbClr val="000000"/>
                </a:solidFill>
                <a:latin typeface="Calibri"/>
                <a:ea typeface="Calibri"/>
                <a:cs typeface="Calibri"/>
                <a:sym typeface="Calibri"/>
              </a:rPr>
              <a:t>commit</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Push</a:t>
            </a:r>
            <a:endParaRPr/>
          </a:p>
        </p:txBody>
      </p:sp>
      <p:grpSp>
        <p:nvGrpSpPr>
          <p:cNvPr id="397" name="Google Shape;397;p28"/>
          <p:cNvGrpSpPr/>
          <p:nvPr/>
        </p:nvGrpSpPr>
        <p:grpSpPr>
          <a:xfrm>
            <a:off x="241419" y="1856496"/>
            <a:ext cx="2819278" cy="1703113"/>
            <a:chOff x="1371600" y="1250086"/>
            <a:chExt cx="3657600" cy="2149039"/>
          </a:xfrm>
        </p:grpSpPr>
        <p:grpSp>
          <p:nvGrpSpPr>
            <p:cNvPr id="398" name="Google Shape;398;p28"/>
            <p:cNvGrpSpPr/>
            <p:nvPr/>
          </p:nvGrpSpPr>
          <p:grpSpPr>
            <a:xfrm>
              <a:off x="1371600" y="2073809"/>
              <a:ext cx="1703275" cy="1325316"/>
              <a:chOff x="0" y="930809"/>
              <a:chExt cx="1703275" cy="1325316"/>
            </a:xfrm>
          </p:grpSpPr>
          <p:sp>
            <p:nvSpPr>
              <p:cNvPr id="399" name="Google Shape;399;p28"/>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401" name="Google Shape;401;p28"/>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8"/>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03" name="Google Shape;403;p28"/>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8"/>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405" name="Google Shape;405;p28"/>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8"/>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07" name="Google Shape;407;p28"/>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8"/>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409" name="Google Shape;409;p28"/>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11" name="Google Shape;411;p28"/>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8"/>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413" name="Google Shape;413;p28"/>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15" name="Google Shape;415;p28"/>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8"/>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417" name="Google Shape;417;p28"/>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19" name="Google Shape;419;p28"/>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421" name="Google Shape;421;p28"/>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23" name="Google Shape;423;p28"/>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425" name="Google Shape;425;p28"/>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27" name="Google Shape;427;p28"/>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429" name="Google Shape;429;p28"/>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31" name="Google Shape;431;p28"/>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433" name="Google Shape;433;p28"/>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434" name="Google Shape;434;p28"/>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35" name="Google Shape;435;p28"/>
            <p:cNvCxnSpPr>
              <a:stCxn id="433" idx="3"/>
              <a:endCxn id="434"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436" name="Google Shape;436;p28"/>
            <p:cNvCxnSpPr>
              <a:endCxn id="433"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437" name="Google Shape;437;p28"/>
          <p:cNvSpPr/>
          <p:nvPr/>
        </p:nvSpPr>
        <p:spPr>
          <a:xfrm>
            <a:off x="5431800" y="1856437"/>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38" name="Google Shape;438;p28"/>
          <p:cNvSpPr txBox="1"/>
          <p:nvPr/>
        </p:nvSpPr>
        <p:spPr>
          <a:xfrm>
            <a:off x="1122528" y="11562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439" name="Google Shape;439;p28"/>
          <p:cNvSpPr txBox="1"/>
          <p:nvPr/>
        </p:nvSpPr>
        <p:spPr>
          <a:xfrm>
            <a:off x="5431800"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440" name="Google Shape;440;p28"/>
          <p:cNvSpPr/>
          <p:nvPr/>
        </p:nvSpPr>
        <p:spPr>
          <a:xfrm>
            <a:off x="1944025" y="2820400"/>
            <a:ext cx="864000" cy="635400"/>
          </a:xfrm>
          <a:prstGeom prst="bentUpArrow">
            <a:avLst>
              <a:gd fmla="val 32867" name="adj1"/>
              <a:gd fmla="val 25000" name="adj2"/>
              <a:gd fmla="val 25000"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300">
                <a:solidFill>
                  <a:srgbClr val="000000"/>
                </a:solidFill>
                <a:latin typeface="Calibri"/>
                <a:ea typeface="Calibri"/>
                <a:cs typeface="Calibri"/>
                <a:sym typeface="Calibri"/>
              </a:rPr>
              <a:t>commit</a:t>
            </a:r>
            <a:endParaRPr sz="900"/>
          </a:p>
        </p:txBody>
      </p:sp>
      <p:sp>
        <p:nvSpPr>
          <p:cNvPr id="441" name="Google Shape;441;p28"/>
          <p:cNvSpPr txBox="1"/>
          <p:nvPr/>
        </p:nvSpPr>
        <p:spPr>
          <a:xfrm>
            <a:off x="3060700" y="2960125"/>
            <a:ext cx="62772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At the end of each work session, you need to save your changes on the server.  </a:t>
            </a:r>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Push</a:t>
            </a:r>
            <a:endParaRPr/>
          </a:p>
        </p:txBody>
      </p:sp>
      <p:grpSp>
        <p:nvGrpSpPr>
          <p:cNvPr id="447" name="Google Shape;447;p29"/>
          <p:cNvGrpSpPr/>
          <p:nvPr/>
        </p:nvGrpSpPr>
        <p:grpSpPr>
          <a:xfrm>
            <a:off x="241419" y="1856496"/>
            <a:ext cx="2819278" cy="1703113"/>
            <a:chOff x="1371600" y="1250086"/>
            <a:chExt cx="3657600" cy="2149039"/>
          </a:xfrm>
        </p:grpSpPr>
        <p:grpSp>
          <p:nvGrpSpPr>
            <p:cNvPr id="448" name="Google Shape;448;p29"/>
            <p:cNvGrpSpPr/>
            <p:nvPr/>
          </p:nvGrpSpPr>
          <p:grpSpPr>
            <a:xfrm>
              <a:off x="1371600" y="2073809"/>
              <a:ext cx="1703275" cy="1325316"/>
              <a:chOff x="0" y="930809"/>
              <a:chExt cx="1703275" cy="1325316"/>
            </a:xfrm>
          </p:grpSpPr>
          <p:sp>
            <p:nvSpPr>
              <p:cNvPr id="449" name="Google Shape;449;p29"/>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451" name="Google Shape;451;p29"/>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53" name="Google Shape;453;p29"/>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455" name="Google Shape;455;p29"/>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9"/>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57" name="Google Shape;457;p29"/>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9"/>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459" name="Google Shape;459;p29"/>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61" name="Google Shape;461;p29"/>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9"/>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463" name="Google Shape;463;p29"/>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9"/>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65" name="Google Shape;465;p29"/>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9"/>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467" name="Google Shape;467;p29"/>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69" name="Google Shape;469;p29"/>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471" name="Google Shape;471;p29"/>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73" name="Google Shape;473;p29"/>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475" name="Google Shape;475;p29"/>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9"/>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77" name="Google Shape;477;p29"/>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9"/>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479" name="Google Shape;479;p29"/>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9"/>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481" name="Google Shape;481;p29"/>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9"/>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483" name="Google Shape;483;p29"/>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484" name="Google Shape;484;p29"/>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485" name="Google Shape;485;p29"/>
            <p:cNvCxnSpPr>
              <a:stCxn id="483" idx="3"/>
              <a:endCxn id="484"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486" name="Google Shape;486;p29"/>
            <p:cNvCxnSpPr>
              <a:endCxn id="483"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487" name="Google Shape;487;p29"/>
          <p:cNvSpPr/>
          <p:nvPr/>
        </p:nvSpPr>
        <p:spPr>
          <a:xfrm>
            <a:off x="5431800" y="1856437"/>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488" name="Google Shape;488;p29"/>
          <p:cNvSpPr/>
          <p:nvPr/>
        </p:nvSpPr>
        <p:spPr>
          <a:xfrm>
            <a:off x="3603000" y="1994442"/>
            <a:ext cx="1295400" cy="635400"/>
          </a:xfrm>
          <a:prstGeom prst="rightArrow">
            <a:avLst>
              <a:gd fmla="val 50000" name="adj1"/>
              <a:gd fmla="val 50000" name="adj2"/>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push</a:t>
            </a:r>
            <a:endParaRPr sz="1800">
              <a:solidFill>
                <a:srgbClr val="000000"/>
              </a:solidFill>
              <a:latin typeface="Calibri"/>
              <a:ea typeface="Calibri"/>
              <a:cs typeface="Calibri"/>
              <a:sym typeface="Calibri"/>
            </a:endParaRPr>
          </a:p>
        </p:txBody>
      </p:sp>
      <p:sp>
        <p:nvSpPr>
          <p:cNvPr id="489" name="Google Shape;489;p29"/>
          <p:cNvSpPr txBox="1"/>
          <p:nvPr/>
        </p:nvSpPr>
        <p:spPr>
          <a:xfrm>
            <a:off x="1122528" y="11562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490" name="Google Shape;490;p29"/>
          <p:cNvSpPr txBox="1"/>
          <p:nvPr/>
        </p:nvSpPr>
        <p:spPr>
          <a:xfrm>
            <a:off x="5431800"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491" name="Google Shape;491;p29"/>
          <p:cNvSpPr/>
          <p:nvPr/>
        </p:nvSpPr>
        <p:spPr>
          <a:xfrm>
            <a:off x="1944025" y="2820400"/>
            <a:ext cx="864000" cy="635400"/>
          </a:xfrm>
          <a:prstGeom prst="bentUpArrow">
            <a:avLst>
              <a:gd fmla="val 32867" name="adj1"/>
              <a:gd fmla="val 25000" name="adj2"/>
              <a:gd fmla="val 25000"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300">
                <a:solidFill>
                  <a:srgbClr val="000000"/>
                </a:solidFill>
                <a:latin typeface="Calibri"/>
                <a:ea typeface="Calibri"/>
                <a:cs typeface="Calibri"/>
                <a:sym typeface="Calibri"/>
              </a:rPr>
              <a:t>commit</a:t>
            </a:r>
            <a:endParaRPr sz="900"/>
          </a:p>
        </p:txBody>
      </p:sp>
      <p:sp>
        <p:nvSpPr>
          <p:cNvPr id="492" name="Google Shape;492;p29"/>
          <p:cNvSpPr txBox="1"/>
          <p:nvPr/>
        </p:nvSpPr>
        <p:spPr>
          <a:xfrm>
            <a:off x="3060700" y="2960125"/>
            <a:ext cx="62772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At the end of each work session, you need to save your changes on the server.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latin typeface="Calibri"/>
              <a:ea typeface="Calibri"/>
              <a:cs typeface="Calibri"/>
              <a:sym typeface="Calibri"/>
            </a:endParaRPr>
          </a:p>
          <a:p>
            <a:pPr indent="0" lvl="0" marL="0" marR="0" rtl="0" algn="l">
              <a:spcBef>
                <a:spcPts val="0"/>
              </a:spcBef>
              <a:spcAft>
                <a:spcPts val="0"/>
              </a:spcAft>
              <a:buNone/>
            </a:pPr>
            <a:r>
              <a:rPr lang="el" sz="1800">
                <a:solidFill>
                  <a:srgbClr val="000000"/>
                </a:solidFill>
                <a:latin typeface="Calibri"/>
                <a:ea typeface="Calibri"/>
                <a:cs typeface="Calibri"/>
                <a:sym typeface="Calibri"/>
              </a:rPr>
              <a:t>This is called a </a:t>
            </a:r>
            <a:r>
              <a:rPr lang="el" sz="1800">
                <a:solidFill>
                  <a:srgbClr val="E69138"/>
                </a:solidFill>
                <a:latin typeface="Calibri"/>
                <a:ea typeface="Calibri"/>
                <a:cs typeface="Calibri"/>
                <a:sym typeface="Calibri"/>
              </a:rPr>
              <a:t>“push”</a:t>
            </a:r>
            <a:r>
              <a:rPr lang="el" sz="1800">
                <a:solidFill>
                  <a:srgbClr val="000000"/>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Push</a:t>
            </a:r>
            <a:endParaRPr/>
          </a:p>
        </p:txBody>
      </p:sp>
      <p:grpSp>
        <p:nvGrpSpPr>
          <p:cNvPr id="498" name="Google Shape;498;p30"/>
          <p:cNvGrpSpPr/>
          <p:nvPr/>
        </p:nvGrpSpPr>
        <p:grpSpPr>
          <a:xfrm>
            <a:off x="241419" y="1856496"/>
            <a:ext cx="2819278" cy="1703113"/>
            <a:chOff x="1371600" y="1250086"/>
            <a:chExt cx="3657600" cy="2149039"/>
          </a:xfrm>
        </p:grpSpPr>
        <p:grpSp>
          <p:nvGrpSpPr>
            <p:cNvPr id="499" name="Google Shape;499;p30"/>
            <p:cNvGrpSpPr/>
            <p:nvPr/>
          </p:nvGrpSpPr>
          <p:grpSpPr>
            <a:xfrm>
              <a:off x="1371600" y="2073809"/>
              <a:ext cx="1703275" cy="1325316"/>
              <a:chOff x="0" y="930809"/>
              <a:chExt cx="1703275" cy="1325316"/>
            </a:xfrm>
          </p:grpSpPr>
          <p:sp>
            <p:nvSpPr>
              <p:cNvPr id="500" name="Google Shape;500;p30"/>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0"/>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502" name="Google Shape;502;p30"/>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0"/>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04" name="Google Shape;504;p30"/>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0"/>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506" name="Google Shape;506;p30"/>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0"/>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08" name="Google Shape;508;p30"/>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0"/>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510" name="Google Shape;510;p30"/>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0"/>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12" name="Google Shape;512;p30"/>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0"/>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514" name="Google Shape;514;p30"/>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0"/>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16" name="Google Shape;516;p30"/>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0"/>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518" name="Google Shape;518;p30"/>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0"/>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20" name="Google Shape;520;p30"/>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0"/>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522" name="Google Shape;522;p30"/>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0"/>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24" name="Google Shape;524;p30"/>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0"/>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526" name="Google Shape;526;p30"/>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0"/>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28" name="Google Shape;528;p30"/>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0"/>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530" name="Google Shape;530;p30"/>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0"/>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32" name="Google Shape;532;p30"/>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0"/>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534" name="Google Shape;534;p30"/>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535" name="Google Shape;535;p30"/>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36" name="Google Shape;536;p30"/>
            <p:cNvCxnSpPr>
              <a:stCxn id="534" idx="3"/>
              <a:endCxn id="535"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537" name="Google Shape;537;p30"/>
            <p:cNvCxnSpPr>
              <a:endCxn id="534"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538" name="Google Shape;538;p30"/>
          <p:cNvSpPr/>
          <p:nvPr/>
        </p:nvSpPr>
        <p:spPr>
          <a:xfrm>
            <a:off x="5431800" y="1856437"/>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39" name="Google Shape;539;p30"/>
          <p:cNvSpPr/>
          <p:nvPr/>
        </p:nvSpPr>
        <p:spPr>
          <a:xfrm>
            <a:off x="3603000" y="1994442"/>
            <a:ext cx="1295400" cy="635400"/>
          </a:xfrm>
          <a:prstGeom prst="rightArrow">
            <a:avLst>
              <a:gd fmla="val 50000" name="adj1"/>
              <a:gd fmla="val 50000" name="adj2"/>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push</a:t>
            </a:r>
            <a:endParaRPr sz="1800">
              <a:solidFill>
                <a:srgbClr val="000000"/>
              </a:solidFill>
              <a:latin typeface="Calibri"/>
              <a:ea typeface="Calibri"/>
              <a:cs typeface="Calibri"/>
              <a:sym typeface="Calibri"/>
            </a:endParaRPr>
          </a:p>
        </p:txBody>
      </p:sp>
      <p:sp>
        <p:nvSpPr>
          <p:cNvPr id="540" name="Google Shape;540;p30"/>
          <p:cNvSpPr txBox="1"/>
          <p:nvPr/>
        </p:nvSpPr>
        <p:spPr>
          <a:xfrm>
            <a:off x="1122528" y="11562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541" name="Google Shape;541;p30"/>
          <p:cNvSpPr txBox="1"/>
          <p:nvPr/>
        </p:nvSpPr>
        <p:spPr>
          <a:xfrm>
            <a:off x="5431800"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542" name="Google Shape;542;p30"/>
          <p:cNvSpPr/>
          <p:nvPr/>
        </p:nvSpPr>
        <p:spPr>
          <a:xfrm>
            <a:off x="1944025" y="2820400"/>
            <a:ext cx="864000" cy="635400"/>
          </a:xfrm>
          <a:prstGeom prst="bentUpArrow">
            <a:avLst>
              <a:gd fmla="val 32867" name="adj1"/>
              <a:gd fmla="val 25000" name="adj2"/>
              <a:gd fmla="val 25000"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300">
                <a:solidFill>
                  <a:srgbClr val="000000"/>
                </a:solidFill>
                <a:latin typeface="Calibri"/>
                <a:ea typeface="Calibri"/>
                <a:cs typeface="Calibri"/>
                <a:sym typeface="Calibri"/>
              </a:rPr>
              <a:t>commit</a:t>
            </a:r>
            <a:endParaRPr sz="900"/>
          </a:p>
        </p:txBody>
      </p:sp>
      <p:sp>
        <p:nvSpPr>
          <p:cNvPr id="543" name="Google Shape;543;p30"/>
          <p:cNvSpPr txBox="1"/>
          <p:nvPr/>
        </p:nvSpPr>
        <p:spPr>
          <a:xfrm>
            <a:off x="3060700" y="2960125"/>
            <a:ext cx="62772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At the end of each work session, you need to save your changes on the server.  </a:t>
            </a:r>
            <a:endParaRPr sz="1800">
              <a:latin typeface="Calibri"/>
              <a:ea typeface="Calibri"/>
              <a:cs typeface="Calibri"/>
              <a:sym typeface="Calibri"/>
            </a:endParaRPr>
          </a:p>
          <a:p>
            <a:pPr indent="0" lvl="0" marL="0" marR="0" rtl="0" algn="l">
              <a:spcBef>
                <a:spcPts val="0"/>
              </a:spcBef>
              <a:spcAft>
                <a:spcPts val="0"/>
              </a:spcAft>
              <a:buNone/>
            </a:pPr>
            <a:r>
              <a:t/>
            </a:r>
            <a:endParaRPr sz="1800">
              <a:latin typeface="Calibri"/>
              <a:ea typeface="Calibri"/>
              <a:cs typeface="Calibri"/>
              <a:sym typeface="Calibri"/>
            </a:endParaRPr>
          </a:p>
          <a:p>
            <a:pPr indent="0" lvl="0" marL="0" rtl="0" algn="l">
              <a:spcBef>
                <a:spcPts val="0"/>
              </a:spcBef>
              <a:spcAft>
                <a:spcPts val="0"/>
              </a:spcAft>
              <a:buNone/>
            </a:pPr>
            <a:r>
              <a:rPr lang="el" sz="1800">
                <a:solidFill>
                  <a:schemeClr val="dk1"/>
                </a:solidFill>
                <a:latin typeface="Calibri"/>
                <a:ea typeface="Calibri"/>
                <a:cs typeface="Calibri"/>
                <a:sym typeface="Calibri"/>
              </a:rPr>
              <a:t>This is called a </a:t>
            </a:r>
            <a:r>
              <a:rPr lang="el" sz="1800">
                <a:solidFill>
                  <a:srgbClr val="E69138"/>
                </a:solidFill>
                <a:latin typeface="Calibri"/>
                <a:ea typeface="Calibri"/>
                <a:cs typeface="Calibri"/>
                <a:sym typeface="Calibri"/>
              </a:rPr>
              <a:t>“push”</a:t>
            </a:r>
            <a:r>
              <a:rPr lang="el"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lang="el" sz="1800">
                <a:solidFill>
                  <a:schemeClr val="dk1"/>
                </a:solidFill>
                <a:latin typeface="Calibri"/>
                <a:ea typeface="Calibri"/>
                <a:cs typeface="Calibri"/>
                <a:sym typeface="Calibri"/>
              </a:rPr>
              <a:t>Now all your data is backed up.</a:t>
            </a:r>
            <a:endParaRPr>
              <a:solidFill>
                <a:schemeClr val="dk1"/>
              </a:solidFill>
            </a:endParaRPr>
          </a:p>
          <a:p>
            <a:pPr indent="-285750" lvl="0" marL="285750" rtl="0" algn="l">
              <a:spcBef>
                <a:spcPts val="0"/>
              </a:spcBef>
              <a:spcAft>
                <a:spcPts val="0"/>
              </a:spcAft>
              <a:buClr>
                <a:schemeClr val="dk1"/>
              </a:buClr>
              <a:buSzPts val="1800"/>
              <a:buChar char="•"/>
            </a:pPr>
            <a:r>
              <a:rPr lang="el" sz="1800">
                <a:solidFill>
                  <a:schemeClr val="dk1"/>
                </a:solidFill>
                <a:latin typeface="Calibri"/>
                <a:ea typeface="Calibri"/>
                <a:cs typeface="Calibri"/>
                <a:sym typeface="Calibri"/>
              </a:rPr>
              <a:t>You can retrieve it, on your machine or some other machine.</a:t>
            </a:r>
            <a:endParaRPr>
              <a:solidFill>
                <a:schemeClr val="dk1"/>
              </a:solidFill>
            </a:endParaRPr>
          </a:p>
          <a:p>
            <a:pPr indent="-285750" lvl="0" marL="285750" rtl="0" algn="l">
              <a:spcBef>
                <a:spcPts val="0"/>
              </a:spcBef>
              <a:spcAft>
                <a:spcPts val="0"/>
              </a:spcAft>
              <a:buClr>
                <a:schemeClr val="dk1"/>
              </a:buClr>
              <a:buSzPts val="1800"/>
              <a:buChar char="•"/>
            </a:pPr>
            <a:r>
              <a:rPr lang="el" sz="1800">
                <a:solidFill>
                  <a:schemeClr val="dk1"/>
                </a:solidFill>
                <a:latin typeface="Calibri"/>
                <a:ea typeface="Calibri"/>
                <a:cs typeface="Calibri"/>
                <a:sym typeface="Calibri"/>
              </a:rPr>
              <a:t>Other people with access can retrieve it</a:t>
            </a:r>
            <a:endParaRPr sz="1800">
              <a:latin typeface="Calibri"/>
              <a:ea typeface="Calibri"/>
              <a:cs typeface="Calibri"/>
              <a:sym typeface="Calibri"/>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Pull</a:t>
            </a:r>
            <a:endParaRPr/>
          </a:p>
        </p:txBody>
      </p:sp>
      <p:grpSp>
        <p:nvGrpSpPr>
          <p:cNvPr id="549" name="Google Shape;549;p31"/>
          <p:cNvGrpSpPr/>
          <p:nvPr/>
        </p:nvGrpSpPr>
        <p:grpSpPr>
          <a:xfrm>
            <a:off x="99669" y="1691008"/>
            <a:ext cx="2819278" cy="1703113"/>
            <a:chOff x="1371600" y="1250086"/>
            <a:chExt cx="3657600" cy="2149039"/>
          </a:xfrm>
        </p:grpSpPr>
        <p:grpSp>
          <p:nvGrpSpPr>
            <p:cNvPr id="550" name="Google Shape;550;p31"/>
            <p:cNvGrpSpPr/>
            <p:nvPr/>
          </p:nvGrpSpPr>
          <p:grpSpPr>
            <a:xfrm>
              <a:off x="1371600" y="2073809"/>
              <a:ext cx="1703275" cy="1325316"/>
              <a:chOff x="0" y="930809"/>
              <a:chExt cx="1703275" cy="1325316"/>
            </a:xfrm>
          </p:grpSpPr>
          <p:sp>
            <p:nvSpPr>
              <p:cNvPr id="551" name="Google Shape;551;p31"/>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1"/>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553" name="Google Shape;553;p31"/>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1"/>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55" name="Google Shape;555;p31"/>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1"/>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557" name="Google Shape;557;p31"/>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1"/>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59" name="Google Shape;559;p31"/>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1"/>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561" name="Google Shape;561;p31"/>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1"/>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63" name="Google Shape;563;p31"/>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1"/>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565" name="Google Shape;565;p31"/>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1"/>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67" name="Google Shape;567;p31"/>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1"/>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569" name="Google Shape;569;p31"/>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71" name="Google Shape;571;p31"/>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1"/>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573" name="Google Shape;573;p31"/>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1"/>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75" name="Google Shape;575;p31"/>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577" name="Google Shape;577;p31"/>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1"/>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79" name="Google Shape;579;p31"/>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1"/>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581" name="Google Shape;581;p31"/>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1"/>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583" name="Google Shape;583;p31"/>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1"/>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585" name="Google Shape;585;p31"/>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586" name="Google Shape;586;p31"/>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87" name="Google Shape;587;p31"/>
            <p:cNvCxnSpPr>
              <a:stCxn id="585" idx="3"/>
              <a:endCxn id="586"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588" name="Google Shape;588;p31"/>
            <p:cNvCxnSpPr>
              <a:endCxn id="585"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589" name="Google Shape;589;p31"/>
          <p:cNvSpPr/>
          <p:nvPr/>
        </p:nvSpPr>
        <p:spPr>
          <a:xfrm>
            <a:off x="5143100" y="1832925"/>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90" name="Google Shape;590;p31"/>
          <p:cNvSpPr txBox="1"/>
          <p:nvPr/>
        </p:nvSpPr>
        <p:spPr>
          <a:xfrm>
            <a:off x="532065" y="12949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591" name="Google Shape;591;p31"/>
          <p:cNvSpPr txBox="1"/>
          <p:nvPr/>
        </p:nvSpPr>
        <p:spPr>
          <a:xfrm>
            <a:off x="4324325"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592" name="Google Shape;592;p31"/>
          <p:cNvSpPr txBox="1"/>
          <p:nvPr/>
        </p:nvSpPr>
        <p:spPr>
          <a:xfrm>
            <a:off x="2711675" y="3202700"/>
            <a:ext cx="63807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600">
                <a:solidFill>
                  <a:srgbClr val="000000"/>
                </a:solidFill>
                <a:latin typeface="Calibri"/>
                <a:ea typeface="Calibri"/>
                <a:cs typeface="Calibri"/>
                <a:sym typeface="Calibri"/>
              </a:rPr>
              <a:t>To retrieve your data from the server</a:t>
            </a:r>
            <a:r>
              <a:rPr lang="el" sz="1600">
                <a:latin typeface="Calibri"/>
                <a:ea typeface="Calibri"/>
                <a:cs typeface="Calibri"/>
                <a:sym typeface="Calibri"/>
              </a:rPr>
              <a:t>:</a:t>
            </a:r>
            <a:r>
              <a:rPr lang="el"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Pull</a:t>
            </a:r>
            <a:endParaRPr/>
          </a:p>
        </p:txBody>
      </p:sp>
      <p:grpSp>
        <p:nvGrpSpPr>
          <p:cNvPr id="598" name="Google Shape;598;p32"/>
          <p:cNvGrpSpPr/>
          <p:nvPr/>
        </p:nvGrpSpPr>
        <p:grpSpPr>
          <a:xfrm>
            <a:off x="99669" y="1691008"/>
            <a:ext cx="2819278" cy="1703113"/>
            <a:chOff x="1371600" y="1250086"/>
            <a:chExt cx="3657600" cy="2149039"/>
          </a:xfrm>
        </p:grpSpPr>
        <p:grpSp>
          <p:nvGrpSpPr>
            <p:cNvPr id="599" name="Google Shape;599;p32"/>
            <p:cNvGrpSpPr/>
            <p:nvPr/>
          </p:nvGrpSpPr>
          <p:grpSpPr>
            <a:xfrm>
              <a:off x="1371600" y="2073809"/>
              <a:ext cx="1703275" cy="1325316"/>
              <a:chOff x="0" y="930809"/>
              <a:chExt cx="1703275" cy="1325316"/>
            </a:xfrm>
          </p:grpSpPr>
          <p:sp>
            <p:nvSpPr>
              <p:cNvPr id="600" name="Google Shape;600;p32"/>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2"/>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602" name="Google Shape;602;p32"/>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2"/>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04" name="Google Shape;604;p32"/>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2"/>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606" name="Google Shape;606;p32"/>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2"/>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08" name="Google Shape;608;p32"/>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2"/>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610" name="Google Shape;610;p32"/>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2"/>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12" name="Google Shape;612;p32"/>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2"/>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614" name="Google Shape;614;p32"/>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2"/>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16" name="Google Shape;616;p32"/>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2"/>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618" name="Google Shape;618;p32"/>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2"/>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20" name="Google Shape;620;p32"/>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2"/>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622" name="Google Shape;622;p32"/>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2"/>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24" name="Google Shape;624;p32"/>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2"/>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626" name="Google Shape;626;p32"/>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2"/>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28" name="Google Shape;628;p32"/>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2"/>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630" name="Google Shape;630;p32"/>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2"/>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32" name="Google Shape;632;p32"/>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2"/>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634" name="Google Shape;634;p32"/>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635" name="Google Shape;635;p32"/>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36" name="Google Shape;636;p32"/>
            <p:cNvCxnSpPr>
              <a:stCxn id="634" idx="3"/>
              <a:endCxn id="635"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637" name="Google Shape;637;p32"/>
            <p:cNvCxnSpPr>
              <a:endCxn id="634"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638" name="Google Shape;638;p32"/>
          <p:cNvSpPr/>
          <p:nvPr/>
        </p:nvSpPr>
        <p:spPr>
          <a:xfrm>
            <a:off x="5143100" y="1832925"/>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39" name="Google Shape;639;p32"/>
          <p:cNvSpPr txBox="1"/>
          <p:nvPr/>
        </p:nvSpPr>
        <p:spPr>
          <a:xfrm>
            <a:off x="532065" y="12949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640" name="Google Shape;640;p32"/>
          <p:cNvSpPr txBox="1"/>
          <p:nvPr/>
        </p:nvSpPr>
        <p:spPr>
          <a:xfrm>
            <a:off x="4324325"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641" name="Google Shape;641;p32"/>
          <p:cNvSpPr txBox="1"/>
          <p:nvPr/>
        </p:nvSpPr>
        <p:spPr>
          <a:xfrm>
            <a:off x="2711675" y="3202700"/>
            <a:ext cx="63807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600">
                <a:solidFill>
                  <a:srgbClr val="000000"/>
                </a:solidFill>
                <a:latin typeface="Calibri"/>
                <a:ea typeface="Calibri"/>
                <a:cs typeface="Calibri"/>
                <a:sym typeface="Calibri"/>
              </a:rPr>
              <a:t>To retrieve your data from the server, you do a </a:t>
            </a:r>
            <a:r>
              <a:rPr lang="el" sz="1600">
                <a:solidFill>
                  <a:srgbClr val="6AA84F"/>
                </a:solidFill>
                <a:latin typeface="Calibri"/>
                <a:ea typeface="Calibri"/>
                <a:cs typeface="Calibri"/>
                <a:sym typeface="Calibri"/>
              </a:rPr>
              <a:t>“pull”</a:t>
            </a:r>
            <a:r>
              <a:rPr lang="el"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rPr lang="el" sz="1600">
                <a:solidFill>
                  <a:srgbClr val="000000"/>
                </a:solidFill>
                <a:latin typeface="Calibri"/>
                <a:ea typeface="Calibri"/>
                <a:cs typeface="Calibri"/>
                <a:sym typeface="Calibri"/>
              </a:rPr>
              <a:t>A </a:t>
            </a:r>
            <a:r>
              <a:rPr lang="el" sz="1600">
                <a:solidFill>
                  <a:srgbClr val="6AA84F"/>
                </a:solidFill>
                <a:latin typeface="Calibri"/>
                <a:ea typeface="Calibri"/>
                <a:cs typeface="Calibri"/>
                <a:sym typeface="Calibri"/>
              </a:rPr>
              <a:t>“pull”</a:t>
            </a:r>
            <a:r>
              <a:rPr lang="el" sz="1600">
                <a:solidFill>
                  <a:srgbClr val="000000"/>
                </a:solidFill>
                <a:latin typeface="Calibri"/>
                <a:ea typeface="Calibri"/>
                <a:cs typeface="Calibri"/>
                <a:sym typeface="Calibri"/>
              </a:rPr>
              <a:t> takes the data from the server and puts it both in your local mini-fs and in your ordinary files.</a:t>
            </a:r>
            <a:endParaRPr sz="1200"/>
          </a:p>
          <a:p>
            <a:pPr indent="0" lvl="0" marL="0" marR="0" rtl="0" algn="l">
              <a:spcBef>
                <a:spcPts val="0"/>
              </a:spcBef>
              <a:spcAft>
                <a:spcPts val="0"/>
              </a:spcAft>
              <a:buNone/>
            </a:pPr>
            <a:r>
              <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600">
              <a:solidFill>
                <a:srgbClr val="000000"/>
              </a:solidFill>
              <a:latin typeface="Calibri"/>
              <a:ea typeface="Calibri"/>
              <a:cs typeface="Calibri"/>
              <a:sym typeface="Calibri"/>
            </a:endParaRPr>
          </a:p>
        </p:txBody>
      </p:sp>
      <p:sp>
        <p:nvSpPr>
          <p:cNvPr id="642" name="Google Shape;642;p32"/>
          <p:cNvSpPr/>
          <p:nvPr/>
        </p:nvSpPr>
        <p:spPr>
          <a:xfrm flipH="1">
            <a:off x="3177425" y="1970963"/>
            <a:ext cx="1548300" cy="635400"/>
          </a:xfrm>
          <a:prstGeom prst="rightArrow">
            <a:avLst>
              <a:gd fmla="val 50000" name="adj1"/>
              <a:gd fmla="val 50000" name="adj2"/>
            </a:avLst>
          </a:prstGeom>
          <a:solidFill>
            <a:srgbClr val="6AA84F"/>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pull</a:t>
            </a:r>
            <a:endParaRPr sz="1800">
              <a:solidFill>
                <a:srgbClr val="000000"/>
              </a:solidFill>
              <a:latin typeface="Calibri"/>
              <a:ea typeface="Calibri"/>
              <a:cs typeface="Calibri"/>
              <a:sym typeface="Calibri"/>
            </a:endParaRPr>
          </a:p>
        </p:txBody>
      </p:sp>
      <p:sp>
        <p:nvSpPr>
          <p:cNvPr id="643" name="Google Shape;643;p32"/>
          <p:cNvSpPr/>
          <p:nvPr/>
        </p:nvSpPr>
        <p:spPr>
          <a:xfrm flipH="1" rot="-5400000">
            <a:off x="1936050" y="2753351"/>
            <a:ext cx="653400" cy="714300"/>
          </a:xfrm>
          <a:prstGeom prst="bentUpArrow">
            <a:avLst>
              <a:gd fmla="val 36663" name="adj1"/>
              <a:gd fmla="val 33042" name="adj2"/>
              <a:gd fmla="val 34502" name="adj3"/>
            </a:avLst>
          </a:prstGeom>
          <a:solidFill>
            <a:srgbClr val="6AA84F"/>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pull</a:t>
            </a:r>
            <a:endParaRPr sz="1800">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Synchronizing with the Server: The Pull</a:t>
            </a:r>
            <a:endParaRPr/>
          </a:p>
        </p:txBody>
      </p:sp>
      <p:grpSp>
        <p:nvGrpSpPr>
          <p:cNvPr id="649" name="Google Shape;649;p33"/>
          <p:cNvGrpSpPr/>
          <p:nvPr/>
        </p:nvGrpSpPr>
        <p:grpSpPr>
          <a:xfrm>
            <a:off x="99669" y="1691008"/>
            <a:ext cx="2819278" cy="1703113"/>
            <a:chOff x="1371600" y="1250086"/>
            <a:chExt cx="3657600" cy="2149039"/>
          </a:xfrm>
        </p:grpSpPr>
        <p:grpSp>
          <p:nvGrpSpPr>
            <p:cNvPr id="650" name="Google Shape;650;p33"/>
            <p:cNvGrpSpPr/>
            <p:nvPr/>
          </p:nvGrpSpPr>
          <p:grpSpPr>
            <a:xfrm>
              <a:off x="1371600" y="2073809"/>
              <a:ext cx="1703275" cy="1325316"/>
              <a:chOff x="0" y="930809"/>
              <a:chExt cx="1703275" cy="1325316"/>
            </a:xfrm>
          </p:grpSpPr>
          <p:sp>
            <p:nvSpPr>
              <p:cNvPr id="651" name="Google Shape;651;p33"/>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3"/>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653" name="Google Shape;653;p33"/>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3"/>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55" name="Google Shape;655;p33"/>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3"/>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657" name="Google Shape;657;p33"/>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3"/>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59" name="Google Shape;659;p33"/>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3"/>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661" name="Google Shape;661;p33"/>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3"/>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63" name="Google Shape;663;p33"/>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3"/>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665" name="Google Shape;665;p33"/>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3"/>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67" name="Google Shape;667;p33"/>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3"/>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669" name="Google Shape;669;p33"/>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3"/>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71" name="Google Shape;671;p33"/>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3"/>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673" name="Google Shape;673;p33"/>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3"/>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75" name="Google Shape;675;p33"/>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3"/>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677" name="Google Shape;677;p33"/>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3"/>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79" name="Google Shape;679;p33"/>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3"/>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681" name="Google Shape;681;p33"/>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3"/>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683" name="Google Shape;683;p33"/>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3"/>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685" name="Google Shape;685;p33"/>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686" name="Google Shape;686;p33"/>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687" name="Google Shape;687;p33"/>
            <p:cNvCxnSpPr>
              <a:stCxn id="685" idx="3"/>
              <a:endCxn id="686"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688" name="Google Shape;688;p33"/>
            <p:cNvCxnSpPr>
              <a:endCxn id="685"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689" name="Google Shape;689;p33"/>
          <p:cNvSpPr/>
          <p:nvPr/>
        </p:nvSpPr>
        <p:spPr>
          <a:xfrm>
            <a:off x="5143100" y="1832925"/>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90" name="Google Shape;690;p33"/>
          <p:cNvSpPr/>
          <p:nvPr/>
        </p:nvSpPr>
        <p:spPr>
          <a:xfrm flipH="1">
            <a:off x="3177425" y="1970963"/>
            <a:ext cx="1548300" cy="635400"/>
          </a:xfrm>
          <a:prstGeom prst="rightArrow">
            <a:avLst>
              <a:gd fmla="val 50000" name="adj1"/>
              <a:gd fmla="val 50000" name="adj2"/>
            </a:avLst>
          </a:prstGeom>
          <a:solidFill>
            <a:srgbClr val="6AA84F"/>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pull</a:t>
            </a:r>
            <a:endParaRPr sz="1800">
              <a:solidFill>
                <a:srgbClr val="000000"/>
              </a:solidFill>
              <a:latin typeface="Calibri"/>
              <a:ea typeface="Calibri"/>
              <a:cs typeface="Calibri"/>
              <a:sym typeface="Calibri"/>
            </a:endParaRPr>
          </a:p>
        </p:txBody>
      </p:sp>
      <p:sp>
        <p:nvSpPr>
          <p:cNvPr id="691" name="Google Shape;691;p33"/>
          <p:cNvSpPr txBox="1"/>
          <p:nvPr/>
        </p:nvSpPr>
        <p:spPr>
          <a:xfrm>
            <a:off x="2711675" y="3202700"/>
            <a:ext cx="63807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600">
                <a:solidFill>
                  <a:srgbClr val="000000"/>
                </a:solidFill>
                <a:latin typeface="Calibri"/>
                <a:ea typeface="Calibri"/>
                <a:cs typeface="Calibri"/>
                <a:sym typeface="Calibri"/>
              </a:rPr>
              <a:t>To retrieve your data from the server, you do a </a:t>
            </a:r>
            <a:r>
              <a:rPr lang="el" sz="1600">
                <a:solidFill>
                  <a:srgbClr val="6AA84F"/>
                </a:solidFill>
                <a:latin typeface="Calibri"/>
                <a:ea typeface="Calibri"/>
                <a:cs typeface="Calibri"/>
                <a:sym typeface="Calibri"/>
              </a:rPr>
              <a:t>“pull”</a:t>
            </a:r>
            <a:r>
              <a:rPr lang="el" sz="1600">
                <a:solidFill>
                  <a:srgbClr val="000000"/>
                </a:solidFill>
                <a:latin typeface="Calibri"/>
                <a:ea typeface="Calibri"/>
                <a:cs typeface="Calibri"/>
                <a:sym typeface="Calibri"/>
              </a:rPr>
              <a:t>.  </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rPr lang="el" sz="1600">
                <a:solidFill>
                  <a:srgbClr val="000000"/>
                </a:solidFill>
                <a:latin typeface="Calibri"/>
                <a:ea typeface="Calibri"/>
                <a:cs typeface="Calibri"/>
                <a:sym typeface="Calibri"/>
              </a:rPr>
              <a:t>A </a:t>
            </a:r>
            <a:r>
              <a:rPr lang="el" sz="1600">
                <a:solidFill>
                  <a:srgbClr val="6AA84F"/>
                </a:solidFill>
                <a:latin typeface="Calibri"/>
                <a:ea typeface="Calibri"/>
                <a:cs typeface="Calibri"/>
                <a:sym typeface="Calibri"/>
              </a:rPr>
              <a:t>“pull”</a:t>
            </a:r>
            <a:r>
              <a:rPr lang="el" sz="1600">
                <a:solidFill>
                  <a:srgbClr val="000000"/>
                </a:solidFill>
                <a:latin typeface="Calibri"/>
                <a:ea typeface="Calibri"/>
                <a:cs typeface="Calibri"/>
                <a:sym typeface="Calibri"/>
              </a:rPr>
              <a:t> takes the data from the server and puts it both in your local mini-fs and in your ordinary files.</a:t>
            </a:r>
            <a:endParaRPr sz="1200"/>
          </a:p>
          <a:p>
            <a:pPr indent="0" lvl="0" marL="0" marR="0" rtl="0" algn="l">
              <a:spcBef>
                <a:spcPts val="0"/>
              </a:spcBef>
              <a:spcAft>
                <a:spcPts val="0"/>
              </a:spcAft>
              <a:buNone/>
            </a:pPr>
            <a:r>
              <a:t/>
            </a:r>
            <a:endParaRPr sz="1600">
              <a:solidFill>
                <a:srgbClr val="000000"/>
              </a:solidFill>
              <a:latin typeface="Calibri"/>
              <a:ea typeface="Calibri"/>
              <a:cs typeface="Calibri"/>
              <a:sym typeface="Calibri"/>
            </a:endParaRPr>
          </a:p>
          <a:p>
            <a:pPr indent="0" lvl="0" marL="0" marR="0" rtl="0" algn="l">
              <a:spcBef>
                <a:spcPts val="0"/>
              </a:spcBef>
              <a:spcAft>
                <a:spcPts val="0"/>
              </a:spcAft>
              <a:buNone/>
            </a:pPr>
            <a:r>
              <a:rPr lang="el" sz="1600">
                <a:solidFill>
                  <a:srgbClr val="000000"/>
                </a:solidFill>
                <a:latin typeface="Calibri"/>
                <a:ea typeface="Calibri"/>
                <a:cs typeface="Calibri"/>
                <a:sym typeface="Calibri"/>
              </a:rPr>
              <a:t>If your local file has changed, git will merge the changes if possible.  If it can’t figure out how to the merge, you will get an </a:t>
            </a:r>
            <a:r>
              <a:rPr lang="el" sz="1600">
                <a:latin typeface="Calibri"/>
                <a:ea typeface="Calibri"/>
                <a:cs typeface="Calibri"/>
                <a:sym typeface="Calibri"/>
              </a:rPr>
              <a:t>a conflict error</a:t>
            </a:r>
            <a:endParaRPr sz="1600">
              <a:solidFill>
                <a:srgbClr val="000000"/>
              </a:solidFill>
              <a:latin typeface="Calibri"/>
              <a:ea typeface="Calibri"/>
              <a:cs typeface="Calibri"/>
              <a:sym typeface="Calibri"/>
            </a:endParaRPr>
          </a:p>
        </p:txBody>
      </p:sp>
      <p:sp>
        <p:nvSpPr>
          <p:cNvPr id="692" name="Google Shape;692;p33"/>
          <p:cNvSpPr txBox="1"/>
          <p:nvPr/>
        </p:nvSpPr>
        <p:spPr>
          <a:xfrm>
            <a:off x="532065" y="1294925"/>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693" name="Google Shape;693;p33"/>
          <p:cNvSpPr txBox="1"/>
          <p:nvPr/>
        </p:nvSpPr>
        <p:spPr>
          <a:xfrm>
            <a:off x="4324325" y="1017725"/>
            <a:ext cx="30480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github.com</a:t>
            </a:r>
            <a:endParaRPr sz="1800">
              <a:solidFill>
                <a:srgbClr val="000000"/>
              </a:solidFill>
              <a:latin typeface="Calibri"/>
              <a:ea typeface="Calibri"/>
              <a:cs typeface="Calibri"/>
              <a:sym typeface="Calibri"/>
            </a:endParaRPr>
          </a:p>
        </p:txBody>
      </p:sp>
      <p:sp>
        <p:nvSpPr>
          <p:cNvPr id="694" name="Google Shape;694;p33"/>
          <p:cNvSpPr/>
          <p:nvPr/>
        </p:nvSpPr>
        <p:spPr>
          <a:xfrm flipH="1" rot="-5400000">
            <a:off x="1936050" y="2753351"/>
            <a:ext cx="653400" cy="714300"/>
          </a:xfrm>
          <a:prstGeom prst="bentUpArrow">
            <a:avLst>
              <a:gd fmla="val 36663" name="adj1"/>
              <a:gd fmla="val 33042" name="adj2"/>
              <a:gd fmla="val 34502" name="adj3"/>
            </a:avLst>
          </a:prstGeom>
          <a:solidFill>
            <a:srgbClr val="6AA84F"/>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pull</a:t>
            </a:r>
            <a:endParaRPr sz="1800">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Full Picture</a:t>
            </a:r>
            <a:endParaRPr/>
          </a:p>
        </p:txBody>
      </p:sp>
      <p:grpSp>
        <p:nvGrpSpPr>
          <p:cNvPr id="700" name="Google Shape;700;p34"/>
          <p:cNvGrpSpPr/>
          <p:nvPr/>
        </p:nvGrpSpPr>
        <p:grpSpPr>
          <a:xfrm>
            <a:off x="509044" y="2300471"/>
            <a:ext cx="2819278" cy="1703113"/>
            <a:chOff x="1371600" y="1250086"/>
            <a:chExt cx="3657600" cy="2149039"/>
          </a:xfrm>
        </p:grpSpPr>
        <p:grpSp>
          <p:nvGrpSpPr>
            <p:cNvPr id="701" name="Google Shape;701;p34"/>
            <p:cNvGrpSpPr/>
            <p:nvPr/>
          </p:nvGrpSpPr>
          <p:grpSpPr>
            <a:xfrm>
              <a:off x="1371600" y="2073809"/>
              <a:ext cx="1703275" cy="1325316"/>
              <a:chOff x="0" y="930809"/>
              <a:chExt cx="1703275" cy="1325316"/>
            </a:xfrm>
          </p:grpSpPr>
          <p:sp>
            <p:nvSpPr>
              <p:cNvPr id="702" name="Google Shape;702;p34"/>
              <p:cNvSpPr/>
              <p:nvPr/>
            </p:nvSpPr>
            <p:spPr>
              <a:xfrm>
                <a:off x="0"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4"/>
              <p:cNvSpPr txBox="1"/>
              <p:nvPr/>
            </p:nvSpPr>
            <p:spPr>
              <a:xfrm>
                <a:off x="6557"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my-project</a:t>
                </a:r>
                <a:endParaRPr sz="500">
                  <a:solidFill>
                    <a:srgbClr val="FFFFFF"/>
                  </a:solidFill>
                  <a:latin typeface="Calibri"/>
                  <a:ea typeface="Calibri"/>
                  <a:cs typeface="Calibri"/>
                  <a:sym typeface="Calibri"/>
                </a:endParaRPr>
              </a:p>
            </p:txBody>
          </p:sp>
          <p:sp>
            <p:nvSpPr>
              <p:cNvPr id="704" name="Google Shape;704;p34"/>
              <p:cNvSpPr/>
              <p:nvPr/>
            </p:nvSpPr>
            <p:spPr>
              <a:xfrm>
                <a:off x="447712" y="1060207"/>
                <a:ext cx="95100" cy="12600"/>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4"/>
              <p:cNvSpPr txBox="1"/>
              <p:nvPr/>
            </p:nvSpPr>
            <p:spPr>
              <a:xfrm>
                <a:off x="492853" y="1064126"/>
                <a:ext cx="4800" cy="4800"/>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06" name="Google Shape;706;p34"/>
              <p:cNvSpPr/>
              <p:nvPr/>
            </p:nvSpPr>
            <p:spPr>
              <a:xfrm>
                <a:off x="542745" y="954574"/>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4"/>
              <p:cNvSpPr txBox="1"/>
              <p:nvPr/>
            </p:nvSpPr>
            <p:spPr>
              <a:xfrm>
                <a:off x="549302" y="961131"/>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docs</a:t>
                </a:r>
                <a:endParaRPr sz="500">
                  <a:solidFill>
                    <a:srgbClr val="FFFFFF"/>
                  </a:solidFill>
                  <a:latin typeface="Calibri"/>
                  <a:ea typeface="Calibri"/>
                  <a:cs typeface="Calibri"/>
                  <a:sym typeface="Calibri"/>
                </a:endParaRPr>
              </a:p>
            </p:txBody>
          </p:sp>
          <p:sp>
            <p:nvSpPr>
              <p:cNvPr id="708" name="Google Shape;708;p34"/>
              <p:cNvSpPr/>
              <p:nvPr/>
            </p:nvSpPr>
            <p:spPr>
              <a:xfrm rot="-306405">
                <a:off x="989967" y="1048353"/>
                <a:ext cx="266257" cy="12657"/>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4"/>
              <p:cNvSpPr txBox="1"/>
              <p:nvPr/>
            </p:nvSpPr>
            <p:spPr>
              <a:xfrm rot="-311666">
                <a:off x="1116414" y="1047956"/>
                <a:ext cx="13254" cy="1325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10" name="Google Shape;710;p34"/>
              <p:cNvSpPr/>
              <p:nvPr/>
            </p:nvSpPr>
            <p:spPr>
              <a:xfrm>
                <a:off x="1255675" y="930809"/>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4"/>
              <p:cNvSpPr txBox="1"/>
              <p:nvPr/>
            </p:nvSpPr>
            <p:spPr>
              <a:xfrm>
                <a:off x="1262232" y="937366"/>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manual.docx</a:t>
                </a:r>
                <a:endParaRPr sz="500">
                  <a:solidFill>
                    <a:srgbClr val="FFFFFF"/>
                  </a:solidFill>
                  <a:latin typeface="Calibri"/>
                  <a:ea typeface="Calibri"/>
                  <a:cs typeface="Calibri"/>
                  <a:sym typeface="Calibri"/>
                </a:endParaRPr>
              </a:p>
            </p:txBody>
          </p:sp>
          <p:sp>
            <p:nvSpPr>
              <p:cNvPr id="712" name="Google Shape;712;p34"/>
              <p:cNvSpPr/>
              <p:nvPr/>
            </p:nvSpPr>
            <p:spPr>
              <a:xfrm rot="2155032">
                <a:off x="959870" y="1154375"/>
                <a:ext cx="321164" cy="12661"/>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4"/>
              <p:cNvSpPr txBox="1"/>
              <p:nvPr/>
            </p:nvSpPr>
            <p:spPr>
              <a:xfrm rot="2147338">
                <a:off x="1112528" y="1152710"/>
                <a:ext cx="15903" cy="15903"/>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14" name="Google Shape;714;p34"/>
              <p:cNvSpPr/>
              <p:nvPr/>
            </p:nvSpPr>
            <p:spPr>
              <a:xfrm>
                <a:off x="1250475" y="114312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4"/>
              <p:cNvSpPr txBox="1"/>
              <p:nvPr/>
            </p:nvSpPr>
            <p:spPr>
              <a:xfrm>
                <a:off x="1257032" y="114967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user_docs.docx</a:t>
                </a:r>
                <a:endParaRPr sz="500">
                  <a:solidFill>
                    <a:srgbClr val="FFFFFF"/>
                  </a:solidFill>
                  <a:latin typeface="Calibri"/>
                  <a:ea typeface="Calibri"/>
                  <a:cs typeface="Calibri"/>
                  <a:sym typeface="Calibri"/>
                </a:endParaRPr>
              </a:p>
            </p:txBody>
          </p:sp>
          <p:sp>
            <p:nvSpPr>
              <p:cNvPr id="716" name="Google Shape;716;p34"/>
              <p:cNvSpPr/>
              <p:nvPr/>
            </p:nvSpPr>
            <p:spPr>
              <a:xfrm rot="4503575">
                <a:off x="310759" y="1238363"/>
                <a:ext cx="368870" cy="12735"/>
              </a:xfrm>
              <a:custGeom>
                <a:rect b="b" l="l" r="r" t="t"/>
                <a:pathLst>
                  <a:path extrusionOk="0" h="120000" w="120000">
                    <a:moveTo>
                      <a:pt x="0" y="60000"/>
                    </a:moveTo>
                    <a:lnTo>
                      <a:pt x="120000" y="60000"/>
                    </a:lnTo>
                  </a:path>
                </a:pathLst>
              </a:custGeom>
              <a:noFill/>
              <a:ln cap="flat" cmpd="sng" w="25400">
                <a:solidFill>
                  <a:srgbClr val="3B64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4"/>
              <p:cNvSpPr txBox="1"/>
              <p:nvPr/>
            </p:nvSpPr>
            <p:spPr>
              <a:xfrm rot="4489625">
                <a:off x="486144" y="1235536"/>
                <a:ext cx="18339" cy="18339"/>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18" name="Google Shape;718;p34"/>
              <p:cNvSpPr/>
              <p:nvPr/>
            </p:nvSpPr>
            <p:spPr>
              <a:xfrm>
                <a:off x="542745" y="1311056"/>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4"/>
              <p:cNvSpPr txBox="1"/>
              <p:nvPr/>
            </p:nvSpPr>
            <p:spPr>
              <a:xfrm>
                <a:off x="549302" y="1317613"/>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src</a:t>
                </a:r>
                <a:endParaRPr sz="500">
                  <a:solidFill>
                    <a:srgbClr val="FFFFFF"/>
                  </a:solidFill>
                  <a:latin typeface="Calibri"/>
                  <a:ea typeface="Calibri"/>
                  <a:cs typeface="Calibri"/>
                  <a:sym typeface="Calibri"/>
                </a:endParaRPr>
              </a:p>
            </p:txBody>
          </p:sp>
          <p:sp>
            <p:nvSpPr>
              <p:cNvPr id="720" name="Google Shape;720;p34"/>
              <p:cNvSpPr/>
              <p:nvPr/>
            </p:nvSpPr>
            <p:spPr>
              <a:xfrm rot="1095191">
                <a:off x="983708" y="1458847"/>
                <a:ext cx="269143" cy="12618"/>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4"/>
              <p:cNvSpPr txBox="1"/>
              <p:nvPr/>
            </p:nvSpPr>
            <p:spPr>
              <a:xfrm rot="1082057">
                <a:off x="1111474" y="1458381"/>
                <a:ext cx="13567" cy="13567"/>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22" name="Google Shape;722;p34"/>
              <p:cNvSpPr/>
              <p:nvPr/>
            </p:nvSpPr>
            <p:spPr>
              <a:xfrm>
                <a:off x="1245918" y="1395302"/>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4"/>
              <p:cNvSpPr txBox="1"/>
              <p:nvPr/>
            </p:nvSpPr>
            <p:spPr>
              <a:xfrm>
                <a:off x="1252475" y="1401859"/>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main.rkt</a:t>
                </a:r>
                <a:endParaRPr sz="500">
                  <a:solidFill>
                    <a:srgbClr val="FFFFFF"/>
                  </a:solidFill>
                  <a:latin typeface="Calibri"/>
                  <a:ea typeface="Calibri"/>
                  <a:cs typeface="Calibri"/>
                  <a:sym typeface="Calibri"/>
                </a:endParaRPr>
              </a:p>
            </p:txBody>
          </p:sp>
          <p:sp>
            <p:nvSpPr>
              <p:cNvPr id="724" name="Google Shape;724;p34"/>
              <p:cNvSpPr/>
              <p:nvPr/>
            </p:nvSpPr>
            <p:spPr>
              <a:xfrm rot="2929855">
                <a:off x="924756" y="1561262"/>
                <a:ext cx="384181" cy="1275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4"/>
              <p:cNvSpPr txBox="1"/>
              <p:nvPr/>
            </p:nvSpPr>
            <p:spPr>
              <a:xfrm rot="2928844">
                <a:off x="1107323" y="1557939"/>
                <a:ext cx="19134" cy="1913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26" name="Google Shape;726;p34"/>
              <p:cNvSpPr/>
              <p:nvPr/>
            </p:nvSpPr>
            <p:spPr>
              <a:xfrm>
                <a:off x="1243307" y="1600200"/>
                <a:ext cx="4341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4"/>
              <p:cNvSpPr txBox="1"/>
              <p:nvPr/>
            </p:nvSpPr>
            <p:spPr>
              <a:xfrm>
                <a:off x="1249864" y="1606757"/>
                <a:ext cx="4209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module1.rkt</a:t>
                </a:r>
                <a:endParaRPr sz="500">
                  <a:solidFill>
                    <a:srgbClr val="FFFFFF"/>
                  </a:solidFill>
                  <a:latin typeface="Calibri"/>
                  <a:ea typeface="Calibri"/>
                  <a:cs typeface="Calibri"/>
                  <a:sym typeface="Calibri"/>
                </a:endParaRPr>
              </a:p>
            </p:txBody>
          </p:sp>
          <p:sp>
            <p:nvSpPr>
              <p:cNvPr id="728" name="Google Shape;728;p34"/>
              <p:cNvSpPr/>
              <p:nvPr/>
            </p:nvSpPr>
            <p:spPr>
              <a:xfrm rot="3804464">
                <a:off x="834354" y="1669243"/>
                <a:ext cx="564965" cy="12746"/>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4"/>
              <p:cNvSpPr txBox="1"/>
              <p:nvPr/>
            </p:nvSpPr>
            <p:spPr>
              <a:xfrm rot="3806097">
                <a:off x="1102804" y="1661448"/>
                <a:ext cx="28174" cy="2817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30" name="Google Shape;730;p34"/>
              <p:cNvSpPr/>
              <p:nvPr/>
            </p:nvSpPr>
            <p:spPr>
              <a:xfrm>
                <a:off x="1243307" y="1816261"/>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4"/>
              <p:cNvSpPr txBox="1"/>
              <p:nvPr/>
            </p:nvSpPr>
            <p:spPr>
              <a:xfrm>
                <a:off x="1249864" y="1822818"/>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module2.rkt</a:t>
                </a:r>
                <a:endParaRPr sz="500">
                  <a:solidFill>
                    <a:srgbClr val="FFFFFF"/>
                  </a:solidFill>
                  <a:latin typeface="Calibri"/>
                  <a:ea typeface="Calibri"/>
                  <a:cs typeface="Calibri"/>
                  <a:sym typeface="Calibri"/>
                </a:endParaRPr>
              </a:p>
            </p:txBody>
          </p:sp>
          <p:sp>
            <p:nvSpPr>
              <p:cNvPr id="732" name="Google Shape;732;p34"/>
              <p:cNvSpPr/>
              <p:nvPr/>
            </p:nvSpPr>
            <p:spPr>
              <a:xfrm rot="4240559">
                <a:off x="734719" y="1777245"/>
                <a:ext cx="764256" cy="12714"/>
              </a:xfrm>
              <a:custGeom>
                <a:rect b="b" l="l" r="r" t="t"/>
                <a:pathLst>
                  <a:path extrusionOk="0" h="120000" w="120000">
                    <a:moveTo>
                      <a:pt x="0" y="60000"/>
                    </a:moveTo>
                    <a:lnTo>
                      <a:pt x="120000" y="60000"/>
                    </a:lnTo>
                  </a:path>
                </a:pathLst>
              </a:custGeom>
              <a:noFill/>
              <a:ln cap="flat" cmpd="sng" w="25400">
                <a:solidFill>
                  <a:srgbClr val="4674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4"/>
              <p:cNvSpPr txBox="1"/>
              <p:nvPr/>
            </p:nvSpPr>
            <p:spPr>
              <a:xfrm rot="4242597">
                <a:off x="1097822" y="1764495"/>
                <a:ext cx="38141" cy="381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None/>
                </a:pPr>
                <a:r>
                  <a:t/>
                </a:r>
                <a:endParaRPr sz="400">
                  <a:solidFill>
                    <a:srgbClr val="000000"/>
                  </a:solidFill>
                  <a:latin typeface="Calibri"/>
                  <a:ea typeface="Calibri"/>
                  <a:cs typeface="Calibri"/>
                  <a:sym typeface="Calibri"/>
                </a:endParaRPr>
              </a:p>
            </p:txBody>
          </p:sp>
          <p:sp>
            <p:nvSpPr>
              <p:cNvPr id="734" name="Google Shape;734;p34"/>
              <p:cNvSpPr/>
              <p:nvPr/>
            </p:nvSpPr>
            <p:spPr>
              <a:xfrm>
                <a:off x="1243307" y="2032325"/>
                <a:ext cx="447600" cy="2238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4"/>
              <p:cNvSpPr txBox="1"/>
              <p:nvPr/>
            </p:nvSpPr>
            <p:spPr>
              <a:xfrm>
                <a:off x="1249864" y="2038882"/>
                <a:ext cx="434700" cy="210600"/>
              </a:xfrm>
              <a:prstGeom prst="rect">
                <a:avLst/>
              </a:prstGeom>
              <a:noFill/>
              <a:ln>
                <a:noFill/>
              </a:ln>
            </p:spPr>
            <p:txBody>
              <a:bodyPr anchorCtr="0" anchor="ctr" bIns="3175" lIns="3175" spcFirstLastPara="1" rIns="3175" wrap="square" tIns="3175">
                <a:noAutofit/>
              </a:bodyPr>
              <a:lstStyle/>
              <a:p>
                <a:pPr indent="0" lvl="0" marL="0" marR="0" rtl="0" algn="ctr">
                  <a:lnSpc>
                    <a:spcPct val="90000"/>
                  </a:lnSpc>
                  <a:spcBef>
                    <a:spcPts val="0"/>
                  </a:spcBef>
                  <a:spcAft>
                    <a:spcPts val="0"/>
                  </a:spcAft>
                  <a:buNone/>
                </a:pPr>
                <a:r>
                  <a:rPr lang="el" sz="500">
                    <a:solidFill>
                      <a:srgbClr val="FFFFFF"/>
                    </a:solidFill>
                    <a:latin typeface="Calibri"/>
                    <a:ea typeface="Calibri"/>
                    <a:cs typeface="Calibri"/>
                    <a:sym typeface="Calibri"/>
                  </a:rPr>
                  <a:t>module3.rkt</a:t>
                </a:r>
                <a:endParaRPr sz="500">
                  <a:solidFill>
                    <a:srgbClr val="FFFFFF"/>
                  </a:solidFill>
                  <a:latin typeface="Calibri"/>
                  <a:ea typeface="Calibri"/>
                  <a:cs typeface="Calibri"/>
                  <a:sym typeface="Calibri"/>
                </a:endParaRPr>
              </a:p>
            </p:txBody>
          </p:sp>
        </p:grpSp>
        <p:sp>
          <p:nvSpPr>
            <p:cNvPr id="736" name="Google Shape;736;p34"/>
            <p:cNvSpPr/>
            <p:nvPr/>
          </p:nvSpPr>
          <p:spPr>
            <a:xfrm>
              <a:off x="2514600" y="1524000"/>
              <a:ext cx="1052400" cy="602400"/>
            </a:xfrm>
            <a:prstGeom prst="roundRect">
              <a:avLst>
                <a:gd fmla="val 10000" name="adj"/>
              </a:avLst>
            </a:prstGeom>
            <a:solidFill>
              <a:srgbClr val="4F81BD"/>
            </a:solid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FFFFFF"/>
                  </a:solidFill>
                  <a:latin typeface="Calibri"/>
                  <a:ea typeface="Calibri"/>
                  <a:cs typeface="Calibri"/>
                  <a:sym typeface="Calibri"/>
                </a:rPr>
                <a:t>.git</a:t>
              </a:r>
              <a:endParaRPr sz="1800">
                <a:solidFill>
                  <a:srgbClr val="FFFFFF"/>
                </a:solidFill>
                <a:latin typeface="Calibri"/>
                <a:ea typeface="Calibri"/>
                <a:cs typeface="Calibri"/>
                <a:sym typeface="Calibri"/>
              </a:endParaRPr>
            </a:p>
          </p:txBody>
        </p:sp>
        <p:sp>
          <p:nvSpPr>
            <p:cNvPr id="737" name="Google Shape;737;p34"/>
            <p:cNvSpPr/>
            <p:nvPr/>
          </p:nvSpPr>
          <p:spPr>
            <a:xfrm>
              <a:off x="4114800" y="1250086"/>
              <a:ext cx="914400" cy="1150214"/>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738" name="Google Shape;738;p34"/>
            <p:cNvCxnSpPr>
              <a:stCxn id="736" idx="3"/>
              <a:endCxn id="737" idx="2"/>
            </p:cNvCxnSpPr>
            <p:nvPr/>
          </p:nvCxnSpPr>
          <p:spPr>
            <a:xfrm>
              <a:off x="3567000" y="1825200"/>
              <a:ext cx="547800" cy="0"/>
            </a:xfrm>
            <a:prstGeom prst="straightConnector1">
              <a:avLst/>
            </a:prstGeom>
            <a:noFill/>
            <a:ln cap="flat" cmpd="sng" w="9525">
              <a:solidFill>
                <a:srgbClr val="4A7DBA"/>
              </a:solidFill>
              <a:prstDash val="solid"/>
              <a:round/>
              <a:headEnd len="sm" w="sm" type="none"/>
              <a:tailEnd len="med" w="med" type="stealth"/>
            </a:ln>
          </p:spPr>
        </p:cxnSp>
        <p:cxnSp>
          <p:nvCxnSpPr>
            <p:cNvPr id="739" name="Google Shape;739;p34"/>
            <p:cNvCxnSpPr>
              <a:endCxn id="736" idx="1"/>
            </p:cNvCxnSpPr>
            <p:nvPr/>
          </p:nvCxnSpPr>
          <p:spPr>
            <a:xfrm flipH="1" rot="10800000">
              <a:off x="1905000" y="1825200"/>
              <a:ext cx="609600" cy="689400"/>
            </a:xfrm>
            <a:prstGeom prst="straightConnector1">
              <a:avLst/>
            </a:prstGeom>
            <a:noFill/>
            <a:ln cap="flat" cmpd="sng" w="9525">
              <a:solidFill>
                <a:srgbClr val="4A7DBA"/>
              </a:solidFill>
              <a:prstDash val="solid"/>
              <a:round/>
              <a:headEnd len="sm" w="sm" type="none"/>
              <a:tailEnd len="med" w="med" type="stealth"/>
            </a:ln>
          </p:spPr>
        </p:cxnSp>
      </p:grpSp>
      <p:sp>
        <p:nvSpPr>
          <p:cNvPr id="740" name="Google Shape;740;p34"/>
          <p:cNvSpPr/>
          <p:nvPr/>
        </p:nvSpPr>
        <p:spPr>
          <a:xfrm>
            <a:off x="5699425" y="2300412"/>
            <a:ext cx="704850" cy="911490"/>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741" name="Google Shape;741;p34"/>
          <p:cNvSpPr/>
          <p:nvPr/>
        </p:nvSpPr>
        <p:spPr>
          <a:xfrm flipH="1">
            <a:off x="3794425" y="2609733"/>
            <a:ext cx="1562100" cy="635400"/>
          </a:xfrm>
          <a:prstGeom prst="rightArrow">
            <a:avLst>
              <a:gd fmla="val 50000" name="adj1"/>
              <a:gd fmla="val 50000" name="adj2"/>
            </a:avLst>
          </a:prstGeom>
          <a:solidFill>
            <a:srgbClr val="6AA84F"/>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pull</a:t>
            </a:r>
            <a:endParaRPr sz="1800">
              <a:solidFill>
                <a:srgbClr val="000000"/>
              </a:solidFill>
              <a:latin typeface="Calibri"/>
              <a:ea typeface="Calibri"/>
              <a:cs typeface="Calibri"/>
              <a:sym typeface="Calibri"/>
            </a:endParaRPr>
          </a:p>
        </p:txBody>
      </p:sp>
      <p:sp>
        <p:nvSpPr>
          <p:cNvPr id="742" name="Google Shape;742;p34"/>
          <p:cNvSpPr txBox="1"/>
          <p:nvPr/>
        </p:nvSpPr>
        <p:spPr>
          <a:xfrm>
            <a:off x="1390153" y="1600200"/>
            <a:ext cx="19545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local machine</a:t>
            </a:r>
            <a:endParaRPr sz="1800">
              <a:solidFill>
                <a:srgbClr val="000000"/>
              </a:solidFill>
              <a:latin typeface="Calibri"/>
              <a:ea typeface="Calibri"/>
              <a:cs typeface="Calibri"/>
              <a:sym typeface="Calibri"/>
            </a:endParaRPr>
          </a:p>
        </p:txBody>
      </p:sp>
      <p:sp>
        <p:nvSpPr>
          <p:cNvPr id="743" name="Google Shape;743;p34"/>
          <p:cNvSpPr txBox="1"/>
          <p:nvPr/>
        </p:nvSpPr>
        <p:spPr>
          <a:xfrm>
            <a:off x="5555586" y="1461700"/>
            <a:ext cx="3184200" cy="6465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a server, somewhere on the internet, eg. github.ccs.neu.edu</a:t>
            </a:r>
            <a:endParaRPr sz="1800">
              <a:solidFill>
                <a:srgbClr val="000000"/>
              </a:solidFill>
              <a:latin typeface="Calibri"/>
              <a:ea typeface="Calibri"/>
              <a:cs typeface="Calibri"/>
              <a:sym typeface="Calibri"/>
            </a:endParaRPr>
          </a:p>
        </p:txBody>
      </p:sp>
      <p:sp>
        <p:nvSpPr>
          <p:cNvPr id="744" name="Google Shape;744;p34"/>
          <p:cNvSpPr/>
          <p:nvPr/>
        </p:nvSpPr>
        <p:spPr>
          <a:xfrm flipH="1" rot="-5400000">
            <a:off x="2347040" y="3303830"/>
            <a:ext cx="755100" cy="714300"/>
          </a:xfrm>
          <a:prstGeom prst="bentUpArrow">
            <a:avLst>
              <a:gd fmla="val 36663" name="adj1"/>
              <a:gd fmla="val 33042" name="adj2"/>
              <a:gd fmla="val 34502" name="adj3"/>
            </a:avLst>
          </a:prstGeom>
          <a:solidFill>
            <a:srgbClr val="6AA84F"/>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pull</a:t>
            </a:r>
            <a:endParaRPr sz="1800">
              <a:solidFill>
                <a:srgbClr val="000000"/>
              </a:solidFill>
              <a:latin typeface="Calibri"/>
              <a:ea typeface="Calibri"/>
              <a:cs typeface="Calibri"/>
              <a:sym typeface="Calibri"/>
            </a:endParaRPr>
          </a:p>
        </p:txBody>
      </p:sp>
      <p:sp>
        <p:nvSpPr>
          <p:cNvPr id="745" name="Google Shape;745;p34"/>
          <p:cNvSpPr/>
          <p:nvPr/>
        </p:nvSpPr>
        <p:spPr>
          <a:xfrm>
            <a:off x="2604590" y="3283429"/>
            <a:ext cx="1037400" cy="1098300"/>
          </a:xfrm>
          <a:prstGeom prst="bentUpArrow">
            <a:avLst>
              <a:gd fmla="val 27738" name="adj1"/>
              <a:gd fmla="val 25000" name="adj2"/>
              <a:gd fmla="val 24009" name="adj3"/>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commit</a:t>
            </a:r>
            <a:endParaRPr/>
          </a:p>
        </p:txBody>
      </p:sp>
      <p:sp>
        <p:nvSpPr>
          <p:cNvPr id="746" name="Google Shape;746;p34"/>
          <p:cNvSpPr/>
          <p:nvPr/>
        </p:nvSpPr>
        <p:spPr>
          <a:xfrm>
            <a:off x="3794425" y="2002828"/>
            <a:ext cx="1562100" cy="635400"/>
          </a:xfrm>
          <a:prstGeom prst="rightArrow">
            <a:avLst>
              <a:gd fmla="val 50000" name="adj1"/>
              <a:gd fmla="val 50000" name="adj2"/>
            </a:avLst>
          </a:prstGeom>
          <a:solidFill>
            <a:srgbClr val="FABF8E"/>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push</a:t>
            </a:r>
            <a:endParaRPr sz="1800">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typical workflow</a:t>
            </a:r>
            <a:endParaRPr/>
          </a:p>
        </p:txBody>
      </p:sp>
      <p:grpSp>
        <p:nvGrpSpPr>
          <p:cNvPr id="752" name="Google Shape;752;p35"/>
          <p:cNvGrpSpPr/>
          <p:nvPr/>
        </p:nvGrpSpPr>
        <p:grpSpPr>
          <a:xfrm>
            <a:off x="6230526" y="703930"/>
            <a:ext cx="1173762" cy="4113465"/>
            <a:chOff x="4076700" y="1546554"/>
            <a:chExt cx="990600" cy="4830846"/>
          </a:xfrm>
        </p:grpSpPr>
        <p:sp>
          <p:nvSpPr>
            <p:cNvPr id="753" name="Google Shape;753;p35"/>
            <p:cNvSpPr txBox="1"/>
            <p:nvPr/>
          </p:nvSpPr>
          <p:spPr>
            <a:xfrm>
              <a:off x="4082143" y="1546554"/>
              <a:ext cx="979800" cy="4338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sync</a:t>
              </a:r>
              <a:endParaRPr sz="1800">
                <a:solidFill>
                  <a:srgbClr val="000000"/>
                </a:solidFill>
                <a:latin typeface="Calibri"/>
                <a:ea typeface="Calibri"/>
                <a:cs typeface="Calibri"/>
                <a:sym typeface="Calibri"/>
              </a:endParaRPr>
            </a:p>
          </p:txBody>
        </p:sp>
        <p:sp>
          <p:nvSpPr>
            <p:cNvPr id="754" name="Google Shape;754;p35"/>
            <p:cNvSpPr txBox="1"/>
            <p:nvPr/>
          </p:nvSpPr>
          <p:spPr>
            <a:xfrm>
              <a:off x="4082143" y="2174703"/>
              <a:ext cx="979800" cy="4338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edit</a:t>
              </a:r>
              <a:endParaRPr sz="1800">
                <a:solidFill>
                  <a:srgbClr val="000000"/>
                </a:solidFill>
                <a:latin typeface="Calibri"/>
                <a:ea typeface="Calibri"/>
                <a:cs typeface="Calibri"/>
                <a:sym typeface="Calibri"/>
              </a:endParaRPr>
            </a:p>
          </p:txBody>
        </p:sp>
        <p:sp>
          <p:nvSpPr>
            <p:cNvPr id="755" name="Google Shape;755;p35"/>
            <p:cNvSpPr txBox="1"/>
            <p:nvPr/>
          </p:nvSpPr>
          <p:spPr>
            <a:xfrm>
              <a:off x="4076700" y="2802852"/>
              <a:ext cx="990600" cy="4338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commit</a:t>
              </a:r>
              <a:endParaRPr sz="1800">
                <a:solidFill>
                  <a:srgbClr val="000000"/>
                </a:solidFill>
                <a:latin typeface="Calibri"/>
                <a:ea typeface="Calibri"/>
                <a:cs typeface="Calibri"/>
                <a:sym typeface="Calibri"/>
              </a:endParaRPr>
            </a:p>
          </p:txBody>
        </p:sp>
        <p:sp>
          <p:nvSpPr>
            <p:cNvPr id="756" name="Google Shape;756;p35"/>
            <p:cNvSpPr txBox="1"/>
            <p:nvPr/>
          </p:nvSpPr>
          <p:spPr>
            <a:xfrm>
              <a:off x="4082143" y="3431001"/>
              <a:ext cx="979800" cy="4338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edit</a:t>
              </a:r>
              <a:endParaRPr sz="1800">
                <a:solidFill>
                  <a:srgbClr val="000000"/>
                </a:solidFill>
                <a:latin typeface="Calibri"/>
                <a:ea typeface="Calibri"/>
                <a:cs typeface="Calibri"/>
                <a:sym typeface="Calibri"/>
              </a:endParaRPr>
            </a:p>
          </p:txBody>
        </p:sp>
        <p:sp>
          <p:nvSpPr>
            <p:cNvPr id="757" name="Google Shape;757;p35"/>
            <p:cNvSpPr txBox="1"/>
            <p:nvPr/>
          </p:nvSpPr>
          <p:spPr>
            <a:xfrm>
              <a:off x="4076700" y="4059150"/>
              <a:ext cx="990600" cy="4338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commit</a:t>
              </a:r>
              <a:endParaRPr sz="1800">
                <a:solidFill>
                  <a:srgbClr val="000000"/>
                </a:solidFill>
                <a:latin typeface="Calibri"/>
                <a:ea typeface="Calibri"/>
                <a:cs typeface="Calibri"/>
                <a:sym typeface="Calibri"/>
              </a:endParaRPr>
            </a:p>
          </p:txBody>
        </p:sp>
        <p:sp>
          <p:nvSpPr>
            <p:cNvPr id="758" name="Google Shape;758;p35"/>
            <p:cNvSpPr txBox="1"/>
            <p:nvPr/>
          </p:nvSpPr>
          <p:spPr>
            <a:xfrm>
              <a:off x="4082143" y="4687299"/>
              <a:ext cx="979800" cy="4338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edit</a:t>
              </a:r>
              <a:endParaRPr sz="1800">
                <a:solidFill>
                  <a:srgbClr val="000000"/>
                </a:solidFill>
                <a:latin typeface="Calibri"/>
                <a:ea typeface="Calibri"/>
                <a:cs typeface="Calibri"/>
                <a:sym typeface="Calibri"/>
              </a:endParaRPr>
            </a:p>
          </p:txBody>
        </p:sp>
        <p:sp>
          <p:nvSpPr>
            <p:cNvPr id="759" name="Google Shape;759;p35"/>
            <p:cNvSpPr txBox="1"/>
            <p:nvPr/>
          </p:nvSpPr>
          <p:spPr>
            <a:xfrm>
              <a:off x="4076700" y="5315448"/>
              <a:ext cx="990600" cy="4338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commit</a:t>
              </a:r>
              <a:endParaRPr sz="1800">
                <a:solidFill>
                  <a:srgbClr val="000000"/>
                </a:solidFill>
                <a:latin typeface="Calibri"/>
                <a:ea typeface="Calibri"/>
                <a:cs typeface="Calibri"/>
                <a:sym typeface="Calibri"/>
              </a:endParaRPr>
            </a:p>
          </p:txBody>
        </p:sp>
        <p:sp>
          <p:nvSpPr>
            <p:cNvPr id="760" name="Google Shape;760;p35"/>
            <p:cNvSpPr txBox="1"/>
            <p:nvPr/>
          </p:nvSpPr>
          <p:spPr>
            <a:xfrm>
              <a:off x="4082143" y="5943600"/>
              <a:ext cx="979800" cy="4338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800">
                  <a:solidFill>
                    <a:srgbClr val="000000"/>
                  </a:solidFill>
                  <a:latin typeface="Calibri"/>
                  <a:ea typeface="Calibri"/>
                  <a:cs typeface="Calibri"/>
                  <a:sym typeface="Calibri"/>
                </a:rPr>
                <a:t>sync</a:t>
              </a:r>
              <a:endParaRPr sz="1800">
                <a:solidFill>
                  <a:srgbClr val="000000"/>
                </a:solidFill>
                <a:latin typeface="Calibri"/>
                <a:ea typeface="Calibri"/>
                <a:cs typeface="Calibri"/>
                <a:sym typeface="Calibri"/>
              </a:endParaRPr>
            </a:p>
          </p:txBody>
        </p:sp>
        <p:cxnSp>
          <p:nvCxnSpPr>
            <p:cNvPr id="761" name="Google Shape;761;p35"/>
            <p:cNvCxnSpPr>
              <a:stCxn id="753" idx="2"/>
              <a:endCxn id="754" idx="0"/>
            </p:cNvCxnSpPr>
            <p:nvPr/>
          </p:nvCxnSpPr>
          <p:spPr>
            <a:xfrm>
              <a:off x="4572043" y="1980354"/>
              <a:ext cx="0" cy="194400"/>
            </a:xfrm>
            <a:prstGeom prst="straightConnector1">
              <a:avLst/>
            </a:prstGeom>
            <a:noFill/>
            <a:ln cap="flat" cmpd="sng" w="9525">
              <a:solidFill>
                <a:srgbClr val="4A7DBA"/>
              </a:solidFill>
              <a:prstDash val="solid"/>
              <a:round/>
              <a:headEnd len="sm" w="sm" type="none"/>
              <a:tailEnd len="med" w="med" type="stealth"/>
            </a:ln>
          </p:spPr>
        </p:cxnSp>
        <p:cxnSp>
          <p:nvCxnSpPr>
            <p:cNvPr id="762" name="Google Shape;762;p35"/>
            <p:cNvCxnSpPr>
              <a:stCxn id="754" idx="2"/>
              <a:endCxn id="755" idx="0"/>
            </p:cNvCxnSpPr>
            <p:nvPr/>
          </p:nvCxnSpPr>
          <p:spPr>
            <a:xfrm>
              <a:off x="4572043" y="2608503"/>
              <a:ext cx="0" cy="194400"/>
            </a:xfrm>
            <a:prstGeom prst="straightConnector1">
              <a:avLst/>
            </a:prstGeom>
            <a:noFill/>
            <a:ln cap="flat" cmpd="sng" w="9525">
              <a:solidFill>
                <a:srgbClr val="4A7DBA"/>
              </a:solidFill>
              <a:prstDash val="solid"/>
              <a:round/>
              <a:headEnd len="sm" w="sm" type="none"/>
              <a:tailEnd len="med" w="med" type="stealth"/>
            </a:ln>
          </p:spPr>
        </p:cxnSp>
        <p:cxnSp>
          <p:nvCxnSpPr>
            <p:cNvPr id="763" name="Google Shape;763;p35"/>
            <p:cNvCxnSpPr>
              <a:stCxn id="755" idx="2"/>
              <a:endCxn id="756" idx="0"/>
            </p:cNvCxnSpPr>
            <p:nvPr/>
          </p:nvCxnSpPr>
          <p:spPr>
            <a:xfrm>
              <a:off x="4572000" y="3236652"/>
              <a:ext cx="0" cy="194400"/>
            </a:xfrm>
            <a:prstGeom prst="straightConnector1">
              <a:avLst/>
            </a:prstGeom>
            <a:noFill/>
            <a:ln cap="flat" cmpd="sng" w="9525">
              <a:solidFill>
                <a:srgbClr val="4A7DBA"/>
              </a:solidFill>
              <a:prstDash val="solid"/>
              <a:round/>
              <a:headEnd len="sm" w="sm" type="none"/>
              <a:tailEnd len="med" w="med" type="stealth"/>
            </a:ln>
          </p:spPr>
        </p:cxnSp>
        <p:cxnSp>
          <p:nvCxnSpPr>
            <p:cNvPr id="764" name="Google Shape;764;p35"/>
            <p:cNvCxnSpPr>
              <a:stCxn id="756" idx="2"/>
              <a:endCxn id="757" idx="0"/>
            </p:cNvCxnSpPr>
            <p:nvPr/>
          </p:nvCxnSpPr>
          <p:spPr>
            <a:xfrm>
              <a:off x="4572043" y="3864801"/>
              <a:ext cx="0" cy="194400"/>
            </a:xfrm>
            <a:prstGeom prst="straightConnector1">
              <a:avLst/>
            </a:prstGeom>
            <a:noFill/>
            <a:ln cap="flat" cmpd="sng" w="9525">
              <a:solidFill>
                <a:srgbClr val="4A7DBA"/>
              </a:solidFill>
              <a:prstDash val="solid"/>
              <a:round/>
              <a:headEnd len="sm" w="sm" type="none"/>
              <a:tailEnd len="med" w="med" type="stealth"/>
            </a:ln>
          </p:spPr>
        </p:cxnSp>
        <p:cxnSp>
          <p:nvCxnSpPr>
            <p:cNvPr id="765" name="Google Shape;765;p35"/>
            <p:cNvCxnSpPr>
              <a:stCxn id="757" idx="2"/>
              <a:endCxn id="758" idx="0"/>
            </p:cNvCxnSpPr>
            <p:nvPr/>
          </p:nvCxnSpPr>
          <p:spPr>
            <a:xfrm>
              <a:off x="4572000" y="4492950"/>
              <a:ext cx="0" cy="194400"/>
            </a:xfrm>
            <a:prstGeom prst="straightConnector1">
              <a:avLst/>
            </a:prstGeom>
            <a:noFill/>
            <a:ln cap="flat" cmpd="sng" w="9525">
              <a:solidFill>
                <a:srgbClr val="4A7DBA"/>
              </a:solidFill>
              <a:prstDash val="solid"/>
              <a:round/>
              <a:headEnd len="sm" w="sm" type="none"/>
              <a:tailEnd len="med" w="med" type="stealth"/>
            </a:ln>
          </p:spPr>
        </p:cxnSp>
        <p:cxnSp>
          <p:nvCxnSpPr>
            <p:cNvPr id="766" name="Google Shape;766;p35"/>
            <p:cNvCxnSpPr>
              <a:stCxn id="758" idx="2"/>
            </p:cNvCxnSpPr>
            <p:nvPr/>
          </p:nvCxnSpPr>
          <p:spPr>
            <a:xfrm>
              <a:off x="4572043" y="5121099"/>
              <a:ext cx="0" cy="258900"/>
            </a:xfrm>
            <a:prstGeom prst="straightConnector1">
              <a:avLst/>
            </a:prstGeom>
            <a:noFill/>
            <a:ln cap="flat" cmpd="sng" w="9525">
              <a:solidFill>
                <a:srgbClr val="4A7DBA"/>
              </a:solidFill>
              <a:prstDash val="solid"/>
              <a:round/>
              <a:headEnd len="sm" w="sm" type="none"/>
              <a:tailEnd len="med" w="med" type="stealth"/>
            </a:ln>
          </p:spPr>
        </p:cxnSp>
        <p:cxnSp>
          <p:nvCxnSpPr>
            <p:cNvPr id="767" name="Google Shape;767;p35"/>
            <p:cNvCxnSpPr>
              <a:stCxn id="759" idx="2"/>
              <a:endCxn id="760" idx="0"/>
            </p:cNvCxnSpPr>
            <p:nvPr/>
          </p:nvCxnSpPr>
          <p:spPr>
            <a:xfrm>
              <a:off x="4572000" y="5749248"/>
              <a:ext cx="0" cy="194400"/>
            </a:xfrm>
            <a:prstGeom prst="straightConnector1">
              <a:avLst/>
            </a:prstGeom>
            <a:noFill/>
            <a:ln cap="flat" cmpd="sng" w="9525">
              <a:solidFill>
                <a:srgbClr val="4A7DBA"/>
              </a:solidFill>
              <a:prstDash val="solid"/>
              <a:round/>
              <a:headEnd len="sm" w="sm" type="none"/>
              <a:tailEnd len="med" w="med" type="stealth"/>
            </a:ln>
          </p:spPr>
        </p:cxnSp>
      </p:grpSp>
      <p:sp>
        <p:nvSpPr>
          <p:cNvPr id="768" name="Google Shape;768;p35"/>
          <p:cNvSpPr txBox="1"/>
          <p:nvPr/>
        </p:nvSpPr>
        <p:spPr>
          <a:xfrm>
            <a:off x="444825" y="1783663"/>
            <a:ext cx="4867200" cy="203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FF00FF"/>
                </a:solidFill>
                <a:latin typeface="Calibri"/>
                <a:ea typeface="Calibri"/>
                <a:cs typeface="Calibri"/>
                <a:sym typeface="Calibri"/>
              </a:rPr>
              <a:t>Best practice: </a:t>
            </a:r>
            <a:endParaRPr sz="1800">
              <a:solidFill>
                <a:srgbClr val="FF00FF"/>
              </a:solidFill>
              <a:latin typeface="Calibri"/>
              <a:ea typeface="Calibri"/>
              <a:cs typeface="Calibri"/>
              <a:sym typeface="Calibri"/>
            </a:endParaRPr>
          </a:p>
          <a:p>
            <a:pPr indent="0" lvl="0" marL="0" marR="0" rtl="0" algn="l">
              <a:spcBef>
                <a:spcPts val="0"/>
              </a:spcBef>
              <a:spcAft>
                <a:spcPts val="0"/>
              </a:spcAft>
              <a:buNone/>
            </a:pPr>
            <a:r>
              <a:rPr lang="el" sz="1800">
                <a:latin typeface="Calibri"/>
                <a:ea typeface="Calibri"/>
                <a:cs typeface="Calibri"/>
                <a:sym typeface="Calibri"/>
              </a:rPr>
              <a:t>C</a:t>
            </a:r>
            <a:r>
              <a:rPr lang="el" sz="1800">
                <a:solidFill>
                  <a:srgbClr val="000000"/>
                </a:solidFill>
                <a:latin typeface="Calibri"/>
                <a:ea typeface="Calibri"/>
                <a:cs typeface="Calibri"/>
                <a:sym typeface="Calibri"/>
              </a:rPr>
              <a:t>ommit your work whenever you’ve gotten one part of your problem working</a:t>
            </a:r>
            <a:r>
              <a:rPr lang="el" sz="1800">
                <a:latin typeface="Calibri"/>
                <a:ea typeface="Calibri"/>
                <a:cs typeface="Calibri"/>
                <a:sym typeface="Calibri"/>
              </a:rPr>
              <a:t>.</a:t>
            </a:r>
            <a:endParaRPr sz="1800">
              <a:latin typeface="Calibri"/>
              <a:ea typeface="Calibri"/>
              <a:cs typeface="Calibri"/>
              <a:sym typeface="Calibri"/>
            </a:endParaRPr>
          </a:p>
          <a:p>
            <a:pPr indent="0" lvl="0" marL="0" marR="0" rtl="0" algn="l">
              <a:spcBef>
                <a:spcPts val="0"/>
              </a:spcBef>
              <a:spcAft>
                <a:spcPts val="0"/>
              </a:spcAft>
              <a:buNone/>
            </a:pPr>
            <a:r>
              <a:rPr lang="el" sz="1800">
                <a:latin typeface="Calibri"/>
                <a:ea typeface="Calibri"/>
                <a:cs typeface="Calibri"/>
                <a:sym typeface="Calibri"/>
              </a:rPr>
              <a:t>O</a:t>
            </a:r>
            <a:r>
              <a:rPr lang="el" sz="1800">
                <a:solidFill>
                  <a:srgbClr val="000000"/>
                </a:solidFill>
                <a:latin typeface="Calibri"/>
                <a:ea typeface="Calibri"/>
                <a:cs typeface="Calibri"/>
                <a:sym typeface="Calibri"/>
              </a:rPr>
              <a:t>r before trying something that might fail.</a:t>
            </a:r>
            <a:endParaRPr/>
          </a:p>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rPr lang="el" sz="1800">
                <a:solidFill>
                  <a:srgbClr val="FF00FF"/>
                </a:solidFill>
                <a:latin typeface="Calibri"/>
                <a:ea typeface="Calibri"/>
                <a:cs typeface="Calibri"/>
                <a:sym typeface="Calibri"/>
              </a:rPr>
              <a:t>If your new stuff is screwed up:</a:t>
            </a:r>
            <a:endParaRPr sz="1800">
              <a:solidFill>
                <a:srgbClr val="FF00FF"/>
              </a:solidFill>
              <a:latin typeface="Calibri"/>
              <a:ea typeface="Calibri"/>
              <a:cs typeface="Calibri"/>
              <a:sym typeface="Calibri"/>
            </a:endParaRPr>
          </a:p>
          <a:p>
            <a:pPr indent="0" lvl="0" marL="0" marR="0" rtl="0" algn="l">
              <a:spcBef>
                <a:spcPts val="0"/>
              </a:spcBef>
              <a:spcAft>
                <a:spcPts val="0"/>
              </a:spcAft>
              <a:buNone/>
            </a:pPr>
            <a:r>
              <a:rPr lang="el" sz="1800">
                <a:latin typeface="Calibri"/>
                <a:ea typeface="Calibri"/>
                <a:cs typeface="Calibri"/>
                <a:sym typeface="Calibri"/>
              </a:rPr>
              <a:t>Y</a:t>
            </a:r>
            <a:r>
              <a:rPr lang="el" sz="1800">
                <a:solidFill>
                  <a:srgbClr val="000000"/>
                </a:solidFill>
                <a:latin typeface="Calibri"/>
                <a:ea typeface="Calibri"/>
                <a:cs typeface="Calibri"/>
                <a:sym typeface="Calibri"/>
              </a:rPr>
              <a:t>ou can always “revert” to your last good commit.</a:t>
            </a:r>
            <a:endParaRPr sz="1800">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Your Workflow with a partner</a:t>
            </a:r>
            <a:endParaRPr/>
          </a:p>
        </p:txBody>
      </p:sp>
      <p:grpSp>
        <p:nvGrpSpPr>
          <p:cNvPr id="774" name="Google Shape;774;p36"/>
          <p:cNvGrpSpPr/>
          <p:nvPr/>
        </p:nvGrpSpPr>
        <p:grpSpPr>
          <a:xfrm>
            <a:off x="694906" y="1765424"/>
            <a:ext cx="1693530" cy="2192767"/>
            <a:chOff x="4076700" y="1546554"/>
            <a:chExt cx="990600" cy="5032745"/>
          </a:xfrm>
        </p:grpSpPr>
        <p:sp>
          <p:nvSpPr>
            <p:cNvPr id="775" name="Google Shape;775;p36"/>
            <p:cNvSpPr txBox="1"/>
            <p:nvPr/>
          </p:nvSpPr>
          <p:spPr>
            <a:xfrm>
              <a:off x="4082143" y="1546554"/>
              <a:ext cx="979800" cy="6357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sync</a:t>
              </a:r>
              <a:endParaRPr sz="1200">
                <a:solidFill>
                  <a:srgbClr val="000000"/>
                </a:solidFill>
                <a:latin typeface="Calibri"/>
                <a:ea typeface="Calibri"/>
                <a:cs typeface="Calibri"/>
                <a:sym typeface="Calibri"/>
              </a:endParaRPr>
            </a:p>
          </p:txBody>
        </p:sp>
        <p:sp>
          <p:nvSpPr>
            <p:cNvPr id="776" name="Google Shape;776;p36"/>
            <p:cNvSpPr txBox="1"/>
            <p:nvPr/>
          </p:nvSpPr>
          <p:spPr>
            <a:xfrm>
              <a:off x="4082143" y="2174705"/>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777" name="Google Shape;777;p36"/>
            <p:cNvSpPr txBox="1"/>
            <p:nvPr/>
          </p:nvSpPr>
          <p:spPr>
            <a:xfrm>
              <a:off x="4076700" y="2802852"/>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778" name="Google Shape;778;p36"/>
            <p:cNvSpPr txBox="1"/>
            <p:nvPr/>
          </p:nvSpPr>
          <p:spPr>
            <a:xfrm>
              <a:off x="4082143" y="3430999"/>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779" name="Google Shape;779;p36"/>
            <p:cNvSpPr txBox="1"/>
            <p:nvPr/>
          </p:nvSpPr>
          <p:spPr>
            <a:xfrm>
              <a:off x="4076700" y="4059151"/>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780" name="Google Shape;780;p36"/>
            <p:cNvSpPr txBox="1"/>
            <p:nvPr/>
          </p:nvSpPr>
          <p:spPr>
            <a:xfrm>
              <a:off x="4082143" y="4687300"/>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781" name="Google Shape;781;p36"/>
            <p:cNvSpPr txBox="1"/>
            <p:nvPr/>
          </p:nvSpPr>
          <p:spPr>
            <a:xfrm>
              <a:off x="4076700" y="5315448"/>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782" name="Google Shape;782;p36"/>
            <p:cNvSpPr txBox="1"/>
            <p:nvPr/>
          </p:nvSpPr>
          <p:spPr>
            <a:xfrm>
              <a:off x="4082143" y="5943599"/>
              <a:ext cx="979800" cy="6357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sync</a:t>
              </a:r>
              <a:endParaRPr sz="1200">
                <a:solidFill>
                  <a:srgbClr val="000000"/>
                </a:solidFill>
                <a:latin typeface="Calibri"/>
                <a:ea typeface="Calibri"/>
                <a:cs typeface="Calibri"/>
                <a:sym typeface="Calibri"/>
              </a:endParaRPr>
            </a:p>
          </p:txBody>
        </p:sp>
        <p:cxnSp>
          <p:nvCxnSpPr>
            <p:cNvPr id="783" name="Google Shape;783;p36"/>
            <p:cNvCxnSpPr>
              <a:stCxn id="775" idx="2"/>
              <a:endCxn id="776" idx="0"/>
            </p:cNvCxnSpPr>
            <p:nvPr/>
          </p:nvCxnSpPr>
          <p:spPr>
            <a:xfrm rot="10800000">
              <a:off x="4572043" y="2174754"/>
              <a:ext cx="0" cy="7500"/>
            </a:xfrm>
            <a:prstGeom prst="straightConnector1">
              <a:avLst/>
            </a:prstGeom>
            <a:noFill/>
            <a:ln cap="flat" cmpd="sng" w="9525">
              <a:solidFill>
                <a:srgbClr val="4A7DBA"/>
              </a:solidFill>
              <a:prstDash val="solid"/>
              <a:round/>
              <a:headEnd len="sm" w="sm" type="none"/>
              <a:tailEnd len="med" w="med" type="stealth"/>
            </a:ln>
          </p:spPr>
        </p:cxnSp>
        <p:cxnSp>
          <p:nvCxnSpPr>
            <p:cNvPr id="784" name="Google Shape;784;p36"/>
            <p:cNvCxnSpPr>
              <a:stCxn id="776" idx="2"/>
              <a:endCxn id="777" idx="0"/>
            </p:cNvCxnSpPr>
            <p:nvPr/>
          </p:nvCxnSpPr>
          <p:spPr>
            <a:xfrm rot="10800000">
              <a:off x="4572043" y="2802905"/>
              <a:ext cx="0" cy="7500"/>
            </a:xfrm>
            <a:prstGeom prst="straightConnector1">
              <a:avLst/>
            </a:prstGeom>
            <a:noFill/>
            <a:ln cap="flat" cmpd="sng" w="9525">
              <a:solidFill>
                <a:srgbClr val="4A7DBA"/>
              </a:solidFill>
              <a:prstDash val="solid"/>
              <a:round/>
              <a:headEnd len="sm" w="sm" type="none"/>
              <a:tailEnd len="med" w="med" type="stealth"/>
            </a:ln>
          </p:spPr>
        </p:cxnSp>
        <p:cxnSp>
          <p:nvCxnSpPr>
            <p:cNvPr id="785" name="Google Shape;785;p36"/>
            <p:cNvCxnSpPr>
              <a:stCxn id="777" idx="2"/>
              <a:endCxn id="778" idx="0"/>
            </p:cNvCxnSpPr>
            <p:nvPr/>
          </p:nvCxnSpPr>
          <p:spPr>
            <a:xfrm rot="10800000">
              <a:off x="4572000" y="3431052"/>
              <a:ext cx="0" cy="7500"/>
            </a:xfrm>
            <a:prstGeom prst="straightConnector1">
              <a:avLst/>
            </a:prstGeom>
            <a:noFill/>
            <a:ln cap="flat" cmpd="sng" w="9525">
              <a:solidFill>
                <a:srgbClr val="4A7DBA"/>
              </a:solidFill>
              <a:prstDash val="solid"/>
              <a:round/>
              <a:headEnd len="sm" w="sm" type="none"/>
              <a:tailEnd len="med" w="med" type="stealth"/>
            </a:ln>
          </p:spPr>
        </p:cxnSp>
        <p:cxnSp>
          <p:nvCxnSpPr>
            <p:cNvPr id="786" name="Google Shape;786;p36"/>
            <p:cNvCxnSpPr>
              <a:stCxn id="778" idx="2"/>
              <a:endCxn id="779" idx="0"/>
            </p:cNvCxnSpPr>
            <p:nvPr/>
          </p:nvCxnSpPr>
          <p:spPr>
            <a:xfrm rot="10800000">
              <a:off x="4572043" y="4059199"/>
              <a:ext cx="0" cy="7500"/>
            </a:xfrm>
            <a:prstGeom prst="straightConnector1">
              <a:avLst/>
            </a:prstGeom>
            <a:noFill/>
            <a:ln cap="flat" cmpd="sng" w="9525">
              <a:solidFill>
                <a:srgbClr val="4A7DBA"/>
              </a:solidFill>
              <a:prstDash val="solid"/>
              <a:round/>
              <a:headEnd len="sm" w="sm" type="none"/>
              <a:tailEnd len="med" w="med" type="stealth"/>
            </a:ln>
          </p:spPr>
        </p:cxnSp>
        <p:cxnSp>
          <p:nvCxnSpPr>
            <p:cNvPr id="787" name="Google Shape;787;p36"/>
            <p:cNvCxnSpPr>
              <a:stCxn id="779" idx="2"/>
              <a:endCxn id="780" idx="0"/>
            </p:cNvCxnSpPr>
            <p:nvPr/>
          </p:nvCxnSpPr>
          <p:spPr>
            <a:xfrm rot="10800000">
              <a:off x="4572000" y="4687351"/>
              <a:ext cx="0" cy="7500"/>
            </a:xfrm>
            <a:prstGeom prst="straightConnector1">
              <a:avLst/>
            </a:prstGeom>
            <a:noFill/>
            <a:ln cap="flat" cmpd="sng" w="9525">
              <a:solidFill>
                <a:srgbClr val="4A7DBA"/>
              </a:solidFill>
              <a:prstDash val="solid"/>
              <a:round/>
              <a:headEnd len="sm" w="sm" type="none"/>
              <a:tailEnd len="med" w="med" type="stealth"/>
            </a:ln>
          </p:spPr>
        </p:cxnSp>
        <p:cxnSp>
          <p:nvCxnSpPr>
            <p:cNvPr id="788" name="Google Shape;788;p36"/>
            <p:cNvCxnSpPr>
              <a:stCxn id="780" idx="2"/>
            </p:cNvCxnSpPr>
            <p:nvPr/>
          </p:nvCxnSpPr>
          <p:spPr>
            <a:xfrm>
              <a:off x="4572043" y="5323000"/>
              <a:ext cx="0" cy="178500"/>
            </a:xfrm>
            <a:prstGeom prst="straightConnector1">
              <a:avLst/>
            </a:prstGeom>
            <a:noFill/>
            <a:ln cap="flat" cmpd="sng" w="9525">
              <a:solidFill>
                <a:srgbClr val="4A7DBA"/>
              </a:solidFill>
              <a:prstDash val="solid"/>
              <a:round/>
              <a:headEnd len="sm" w="sm" type="none"/>
              <a:tailEnd len="med" w="med" type="stealth"/>
            </a:ln>
          </p:spPr>
        </p:cxnSp>
        <p:cxnSp>
          <p:nvCxnSpPr>
            <p:cNvPr id="789" name="Google Shape;789;p36"/>
            <p:cNvCxnSpPr>
              <a:stCxn id="781" idx="2"/>
              <a:endCxn id="782" idx="0"/>
            </p:cNvCxnSpPr>
            <p:nvPr/>
          </p:nvCxnSpPr>
          <p:spPr>
            <a:xfrm rot="10800000">
              <a:off x="4572000" y="5943648"/>
              <a:ext cx="0" cy="7500"/>
            </a:xfrm>
            <a:prstGeom prst="straightConnector1">
              <a:avLst/>
            </a:prstGeom>
            <a:noFill/>
            <a:ln cap="flat" cmpd="sng" w="9525">
              <a:solidFill>
                <a:srgbClr val="4A7DBA"/>
              </a:solidFill>
              <a:prstDash val="solid"/>
              <a:round/>
              <a:headEnd len="sm" w="sm" type="none"/>
              <a:tailEnd len="med" w="med" type="stealth"/>
            </a:ln>
          </p:spPr>
        </p:cxnSp>
      </p:grpSp>
      <p:grpSp>
        <p:nvGrpSpPr>
          <p:cNvPr id="790" name="Google Shape;790;p36"/>
          <p:cNvGrpSpPr/>
          <p:nvPr/>
        </p:nvGrpSpPr>
        <p:grpSpPr>
          <a:xfrm>
            <a:off x="3321478" y="1765424"/>
            <a:ext cx="1693530" cy="2192767"/>
            <a:chOff x="4076700" y="1546554"/>
            <a:chExt cx="990600" cy="5032745"/>
          </a:xfrm>
        </p:grpSpPr>
        <p:sp>
          <p:nvSpPr>
            <p:cNvPr id="791" name="Google Shape;791;p36"/>
            <p:cNvSpPr txBox="1"/>
            <p:nvPr/>
          </p:nvSpPr>
          <p:spPr>
            <a:xfrm>
              <a:off x="4082143" y="1546554"/>
              <a:ext cx="979800" cy="6357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sync</a:t>
              </a:r>
              <a:endParaRPr sz="1200">
                <a:solidFill>
                  <a:srgbClr val="000000"/>
                </a:solidFill>
                <a:latin typeface="Calibri"/>
                <a:ea typeface="Calibri"/>
                <a:cs typeface="Calibri"/>
                <a:sym typeface="Calibri"/>
              </a:endParaRPr>
            </a:p>
          </p:txBody>
        </p:sp>
        <p:sp>
          <p:nvSpPr>
            <p:cNvPr id="792" name="Google Shape;792;p36"/>
            <p:cNvSpPr txBox="1"/>
            <p:nvPr/>
          </p:nvSpPr>
          <p:spPr>
            <a:xfrm>
              <a:off x="4082143" y="2174705"/>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793" name="Google Shape;793;p36"/>
            <p:cNvSpPr txBox="1"/>
            <p:nvPr/>
          </p:nvSpPr>
          <p:spPr>
            <a:xfrm>
              <a:off x="4076700" y="2802852"/>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794" name="Google Shape;794;p36"/>
            <p:cNvSpPr txBox="1"/>
            <p:nvPr/>
          </p:nvSpPr>
          <p:spPr>
            <a:xfrm>
              <a:off x="4082143" y="3430999"/>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795" name="Google Shape;795;p36"/>
            <p:cNvSpPr txBox="1"/>
            <p:nvPr/>
          </p:nvSpPr>
          <p:spPr>
            <a:xfrm>
              <a:off x="4076700" y="4059151"/>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796" name="Google Shape;796;p36"/>
            <p:cNvSpPr txBox="1"/>
            <p:nvPr/>
          </p:nvSpPr>
          <p:spPr>
            <a:xfrm>
              <a:off x="4082143" y="4687300"/>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797" name="Google Shape;797;p36"/>
            <p:cNvSpPr txBox="1"/>
            <p:nvPr/>
          </p:nvSpPr>
          <p:spPr>
            <a:xfrm>
              <a:off x="4076700" y="5315448"/>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798" name="Google Shape;798;p36"/>
            <p:cNvSpPr txBox="1"/>
            <p:nvPr/>
          </p:nvSpPr>
          <p:spPr>
            <a:xfrm>
              <a:off x="4082143" y="5943599"/>
              <a:ext cx="979800" cy="6357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sync</a:t>
              </a:r>
              <a:endParaRPr sz="1200">
                <a:solidFill>
                  <a:srgbClr val="000000"/>
                </a:solidFill>
                <a:latin typeface="Calibri"/>
                <a:ea typeface="Calibri"/>
                <a:cs typeface="Calibri"/>
                <a:sym typeface="Calibri"/>
              </a:endParaRPr>
            </a:p>
          </p:txBody>
        </p:sp>
        <p:cxnSp>
          <p:nvCxnSpPr>
            <p:cNvPr id="799" name="Google Shape;799;p36"/>
            <p:cNvCxnSpPr>
              <a:stCxn id="791" idx="2"/>
              <a:endCxn id="792" idx="0"/>
            </p:cNvCxnSpPr>
            <p:nvPr/>
          </p:nvCxnSpPr>
          <p:spPr>
            <a:xfrm rot="10800000">
              <a:off x="4572043" y="2174754"/>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00" name="Google Shape;800;p36"/>
            <p:cNvCxnSpPr>
              <a:stCxn id="792" idx="2"/>
              <a:endCxn id="793" idx="0"/>
            </p:cNvCxnSpPr>
            <p:nvPr/>
          </p:nvCxnSpPr>
          <p:spPr>
            <a:xfrm rot="10800000">
              <a:off x="4572043" y="2802905"/>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01" name="Google Shape;801;p36"/>
            <p:cNvCxnSpPr>
              <a:stCxn id="793" idx="2"/>
              <a:endCxn id="794" idx="0"/>
            </p:cNvCxnSpPr>
            <p:nvPr/>
          </p:nvCxnSpPr>
          <p:spPr>
            <a:xfrm rot="10800000">
              <a:off x="4572000" y="3431052"/>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02" name="Google Shape;802;p36"/>
            <p:cNvCxnSpPr>
              <a:stCxn id="794" idx="2"/>
              <a:endCxn id="795" idx="0"/>
            </p:cNvCxnSpPr>
            <p:nvPr/>
          </p:nvCxnSpPr>
          <p:spPr>
            <a:xfrm rot="10800000">
              <a:off x="4572043" y="4059199"/>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03" name="Google Shape;803;p36"/>
            <p:cNvCxnSpPr>
              <a:stCxn id="795" idx="2"/>
              <a:endCxn id="796" idx="0"/>
            </p:cNvCxnSpPr>
            <p:nvPr/>
          </p:nvCxnSpPr>
          <p:spPr>
            <a:xfrm rot="10800000">
              <a:off x="4572000" y="4687351"/>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04" name="Google Shape;804;p36"/>
            <p:cNvCxnSpPr>
              <a:stCxn id="796" idx="2"/>
            </p:cNvCxnSpPr>
            <p:nvPr/>
          </p:nvCxnSpPr>
          <p:spPr>
            <a:xfrm>
              <a:off x="4572043" y="5323000"/>
              <a:ext cx="0" cy="178500"/>
            </a:xfrm>
            <a:prstGeom prst="straightConnector1">
              <a:avLst/>
            </a:prstGeom>
            <a:noFill/>
            <a:ln cap="flat" cmpd="sng" w="9525">
              <a:solidFill>
                <a:srgbClr val="4A7DBA"/>
              </a:solidFill>
              <a:prstDash val="solid"/>
              <a:round/>
              <a:headEnd len="sm" w="sm" type="none"/>
              <a:tailEnd len="med" w="med" type="stealth"/>
            </a:ln>
          </p:spPr>
        </p:cxnSp>
        <p:cxnSp>
          <p:nvCxnSpPr>
            <p:cNvPr id="805" name="Google Shape;805;p36"/>
            <p:cNvCxnSpPr>
              <a:stCxn id="797" idx="2"/>
              <a:endCxn id="798" idx="0"/>
            </p:cNvCxnSpPr>
            <p:nvPr/>
          </p:nvCxnSpPr>
          <p:spPr>
            <a:xfrm rot="10800000">
              <a:off x="4572000" y="5943648"/>
              <a:ext cx="0" cy="7500"/>
            </a:xfrm>
            <a:prstGeom prst="straightConnector1">
              <a:avLst/>
            </a:prstGeom>
            <a:noFill/>
            <a:ln cap="flat" cmpd="sng" w="9525">
              <a:solidFill>
                <a:srgbClr val="4A7DBA"/>
              </a:solidFill>
              <a:prstDash val="solid"/>
              <a:round/>
              <a:headEnd len="sm" w="sm" type="none"/>
              <a:tailEnd len="med" w="med" type="stealth"/>
            </a:ln>
          </p:spPr>
        </p:cxnSp>
      </p:grpSp>
      <p:grpSp>
        <p:nvGrpSpPr>
          <p:cNvPr id="806" name="Google Shape;806;p36"/>
          <p:cNvGrpSpPr/>
          <p:nvPr/>
        </p:nvGrpSpPr>
        <p:grpSpPr>
          <a:xfrm>
            <a:off x="6074092" y="1765424"/>
            <a:ext cx="1693530" cy="2192767"/>
            <a:chOff x="4076700" y="1546554"/>
            <a:chExt cx="990600" cy="5032745"/>
          </a:xfrm>
        </p:grpSpPr>
        <p:sp>
          <p:nvSpPr>
            <p:cNvPr id="807" name="Google Shape;807;p36"/>
            <p:cNvSpPr txBox="1"/>
            <p:nvPr/>
          </p:nvSpPr>
          <p:spPr>
            <a:xfrm>
              <a:off x="4082143" y="1546554"/>
              <a:ext cx="979800" cy="6357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sync</a:t>
              </a:r>
              <a:endParaRPr sz="1200">
                <a:solidFill>
                  <a:srgbClr val="000000"/>
                </a:solidFill>
                <a:latin typeface="Calibri"/>
                <a:ea typeface="Calibri"/>
                <a:cs typeface="Calibri"/>
                <a:sym typeface="Calibri"/>
              </a:endParaRPr>
            </a:p>
          </p:txBody>
        </p:sp>
        <p:sp>
          <p:nvSpPr>
            <p:cNvPr id="808" name="Google Shape;808;p36"/>
            <p:cNvSpPr txBox="1"/>
            <p:nvPr/>
          </p:nvSpPr>
          <p:spPr>
            <a:xfrm>
              <a:off x="4082143" y="2174705"/>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809" name="Google Shape;809;p36"/>
            <p:cNvSpPr txBox="1"/>
            <p:nvPr/>
          </p:nvSpPr>
          <p:spPr>
            <a:xfrm>
              <a:off x="4076700" y="2802852"/>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810" name="Google Shape;810;p36"/>
            <p:cNvSpPr txBox="1"/>
            <p:nvPr/>
          </p:nvSpPr>
          <p:spPr>
            <a:xfrm>
              <a:off x="4082143" y="3430999"/>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811" name="Google Shape;811;p36"/>
            <p:cNvSpPr txBox="1"/>
            <p:nvPr/>
          </p:nvSpPr>
          <p:spPr>
            <a:xfrm>
              <a:off x="4076700" y="4059151"/>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812" name="Google Shape;812;p36"/>
            <p:cNvSpPr txBox="1"/>
            <p:nvPr/>
          </p:nvSpPr>
          <p:spPr>
            <a:xfrm>
              <a:off x="4082143" y="4687300"/>
              <a:ext cx="979800" cy="635700"/>
            </a:xfrm>
            <a:prstGeom prst="rect">
              <a:avLst/>
            </a:prstGeom>
            <a:solidFill>
              <a:srgbClr val="B6DDE7"/>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edit</a:t>
              </a:r>
              <a:endParaRPr sz="1200">
                <a:solidFill>
                  <a:srgbClr val="000000"/>
                </a:solidFill>
                <a:latin typeface="Calibri"/>
                <a:ea typeface="Calibri"/>
                <a:cs typeface="Calibri"/>
                <a:sym typeface="Calibri"/>
              </a:endParaRPr>
            </a:p>
          </p:txBody>
        </p:sp>
        <p:sp>
          <p:nvSpPr>
            <p:cNvPr id="813" name="Google Shape;813;p36"/>
            <p:cNvSpPr txBox="1"/>
            <p:nvPr/>
          </p:nvSpPr>
          <p:spPr>
            <a:xfrm>
              <a:off x="4076700" y="5315448"/>
              <a:ext cx="990600" cy="635700"/>
            </a:xfrm>
            <a:prstGeom prst="rect">
              <a:avLst/>
            </a:prstGeom>
            <a:solidFill>
              <a:srgbClr val="FABF8E"/>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commit</a:t>
              </a:r>
              <a:endParaRPr sz="1200">
                <a:solidFill>
                  <a:srgbClr val="000000"/>
                </a:solidFill>
                <a:latin typeface="Calibri"/>
                <a:ea typeface="Calibri"/>
                <a:cs typeface="Calibri"/>
                <a:sym typeface="Calibri"/>
              </a:endParaRPr>
            </a:p>
          </p:txBody>
        </p:sp>
        <p:sp>
          <p:nvSpPr>
            <p:cNvPr id="814" name="Google Shape;814;p36"/>
            <p:cNvSpPr txBox="1"/>
            <p:nvPr/>
          </p:nvSpPr>
          <p:spPr>
            <a:xfrm>
              <a:off x="4082143" y="5943599"/>
              <a:ext cx="979800" cy="635700"/>
            </a:xfrm>
            <a:prstGeom prst="rect">
              <a:avLst/>
            </a:prstGeom>
            <a:solidFill>
              <a:srgbClr val="FFFF00"/>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sync</a:t>
              </a:r>
              <a:endParaRPr sz="1200">
                <a:solidFill>
                  <a:srgbClr val="000000"/>
                </a:solidFill>
                <a:latin typeface="Calibri"/>
                <a:ea typeface="Calibri"/>
                <a:cs typeface="Calibri"/>
                <a:sym typeface="Calibri"/>
              </a:endParaRPr>
            </a:p>
          </p:txBody>
        </p:sp>
        <p:cxnSp>
          <p:nvCxnSpPr>
            <p:cNvPr id="815" name="Google Shape;815;p36"/>
            <p:cNvCxnSpPr>
              <a:stCxn id="807" idx="2"/>
              <a:endCxn id="808" idx="0"/>
            </p:cNvCxnSpPr>
            <p:nvPr/>
          </p:nvCxnSpPr>
          <p:spPr>
            <a:xfrm rot="10800000">
              <a:off x="4572043" y="2174754"/>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16" name="Google Shape;816;p36"/>
            <p:cNvCxnSpPr>
              <a:stCxn id="808" idx="2"/>
              <a:endCxn id="809" idx="0"/>
            </p:cNvCxnSpPr>
            <p:nvPr/>
          </p:nvCxnSpPr>
          <p:spPr>
            <a:xfrm rot="10800000">
              <a:off x="4572043" y="2802905"/>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17" name="Google Shape;817;p36"/>
            <p:cNvCxnSpPr>
              <a:stCxn id="809" idx="2"/>
              <a:endCxn id="810" idx="0"/>
            </p:cNvCxnSpPr>
            <p:nvPr/>
          </p:nvCxnSpPr>
          <p:spPr>
            <a:xfrm rot="10800000">
              <a:off x="4572000" y="3431052"/>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18" name="Google Shape;818;p36"/>
            <p:cNvCxnSpPr>
              <a:stCxn id="810" idx="2"/>
              <a:endCxn id="811" idx="0"/>
            </p:cNvCxnSpPr>
            <p:nvPr/>
          </p:nvCxnSpPr>
          <p:spPr>
            <a:xfrm rot="10800000">
              <a:off x="4572043" y="4059199"/>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19" name="Google Shape;819;p36"/>
            <p:cNvCxnSpPr>
              <a:stCxn id="811" idx="2"/>
              <a:endCxn id="812" idx="0"/>
            </p:cNvCxnSpPr>
            <p:nvPr/>
          </p:nvCxnSpPr>
          <p:spPr>
            <a:xfrm rot="10800000">
              <a:off x="4572000" y="4687351"/>
              <a:ext cx="0" cy="7500"/>
            </a:xfrm>
            <a:prstGeom prst="straightConnector1">
              <a:avLst/>
            </a:prstGeom>
            <a:noFill/>
            <a:ln cap="flat" cmpd="sng" w="9525">
              <a:solidFill>
                <a:srgbClr val="4A7DBA"/>
              </a:solidFill>
              <a:prstDash val="solid"/>
              <a:round/>
              <a:headEnd len="sm" w="sm" type="none"/>
              <a:tailEnd len="med" w="med" type="stealth"/>
            </a:ln>
          </p:spPr>
        </p:cxnSp>
        <p:cxnSp>
          <p:nvCxnSpPr>
            <p:cNvPr id="820" name="Google Shape;820;p36"/>
            <p:cNvCxnSpPr>
              <a:stCxn id="812" idx="2"/>
            </p:cNvCxnSpPr>
            <p:nvPr/>
          </p:nvCxnSpPr>
          <p:spPr>
            <a:xfrm>
              <a:off x="4572043" y="5323000"/>
              <a:ext cx="0" cy="178500"/>
            </a:xfrm>
            <a:prstGeom prst="straightConnector1">
              <a:avLst/>
            </a:prstGeom>
            <a:noFill/>
            <a:ln cap="flat" cmpd="sng" w="9525">
              <a:solidFill>
                <a:srgbClr val="4A7DBA"/>
              </a:solidFill>
              <a:prstDash val="solid"/>
              <a:round/>
              <a:headEnd len="sm" w="sm" type="none"/>
              <a:tailEnd len="med" w="med" type="stealth"/>
            </a:ln>
          </p:spPr>
        </p:cxnSp>
        <p:cxnSp>
          <p:nvCxnSpPr>
            <p:cNvPr id="821" name="Google Shape;821;p36"/>
            <p:cNvCxnSpPr>
              <a:stCxn id="813" idx="2"/>
              <a:endCxn id="814" idx="0"/>
            </p:cNvCxnSpPr>
            <p:nvPr/>
          </p:nvCxnSpPr>
          <p:spPr>
            <a:xfrm rot="10800000">
              <a:off x="4572000" y="5943648"/>
              <a:ext cx="0" cy="7500"/>
            </a:xfrm>
            <a:prstGeom prst="straightConnector1">
              <a:avLst/>
            </a:prstGeom>
            <a:noFill/>
            <a:ln cap="flat" cmpd="sng" w="9525">
              <a:solidFill>
                <a:srgbClr val="4A7DBA"/>
              </a:solidFill>
              <a:prstDash val="solid"/>
              <a:round/>
              <a:headEnd len="sm" w="sm" type="none"/>
              <a:tailEnd len="med" w="med" type="stealth"/>
            </a:ln>
          </p:spPr>
        </p:cxnSp>
      </p:grpSp>
      <p:sp>
        <p:nvSpPr>
          <p:cNvPr id="822" name="Google Shape;822;p36"/>
          <p:cNvSpPr txBox="1"/>
          <p:nvPr/>
        </p:nvSpPr>
        <p:spPr>
          <a:xfrm>
            <a:off x="1277336" y="1298829"/>
            <a:ext cx="5286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a:t>
            </a:r>
            <a:endParaRPr sz="1800">
              <a:solidFill>
                <a:srgbClr val="000000"/>
              </a:solidFill>
              <a:latin typeface="Calibri"/>
              <a:ea typeface="Calibri"/>
              <a:cs typeface="Calibri"/>
              <a:sym typeface="Calibri"/>
            </a:endParaRPr>
          </a:p>
        </p:txBody>
      </p:sp>
      <p:sp>
        <p:nvSpPr>
          <p:cNvPr id="823" name="Google Shape;823;p36"/>
          <p:cNvSpPr txBox="1"/>
          <p:nvPr/>
        </p:nvSpPr>
        <p:spPr>
          <a:xfrm>
            <a:off x="6656522" y="1298829"/>
            <a:ext cx="5286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a:t>
            </a:r>
            <a:endParaRPr sz="1800">
              <a:solidFill>
                <a:srgbClr val="000000"/>
              </a:solidFill>
              <a:latin typeface="Calibri"/>
              <a:ea typeface="Calibri"/>
              <a:cs typeface="Calibri"/>
              <a:sym typeface="Calibri"/>
            </a:endParaRPr>
          </a:p>
        </p:txBody>
      </p:sp>
      <p:sp>
        <p:nvSpPr>
          <p:cNvPr id="824" name="Google Shape;824;p36"/>
          <p:cNvSpPr txBox="1"/>
          <p:nvPr/>
        </p:nvSpPr>
        <p:spPr>
          <a:xfrm>
            <a:off x="3394800" y="1333300"/>
            <a:ext cx="1403400" cy="369300"/>
          </a:xfrm>
          <a:prstGeom prst="rect">
            <a:avLst/>
          </a:prstGeom>
          <a:no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l" sz="1800">
                <a:solidFill>
                  <a:srgbClr val="000000"/>
                </a:solidFill>
                <a:latin typeface="Calibri"/>
                <a:ea typeface="Calibri"/>
                <a:cs typeface="Calibri"/>
                <a:sym typeface="Calibri"/>
              </a:rPr>
              <a:t>Your Partner</a:t>
            </a:r>
            <a:endParaRPr sz="1800">
              <a:solidFill>
                <a:srgbClr val="000000"/>
              </a:solidFill>
              <a:latin typeface="Calibri"/>
              <a:ea typeface="Calibri"/>
              <a:cs typeface="Calibri"/>
              <a:sym typeface="Calibri"/>
            </a:endParaRPr>
          </a:p>
        </p:txBody>
      </p:sp>
      <p:cxnSp>
        <p:nvCxnSpPr>
          <p:cNvPr id="825" name="Google Shape;825;p36"/>
          <p:cNvCxnSpPr>
            <a:stCxn id="782" idx="3"/>
            <a:endCxn id="791" idx="1"/>
          </p:cNvCxnSpPr>
          <p:nvPr/>
        </p:nvCxnSpPr>
        <p:spPr>
          <a:xfrm flipH="1" rot="10800000">
            <a:off x="2379277" y="1903904"/>
            <a:ext cx="951600" cy="1915800"/>
          </a:xfrm>
          <a:prstGeom prst="bentConnector3">
            <a:avLst>
              <a:gd fmla="val 49995" name="adj1"/>
            </a:avLst>
          </a:prstGeom>
          <a:noFill/>
          <a:ln cap="flat" cmpd="sng" w="9525">
            <a:solidFill>
              <a:srgbClr val="4A7DBA"/>
            </a:solidFill>
            <a:prstDash val="solid"/>
            <a:round/>
            <a:headEnd len="sm" w="sm" type="none"/>
            <a:tailEnd len="med" w="med" type="stealth"/>
          </a:ln>
        </p:spPr>
      </p:cxnSp>
      <p:cxnSp>
        <p:nvCxnSpPr>
          <p:cNvPr id="826" name="Google Shape;826;p36"/>
          <p:cNvCxnSpPr>
            <a:stCxn id="798" idx="3"/>
            <a:endCxn id="807" idx="1"/>
          </p:cNvCxnSpPr>
          <p:nvPr/>
        </p:nvCxnSpPr>
        <p:spPr>
          <a:xfrm flipH="1" rot="10800000">
            <a:off x="5005849" y="1903904"/>
            <a:ext cx="1077600" cy="1915800"/>
          </a:xfrm>
          <a:prstGeom prst="bentConnector3">
            <a:avLst>
              <a:gd fmla="val 49998" name="adj1"/>
            </a:avLst>
          </a:prstGeom>
          <a:noFill/>
          <a:ln cap="flat" cmpd="sng" w="9525">
            <a:solidFill>
              <a:srgbClr val="4A7DBA"/>
            </a:solidFill>
            <a:prstDash val="solid"/>
            <a:round/>
            <a:headEnd len="sm" w="sm" type="none"/>
            <a:tailEnd len="med" w="med" type="stealth"/>
          </a:ln>
        </p:spPr>
      </p:cxnSp>
      <p:sp>
        <p:nvSpPr>
          <p:cNvPr id="827" name="Google Shape;827;p36"/>
          <p:cNvSpPr/>
          <p:nvPr/>
        </p:nvSpPr>
        <p:spPr>
          <a:xfrm>
            <a:off x="1805967" y="4021015"/>
            <a:ext cx="2318700" cy="646800"/>
          </a:xfrm>
          <a:prstGeom prst="parallelogram">
            <a:avLst>
              <a:gd fmla="val 25000" name="adj"/>
            </a:avLst>
          </a:prstGeom>
          <a:gradFill>
            <a:gsLst>
              <a:gs pos="0">
                <a:srgbClr val="FFA09D"/>
              </a:gs>
              <a:gs pos="35000">
                <a:srgbClr val="FFBCBC"/>
              </a:gs>
              <a:gs pos="100000">
                <a:srgbClr val="FFE2E2"/>
              </a:gs>
            </a:gsLst>
            <a:lin ang="16200038" scaled="0"/>
          </a:gradFill>
          <a:ln cap="flat" cmpd="sng" w="9525">
            <a:solidFill>
              <a:srgbClr val="BD4B48"/>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l">
                <a:solidFill>
                  <a:srgbClr val="000000"/>
                </a:solidFill>
                <a:latin typeface="Calibri"/>
                <a:ea typeface="Calibri"/>
                <a:cs typeface="Calibri"/>
                <a:sym typeface="Calibri"/>
              </a:rPr>
              <a:t>Your partner gets your work from the server</a:t>
            </a:r>
            <a:endParaRPr>
              <a:solidFill>
                <a:srgbClr val="000000"/>
              </a:solidFill>
              <a:latin typeface="Calibri"/>
              <a:ea typeface="Calibri"/>
              <a:cs typeface="Calibri"/>
              <a:sym typeface="Calibri"/>
            </a:endParaRPr>
          </a:p>
        </p:txBody>
      </p:sp>
      <p:sp>
        <p:nvSpPr>
          <p:cNvPr id="828" name="Google Shape;828;p36"/>
          <p:cNvSpPr/>
          <p:nvPr/>
        </p:nvSpPr>
        <p:spPr>
          <a:xfrm>
            <a:off x="4924051" y="4021015"/>
            <a:ext cx="2318700" cy="646800"/>
          </a:xfrm>
          <a:prstGeom prst="parallelogram">
            <a:avLst>
              <a:gd fmla="val 25000" name="adj"/>
            </a:avLst>
          </a:prstGeom>
          <a:gradFill>
            <a:gsLst>
              <a:gs pos="0">
                <a:srgbClr val="FFA09D"/>
              </a:gs>
              <a:gs pos="35000">
                <a:srgbClr val="FFBCBC"/>
              </a:gs>
              <a:gs pos="100000">
                <a:srgbClr val="FFE2E2"/>
              </a:gs>
            </a:gsLst>
            <a:lin ang="16200038" scaled="0"/>
          </a:gradFill>
          <a:ln cap="flat" cmpd="sng" w="9525">
            <a:solidFill>
              <a:srgbClr val="BD4B48"/>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l">
                <a:solidFill>
                  <a:srgbClr val="000000"/>
                </a:solidFill>
                <a:latin typeface="Calibri"/>
                <a:ea typeface="Calibri"/>
                <a:cs typeface="Calibri"/>
                <a:sym typeface="Calibri"/>
              </a:rPr>
              <a:t>You get your partner’s work from the server</a:t>
            </a:r>
            <a:endParaRPr>
              <a:solidFill>
                <a:srgbClr val="000000"/>
              </a:solidFill>
              <a:latin typeface="Calibri"/>
              <a:ea typeface="Calibri"/>
              <a:cs typeface="Calibri"/>
              <a:sym typeface="Calibri"/>
            </a:endParaRPr>
          </a:p>
        </p:txBody>
      </p:sp>
      <p:sp>
        <p:nvSpPr>
          <p:cNvPr id="829" name="Google Shape;829;p36"/>
          <p:cNvSpPr/>
          <p:nvPr/>
        </p:nvSpPr>
        <p:spPr>
          <a:xfrm>
            <a:off x="2544539" y="2602268"/>
            <a:ext cx="620798" cy="360015"/>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server</a:t>
            </a:r>
            <a:endParaRPr sz="1200">
              <a:solidFill>
                <a:srgbClr val="000000"/>
              </a:solidFill>
              <a:latin typeface="Calibri"/>
              <a:ea typeface="Calibri"/>
              <a:cs typeface="Calibri"/>
              <a:sym typeface="Calibri"/>
            </a:endParaRPr>
          </a:p>
        </p:txBody>
      </p:sp>
      <p:sp>
        <p:nvSpPr>
          <p:cNvPr id="830" name="Google Shape;830;p36"/>
          <p:cNvSpPr/>
          <p:nvPr/>
        </p:nvSpPr>
        <p:spPr>
          <a:xfrm>
            <a:off x="5234132" y="2641120"/>
            <a:ext cx="620798" cy="360015"/>
          </a:xfrm>
          <a:prstGeom prst="flowChartMagneticDisk">
            <a:avLst/>
          </a:prstGeom>
          <a:solidFill>
            <a:srgbClr val="C5D8F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l" sz="1200">
                <a:solidFill>
                  <a:srgbClr val="000000"/>
                </a:solidFill>
                <a:latin typeface="Calibri"/>
                <a:ea typeface="Calibri"/>
                <a:cs typeface="Calibri"/>
                <a:sym typeface="Calibri"/>
              </a:rPr>
              <a:t>server</a:t>
            </a:r>
            <a:endParaRPr sz="1200">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Download and Install Git</a:t>
            </a:r>
            <a:endParaRPr/>
          </a:p>
        </p:txBody>
      </p:sp>
      <p:sp>
        <p:nvSpPr>
          <p:cNvPr id="836" name="Google Shape;836;p37"/>
          <p:cNvSpPr txBox="1"/>
          <p:nvPr>
            <p:ph idx="1" type="body"/>
          </p:nvPr>
        </p:nvSpPr>
        <p:spPr>
          <a:xfrm>
            <a:off x="406175" y="19292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Download git from: </a:t>
            </a:r>
            <a:r>
              <a:rPr lang="el" sz="2400" u="sng">
                <a:solidFill>
                  <a:srgbClr val="4674AA"/>
                </a:solidFill>
                <a:highlight>
                  <a:srgbClr val="FFFFFF"/>
                </a:highlight>
                <a:latin typeface="Times New Roman"/>
                <a:ea typeface="Times New Roman"/>
                <a:cs typeface="Times New Roman"/>
                <a:sym typeface="Times New Roman"/>
              </a:rPr>
              <a:t>http://git-scm.com/downloads</a:t>
            </a:r>
            <a:endParaRPr>
              <a:solidFill>
                <a:srgbClr val="4674AA"/>
              </a:solidFill>
            </a:endParaRPr>
          </a:p>
          <a:p>
            <a:pPr indent="0" lvl="0" marL="0" rtl="0" algn="l">
              <a:spcBef>
                <a:spcPts val="1200"/>
              </a:spcBef>
              <a:spcAft>
                <a:spcPts val="0"/>
              </a:spcAft>
              <a:buNone/>
            </a:pPr>
            <a:r>
              <a:rPr lang="el"/>
              <a:t>First time set-up</a:t>
            </a:r>
            <a:endParaRPr/>
          </a:p>
          <a:p>
            <a:pPr indent="-209550" lvl="0" marL="269999" rtl="0" algn="l">
              <a:spcBef>
                <a:spcPts val="1200"/>
              </a:spcBef>
              <a:spcAft>
                <a:spcPts val="0"/>
              </a:spcAft>
              <a:buSzPts val="1800"/>
              <a:buChar char="●"/>
            </a:pPr>
            <a:r>
              <a:rPr lang="el"/>
              <a:t>git config -- global user.name “GithubUserName”</a:t>
            </a:r>
            <a:endParaRPr/>
          </a:p>
          <a:p>
            <a:pPr indent="-209550" lvl="0" marL="269999" rtl="0" algn="l">
              <a:spcBef>
                <a:spcPts val="0"/>
              </a:spcBef>
              <a:spcAft>
                <a:spcPts val="0"/>
              </a:spcAft>
              <a:buSzPts val="1800"/>
              <a:buChar char="●"/>
            </a:pPr>
            <a:r>
              <a:rPr lang="el"/>
              <a:t>git config -- global user.email “GitHubEmail”</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Basic Commands</a:t>
            </a:r>
            <a:endParaRPr/>
          </a:p>
        </p:txBody>
      </p:sp>
      <p:sp>
        <p:nvSpPr>
          <p:cNvPr id="842" name="Google Shape;842;p38"/>
          <p:cNvSpPr txBox="1"/>
          <p:nvPr>
            <p:ph idx="1" type="body"/>
          </p:nvPr>
        </p:nvSpPr>
        <p:spPr>
          <a:xfrm>
            <a:off x="180550" y="1017725"/>
            <a:ext cx="8963400" cy="3774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l" sz="1600"/>
              <a:t>Move to your projects folder and start a directory</a:t>
            </a:r>
            <a:endParaRPr sz="1600"/>
          </a:p>
          <a:p>
            <a:pPr indent="0" lvl="0" marL="457200" rtl="0" algn="l">
              <a:lnSpc>
                <a:spcPct val="60000"/>
              </a:lnSpc>
              <a:spcBef>
                <a:spcPts val="1200"/>
              </a:spcBef>
              <a:spcAft>
                <a:spcPts val="0"/>
              </a:spcAft>
              <a:buNone/>
            </a:pPr>
            <a:r>
              <a:rPr lang="el" sz="1600"/>
              <a:t>cd ~/Cloud-for-AI</a:t>
            </a:r>
            <a:endParaRPr sz="1600"/>
          </a:p>
          <a:p>
            <a:pPr indent="0" lvl="0" marL="457200" rtl="0" algn="l">
              <a:lnSpc>
                <a:spcPct val="60000"/>
              </a:lnSpc>
              <a:spcBef>
                <a:spcPts val="1200"/>
              </a:spcBef>
              <a:spcAft>
                <a:spcPts val="0"/>
              </a:spcAft>
              <a:buNone/>
            </a:pPr>
            <a:r>
              <a:rPr lang="el" sz="1600"/>
              <a:t>mkdir first_demo</a:t>
            </a:r>
            <a:endParaRPr sz="1600"/>
          </a:p>
          <a:p>
            <a:pPr indent="0" lvl="0" marL="457200" rtl="0" algn="l">
              <a:lnSpc>
                <a:spcPct val="60000"/>
              </a:lnSpc>
              <a:spcBef>
                <a:spcPts val="1200"/>
              </a:spcBef>
              <a:spcAft>
                <a:spcPts val="0"/>
              </a:spcAft>
              <a:buNone/>
            </a:pPr>
            <a:r>
              <a:rPr lang="el" sz="1600"/>
              <a:t>cd first_demo</a:t>
            </a:r>
            <a:endParaRPr sz="1600"/>
          </a:p>
          <a:p>
            <a:pPr indent="-330200" lvl="0" marL="457200" rtl="0" algn="l">
              <a:lnSpc>
                <a:spcPct val="150000"/>
              </a:lnSpc>
              <a:spcBef>
                <a:spcPts val="1200"/>
              </a:spcBef>
              <a:spcAft>
                <a:spcPts val="0"/>
              </a:spcAft>
              <a:buSzPts val="1600"/>
              <a:buChar char="●"/>
            </a:pPr>
            <a:r>
              <a:rPr lang="el" sz="1600"/>
              <a:t>Initialize a git project on the existing directory =&gt; git init .</a:t>
            </a:r>
            <a:endParaRPr sz="1600"/>
          </a:p>
          <a:p>
            <a:pPr indent="-330200" lvl="0" marL="457200" rtl="0" algn="l">
              <a:lnSpc>
                <a:spcPct val="150000"/>
              </a:lnSpc>
              <a:spcBef>
                <a:spcPts val="0"/>
              </a:spcBef>
              <a:spcAft>
                <a:spcPts val="0"/>
              </a:spcAft>
              <a:buSzPts val="1600"/>
              <a:buChar char="●"/>
            </a:pPr>
            <a:r>
              <a:rPr lang="el" sz="1600"/>
              <a:t>Stage changes =&gt; git add &lt;filename&gt;</a:t>
            </a:r>
            <a:endParaRPr sz="1600"/>
          </a:p>
          <a:p>
            <a:pPr indent="-330200" lvl="0" marL="457200" rtl="0" algn="l">
              <a:lnSpc>
                <a:spcPct val="150000"/>
              </a:lnSpc>
              <a:spcBef>
                <a:spcPts val="0"/>
              </a:spcBef>
              <a:spcAft>
                <a:spcPts val="0"/>
              </a:spcAft>
              <a:buSzPts val="1600"/>
              <a:buChar char="●"/>
            </a:pPr>
            <a:r>
              <a:rPr lang="el" sz="1600"/>
              <a:t>Create a commit with a message to keep track of commit history =&gt; git commit -m “Your message”</a:t>
            </a:r>
            <a:endParaRPr sz="1600"/>
          </a:p>
          <a:p>
            <a:pPr indent="-330200" lvl="0" marL="457200" rtl="0" algn="l">
              <a:lnSpc>
                <a:spcPct val="150000"/>
              </a:lnSpc>
              <a:spcBef>
                <a:spcPts val="0"/>
              </a:spcBef>
              <a:spcAft>
                <a:spcPts val="0"/>
              </a:spcAft>
              <a:buSzPts val="1600"/>
              <a:buChar char="●"/>
            </a:pPr>
            <a:r>
              <a:rPr lang="el" sz="1600"/>
              <a:t>Push changes: git push</a:t>
            </a:r>
            <a:endParaRPr sz="1600"/>
          </a:p>
          <a:p>
            <a:pPr indent="-330200" lvl="0" marL="457200" rtl="0" algn="l">
              <a:lnSpc>
                <a:spcPct val="150000"/>
              </a:lnSpc>
              <a:spcBef>
                <a:spcPts val="0"/>
              </a:spcBef>
              <a:spcAft>
                <a:spcPts val="0"/>
              </a:spcAft>
              <a:buSzPts val="1600"/>
              <a:buChar char="●"/>
            </a:pPr>
            <a:r>
              <a:rPr lang="el" sz="1600"/>
              <a:t>Pull changes: git pull</a:t>
            </a:r>
            <a:endParaRPr sz="1600"/>
          </a:p>
          <a:p>
            <a:pPr indent="0" lvl="0" marL="0" rtl="0" algn="l">
              <a:lnSpc>
                <a:spcPct val="150000"/>
              </a:lnSpc>
              <a:spcBef>
                <a:spcPts val="1200"/>
              </a:spcBef>
              <a:spcAft>
                <a:spcPts val="0"/>
              </a:spcAft>
              <a:buNone/>
            </a:pPr>
            <a:r>
              <a:t/>
            </a:r>
            <a:endParaRPr sz="1600"/>
          </a:p>
          <a:p>
            <a:pPr indent="0" lvl="0" marL="0" rtl="0" algn="l">
              <a:lnSpc>
                <a:spcPct val="60000"/>
              </a:lnSpc>
              <a:spcBef>
                <a:spcPts val="1200"/>
              </a:spcBef>
              <a:spcAft>
                <a:spcPts val="1200"/>
              </a:spcAft>
              <a:buNone/>
            </a:pPr>
            <a:r>
              <a:t/>
            </a:r>
            <a:endParaRPr sz="1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Some extra stuff</a:t>
            </a:r>
            <a:endParaRPr/>
          </a:p>
        </p:txBody>
      </p:sp>
      <p:sp>
        <p:nvSpPr>
          <p:cNvPr id="848" name="Google Shape;848;p39"/>
          <p:cNvSpPr txBox="1"/>
          <p:nvPr>
            <p:ph idx="1" type="body"/>
          </p:nvPr>
        </p:nvSpPr>
        <p:spPr>
          <a:xfrm>
            <a:off x="311700" y="1017725"/>
            <a:ext cx="8759700" cy="37644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l"/>
              <a:t>Git for windows: </a:t>
            </a:r>
            <a:r>
              <a:rPr lang="el">
                <a:solidFill>
                  <a:srgbClr val="3B6495"/>
                </a:solidFill>
              </a:rPr>
              <a:t>https://desktop.github.com/</a:t>
            </a:r>
            <a:endParaRPr/>
          </a:p>
          <a:p>
            <a:pPr indent="-342900" lvl="0" marL="457200" rtl="0" algn="l">
              <a:lnSpc>
                <a:spcPct val="150000"/>
              </a:lnSpc>
              <a:spcBef>
                <a:spcPts val="0"/>
              </a:spcBef>
              <a:spcAft>
                <a:spcPts val="0"/>
              </a:spcAft>
              <a:buSzPts val="1800"/>
              <a:buChar char="●"/>
            </a:pPr>
            <a:r>
              <a:rPr lang="el"/>
              <a:t>The .gitignore file  =&gt; Specify files you do not want Git to track under version control (eg. big files, files with passwords etc)</a:t>
            </a:r>
            <a:endParaRPr/>
          </a:p>
          <a:p>
            <a:pPr indent="-342900" lvl="0" marL="457200" rtl="0" algn="l">
              <a:lnSpc>
                <a:spcPct val="150000"/>
              </a:lnSpc>
              <a:spcBef>
                <a:spcPts val="0"/>
              </a:spcBef>
              <a:spcAft>
                <a:spcPts val="0"/>
              </a:spcAft>
              <a:buSzPts val="1800"/>
              <a:buChar char="●"/>
            </a:pPr>
            <a:r>
              <a:rPr lang="el"/>
              <a:t>Branching and merging =&gt; Different branches for different development circles (watchout for conflicts)</a:t>
            </a:r>
            <a:endParaRPr/>
          </a:p>
          <a:p>
            <a:pPr indent="-342900" lvl="0" marL="457200" rtl="0" algn="l">
              <a:lnSpc>
                <a:spcPct val="100000"/>
              </a:lnSpc>
              <a:spcBef>
                <a:spcPts val="0"/>
              </a:spcBef>
              <a:spcAft>
                <a:spcPts val="0"/>
              </a:spcAft>
              <a:buSzPts val="1800"/>
              <a:buChar char="●"/>
            </a:pPr>
            <a:r>
              <a:rPr lang="el"/>
              <a:t>Remotes: A target computer that has Git repos that you can access</a:t>
            </a:r>
            <a:endParaRPr/>
          </a:p>
          <a:p>
            <a:pPr indent="-342900" lvl="0" marL="914400" rtl="0" algn="l">
              <a:lnSpc>
                <a:spcPct val="100000"/>
              </a:lnSpc>
              <a:spcBef>
                <a:spcPts val="0"/>
              </a:spcBef>
              <a:spcAft>
                <a:spcPts val="0"/>
              </a:spcAft>
              <a:buSzPts val="1800"/>
              <a:buAutoNum type="arabicPeriod"/>
            </a:pPr>
            <a:r>
              <a:rPr lang="el"/>
              <a:t>Create a new repo on Github</a:t>
            </a:r>
            <a:endParaRPr/>
          </a:p>
          <a:p>
            <a:pPr indent="-342900" lvl="0" marL="914400" rtl="0" algn="l">
              <a:lnSpc>
                <a:spcPct val="100000"/>
              </a:lnSpc>
              <a:spcBef>
                <a:spcPts val="0"/>
              </a:spcBef>
              <a:spcAft>
                <a:spcPts val="0"/>
              </a:spcAft>
              <a:buSzPts val="1800"/>
              <a:buAutoNum type="arabicPeriod"/>
            </a:pPr>
            <a:r>
              <a:rPr lang="el"/>
              <a:t>Copy the Repo’s URL (eg. git@github:fake_example.git)</a:t>
            </a:r>
            <a:endParaRPr/>
          </a:p>
          <a:p>
            <a:pPr indent="-342900" lvl="0" marL="914400" rtl="0" algn="l">
              <a:lnSpc>
                <a:spcPct val="100000"/>
              </a:lnSpc>
              <a:spcBef>
                <a:spcPts val="0"/>
              </a:spcBef>
              <a:spcAft>
                <a:spcPts val="0"/>
              </a:spcAft>
              <a:buSzPts val="1800"/>
              <a:buAutoNum type="arabicPeriod"/>
            </a:pPr>
            <a:r>
              <a:rPr lang="el"/>
              <a:t>Create a new local repository (follow steps in previous slide)</a:t>
            </a:r>
            <a:endParaRPr/>
          </a:p>
          <a:p>
            <a:pPr indent="-342900" lvl="0" marL="914400" rtl="0" algn="l">
              <a:lnSpc>
                <a:spcPct val="100000"/>
              </a:lnSpc>
              <a:spcBef>
                <a:spcPts val="0"/>
              </a:spcBef>
              <a:spcAft>
                <a:spcPts val="0"/>
              </a:spcAft>
              <a:buSzPts val="1800"/>
              <a:buAutoNum type="arabicPeriod"/>
            </a:pPr>
            <a:r>
              <a:rPr lang="el"/>
              <a:t>Link it to remote: git remote add origin git@github:fake_example.git</a:t>
            </a:r>
            <a:endParaRPr/>
          </a:p>
          <a:p>
            <a:pPr indent="-342900" lvl="0" marL="914400" rtl="0" algn="l">
              <a:lnSpc>
                <a:spcPct val="100000"/>
              </a:lnSpc>
              <a:spcBef>
                <a:spcPts val="0"/>
              </a:spcBef>
              <a:spcAft>
                <a:spcPts val="0"/>
              </a:spcAft>
              <a:buSzPts val="1800"/>
              <a:buAutoNum type="arabicPeriod"/>
            </a:pPr>
            <a:r>
              <a:rPr lang="el"/>
              <a:t>Push it: git push -u origin master</a:t>
            </a:r>
            <a:endParaRPr/>
          </a:p>
          <a:p>
            <a:pPr indent="0" lvl="0" marL="0" rtl="0" algn="l">
              <a:lnSpc>
                <a:spcPct val="150000"/>
              </a:lnSpc>
              <a:spcBef>
                <a:spcPts val="1200"/>
              </a:spcBef>
              <a:spcAft>
                <a:spcPts val="0"/>
              </a:spcAft>
              <a:buNone/>
            </a:pPr>
            <a:r>
              <a:t/>
            </a:r>
            <a:endParaRPr/>
          </a:p>
          <a:p>
            <a:pPr indent="-342900" lvl="0" marL="914400" rtl="0" algn="l">
              <a:lnSpc>
                <a:spcPct val="150000"/>
              </a:lnSpc>
              <a:spcBef>
                <a:spcPts val="1200"/>
              </a:spcBef>
              <a:spcAft>
                <a:spcPts val="0"/>
              </a:spcAft>
              <a:buSzPts val="1800"/>
              <a:buAutoNum type="arabicPeriod"/>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4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Reproducibility!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importance of reproducibility</a:t>
            </a:r>
            <a:endParaRPr/>
          </a:p>
        </p:txBody>
      </p:sp>
      <p:sp>
        <p:nvSpPr>
          <p:cNvPr id="863" name="Google Shape;863;p42"/>
          <p:cNvSpPr txBox="1"/>
          <p:nvPr/>
        </p:nvSpPr>
        <p:spPr>
          <a:xfrm>
            <a:off x="401825" y="1192125"/>
            <a:ext cx="8257800" cy="361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 ML life cycle is a long process repeated multiple times.</a:t>
            </a:r>
            <a:endParaRPr/>
          </a:p>
          <a:p>
            <a:pPr indent="0" lvl="0" marL="0" rtl="0" algn="l">
              <a:spcBef>
                <a:spcPts val="0"/>
              </a:spcBef>
              <a:spcAft>
                <a:spcPts val="0"/>
              </a:spcAft>
              <a:buNone/>
            </a:pPr>
            <a:r>
              <a:rPr lang="el"/>
              <a:t>Small changes can make significant difference.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We want to ensure reproducibility of </a:t>
            </a:r>
            <a:r>
              <a:rPr lang="el">
                <a:solidFill>
                  <a:srgbClr val="FF00FF"/>
                </a:solidFill>
              </a:rPr>
              <a:t>code</a:t>
            </a:r>
            <a:r>
              <a:rPr lang="el"/>
              <a:t>, </a:t>
            </a:r>
            <a:r>
              <a:rPr lang="el">
                <a:solidFill>
                  <a:srgbClr val="FF00FF"/>
                </a:solidFill>
              </a:rPr>
              <a:t>data</a:t>
            </a:r>
            <a:r>
              <a:rPr lang="el"/>
              <a:t>, </a:t>
            </a:r>
            <a:r>
              <a:rPr lang="el">
                <a:solidFill>
                  <a:srgbClr val="FF00FF"/>
                </a:solidFill>
              </a:rPr>
              <a:t>models</a:t>
            </a:r>
            <a:endParaRPr>
              <a:solidFill>
                <a:srgbClr val="FF00FF"/>
              </a:solidFill>
            </a:endParaRPr>
          </a:p>
          <a:p>
            <a:pPr indent="0" lvl="0" marL="0" rtl="0" algn="l">
              <a:spcBef>
                <a:spcPts val="0"/>
              </a:spcBef>
              <a:spcAft>
                <a:spcPts val="0"/>
              </a:spcAft>
              <a:buNone/>
            </a:pPr>
            <a:r>
              <a:rPr lang="el"/>
              <a:t>Why?</a:t>
            </a:r>
            <a:endParaRPr/>
          </a:p>
          <a:p>
            <a:pPr indent="0" lvl="0" marL="0" rtl="0" algn="l">
              <a:spcBef>
                <a:spcPts val="0"/>
              </a:spcBef>
              <a:spcAft>
                <a:spcPts val="0"/>
              </a:spcAft>
              <a:buNone/>
            </a:pPr>
            <a:r>
              <a:t/>
            </a:r>
            <a:endParaRPr/>
          </a:p>
          <a:p>
            <a:pPr indent="-317500" lvl="0" marL="457200" rtl="0" algn="l">
              <a:spcBef>
                <a:spcPts val="0"/>
              </a:spcBef>
              <a:spcAft>
                <a:spcPts val="0"/>
              </a:spcAft>
              <a:buClr>
                <a:srgbClr val="FF00FF"/>
              </a:buClr>
              <a:buSzPts val="1400"/>
              <a:buChar char="-"/>
            </a:pPr>
            <a:r>
              <a:rPr lang="el">
                <a:solidFill>
                  <a:srgbClr val="FF00FF"/>
                </a:solidFill>
              </a:rPr>
              <a:t>Collaboration </a:t>
            </a:r>
            <a:endParaRPr>
              <a:solidFill>
                <a:srgbClr val="FF00FF"/>
              </a:solidFill>
            </a:endParaRPr>
          </a:p>
          <a:p>
            <a:pPr indent="0" lvl="0" marL="457200" rtl="0" algn="l">
              <a:spcBef>
                <a:spcPts val="0"/>
              </a:spcBef>
              <a:spcAft>
                <a:spcPts val="0"/>
              </a:spcAft>
              <a:buNone/>
            </a:pPr>
            <a:r>
              <a:rPr lang="el"/>
              <a:t>Developer A on laptop A needs to have the same outcome with Developer B</a:t>
            </a:r>
            <a:endParaRPr/>
          </a:p>
          <a:p>
            <a:pPr indent="0" lvl="0" marL="0" rtl="0" algn="l">
              <a:spcBef>
                <a:spcPts val="0"/>
              </a:spcBef>
              <a:spcAft>
                <a:spcPts val="0"/>
              </a:spcAft>
              <a:buNone/>
            </a:pPr>
            <a:r>
              <a:t/>
            </a:r>
            <a:endParaRPr/>
          </a:p>
          <a:p>
            <a:pPr indent="-317500" lvl="0" marL="457200" rtl="0" algn="l">
              <a:spcBef>
                <a:spcPts val="0"/>
              </a:spcBef>
              <a:spcAft>
                <a:spcPts val="0"/>
              </a:spcAft>
              <a:buClr>
                <a:srgbClr val="FF00FF"/>
              </a:buClr>
              <a:buSzPts val="1400"/>
              <a:buChar char="-"/>
            </a:pPr>
            <a:r>
              <a:rPr lang="el">
                <a:solidFill>
                  <a:srgbClr val="FF00FF"/>
                </a:solidFill>
              </a:rPr>
              <a:t>Fallback &amp; model recreation on system failures</a:t>
            </a:r>
            <a:endParaRPr>
              <a:solidFill>
                <a:srgbClr val="FF00FF"/>
              </a:solidFill>
            </a:endParaRPr>
          </a:p>
          <a:p>
            <a:pPr indent="0" lvl="0" marL="457200" rtl="0" algn="l">
              <a:spcBef>
                <a:spcPts val="0"/>
              </a:spcBef>
              <a:spcAft>
                <a:spcPts val="0"/>
              </a:spcAft>
              <a:buNone/>
            </a:pPr>
            <a:r>
              <a:rPr lang="el"/>
              <a:t>If the model fails we need to recreate an exact previous version that we know works properly</a:t>
            </a:r>
            <a:endParaRPr/>
          </a:p>
          <a:p>
            <a:pPr indent="0" lvl="0" marL="457200" rtl="0" algn="l">
              <a:spcBef>
                <a:spcPts val="0"/>
              </a:spcBef>
              <a:spcAft>
                <a:spcPts val="0"/>
              </a:spcAft>
              <a:buNone/>
            </a:pPr>
            <a:r>
              <a:t/>
            </a:r>
            <a:endParaRPr/>
          </a:p>
          <a:p>
            <a:pPr indent="-317500" lvl="0" marL="457200" rtl="0" algn="l">
              <a:spcBef>
                <a:spcPts val="0"/>
              </a:spcBef>
              <a:spcAft>
                <a:spcPts val="0"/>
              </a:spcAft>
              <a:buClr>
                <a:srgbClr val="FF00FF"/>
              </a:buClr>
              <a:buSzPts val="1400"/>
              <a:buChar char="-"/>
            </a:pPr>
            <a:r>
              <a:rPr lang="el">
                <a:solidFill>
                  <a:srgbClr val="FF00FF"/>
                </a:solidFill>
              </a:rPr>
              <a:t>Scalability</a:t>
            </a:r>
            <a:endParaRPr>
              <a:solidFill>
                <a:srgbClr val="FF00FF"/>
              </a:solidFill>
            </a:endParaRPr>
          </a:p>
          <a:p>
            <a:pPr indent="0" lvl="0" marL="457200" rtl="0" algn="l">
              <a:spcBef>
                <a:spcPts val="0"/>
              </a:spcBef>
              <a:spcAft>
                <a:spcPts val="0"/>
              </a:spcAft>
              <a:buNone/>
            </a:pPr>
            <a:r>
              <a:rPr lang="el"/>
              <a:t>Through a consistent deployment model we can automate scaling on ML applications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Solving reproducibility</a:t>
            </a:r>
            <a:endParaRPr/>
          </a:p>
        </p:txBody>
      </p:sp>
      <p:sp>
        <p:nvSpPr>
          <p:cNvPr id="869" name="Google Shape;869;p43"/>
          <p:cNvSpPr txBox="1"/>
          <p:nvPr/>
        </p:nvSpPr>
        <p:spPr>
          <a:xfrm>
            <a:off x="274600" y="1178725"/>
            <a:ext cx="6040800" cy="36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Several solution exist to ensure system-level reproducibility in ML projects.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Virtual Machines:</a:t>
            </a:r>
            <a:endParaRPr>
              <a:solidFill>
                <a:srgbClr val="FF00FF"/>
              </a:solidFill>
            </a:endParaRPr>
          </a:p>
          <a:p>
            <a:pPr indent="0" lvl="0" marL="0" rtl="0" algn="l">
              <a:spcBef>
                <a:spcPts val="0"/>
              </a:spcBef>
              <a:spcAft>
                <a:spcPts val="0"/>
              </a:spcAft>
              <a:buNone/>
            </a:pPr>
            <a:r>
              <a:rPr lang="el"/>
              <a:t>Multiple isolated OS instances running on the same physical hardware</a:t>
            </a:r>
            <a:endParaRPr/>
          </a:p>
          <a:p>
            <a:pPr indent="0" lvl="0" marL="0" rtl="0" algn="l">
              <a:spcBef>
                <a:spcPts val="0"/>
              </a:spcBef>
              <a:spcAft>
                <a:spcPts val="0"/>
              </a:spcAft>
              <a:buNone/>
            </a:pPr>
            <a:r>
              <a:rPr lang="el"/>
              <a:t>(Multiple </a:t>
            </a:r>
            <a:r>
              <a:rPr lang="el"/>
              <a:t>computers inside your main computer with their own programs and OS)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Limitations:</a:t>
            </a:r>
            <a:endParaRPr>
              <a:solidFill>
                <a:srgbClr val="FF00FF"/>
              </a:solidFill>
            </a:endParaRPr>
          </a:p>
          <a:p>
            <a:pPr indent="-317500" lvl="0" marL="457200" rtl="0" algn="l">
              <a:spcBef>
                <a:spcPts val="0"/>
              </a:spcBef>
              <a:spcAft>
                <a:spcPts val="0"/>
              </a:spcAft>
              <a:buSzPts val="1400"/>
              <a:buChar char="-"/>
            </a:pPr>
            <a:r>
              <a:rPr lang="el"/>
              <a:t>Resource Intensive: VMs use a lot of memory and processing power</a:t>
            </a:r>
            <a:endParaRPr/>
          </a:p>
          <a:p>
            <a:pPr indent="-317500" lvl="0" marL="457200" rtl="0" algn="l">
              <a:spcBef>
                <a:spcPts val="0"/>
              </a:spcBef>
              <a:spcAft>
                <a:spcPts val="0"/>
              </a:spcAft>
              <a:buSzPts val="1400"/>
              <a:buChar char="-"/>
            </a:pPr>
            <a:r>
              <a:rPr lang="el"/>
              <a:t>Disk Space: Each VM takes a lot of space on your hard drive</a:t>
            </a:r>
            <a:endParaRPr/>
          </a:p>
          <a:p>
            <a:pPr indent="-317500" lvl="0" marL="457200" rtl="0" algn="l">
              <a:spcBef>
                <a:spcPts val="0"/>
              </a:spcBef>
              <a:spcAft>
                <a:spcPts val="0"/>
              </a:spcAft>
              <a:buSzPts val="1400"/>
              <a:buChar char="-"/>
            </a:pPr>
            <a:r>
              <a:rPr lang="el"/>
              <a:t>Slower Performance: Running multiple VM is computationally exhaustive</a:t>
            </a:r>
            <a:endParaRPr/>
          </a:p>
        </p:txBody>
      </p:sp>
      <p:pic>
        <p:nvPicPr>
          <p:cNvPr id="870" name="Google Shape;870;p43"/>
          <p:cNvPicPr preferRelativeResize="0"/>
          <p:nvPr/>
        </p:nvPicPr>
        <p:blipFill>
          <a:blip r:embed="rId3">
            <a:alphaModFix/>
          </a:blip>
          <a:stretch>
            <a:fillRect/>
          </a:stretch>
        </p:blipFill>
        <p:spPr>
          <a:xfrm>
            <a:off x="6315400" y="1633949"/>
            <a:ext cx="2697350" cy="15541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Enter Containerization</a:t>
            </a:r>
            <a:endParaRPr/>
          </a:p>
        </p:txBody>
      </p:sp>
      <p:sp>
        <p:nvSpPr>
          <p:cNvPr id="876" name="Google Shape;876;p44"/>
          <p:cNvSpPr txBox="1"/>
          <p:nvPr/>
        </p:nvSpPr>
        <p:spPr>
          <a:xfrm>
            <a:off x="1868150" y="1319100"/>
            <a:ext cx="4677900" cy="99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a:solidFill>
                  <a:srgbClr val="FF00FF"/>
                </a:solidFill>
              </a:rPr>
              <a:t>Containerization:</a:t>
            </a:r>
            <a:endParaRPr>
              <a:solidFill>
                <a:srgbClr val="FF00FF"/>
              </a:solidFill>
            </a:endParaRPr>
          </a:p>
          <a:p>
            <a:pPr indent="0" lvl="0" marL="0" rtl="0" algn="ctr">
              <a:spcBef>
                <a:spcPts val="0"/>
              </a:spcBef>
              <a:spcAft>
                <a:spcPts val="0"/>
              </a:spcAft>
              <a:buNone/>
            </a:pPr>
            <a:r>
              <a:rPr lang="el"/>
              <a:t>A way to package applications with everything they need (dependencies, configurations etc)</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pic>
        <p:nvPicPr>
          <p:cNvPr id="877" name="Google Shape;877;p44"/>
          <p:cNvPicPr preferRelativeResize="0"/>
          <p:nvPr/>
        </p:nvPicPr>
        <p:blipFill>
          <a:blip r:embed="rId3">
            <a:alphaModFix/>
          </a:blip>
          <a:stretch>
            <a:fillRect/>
          </a:stretch>
        </p:blipFill>
        <p:spPr>
          <a:xfrm>
            <a:off x="2310700" y="2346629"/>
            <a:ext cx="4235352" cy="242019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containers? </a:t>
            </a:r>
            <a:endParaRPr/>
          </a:p>
        </p:txBody>
      </p:sp>
      <p:sp>
        <p:nvSpPr>
          <p:cNvPr id="883" name="Google Shape;883;p45"/>
          <p:cNvSpPr txBox="1"/>
          <p:nvPr/>
        </p:nvSpPr>
        <p:spPr>
          <a:xfrm>
            <a:off x="448725" y="1218900"/>
            <a:ext cx="8204100" cy="36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a:solidFill>
                  <a:srgbClr val="FF00FF"/>
                </a:solidFill>
              </a:rPr>
              <a:t>They do what VMs dont!</a:t>
            </a:r>
            <a:endParaRPr>
              <a:solidFill>
                <a:srgbClr val="FF00FF"/>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Portable</a:t>
            </a:r>
            <a:endParaRPr>
              <a:solidFill>
                <a:schemeClr val="dk1"/>
              </a:solidFill>
            </a:endParaRPr>
          </a:p>
          <a:p>
            <a:pPr indent="0" lvl="0" marL="457200" rtl="0" algn="l">
              <a:spcBef>
                <a:spcPts val="0"/>
              </a:spcBef>
              <a:spcAft>
                <a:spcPts val="0"/>
              </a:spcAft>
              <a:buNone/>
            </a:pPr>
            <a:r>
              <a:rPr lang="el">
                <a:solidFill>
                  <a:schemeClr val="dk1"/>
                </a:solidFill>
              </a:rPr>
              <a:t>Easily shared and moved around between teams with different environments</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Isolated from host systems </a:t>
            </a:r>
            <a:endParaRPr>
              <a:solidFill>
                <a:schemeClr val="dk1"/>
              </a:solidFill>
            </a:endParaRPr>
          </a:p>
          <a:p>
            <a:pPr indent="0" lvl="0" marL="457200" rtl="0" algn="l">
              <a:spcBef>
                <a:spcPts val="0"/>
              </a:spcBef>
              <a:spcAft>
                <a:spcPts val="0"/>
              </a:spcAft>
              <a:buNone/>
            </a:pPr>
            <a:r>
              <a:rPr lang="el">
                <a:solidFill>
                  <a:schemeClr val="dk1"/>
                </a:solidFill>
              </a:rPr>
              <a:t>They can run as standalone entities on a device without the need for resource boundaries</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Lightweight </a:t>
            </a:r>
            <a:endParaRPr>
              <a:solidFill>
                <a:schemeClr val="dk1"/>
              </a:solidFill>
            </a:endParaRPr>
          </a:p>
          <a:p>
            <a:pPr indent="0" lvl="0" marL="457200" rtl="0" algn="l">
              <a:spcBef>
                <a:spcPts val="0"/>
              </a:spcBef>
              <a:spcAft>
                <a:spcPts val="0"/>
              </a:spcAft>
              <a:buNone/>
            </a:pPr>
            <a:r>
              <a:rPr lang="el">
                <a:solidFill>
                  <a:schemeClr val="dk1"/>
                </a:solidFill>
              </a:rPr>
              <a:t>You can have multiple containers on a single host</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Resilient &amp; Scalable</a:t>
            </a:r>
            <a:endParaRPr>
              <a:solidFill>
                <a:schemeClr val="dk1"/>
              </a:solidFill>
            </a:endParaRPr>
          </a:p>
          <a:p>
            <a:pPr indent="0" lvl="0" marL="457200" rtl="0" algn="l">
              <a:spcBef>
                <a:spcPts val="0"/>
              </a:spcBef>
              <a:spcAft>
                <a:spcPts val="0"/>
              </a:spcAft>
              <a:buNone/>
            </a:pPr>
            <a:r>
              <a:rPr lang="el">
                <a:solidFill>
                  <a:schemeClr val="dk1"/>
                </a:solidFill>
              </a:rPr>
              <a:t>Inexpensive and simple to implement for resiliency </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Hello Docker</a:t>
            </a:r>
            <a:endParaRPr/>
          </a:p>
        </p:txBody>
      </p:sp>
      <p:sp>
        <p:nvSpPr>
          <p:cNvPr id="889" name="Google Shape;889;p46"/>
          <p:cNvSpPr txBox="1"/>
          <p:nvPr/>
        </p:nvSpPr>
        <p:spPr>
          <a:xfrm>
            <a:off x="311700" y="1537621"/>
            <a:ext cx="4199100" cy="252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a:t>What is Docker?</a:t>
            </a:r>
            <a:endParaRPr b="1"/>
          </a:p>
          <a:p>
            <a:pPr indent="0" lvl="0" marL="0" rtl="0" algn="l">
              <a:spcBef>
                <a:spcPts val="0"/>
              </a:spcBef>
              <a:spcAft>
                <a:spcPts val="0"/>
              </a:spcAft>
              <a:buNone/>
            </a:pPr>
            <a:r>
              <a:rPr b="1" lang="el">
                <a:solidFill>
                  <a:srgbClr val="FF00FF"/>
                </a:solidFill>
              </a:rPr>
              <a:t>Docker is an open platform for developing, shipping and running applications inside containers.</a:t>
            </a:r>
            <a:endParaRPr b="1">
              <a:solidFill>
                <a:srgbClr val="FF00FF"/>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Docker in a sentence:</a:t>
            </a:r>
            <a:endParaRPr>
              <a:solidFill>
                <a:srgbClr val="FF00FF"/>
              </a:solidFill>
            </a:endParaRPr>
          </a:p>
          <a:p>
            <a:pPr indent="0" lvl="0" marL="0" rtl="0" algn="l">
              <a:spcBef>
                <a:spcPts val="0"/>
              </a:spcBef>
              <a:spcAft>
                <a:spcPts val="0"/>
              </a:spcAft>
              <a:buNone/>
            </a:pPr>
            <a:r>
              <a:rPr lang="el"/>
              <a:t>Rapid shipping, testing and deployment of code and applications, significantly reducing delay between </a:t>
            </a:r>
            <a:r>
              <a:rPr lang="el"/>
              <a:t>writing</a:t>
            </a:r>
            <a:r>
              <a:rPr lang="el"/>
              <a:t> code and running it in production</a:t>
            </a:r>
            <a:endParaRPr/>
          </a:p>
          <a:p>
            <a:pPr indent="0" lvl="0" marL="0" rtl="0" algn="l">
              <a:spcBef>
                <a:spcPts val="0"/>
              </a:spcBef>
              <a:spcAft>
                <a:spcPts val="0"/>
              </a:spcAft>
              <a:buNone/>
            </a:pPr>
            <a:r>
              <a:t/>
            </a:r>
            <a:endParaRPr/>
          </a:p>
        </p:txBody>
      </p:sp>
      <p:pic>
        <p:nvPicPr>
          <p:cNvPr id="890" name="Google Shape;890;p46"/>
          <p:cNvPicPr preferRelativeResize="0"/>
          <p:nvPr/>
        </p:nvPicPr>
        <p:blipFill>
          <a:blip r:embed="rId3">
            <a:alphaModFix/>
          </a:blip>
          <a:stretch>
            <a:fillRect/>
          </a:stretch>
        </p:blipFill>
        <p:spPr>
          <a:xfrm>
            <a:off x="4632775" y="1170125"/>
            <a:ext cx="3810000" cy="31527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overview!</a:t>
            </a:r>
            <a:endParaRPr/>
          </a:p>
        </p:txBody>
      </p:sp>
      <p:sp>
        <p:nvSpPr>
          <p:cNvPr id="896" name="Google Shape;896;p47"/>
          <p:cNvSpPr txBox="1"/>
          <p:nvPr/>
        </p:nvSpPr>
        <p:spPr>
          <a:xfrm>
            <a:off x="354950" y="3000350"/>
            <a:ext cx="8565900" cy="177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a:solidFill>
                  <a:srgbClr val="FF00FF"/>
                </a:solidFill>
              </a:rPr>
              <a:t>What is an image?</a:t>
            </a:r>
            <a:endParaRPr>
              <a:solidFill>
                <a:srgbClr val="FF00FF"/>
              </a:solidFill>
            </a:endParaRPr>
          </a:p>
          <a:p>
            <a:pPr indent="0" lvl="0" marL="0" rtl="0" algn="l">
              <a:spcBef>
                <a:spcPts val="0"/>
              </a:spcBef>
              <a:spcAft>
                <a:spcPts val="0"/>
              </a:spcAft>
              <a:buClr>
                <a:schemeClr val="dk1"/>
              </a:buClr>
              <a:buSzPts val="1100"/>
              <a:buFont typeface="Arial"/>
              <a:buNone/>
            </a:pPr>
            <a:r>
              <a:rPr lang="el">
                <a:solidFill>
                  <a:schemeClr val="dk1"/>
                </a:solidFill>
              </a:rPr>
              <a:t>A recipe that contains the application and the dependencies. </a:t>
            </a:r>
            <a:endParaRPr>
              <a:solidFill>
                <a:schemeClr val="dk1"/>
              </a:solidFill>
            </a:endParaRPr>
          </a:p>
          <a:p>
            <a:pPr indent="0" lvl="0" marL="0" rtl="0" algn="l">
              <a:spcBef>
                <a:spcPts val="0"/>
              </a:spcBef>
              <a:spcAft>
                <a:spcPts val="0"/>
              </a:spcAft>
              <a:buClr>
                <a:schemeClr val="dk1"/>
              </a:buClr>
              <a:buSzPts val="1100"/>
              <a:buFont typeface="Arial"/>
              <a:buNone/>
            </a:pPr>
            <a:r>
              <a:rPr lang="el">
                <a:solidFill>
                  <a:schemeClr val="dk1"/>
                </a:solidFill>
              </a:rPr>
              <a:t>Its the blueprint/image of the file. Container is a running instance created from an image</a:t>
            </a:r>
            <a:endParaRPr>
              <a:solidFill>
                <a:srgbClr val="FF00FF"/>
              </a:solidFill>
            </a:endParaRPr>
          </a:p>
          <a:p>
            <a:pPr indent="0" lvl="0" marL="0" rtl="0" algn="l">
              <a:spcBef>
                <a:spcPts val="0"/>
              </a:spcBef>
              <a:spcAft>
                <a:spcPts val="0"/>
              </a:spcAft>
              <a:buNone/>
            </a:pPr>
            <a:r>
              <a:t/>
            </a:r>
            <a:endParaRPr>
              <a:solidFill>
                <a:srgbClr val="FF00FF"/>
              </a:solidFill>
            </a:endParaRPr>
          </a:p>
          <a:p>
            <a:pPr indent="0" lvl="0" marL="0" rtl="0" algn="l">
              <a:spcBef>
                <a:spcPts val="0"/>
              </a:spcBef>
              <a:spcAft>
                <a:spcPts val="0"/>
              </a:spcAft>
              <a:buNone/>
            </a:pPr>
            <a:r>
              <a:rPr lang="el">
                <a:solidFill>
                  <a:srgbClr val="FF00FF"/>
                </a:solidFill>
              </a:rPr>
              <a:t>What is a container?</a:t>
            </a:r>
            <a:endParaRPr>
              <a:solidFill>
                <a:srgbClr val="FF00FF"/>
              </a:solidFill>
            </a:endParaRPr>
          </a:p>
          <a:p>
            <a:pPr indent="0" lvl="0" marL="0" rtl="0" algn="l">
              <a:spcBef>
                <a:spcPts val="0"/>
              </a:spcBef>
              <a:spcAft>
                <a:spcPts val="0"/>
              </a:spcAft>
              <a:buNone/>
            </a:pPr>
            <a:r>
              <a:rPr lang="el"/>
              <a:t>Think of them as boxes where the application lives with all its dependencies (OS, libraries, versions etc)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897" name="Google Shape;897;p47"/>
          <p:cNvPicPr preferRelativeResize="0"/>
          <p:nvPr/>
        </p:nvPicPr>
        <p:blipFill rotWithShape="1">
          <a:blip r:embed="rId3">
            <a:alphaModFix/>
          </a:blip>
          <a:srcRect b="17945" l="5894" r="3427" t="25139"/>
          <a:stretch/>
        </p:blipFill>
        <p:spPr>
          <a:xfrm>
            <a:off x="1961575" y="1379375"/>
            <a:ext cx="4399128" cy="13667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Docker Architecture</a:t>
            </a:r>
            <a:endParaRPr/>
          </a:p>
        </p:txBody>
      </p:sp>
      <p:pic>
        <p:nvPicPr>
          <p:cNvPr id="903" name="Google Shape;903;p48"/>
          <p:cNvPicPr preferRelativeResize="0"/>
          <p:nvPr/>
        </p:nvPicPr>
        <p:blipFill>
          <a:blip r:embed="rId3">
            <a:alphaModFix/>
          </a:blip>
          <a:stretch>
            <a:fillRect/>
          </a:stretch>
        </p:blipFill>
        <p:spPr>
          <a:xfrm>
            <a:off x="4263700" y="1576737"/>
            <a:ext cx="4568599" cy="2841275"/>
          </a:xfrm>
          <a:prstGeom prst="rect">
            <a:avLst/>
          </a:prstGeom>
          <a:noFill/>
          <a:ln>
            <a:noFill/>
          </a:ln>
        </p:spPr>
      </p:pic>
      <p:sp>
        <p:nvSpPr>
          <p:cNvPr id="904" name="Google Shape;904;p48"/>
          <p:cNvSpPr txBox="1"/>
          <p:nvPr/>
        </p:nvSpPr>
        <p:spPr>
          <a:xfrm>
            <a:off x="131700" y="1576725"/>
            <a:ext cx="4440300" cy="268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0"/>
              </a:spcBef>
              <a:spcAft>
                <a:spcPts val="0"/>
              </a:spcAft>
              <a:buClr>
                <a:schemeClr val="dk1"/>
              </a:buClr>
              <a:buSzPts val="1400"/>
              <a:buChar char="●"/>
            </a:pPr>
            <a:r>
              <a:rPr lang="el">
                <a:solidFill>
                  <a:schemeClr val="dk1"/>
                </a:solidFill>
              </a:rPr>
              <a:t>Say we have multiple apps open!</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Containers contain our applications and dependencies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Container engine (Docker) runs containers</a:t>
            </a:r>
            <a:endParaRPr/>
          </a:p>
          <a:p>
            <a:pPr indent="0" lvl="0" marL="457200" rtl="0" algn="l">
              <a:spcBef>
                <a:spcPts val="0"/>
              </a:spcBef>
              <a:spcAft>
                <a:spcPts val="0"/>
              </a:spcAft>
              <a:buNone/>
            </a:pPr>
            <a:r>
              <a:t/>
            </a:r>
            <a:endParaRPr/>
          </a:p>
          <a:p>
            <a:pPr indent="-317500" lvl="0" marL="457200" rtl="0" algn="l">
              <a:spcBef>
                <a:spcPts val="0"/>
              </a:spcBef>
              <a:spcAft>
                <a:spcPts val="0"/>
              </a:spcAft>
              <a:buClr>
                <a:schemeClr val="dk1"/>
              </a:buClr>
              <a:buSzPts val="1400"/>
              <a:buChar char="●"/>
            </a:pPr>
            <a:r>
              <a:rPr lang="el">
                <a:solidFill>
                  <a:schemeClr val="dk1"/>
                </a:solidFill>
              </a:rPr>
              <a:t>Docker runs on top of our operating system</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Our OS is hosted on an Infrastructure</a:t>
            </a:r>
            <a:endParaRPr>
              <a:solidFill>
                <a:schemeClr val="dk1"/>
              </a:solidFill>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Docker vs Virtual Machines</a:t>
            </a:r>
            <a:endParaRPr/>
          </a:p>
        </p:txBody>
      </p:sp>
      <p:sp>
        <p:nvSpPr>
          <p:cNvPr id="910" name="Google Shape;910;p49"/>
          <p:cNvSpPr txBox="1"/>
          <p:nvPr/>
        </p:nvSpPr>
        <p:spPr>
          <a:xfrm>
            <a:off x="0" y="1236475"/>
            <a:ext cx="3305700" cy="37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Docker containers</a:t>
            </a:r>
            <a:endParaRPr>
              <a:solidFill>
                <a:srgbClr val="FF00FF"/>
              </a:solidFill>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Shares the host OS making them lightweight</a:t>
            </a:r>
            <a:endParaRPr/>
          </a:p>
          <a:p>
            <a:pPr indent="-317500" lvl="0" marL="457200" rtl="0" algn="l">
              <a:spcBef>
                <a:spcPts val="0"/>
              </a:spcBef>
              <a:spcAft>
                <a:spcPts val="0"/>
              </a:spcAft>
              <a:buSzPts val="1400"/>
              <a:buChar char="●"/>
            </a:pPr>
            <a:r>
              <a:rPr lang="el"/>
              <a:t>Uses less memory and disk space</a:t>
            </a:r>
            <a:endParaRPr/>
          </a:p>
          <a:p>
            <a:pPr indent="-317500" lvl="0" marL="457200" rtl="0" algn="l">
              <a:spcBef>
                <a:spcPts val="0"/>
              </a:spcBef>
              <a:spcAft>
                <a:spcPts val="0"/>
              </a:spcAft>
              <a:buSzPts val="1400"/>
              <a:buChar char="●"/>
            </a:pPr>
            <a:r>
              <a:rPr lang="el"/>
              <a:t>Starts in seconds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Virtual Machines</a:t>
            </a:r>
            <a:endParaRPr>
              <a:solidFill>
                <a:srgbClr val="FF00FF"/>
              </a:solidFill>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Each VM has its own OS, making them heavier</a:t>
            </a:r>
            <a:endParaRPr/>
          </a:p>
          <a:p>
            <a:pPr indent="-317500" lvl="0" marL="457200" rtl="0" algn="l">
              <a:spcBef>
                <a:spcPts val="0"/>
              </a:spcBef>
              <a:spcAft>
                <a:spcPts val="0"/>
              </a:spcAft>
              <a:buSzPts val="1400"/>
              <a:buChar char="●"/>
            </a:pPr>
            <a:r>
              <a:rPr lang="el"/>
              <a:t>Longer to start</a:t>
            </a:r>
            <a:endParaRPr/>
          </a:p>
          <a:p>
            <a:pPr indent="-317500" lvl="0" marL="457200" rtl="0" algn="l">
              <a:spcBef>
                <a:spcPts val="0"/>
              </a:spcBef>
              <a:spcAft>
                <a:spcPts val="0"/>
              </a:spcAft>
              <a:buSzPts val="1400"/>
              <a:buChar char="●"/>
            </a:pPr>
            <a:r>
              <a:rPr lang="el"/>
              <a:t>More memory and disk because of OS overhead.</a:t>
            </a:r>
            <a:endParaRPr/>
          </a:p>
        </p:txBody>
      </p:sp>
      <p:pic>
        <p:nvPicPr>
          <p:cNvPr id="911" name="Google Shape;911;p49"/>
          <p:cNvPicPr preferRelativeResize="0"/>
          <p:nvPr/>
        </p:nvPicPr>
        <p:blipFill>
          <a:blip r:embed="rId3">
            <a:alphaModFix/>
          </a:blip>
          <a:stretch>
            <a:fillRect/>
          </a:stretch>
        </p:blipFill>
        <p:spPr>
          <a:xfrm>
            <a:off x="3385625" y="1438025"/>
            <a:ext cx="5699750" cy="28854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Installation</a:t>
            </a:r>
            <a:r>
              <a:rPr lang="el"/>
              <a:t> Docker</a:t>
            </a:r>
            <a:endParaRPr/>
          </a:p>
        </p:txBody>
      </p:sp>
      <p:sp>
        <p:nvSpPr>
          <p:cNvPr id="917" name="Google Shape;917;p50"/>
          <p:cNvSpPr txBox="1"/>
          <p:nvPr/>
        </p:nvSpPr>
        <p:spPr>
          <a:xfrm>
            <a:off x="461000" y="1199450"/>
            <a:ext cx="8174100" cy="3944100"/>
          </a:xfrm>
          <a:prstGeom prst="rect">
            <a:avLst/>
          </a:prstGeom>
          <a:noFill/>
          <a:ln>
            <a:noFill/>
          </a:ln>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AutoNum type="arabicPeriod"/>
            </a:pPr>
            <a:r>
              <a:rPr lang="el" sz="1800"/>
              <a:t>Ensure Python (version 3.10 or above) is installed</a:t>
            </a:r>
            <a:endParaRPr sz="1800"/>
          </a:p>
          <a:p>
            <a:pPr indent="-342900" lvl="0" marL="457200" rtl="0" algn="l">
              <a:lnSpc>
                <a:spcPct val="200000"/>
              </a:lnSpc>
              <a:spcBef>
                <a:spcPts val="0"/>
              </a:spcBef>
              <a:spcAft>
                <a:spcPts val="0"/>
              </a:spcAft>
              <a:buSzPts val="1800"/>
              <a:buAutoNum type="arabicPeriod"/>
            </a:pPr>
            <a:r>
              <a:rPr lang="el" sz="1800"/>
              <a:t>Ensure IDE (Visual Studio Code is the go-to)</a:t>
            </a:r>
            <a:endParaRPr sz="1800"/>
          </a:p>
          <a:p>
            <a:pPr indent="-342900" lvl="0" marL="457200" rtl="0" algn="l">
              <a:lnSpc>
                <a:spcPct val="100000"/>
              </a:lnSpc>
              <a:spcBef>
                <a:spcPts val="0"/>
              </a:spcBef>
              <a:spcAft>
                <a:spcPts val="0"/>
              </a:spcAft>
              <a:buSzPts val="1800"/>
              <a:buAutoNum type="arabicPeriod"/>
            </a:pPr>
            <a:r>
              <a:rPr lang="el" sz="1800"/>
              <a:t>Download and install </a:t>
            </a:r>
            <a:r>
              <a:rPr lang="el" sz="1800" u="sng">
                <a:solidFill>
                  <a:schemeClr val="hlink"/>
                </a:solidFill>
                <a:hlinkClick r:id="rId3"/>
              </a:rPr>
              <a:t>Docker Desktop</a:t>
            </a:r>
            <a:endParaRPr sz="1800"/>
          </a:p>
          <a:p>
            <a:pPr indent="-342900" lvl="1" marL="914400" rtl="0" algn="l">
              <a:lnSpc>
                <a:spcPct val="100000"/>
              </a:lnSpc>
              <a:spcBef>
                <a:spcPts val="0"/>
              </a:spcBef>
              <a:spcAft>
                <a:spcPts val="0"/>
              </a:spcAft>
              <a:buSzPts val="1800"/>
              <a:buAutoNum type="alphaLcPeriod"/>
            </a:pPr>
            <a:r>
              <a:rPr lang="el" sz="1800"/>
              <a:t>If you get the error WSL2 installation is incomplete, then download and install the latest package </a:t>
            </a:r>
            <a:r>
              <a:rPr lang="el" sz="1800" u="sng">
                <a:solidFill>
                  <a:schemeClr val="hlink"/>
                </a:solidFill>
                <a:hlinkClick r:id="rId4"/>
              </a:rPr>
              <a:t>wsl_update_x64</a:t>
            </a:r>
            <a:endParaRPr sz="1800"/>
          </a:p>
          <a:p>
            <a:pPr indent="-342900" lvl="1" marL="914400" rtl="0" algn="l">
              <a:lnSpc>
                <a:spcPct val="200000"/>
              </a:lnSpc>
              <a:spcBef>
                <a:spcPts val="0"/>
              </a:spcBef>
              <a:spcAft>
                <a:spcPts val="0"/>
              </a:spcAft>
              <a:buSzPts val="1800"/>
              <a:buAutoNum type="alphaLcPeriod"/>
            </a:pPr>
            <a:r>
              <a:rPr lang="el" sz="1800"/>
              <a:t>Make an account on </a:t>
            </a:r>
            <a:r>
              <a:rPr lang="el" sz="1800" u="sng">
                <a:solidFill>
                  <a:schemeClr val="hlink"/>
                </a:solidFill>
                <a:hlinkClick r:id="rId5"/>
              </a:rPr>
              <a:t>Docker Hub</a:t>
            </a:r>
            <a:endParaRPr sz="1800"/>
          </a:p>
          <a:p>
            <a:pPr indent="-342900" lvl="0" marL="457200" rtl="0" algn="l">
              <a:lnSpc>
                <a:spcPct val="200000"/>
              </a:lnSpc>
              <a:spcBef>
                <a:spcPts val="0"/>
              </a:spcBef>
              <a:spcAft>
                <a:spcPts val="0"/>
              </a:spcAft>
              <a:buSzPts val="1800"/>
              <a:buAutoNum type="arabicPeriod"/>
            </a:pPr>
            <a:r>
              <a:rPr lang="el" sz="1800"/>
              <a:t>Log in with your account on Docker Desktop</a:t>
            </a:r>
            <a:endParaRPr sz="1800"/>
          </a:p>
          <a:p>
            <a:pPr indent="0" lvl="0" marL="0" rtl="0" algn="l">
              <a:lnSpc>
                <a:spcPct val="200000"/>
              </a:lnSpc>
              <a:spcBef>
                <a:spcPts val="0"/>
              </a:spcBef>
              <a:spcAft>
                <a:spcPts val="0"/>
              </a:spcAft>
              <a:buNone/>
            </a:pPr>
            <a:r>
              <a:rPr lang="el" sz="1800"/>
              <a:t>Note: Ensure github account</a:t>
            </a:r>
            <a:endParaRPr sz="1800"/>
          </a:p>
          <a:p>
            <a:pPr indent="0" lvl="0" marL="0" rtl="0" algn="l">
              <a:lnSpc>
                <a:spcPct val="200000"/>
              </a:lnSpc>
              <a:spcBef>
                <a:spcPts val="0"/>
              </a:spcBef>
              <a:spcAft>
                <a:spcPts val="0"/>
              </a:spcAft>
              <a:buNone/>
            </a:pPr>
            <a:r>
              <a:rPr lang="el" sz="1800"/>
              <a:t>If you have any problems installing Docker please email me!!</a:t>
            </a:r>
            <a:endParaRPr sz="1800"/>
          </a:p>
          <a:p>
            <a:pPr indent="0" lvl="0" marL="0" rtl="0" algn="l">
              <a:lnSpc>
                <a:spcPct val="200000"/>
              </a:lnSpc>
              <a:spcBef>
                <a:spcPts val="0"/>
              </a:spcBef>
              <a:spcAft>
                <a:spcPts val="0"/>
              </a:spcAft>
              <a:buNone/>
            </a:pPr>
            <a:r>
              <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Using Docker</a:t>
            </a:r>
            <a:endParaRPr/>
          </a:p>
        </p:txBody>
      </p:sp>
      <p:sp>
        <p:nvSpPr>
          <p:cNvPr id="923" name="Google Shape;923;p51"/>
          <p:cNvSpPr txBox="1"/>
          <p:nvPr/>
        </p:nvSpPr>
        <p:spPr>
          <a:xfrm>
            <a:off x="2143125" y="1165350"/>
            <a:ext cx="4507200" cy="11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Assume you have </a:t>
            </a:r>
            <a:r>
              <a:rPr lang="el">
                <a:solidFill>
                  <a:srgbClr val="FF00FF"/>
                </a:solidFill>
              </a:rPr>
              <a:t>“dockerized”</a:t>
            </a:r>
            <a:r>
              <a:rPr lang="el"/>
              <a:t> a simple application doing math operations: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Then I can take your container and run it on my laptop!</a:t>
            </a:r>
            <a:endParaRPr/>
          </a:p>
        </p:txBody>
      </p:sp>
      <p:pic>
        <p:nvPicPr>
          <p:cNvPr id="924" name="Google Shape;924;p51"/>
          <p:cNvPicPr preferRelativeResize="0"/>
          <p:nvPr/>
        </p:nvPicPr>
        <p:blipFill>
          <a:blip r:embed="rId3">
            <a:alphaModFix/>
          </a:blip>
          <a:stretch>
            <a:fillRect/>
          </a:stretch>
        </p:blipFill>
        <p:spPr>
          <a:xfrm>
            <a:off x="2484675" y="2265850"/>
            <a:ext cx="3324676" cy="678800"/>
          </a:xfrm>
          <a:prstGeom prst="rect">
            <a:avLst/>
          </a:prstGeom>
          <a:noFill/>
          <a:ln>
            <a:noFill/>
          </a:ln>
        </p:spPr>
      </p:pic>
      <p:pic>
        <p:nvPicPr>
          <p:cNvPr id="925" name="Google Shape;925;p51"/>
          <p:cNvPicPr preferRelativeResize="0"/>
          <p:nvPr/>
        </p:nvPicPr>
        <p:blipFill>
          <a:blip r:embed="rId4">
            <a:alphaModFix/>
          </a:blip>
          <a:stretch>
            <a:fillRect/>
          </a:stretch>
        </p:blipFill>
        <p:spPr>
          <a:xfrm>
            <a:off x="1145450" y="3093600"/>
            <a:ext cx="6853099" cy="1041800"/>
          </a:xfrm>
          <a:prstGeom prst="rect">
            <a:avLst/>
          </a:prstGeom>
          <a:noFill/>
          <a:ln>
            <a:noFill/>
          </a:ln>
        </p:spPr>
      </p:pic>
      <p:sp>
        <p:nvSpPr>
          <p:cNvPr id="926" name="Google Shape;926;p51"/>
          <p:cNvSpPr txBox="1"/>
          <p:nvPr/>
        </p:nvSpPr>
        <p:spPr>
          <a:xfrm>
            <a:off x="3542850" y="4480500"/>
            <a:ext cx="17814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Nothing more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Docker works?</a:t>
            </a:r>
            <a:endParaRPr/>
          </a:p>
        </p:txBody>
      </p:sp>
      <p:pic>
        <p:nvPicPr>
          <p:cNvPr id="932" name="Google Shape;932;p52"/>
          <p:cNvPicPr preferRelativeResize="0"/>
          <p:nvPr/>
        </p:nvPicPr>
        <p:blipFill rotWithShape="1">
          <a:blip r:embed="rId3">
            <a:alphaModFix/>
          </a:blip>
          <a:srcRect b="17945" l="5894" r="3427" t="25139"/>
          <a:stretch/>
        </p:blipFill>
        <p:spPr>
          <a:xfrm>
            <a:off x="4744875" y="48000"/>
            <a:ext cx="4399128" cy="1366749"/>
          </a:xfrm>
          <a:prstGeom prst="rect">
            <a:avLst/>
          </a:prstGeom>
          <a:noFill/>
          <a:ln>
            <a:noFill/>
          </a:ln>
        </p:spPr>
      </p:pic>
      <p:sp>
        <p:nvSpPr>
          <p:cNvPr id="933" name="Google Shape;933;p52"/>
          <p:cNvSpPr txBox="1"/>
          <p:nvPr/>
        </p:nvSpPr>
        <p:spPr>
          <a:xfrm>
            <a:off x="488900" y="2021850"/>
            <a:ext cx="35832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Step 1: Build your .py application!</a:t>
            </a:r>
            <a:endParaRPr/>
          </a:p>
        </p:txBody>
      </p:sp>
      <p:pic>
        <p:nvPicPr>
          <p:cNvPr id="934" name="Google Shape;934;p52"/>
          <p:cNvPicPr preferRelativeResize="0"/>
          <p:nvPr/>
        </p:nvPicPr>
        <p:blipFill>
          <a:blip r:embed="rId4">
            <a:alphaModFix/>
          </a:blip>
          <a:stretch>
            <a:fillRect/>
          </a:stretch>
        </p:blipFill>
        <p:spPr>
          <a:xfrm>
            <a:off x="562568" y="2476975"/>
            <a:ext cx="2891558" cy="1366750"/>
          </a:xfrm>
          <a:prstGeom prst="rect">
            <a:avLst/>
          </a:prstGeom>
          <a:noFill/>
          <a:ln>
            <a:noFill/>
          </a:ln>
        </p:spPr>
      </p:pic>
      <p:sp>
        <p:nvSpPr>
          <p:cNvPr id="935" name="Google Shape;935;p52"/>
          <p:cNvSpPr txBox="1"/>
          <p:nvPr/>
        </p:nvSpPr>
        <p:spPr>
          <a:xfrm>
            <a:off x="5344425" y="2148200"/>
            <a:ext cx="35832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Step 2: Create requirements.txt</a:t>
            </a:r>
            <a:endParaRPr/>
          </a:p>
        </p:txBody>
      </p:sp>
      <p:pic>
        <p:nvPicPr>
          <p:cNvPr id="936" name="Google Shape;936;p52"/>
          <p:cNvPicPr preferRelativeResize="0"/>
          <p:nvPr/>
        </p:nvPicPr>
        <p:blipFill>
          <a:blip r:embed="rId5">
            <a:alphaModFix/>
          </a:blip>
          <a:stretch>
            <a:fillRect/>
          </a:stretch>
        </p:blipFill>
        <p:spPr>
          <a:xfrm>
            <a:off x="4895240" y="2965150"/>
            <a:ext cx="2168760" cy="381600"/>
          </a:xfrm>
          <a:prstGeom prst="rect">
            <a:avLst/>
          </a:prstGeom>
          <a:noFill/>
          <a:ln>
            <a:noFill/>
          </a:ln>
        </p:spPr>
      </p:pic>
      <p:pic>
        <p:nvPicPr>
          <p:cNvPr id="937" name="Google Shape;937;p52"/>
          <p:cNvPicPr preferRelativeResize="0"/>
          <p:nvPr/>
        </p:nvPicPr>
        <p:blipFill>
          <a:blip r:embed="rId6">
            <a:alphaModFix/>
          </a:blip>
          <a:stretch>
            <a:fillRect/>
          </a:stretch>
        </p:blipFill>
        <p:spPr>
          <a:xfrm>
            <a:off x="7269250" y="2675275"/>
            <a:ext cx="1216475" cy="1168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Docker works?</a:t>
            </a:r>
            <a:endParaRPr/>
          </a:p>
        </p:txBody>
      </p:sp>
      <p:pic>
        <p:nvPicPr>
          <p:cNvPr id="943" name="Google Shape;943;p53"/>
          <p:cNvPicPr preferRelativeResize="0"/>
          <p:nvPr/>
        </p:nvPicPr>
        <p:blipFill rotWithShape="1">
          <a:blip r:embed="rId3">
            <a:alphaModFix/>
          </a:blip>
          <a:srcRect b="17945" l="5894" r="3427" t="25139"/>
          <a:stretch/>
        </p:blipFill>
        <p:spPr>
          <a:xfrm>
            <a:off x="4744875" y="48000"/>
            <a:ext cx="4399128" cy="1366749"/>
          </a:xfrm>
          <a:prstGeom prst="rect">
            <a:avLst/>
          </a:prstGeom>
          <a:noFill/>
          <a:ln>
            <a:noFill/>
          </a:ln>
        </p:spPr>
      </p:pic>
      <p:sp>
        <p:nvSpPr>
          <p:cNvPr id="944" name="Google Shape;944;p53"/>
          <p:cNvSpPr txBox="1"/>
          <p:nvPr/>
        </p:nvSpPr>
        <p:spPr>
          <a:xfrm>
            <a:off x="311700" y="2176500"/>
            <a:ext cx="3978300" cy="214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Step 3: Build the </a:t>
            </a:r>
            <a:r>
              <a:rPr lang="el">
                <a:solidFill>
                  <a:srgbClr val="FF00FF"/>
                </a:solidFill>
              </a:rPr>
              <a:t>DockerFile</a:t>
            </a:r>
            <a:endParaRPr>
              <a:solidFill>
                <a:srgbClr val="FF00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l"/>
              <a:t>Note: </a:t>
            </a:r>
            <a:endParaRPr/>
          </a:p>
          <a:p>
            <a:pPr indent="0" lvl="0" marL="0" rtl="0" algn="l">
              <a:spcBef>
                <a:spcPts val="0"/>
              </a:spcBef>
              <a:spcAft>
                <a:spcPts val="0"/>
              </a:spcAft>
              <a:buNone/>
            </a:pPr>
            <a:r>
              <a:rPr lang="el"/>
              <a:t>Dockerfile is </a:t>
            </a:r>
            <a:r>
              <a:rPr lang="el"/>
              <a:t>usually</a:t>
            </a:r>
            <a:r>
              <a:rPr lang="el"/>
              <a:t> the end artifact of a ML engineer before giving it to the next team!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945" name="Google Shape;945;p53"/>
          <p:cNvPicPr preferRelativeResize="0"/>
          <p:nvPr/>
        </p:nvPicPr>
        <p:blipFill>
          <a:blip r:embed="rId4">
            <a:alphaModFix/>
          </a:blip>
          <a:stretch>
            <a:fillRect/>
          </a:stretch>
        </p:blipFill>
        <p:spPr>
          <a:xfrm>
            <a:off x="5140597" y="2250999"/>
            <a:ext cx="3750553" cy="2704975"/>
          </a:xfrm>
          <a:prstGeom prst="rect">
            <a:avLst/>
          </a:prstGeom>
          <a:noFill/>
          <a:ln>
            <a:noFill/>
          </a:ln>
        </p:spPr>
      </p:pic>
      <p:sp>
        <p:nvSpPr>
          <p:cNvPr id="946" name="Google Shape;946;p53"/>
          <p:cNvSpPr txBox="1"/>
          <p:nvPr/>
        </p:nvSpPr>
        <p:spPr>
          <a:xfrm>
            <a:off x="5307950" y="1641000"/>
            <a:ext cx="3583200" cy="5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In the main project folder create a file:</a:t>
            </a:r>
            <a:endParaRPr/>
          </a:p>
          <a:p>
            <a:pPr indent="0" lvl="0" marL="0" rtl="0" algn="l">
              <a:spcBef>
                <a:spcPts val="0"/>
              </a:spcBef>
              <a:spcAft>
                <a:spcPts val="0"/>
              </a:spcAft>
              <a:buNone/>
            </a:pPr>
            <a:r>
              <a:rPr lang="el"/>
              <a:t>DockerFile (no extensions)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Dockerfile: The thing that matters!!</a:t>
            </a:r>
            <a:endParaRPr/>
          </a:p>
        </p:txBody>
      </p:sp>
      <p:pic>
        <p:nvPicPr>
          <p:cNvPr id="952" name="Google Shape;952;p54"/>
          <p:cNvPicPr preferRelativeResize="0"/>
          <p:nvPr/>
        </p:nvPicPr>
        <p:blipFill>
          <a:blip r:embed="rId3">
            <a:alphaModFix/>
          </a:blip>
          <a:stretch>
            <a:fillRect/>
          </a:stretch>
        </p:blipFill>
        <p:spPr>
          <a:xfrm>
            <a:off x="4399550" y="1063375"/>
            <a:ext cx="4596450" cy="3820975"/>
          </a:xfrm>
          <a:prstGeom prst="rect">
            <a:avLst/>
          </a:prstGeom>
          <a:noFill/>
          <a:ln>
            <a:noFill/>
          </a:ln>
        </p:spPr>
      </p:pic>
      <p:sp>
        <p:nvSpPr>
          <p:cNvPr id="953" name="Google Shape;953;p54"/>
          <p:cNvSpPr txBox="1"/>
          <p:nvPr/>
        </p:nvSpPr>
        <p:spPr>
          <a:xfrm>
            <a:off x="247575" y="1391525"/>
            <a:ext cx="3788400" cy="38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Definition:</a:t>
            </a:r>
            <a:endParaRPr sz="1600">
              <a:solidFill>
                <a:srgbClr val="FF00FF"/>
              </a:solidFill>
            </a:endParaRPr>
          </a:p>
          <a:p>
            <a:pPr indent="0" lvl="0" marL="0" rtl="0" algn="l">
              <a:spcBef>
                <a:spcPts val="0"/>
              </a:spcBef>
              <a:spcAft>
                <a:spcPts val="0"/>
              </a:spcAft>
              <a:buNone/>
            </a:pPr>
            <a:r>
              <a:rPr lang="el" sz="1600"/>
              <a:t>A script containing commands to assemble a Docker Image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Structure:</a:t>
            </a:r>
            <a:endParaRPr sz="1600">
              <a:solidFill>
                <a:srgbClr val="FF00FF"/>
              </a:solidFill>
            </a:endParaRPr>
          </a:p>
          <a:p>
            <a:pPr indent="0" lvl="0" marL="0" rtl="0" algn="l">
              <a:spcBef>
                <a:spcPts val="0"/>
              </a:spcBef>
              <a:spcAft>
                <a:spcPts val="0"/>
              </a:spcAft>
              <a:buNone/>
            </a:pPr>
            <a:r>
              <a:rPr lang="el" sz="1600"/>
              <a:t>Lists the base image, software to install, files to copy, </a:t>
            </a:r>
            <a:r>
              <a:rPr lang="el" sz="1600"/>
              <a:t>ports</a:t>
            </a:r>
            <a:r>
              <a:rPr lang="el" sz="1600"/>
              <a:t> to expose and the </a:t>
            </a:r>
            <a:r>
              <a:rPr lang="el" sz="1600"/>
              <a:t>commands</a:t>
            </a:r>
            <a:r>
              <a:rPr lang="el" sz="1600"/>
              <a:t> to run the application</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Purpose</a:t>
            </a:r>
            <a:endParaRPr sz="1600">
              <a:solidFill>
                <a:srgbClr val="FF00FF"/>
              </a:solidFill>
            </a:endParaRPr>
          </a:p>
          <a:p>
            <a:pPr indent="0" lvl="0" marL="0" rtl="0" algn="l">
              <a:spcBef>
                <a:spcPts val="0"/>
              </a:spcBef>
              <a:spcAft>
                <a:spcPts val="0"/>
              </a:spcAft>
              <a:buNone/>
            </a:pPr>
            <a:r>
              <a:rPr lang="el" sz="1600"/>
              <a:t>Ensures consistency and </a:t>
            </a:r>
            <a:r>
              <a:rPr lang="el" sz="1600"/>
              <a:t>reproducible</a:t>
            </a:r>
            <a:r>
              <a:rPr lang="el" sz="1600"/>
              <a:t> builds</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Docker works?</a:t>
            </a:r>
            <a:endParaRPr/>
          </a:p>
        </p:txBody>
      </p:sp>
      <p:pic>
        <p:nvPicPr>
          <p:cNvPr id="959" name="Google Shape;959;p55"/>
          <p:cNvPicPr preferRelativeResize="0"/>
          <p:nvPr/>
        </p:nvPicPr>
        <p:blipFill rotWithShape="1">
          <a:blip r:embed="rId3">
            <a:alphaModFix/>
          </a:blip>
          <a:srcRect b="17945" l="5894" r="3427" t="25139"/>
          <a:stretch/>
        </p:blipFill>
        <p:spPr>
          <a:xfrm>
            <a:off x="4744875" y="48000"/>
            <a:ext cx="4399128" cy="1366749"/>
          </a:xfrm>
          <a:prstGeom prst="rect">
            <a:avLst/>
          </a:prstGeom>
          <a:noFill/>
          <a:ln>
            <a:noFill/>
          </a:ln>
        </p:spPr>
      </p:pic>
      <p:sp>
        <p:nvSpPr>
          <p:cNvPr id="960" name="Google Shape;960;p55"/>
          <p:cNvSpPr txBox="1"/>
          <p:nvPr/>
        </p:nvSpPr>
        <p:spPr>
          <a:xfrm>
            <a:off x="184450" y="2498125"/>
            <a:ext cx="3978300" cy="13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Step 4: Build the image!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961" name="Google Shape;961;p55"/>
          <p:cNvPicPr preferRelativeResize="0"/>
          <p:nvPr/>
        </p:nvPicPr>
        <p:blipFill>
          <a:blip r:embed="rId4">
            <a:alphaModFix/>
          </a:blip>
          <a:stretch>
            <a:fillRect/>
          </a:stretch>
        </p:blipFill>
        <p:spPr>
          <a:xfrm>
            <a:off x="241125" y="3000350"/>
            <a:ext cx="2743500" cy="473875"/>
          </a:xfrm>
          <a:prstGeom prst="rect">
            <a:avLst/>
          </a:prstGeom>
          <a:noFill/>
          <a:ln>
            <a:noFill/>
          </a:ln>
        </p:spPr>
      </p:pic>
      <p:sp>
        <p:nvSpPr>
          <p:cNvPr id="962" name="Google Shape;962;p55"/>
          <p:cNvSpPr txBox="1"/>
          <p:nvPr/>
        </p:nvSpPr>
        <p:spPr>
          <a:xfrm>
            <a:off x="4551925" y="2270375"/>
            <a:ext cx="41187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Step 5: Build a container based on the image</a:t>
            </a:r>
            <a:endParaRPr/>
          </a:p>
        </p:txBody>
      </p:sp>
      <p:pic>
        <p:nvPicPr>
          <p:cNvPr id="963" name="Google Shape;963;p55"/>
          <p:cNvPicPr preferRelativeResize="0"/>
          <p:nvPr/>
        </p:nvPicPr>
        <p:blipFill>
          <a:blip r:embed="rId5">
            <a:alphaModFix/>
          </a:blip>
          <a:stretch>
            <a:fillRect/>
          </a:stretch>
        </p:blipFill>
        <p:spPr>
          <a:xfrm>
            <a:off x="3793800" y="2777650"/>
            <a:ext cx="5330113" cy="391800"/>
          </a:xfrm>
          <a:prstGeom prst="rect">
            <a:avLst/>
          </a:prstGeom>
          <a:noFill/>
          <a:ln>
            <a:noFill/>
          </a:ln>
        </p:spPr>
      </p:pic>
      <p:sp>
        <p:nvSpPr>
          <p:cNvPr id="964" name="Google Shape;964;p55"/>
          <p:cNvSpPr txBox="1"/>
          <p:nvPr/>
        </p:nvSpPr>
        <p:spPr>
          <a:xfrm>
            <a:off x="3743113" y="3202725"/>
            <a:ext cx="54315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docker run </a:t>
            </a:r>
            <a:r>
              <a:rPr lang="el" sz="900"/>
              <a:t>-- name &lt;name_of_container&gt; -p &lt;contaner_port&gt;: &lt;host_port&gt; &lt;name_of_image&gt;</a:t>
            </a:r>
            <a:endParaRPr sz="900"/>
          </a:p>
        </p:txBody>
      </p:sp>
      <p:pic>
        <p:nvPicPr>
          <p:cNvPr id="965" name="Google Shape;965;p55"/>
          <p:cNvPicPr preferRelativeResize="0"/>
          <p:nvPr/>
        </p:nvPicPr>
        <p:blipFill>
          <a:blip r:embed="rId6">
            <a:alphaModFix/>
          </a:blip>
          <a:stretch>
            <a:fillRect/>
          </a:stretch>
        </p:blipFill>
        <p:spPr>
          <a:xfrm>
            <a:off x="4515025" y="4170275"/>
            <a:ext cx="3324676" cy="678800"/>
          </a:xfrm>
          <a:prstGeom prst="rect">
            <a:avLst/>
          </a:prstGeom>
          <a:noFill/>
          <a:ln>
            <a:noFill/>
          </a:ln>
        </p:spPr>
      </p:pic>
      <p:sp>
        <p:nvSpPr>
          <p:cNvPr id="966" name="Google Shape;966;p55"/>
          <p:cNvSpPr txBox="1"/>
          <p:nvPr/>
        </p:nvSpPr>
        <p:spPr>
          <a:xfrm>
            <a:off x="4769613" y="3710000"/>
            <a:ext cx="2815500" cy="47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Or for more simple applications: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Ok wait, Where are the images?</a:t>
            </a:r>
            <a:endParaRPr/>
          </a:p>
        </p:txBody>
      </p:sp>
      <p:sp>
        <p:nvSpPr>
          <p:cNvPr id="972" name="Google Shape;972;p56"/>
          <p:cNvSpPr txBox="1"/>
          <p:nvPr/>
        </p:nvSpPr>
        <p:spPr>
          <a:xfrm>
            <a:off x="408525" y="1305975"/>
            <a:ext cx="8465400" cy="31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Docker Hub</a:t>
            </a:r>
            <a:r>
              <a:rPr lang="el"/>
              <a:t> is a service provided by Docker, for finding and sharing container images with your team.</a:t>
            </a:r>
            <a:endParaRPr/>
          </a:p>
          <a:p>
            <a:pPr indent="0" lvl="0" marL="0" rtl="0" algn="l">
              <a:spcBef>
                <a:spcPts val="0"/>
              </a:spcBef>
              <a:spcAft>
                <a:spcPts val="0"/>
              </a:spcAft>
              <a:buNone/>
            </a:pPr>
            <a:r>
              <a:rPr lang="el"/>
              <a:t>(picture it as what GitHub is to Git)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Its free, public and contains container images from every project in the world!</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Some important features:</a:t>
            </a:r>
            <a:endParaRPr>
              <a:solidFill>
                <a:srgbClr val="FF00FF"/>
              </a:solidFill>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Repositories: Push and pull container images.</a:t>
            </a:r>
            <a:endParaRPr/>
          </a:p>
          <a:p>
            <a:pPr indent="-317500" lvl="0" marL="457200" rtl="0" algn="l">
              <a:spcBef>
                <a:spcPts val="0"/>
              </a:spcBef>
              <a:spcAft>
                <a:spcPts val="0"/>
              </a:spcAft>
              <a:buSzPts val="1400"/>
              <a:buChar char="●"/>
            </a:pPr>
            <a:r>
              <a:rPr lang="el"/>
              <a:t>Teams &amp; Organizations: Manage access to private repositories of container images.</a:t>
            </a:r>
            <a:endParaRPr/>
          </a:p>
          <a:p>
            <a:pPr indent="-317500" lvl="0" marL="457200" rtl="0" algn="l">
              <a:spcBef>
                <a:spcPts val="0"/>
              </a:spcBef>
              <a:spcAft>
                <a:spcPts val="0"/>
              </a:spcAft>
              <a:buSzPts val="1400"/>
              <a:buChar char="●"/>
            </a:pPr>
            <a:r>
              <a:rPr lang="el"/>
              <a:t>Docker Official Images: Pull and use high-quality container images provided by Docker.</a:t>
            </a:r>
            <a:endParaRPr/>
          </a:p>
          <a:p>
            <a:pPr indent="-317500" lvl="0" marL="457200" rtl="0" algn="l">
              <a:spcBef>
                <a:spcPts val="0"/>
              </a:spcBef>
              <a:spcAft>
                <a:spcPts val="0"/>
              </a:spcAft>
              <a:buSzPts val="1400"/>
              <a:buChar char="●"/>
            </a:pPr>
            <a:r>
              <a:rPr lang="el"/>
              <a:t>Docker Verified Publisher Images: Pull and use high- quality container images provided by external vendors.</a:t>
            </a:r>
            <a:endParaRPr/>
          </a:p>
          <a:p>
            <a:pPr indent="-317500" lvl="0" marL="457200" rtl="0" algn="l">
              <a:spcBef>
                <a:spcPts val="0"/>
              </a:spcBef>
              <a:spcAft>
                <a:spcPts val="0"/>
              </a:spcAft>
              <a:buSzPts val="1400"/>
              <a:buChar char="●"/>
            </a:pPr>
            <a:r>
              <a:rPr lang="el"/>
              <a:t>Builds: Automatically build container images from GitHub and push them to Docker Hub.</a:t>
            </a:r>
            <a:endParaRPr/>
          </a:p>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Summary of Docker</a:t>
            </a:r>
            <a:endParaRPr/>
          </a:p>
        </p:txBody>
      </p:sp>
      <p:sp>
        <p:nvSpPr>
          <p:cNvPr id="978" name="Google Shape;978;p57"/>
          <p:cNvSpPr txBox="1"/>
          <p:nvPr/>
        </p:nvSpPr>
        <p:spPr>
          <a:xfrm>
            <a:off x="514350" y="1082050"/>
            <a:ext cx="8227500" cy="37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500"/>
              <a:t>Benefits of using Docker for ML Models.</a:t>
            </a:r>
            <a:endParaRPr sz="1500"/>
          </a:p>
          <a:p>
            <a:pPr indent="0" lvl="0" marL="0" rtl="0" algn="l">
              <a:spcBef>
                <a:spcPts val="0"/>
              </a:spcBef>
              <a:spcAft>
                <a:spcPts val="0"/>
              </a:spcAft>
              <a:buNone/>
            </a:pPr>
            <a:r>
              <a:t/>
            </a:r>
            <a:endParaRPr sz="1500"/>
          </a:p>
          <a:p>
            <a:pPr indent="-323850" lvl="0" marL="457200" rtl="0" algn="l">
              <a:spcBef>
                <a:spcPts val="0"/>
              </a:spcBef>
              <a:spcAft>
                <a:spcPts val="0"/>
              </a:spcAft>
              <a:buClr>
                <a:srgbClr val="FF00FF"/>
              </a:buClr>
              <a:buSzPts val="1500"/>
              <a:buChar char="●"/>
            </a:pPr>
            <a:r>
              <a:rPr lang="el" sz="1500">
                <a:solidFill>
                  <a:srgbClr val="FF00FF"/>
                </a:solidFill>
              </a:rPr>
              <a:t>Scalability &amp; Independence of Services</a:t>
            </a:r>
            <a:endParaRPr sz="1500">
              <a:solidFill>
                <a:srgbClr val="FF00FF"/>
              </a:solidFill>
            </a:endParaRPr>
          </a:p>
          <a:p>
            <a:pPr indent="0" lvl="0" marL="0" rtl="0" algn="l">
              <a:spcBef>
                <a:spcPts val="0"/>
              </a:spcBef>
              <a:spcAft>
                <a:spcPts val="0"/>
              </a:spcAft>
              <a:buNone/>
            </a:pPr>
            <a:r>
              <a:rPr lang="el" sz="1500"/>
              <a:t>Docker enables scalability and simple addition/removal of services even in different languages</a:t>
            </a:r>
            <a:endParaRPr sz="1500"/>
          </a:p>
          <a:p>
            <a:pPr indent="0" lvl="0" marL="0" rtl="0" algn="l">
              <a:spcBef>
                <a:spcPts val="0"/>
              </a:spcBef>
              <a:spcAft>
                <a:spcPts val="0"/>
              </a:spcAft>
              <a:buNone/>
            </a:pPr>
            <a:r>
              <a:t/>
            </a:r>
            <a:endParaRPr sz="1500"/>
          </a:p>
          <a:p>
            <a:pPr indent="-323850" lvl="0" marL="457200" rtl="0" algn="l">
              <a:spcBef>
                <a:spcPts val="0"/>
              </a:spcBef>
              <a:spcAft>
                <a:spcPts val="0"/>
              </a:spcAft>
              <a:buClr>
                <a:srgbClr val="FF00FF"/>
              </a:buClr>
              <a:buSzPts val="1500"/>
              <a:buChar char="●"/>
            </a:pPr>
            <a:r>
              <a:rPr lang="el" sz="1500">
                <a:solidFill>
                  <a:srgbClr val="FF00FF"/>
                </a:solidFill>
              </a:rPr>
              <a:t>Reproducibility</a:t>
            </a:r>
            <a:endParaRPr sz="1500">
              <a:solidFill>
                <a:srgbClr val="FF00FF"/>
              </a:solidFill>
            </a:endParaRPr>
          </a:p>
          <a:p>
            <a:pPr indent="0" lvl="0" marL="0" rtl="0" algn="l">
              <a:spcBef>
                <a:spcPts val="0"/>
              </a:spcBef>
              <a:spcAft>
                <a:spcPts val="0"/>
              </a:spcAft>
              <a:buNone/>
            </a:pPr>
            <a:r>
              <a:rPr lang="el" sz="1500"/>
              <a:t>Ensure the working environment for training, testing, deploying the model is the same across all servers</a:t>
            </a:r>
            <a:endParaRPr sz="1500"/>
          </a:p>
          <a:p>
            <a:pPr indent="0" lvl="0" marL="0" rtl="0" algn="l">
              <a:spcBef>
                <a:spcPts val="0"/>
              </a:spcBef>
              <a:spcAft>
                <a:spcPts val="0"/>
              </a:spcAft>
              <a:buNone/>
            </a:pPr>
            <a:r>
              <a:t/>
            </a:r>
            <a:endParaRPr sz="1500"/>
          </a:p>
          <a:p>
            <a:pPr indent="-323850" lvl="0" marL="457200" rtl="0" algn="l">
              <a:spcBef>
                <a:spcPts val="0"/>
              </a:spcBef>
              <a:spcAft>
                <a:spcPts val="0"/>
              </a:spcAft>
              <a:buClr>
                <a:srgbClr val="FF00FF"/>
              </a:buClr>
              <a:buSzPts val="1500"/>
              <a:buChar char="●"/>
            </a:pPr>
            <a:r>
              <a:rPr lang="el" sz="1500">
                <a:solidFill>
                  <a:srgbClr val="FF00FF"/>
                </a:solidFill>
              </a:rPr>
              <a:t>Resource Utilization:</a:t>
            </a:r>
            <a:endParaRPr sz="1500">
              <a:solidFill>
                <a:srgbClr val="FF00FF"/>
              </a:solidFill>
            </a:endParaRPr>
          </a:p>
          <a:p>
            <a:pPr indent="0" lvl="0" marL="0" rtl="0" algn="l">
              <a:spcBef>
                <a:spcPts val="0"/>
              </a:spcBef>
              <a:spcAft>
                <a:spcPts val="0"/>
              </a:spcAft>
              <a:buNone/>
            </a:pPr>
            <a:r>
              <a:rPr lang="el" sz="1500"/>
              <a:t>Construct your model locally and transfer it for training into multiple instances on a cloud server</a:t>
            </a:r>
            <a:endParaRPr sz="1500"/>
          </a:p>
          <a:p>
            <a:pPr indent="0" lvl="0" marL="0" rtl="0" algn="l">
              <a:spcBef>
                <a:spcPts val="0"/>
              </a:spcBef>
              <a:spcAft>
                <a:spcPts val="0"/>
              </a:spcAft>
              <a:buNone/>
            </a:pPr>
            <a:r>
              <a:t/>
            </a:r>
            <a:endParaRPr sz="1500"/>
          </a:p>
          <a:p>
            <a:pPr indent="-323850" lvl="0" marL="457200" rtl="0" algn="l">
              <a:spcBef>
                <a:spcPts val="0"/>
              </a:spcBef>
              <a:spcAft>
                <a:spcPts val="0"/>
              </a:spcAft>
              <a:buClr>
                <a:srgbClr val="FF00FF"/>
              </a:buClr>
              <a:buSzPts val="1500"/>
              <a:buChar char="●"/>
            </a:pPr>
            <a:r>
              <a:rPr lang="el" sz="1500">
                <a:solidFill>
                  <a:srgbClr val="FF00FF"/>
                </a:solidFill>
              </a:rPr>
              <a:t>Version control</a:t>
            </a:r>
            <a:endParaRPr sz="1500">
              <a:solidFill>
                <a:srgbClr val="FF00FF"/>
              </a:solidFill>
            </a:endParaRPr>
          </a:p>
          <a:p>
            <a:pPr indent="0" lvl="0" marL="0" rtl="0" algn="l">
              <a:spcBef>
                <a:spcPts val="0"/>
              </a:spcBef>
              <a:spcAft>
                <a:spcPts val="0"/>
              </a:spcAft>
              <a:buNone/>
            </a:pPr>
            <a:r>
              <a:rPr lang="el" sz="1500"/>
              <a:t>Track image versions, roll back if needed on all servers at the same moment.</a:t>
            </a:r>
            <a:endParaRPr sz="1500"/>
          </a:p>
          <a:p>
            <a:pPr indent="0" lvl="0" marL="0" rtl="0" algn="l">
              <a:spcBef>
                <a:spcPts val="0"/>
              </a:spcBef>
              <a:spcAft>
                <a:spcPts val="0"/>
              </a:spcAft>
              <a:buNone/>
            </a:pPr>
            <a:r>
              <a:t/>
            </a:r>
            <a:endParaRPr sz="15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58"/>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l"/>
              <a:t>What's</a:t>
            </a:r>
            <a:r>
              <a:rPr lang="el"/>
              <a:t> next?</a:t>
            </a:r>
            <a:endParaRPr/>
          </a:p>
          <a:p>
            <a:pPr indent="0" lvl="0" marL="0" rtl="0" algn="ctr">
              <a:spcBef>
                <a:spcPts val="0"/>
              </a:spcBef>
              <a:spcAft>
                <a:spcPts val="0"/>
              </a:spcAft>
              <a:buNone/>
            </a:pPr>
            <a:r>
              <a:rPr lang="el">
                <a:solidFill>
                  <a:srgbClr val="FF00FF"/>
                </a:solidFill>
              </a:rPr>
              <a:t>Serving</a:t>
            </a:r>
            <a:endParaRPr>
              <a:solidFill>
                <a:srgbClr val="FF00F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59"/>
          <p:cNvSpPr txBox="1"/>
          <p:nvPr>
            <p:ph type="title"/>
          </p:nvPr>
        </p:nvSpPr>
        <p:spPr>
          <a:xfrm>
            <a:off x="311700" y="143422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What's</a:t>
            </a:r>
            <a:r>
              <a:rPr lang="el"/>
              <a:t> next?</a:t>
            </a:r>
            <a:endParaRPr/>
          </a:p>
        </p:txBody>
      </p:sp>
      <p:pic>
        <p:nvPicPr>
          <p:cNvPr id="989" name="Google Shape;989;p59"/>
          <p:cNvPicPr preferRelativeResize="0"/>
          <p:nvPr/>
        </p:nvPicPr>
        <p:blipFill>
          <a:blip r:embed="rId3">
            <a:alphaModFix/>
          </a:blip>
          <a:stretch>
            <a:fillRect/>
          </a:stretch>
        </p:blipFill>
        <p:spPr>
          <a:xfrm>
            <a:off x="2966900" y="2337796"/>
            <a:ext cx="3292226" cy="164612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reminder on deployment</a:t>
            </a:r>
            <a:endParaRPr/>
          </a:p>
        </p:txBody>
      </p:sp>
      <p:pic>
        <p:nvPicPr>
          <p:cNvPr id="995" name="Google Shape;995;p60"/>
          <p:cNvPicPr preferRelativeResize="0"/>
          <p:nvPr/>
        </p:nvPicPr>
        <p:blipFill>
          <a:blip r:embed="rId3">
            <a:alphaModFix/>
          </a:blip>
          <a:stretch>
            <a:fillRect/>
          </a:stretch>
        </p:blipFill>
        <p:spPr>
          <a:xfrm>
            <a:off x="0" y="1029875"/>
            <a:ext cx="8422674" cy="1621750"/>
          </a:xfrm>
          <a:prstGeom prst="rect">
            <a:avLst/>
          </a:prstGeom>
          <a:noFill/>
          <a:ln>
            <a:noFill/>
          </a:ln>
        </p:spPr>
      </p:pic>
      <p:sp>
        <p:nvSpPr>
          <p:cNvPr id="996" name="Google Shape;996;p60"/>
          <p:cNvSpPr txBox="1"/>
          <p:nvPr/>
        </p:nvSpPr>
        <p:spPr>
          <a:xfrm>
            <a:off x="222525" y="2922350"/>
            <a:ext cx="8520600" cy="20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Deployment:</a:t>
            </a:r>
            <a:r>
              <a:rPr lang="el"/>
              <a:t> Deployment is the process of integrating a trained machine learning model into a production environment to make it available for end-users.</a:t>
            </a:r>
            <a:endParaRPr/>
          </a:p>
          <a:p>
            <a:pPr indent="0" lvl="0" marL="0" rtl="0" algn="l">
              <a:spcBef>
                <a:spcPts val="0"/>
              </a:spcBef>
              <a:spcAft>
                <a:spcPts val="0"/>
              </a:spcAft>
              <a:buNone/>
            </a:pPr>
            <a:r>
              <a:t/>
            </a:r>
            <a:endParaRPr/>
          </a:p>
          <a:p>
            <a:pPr indent="-184150" lvl="0" marL="269999" rtl="0" algn="l">
              <a:spcBef>
                <a:spcPts val="0"/>
              </a:spcBef>
              <a:spcAft>
                <a:spcPts val="0"/>
              </a:spcAft>
              <a:buSzPts val="1400"/>
              <a:buChar char="●"/>
            </a:pPr>
            <a:r>
              <a:rPr lang="el"/>
              <a:t>Serving: Set-up the hardware and software to serve the model predictions on cloud or edge devices</a:t>
            </a:r>
            <a:endParaRPr/>
          </a:p>
          <a:p>
            <a:pPr indent="-184150" lvl="0" marL="269999" rtl="0" algn="l">
              <a:spcBef>
                <a:spcPts val="0"/>
              </a:spcBef>
              <a:spcAft>
                <a:spcPts val="0"/>
              </a:spcAft>
              <a:buSzPts val="1400"/>
              <a:buChar char="●"/>
            </a:pPr>
            <a:r>
              <a:rPr lang="el"/>
              <a:t>Scalability: Ensure the model can handle varying loads from few requests to thousands per second</a:t>
            </a:r>
            <a:endParaRPr/>
          </a:p>
          <a:p>
            <a:pPr indent="-184150" lvl="0" marL="269999" rtl="0" algn="l">
              <a:spcBef>
                <a:spcPts val="0"/>
              </a:spcBef>
              <a:spcAft>
                <a:spcPts val="0"/>
              </a:spcAft>
              <a:buSzPts val="1400"/>
              <a:buChar char="●"/>
            </a:pPr>
            <a:r>
              <a:rPr lang="el"/>
              <a:t>Versioning: Keeping track of different version of the model allowing for rollbacks, A/B tests etc</a:t>
            </a:r>
            <a:endParaRPr/>
          </a:p>
          <a:p>
            <a:pPr indent="-184150" lvl="0" marL="269999" rtl="0" algn="l">
              <a:spcBef>
                <a:spcPts val="0"/>
              </a:spcBef>
              <a:spcAft>
                <a:spcPts val="0"/>
              </a:spcAft>
              <a:buSzPts val="1400"/>
              <a:buChar char="●"/>
            </a:pPr>
            <a:r>
              <a:rPr lang="el"/>
              <a:t>Monitoring: Monitor the performance of the model in the real world and collect feedback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Deployment is an iterative process! Feedback is used to improve the performance of the model!!</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Exactly is Model Serving?</a:t>
            </a:r>
            <a:endParaRPr/>
          </a:p>
        </p:txBody>
      </p:sp>
      <p:pic>
        <p:nvPicPr>
          <p:cNvPr id="1002" name="Google Shape;1002;p61"/>
          <p:cNvPicPr preferRelativeResize="0"/>
          <p:nvPr/>
        </p:nvPicPr>
        <p:blipFill>
          <a:blip r:embed="rId3">
            <a:alphaModFix/>
          </a:blip>
          <a:stretch>
            <a:fillRect/>
          </a:stretch>
        </p:blipFill>
        <p:spPr>
          <a:xfrm>
            <a:off x="2613625" y="1505275"/>
            <a:ext cx="6461975" cy="2623000"/>
          </a:xfrm>
          <a:prstGeom prst="rect">
            <a:avLst/>
          </a:prstGeom>
          <a:noFill/>
          <a:ln>
            <a:noFill/>
          </a:ln>
        </p:spPr>
      </p:pic>
      <p:sp>
        <p:nvSpPr>
          <p:cNvPr id="1003" name="Google Shape;1003;p61"/>
          <p:cNvSpPr txBox="1"/>
          <p:nvPr/>
        </p:nvSpPr>
        <p:spPr>
          <a:xfrm>
            <a:off x="96575" y="1648050"/>
            <a:ext cx="4639800" cy="1847400"/>
          </a:xfrm>
          <a:prstGeom prst="rect">
            <a:avLst/>
          </a:prstGeom>
          <a:noFill/>
          <a:ln>
            <a:noFill/>
          </a:ln>
        </p:spPr>
        <p:txBody>
          <a:bodyPr anchorCtr="0" anchor="t" bIns="91425" lIns="180000" spcFirstLastPara="1" rIns="91425" wrap="square" tIns="91425">
            <a:noAutofit/>
          </a:bodyPr>
          <a:lstStyle/>
          <a:p>
            <a:pPr indent="-268899" lvl="0" marL="179999" rtl="0" algn="l">
              <a:spcBef>
                <a:spcPts val="0"/>
              </a:spcBef>
              <a:spcAft>
                <a:spcPts val="0"/>
              </a:spcAft>
              <a:buSzPts val="1400"/>
              <a:buChar char="●"/>
            </a:pPr>
            <a:r>
              <a:rPr lang="el"/>
              <a:t>Training a good ML model serves nothing on its own</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need to make it available for usage</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do that by providing access to it through serving!</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Case Study: Speech recognition</a:t>
            </a:r>
            <a:endParaRPr/>
          </a:p>
        </p:txBody>
      </p:sp>
      <p:pic>
        <p:nvPicPr>
          <p:cNvPr id="1009" name="Google Shape;1009;p62"/>
          <p:cNvPicPr preferRelativeResize="0"/>
          <p:nvPr/>
        </p:nvPicPr>
        <p:blipFill>
          <a:blip r:embed="rId3">
            <a:alphaModFix/>
          </a:blip>
          <a:stretch>
            <a:fillRect/>
          </a:stretch>
        </p:blipFill>
        <p:spPr>
          <a:xfrm>
            <a:off x="0" y="1029875"/>
            <a:ext cx="8422674" cy="1621750"/>
          </a:xfrm>
          <a:prstGeom prst="rect">
            <a:avLst/>
          </a:prstGeom>
          <a:noFill/>
          <a:ln>
            <a:noFill/>
          </a:ln>
        </p:spPr>
      </p:pic>
      <p:pic>
        <p:nvPicPr>
          <p:cNvPr id="1010" name="Google Shape;1010;p62"/>
          <p:cNvPicPr preferRelativeResize="0"/>
          <p:nvPr/>
        </p:nvPicPr>
        <p:blipFill rotWithShape="1">
          <a:blip r:embed="rId4">
            <a:alphaModFix/>
          </a:blip>
          <a:srcRect b="28641" l="15460" r="15886" t="29429"/>
          <a:stretch/>
        </p:blipFill>
        <p:spPr>
          <a:xfrm>
            <a:off x="618975" y="3198100"/>
            <a:ext cx="2330825" cy="1574600"/>
          </a:xfrm>
          <a:prstGeom prst="rect">
            <a:avLst/>
          </a:prstGeom>
          <a:noFill/>
          <a:ln>
            <a:noFill/>
          </a:ln>
        </p:spPr>
      </p:pic>
      <p:pic>
        <p:nvPicPr>
          <p:cNvPr id="1011" name="Google Shape;1011;p62"/>
          <p:cNvPicPr preferRelativeResize="0"/>
          <p:nvPr/>
        </p:nvPicPr>
        <p:blipFill>
          <a:blip r:embed="rId5">
            <a:alphaModFix/>
          </a:blip>
          <a:stretch>
            <a:fillRect/>
          </a:stretch>
        </p:blipFill>
        <p:spPr>
          <a:xfrm>
            <a:off x="1192551" y="3823396"/>
            <a:ext cx="407694" cy="679493"/>
          </a:xfrm>
          <a:prstGeom prst="rect">
            <a:avLst/>
          </a:prstGeom>
          <a:noFill/>
          <a:ln>
            <a:noFill/>
          </a:ln>
        </p:spPr>
      </p:pic>
      <p:sp>
        <p:nvSpPr>
          <p:cNvPr id="1012" name="Google Shape;1012;p62"/>
          <p:cNvSpPr txBox="1"/>
          <p:nvPr/>
        </p:nvSpPr>
        <p:spPr>
          <a:xfrm>
            <a:off x="1600246" y="3899741"/>
            <a:ext cx="860700" cy="59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l" sz="1200"/>
              <a:t>Prediction</a:t>
            </a:r>
            <a:endParaRPr sz="1200"/>
          </a:p>
          <a:p>
            <a:pPr indent="0" lvl="0" marL="0" rtl="0" algn="r">
              <a:spcBef>
                <a:spcPts val="0"/>
              </a:spcBef>
              <a:spcAft>
                <a:spcPts val="0"/>
              </a:spcAft>
              <a:buNone/>
            </a:pPr>
            <a:r>
              <a:rPr lang="el" sz="1200"/>
              <a:t>Server</a:t>
            </a:r>
            <a:endParaRPr sz="1200"/>
          </a:p>
        </p:txBody>
      </p:sp>
      <p:sp>
        <p:nvSpPr>
          <p:cNvPr id="1013" name="Google Shape;1013;p62"/>
          <p:cNvSpPr/>
          <p:nvPr/>
        </p:nvSpPr>
        <p:spPr>
          <a:xfrm>
            <a:off x="1138343" y="3833626"/>
            <a:ext cx="1385400" cy="6795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014" name="Google Shape;1014;p62"/>
          <p:cNvSpPr/>
          <p:nvPr/>
        </p:nvSpPr>
        <p:spPr>
          <a:xfrm>
            <a:off x="3057364" y="3909529"/>
            <a:ext cx="1100700" cy="188700"/>
          </a:xfrm>
          <a:prstGeom prst="rightArrow">
            <a:avLst>
              <a:gd fmla="val 50000" name="adj1"/>
              <a:gd fmla="val 50000" name="adj2"/>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62"/>
          <p:cNvSpPr/>
          <p:nvPr/>
        </p:nvSpPr>
        <p:spPr>
          <a:xfrm rot="10800000">
            <a:off x="3057396" y="3605993"/>
            <a:ext cx="1100700" cy="188700"/>
          </a:xfrm>
          <a:prstGeom prst="rightArrow">
            <a:avLst>
              <a:gd fmla="val 50000" name="adj1"/>
              <a:gd fmla="val 50000" name="adj2"/>
            </a:avLst>
          </a:prstGeom>
          <a:solidFill>
            <a:srgbClr val="434343"/>
          </a:solidFill>
          <a:ln cap="flat" cmpd="sng" w="9525">
            <a:solidFill>
              <a:srgbClr val="1E1E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62"/>
          <p:cNvSpPr txBox="1"/>
          <p:nvPr/>
        </p:nvSpPr>
        <p:spPr>
          <a:xfrm>
            <a:off x="3134475" y="3348500"/>
            <a:ext cx="1185000" cy="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200"/>
              <a:t>Speech API</a:t>
            </a:r>
            <a:endParaRPr b="1" sz="1200"/>
          </a:p>
        </p:txBody>
      </p:sp>
      <p:sp>
        <p:nvSpPr>
          <p:cNvPr id="1017" name="Google Shape;1017;p62"/>
          <p:cNvSpPr txBox="1"/>
          <p:nvPr/>
        </p:nvSpPr>
        <p:spPr>
          <a:xfrm>
            <a:off x="3105150" y="3992150"/>
            <a:ext cx="10050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200"/>
              <a:t>Transcript</a:t>
            </a:r>
            <a:endParaRPr b="1" sz="1200"/>
          </a:p>
        </p:txBody>
      </p:sp>
      <p:sp>
        <p:nvSpPr>
          <p:cNvPr id="1018" name="Google Shape;1018;p62"/>
          <p:cNvSpPr/>
          <p:nvPr/>
        </p:nvSpPr>
        <p:spPr>
          <a:xfrm>
            <a:off x="3057302" y="4333779"/>
            <a:ext cx="1100700" cy="188700"/>
          </a:xfrm>
          <a:prstGeom prst="rightArrow">
            <a:avLst>
              <a:gd fmla="val 50000" name="adj1"/>
              <a:gd fmla="val 50000" name="adj2"/>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62"/>
          <p:cNvSpPr txBox="1"/>
          <p:nvPr/>
        </p:nvSpPr>
        <p:spPr>
          <a:xfrm>
            <a:off x="3015163" y="4430700"/>
            <a:ext cx="11850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200"/>
              <a:t>Classification</a:t>
            </a:r>
            <a:endParaRPr b="1" sz="1200"/>
          </a:p>
        </p:txBody>
      </p:sp>
      <p:sp>
        <p:nvSpPr>
          <p:cNvPr id="1020" name="Google Shape;1020;p62"/>
          <p:cNvSpPr/>
          <p:nvPr/>
        </p:nvSpPr>
        <p:spPr>
          <a:xfrm>
            <a:off x="4366575" y="2784200"/>
            <a:ext cx="2330700" cy="2402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2"/>
          <p:cNvSpPr txBox="1"/>
          <p:nvPr/>
        </p:nvSpPr>
        <p:spPr>
          <a:xfrm>
            <a:off x="4319475" y="2724150"/>
            <a:ext cx="24987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t>Mobile Phone (Edge Device)</a:t>
            </a:r>
            <a:endParaRPr sz="1200"/>
          </a:p>
        </p:txBody>
      </p:sp>
      <p:sp>
        <p:nvSpPr>
          <p:cNvPr id="1022" name="Google Shape;1022;p62"/>
          <p:cNvSpPr/>
          <p:nvPr/>
        </p:nvSpPr>
        <p:spPr>
          <a:xfrm>
            <a:off x="4440375" y="3138200"/>
            <a:ext cx="2067900" cy="1836300"/>
          </a:xfrm>
          <a:prstGeom prst="roundRect">
            <a:avLst>
              <a:gd fmla="val 16667"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2"/>
          <p:cNvSpPr txBox="1"/>
          <p:nvPr/>
        </p:nvSpPr>
        <p:spPr>
          <a:xfrm>
            <a:off x="4571421" y="3165750"/>
            <a:ext cx="1686600" cy="48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1200"/>
              <a:t>Local Software</a:t>
            </a:r>
            <a:endParaRPr sz="1200"/>
          </a:p>
        </p:txBody>
      </p:sp>
      <p:sp>
        <p:nvSpPr>
          <p:cNvPr id="1024" name="Google Shape;1024;p62"/>
          <p:cNvSpPr/>
          <p:nvPr/>
        </p:nvSpPr>
        <p:spPr>
          <a:xfrm>
            <a:off x="4504150" y="3769838"/>
            <a:ext cx="760800" cy="41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sz="1100"/>
              <a:t>VAD </a:t>
            </a:r>
            <a:endParaRPr sz="1100"/>
          </a:p>
          <a:p>
            <a:pPr indent="0" lvl="0" marL="0" rtl="0" algn="ctr">
              <a:spcBef>
                <a:spcPts val="0"/>
              </a:spcBef>
              <a:spcAft>
                <a:spcPts val="0"/>
              </a:spcAft>
              <a:buNone/>
            </a:pPr>
            <a:r>
              <a:rPr lang="el" sz="1100"/>
              <a:t>Module</a:t>
            </a:r>
            <a:endParaRPr sz="1100"/>
          </a:p>
        </p:txBody>
      </p:sp>
      <p:sp>
        <p:nvSpPr>
          <p:cNvPr id="1025" name="Google Shape;1025;p62"/>
          <p:cNvSpPr/>
          <p:nvPr/>
        </p:nvSpPr>
        <p:spPr>
          <a:xfrm>
            <a:off x="4657575" y="4392750"/>
            <a:ext cx="1633500" cy="41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t>Frontend Code</a:t>
            </a:r>
            <a:endParaRPr/>
          </a:p>
        </p:txBody>
      </p:sp>
      <p:sp>
        <p:nvSpPr>
          <p:cNvPr id="1026" name="Google Shape;1026;p62"/>
          <p:cNvSpPr/>
          <p:nvPr/>
        </p:nvSpPr>
        <p:spPr>
          <a:xfrm>
            <a:off x="5440300" y="3769838"/>
            <a:ext cx="1005000" cy="41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sz="1100"/>
              <a:t>Microphone</a:t>
            </a:r>
            <a:endParaRPr sz="1100"/>
          </a:p>
        </p:txBody>
      </p:sp>
      <p:cxnSp>
        <p:nvCxnSpPr>
          <p:cNvPr id="1027" name="Google Shape;1027;p62"/>
          <p:cNvCxnSpPr>
            <a:stCxn id="1026" idx="1"/>
            <a:endCxn id="1024" idx="3"/>
          </p:cNvCxnSpPr>
          <p:nvPr/>
        </p:nvCxnSpPr>
        <p:spPr>
          <a:xfrm rot="10800000">
            <a:off x="5265100" y="3978788"/>
            <a:ext cx="175200" cy="0"/>
          </a:xfrm>
          <a:prstGeom prst="straightConnector1">
            <a:avLst/>
          </a:prstGeom>
          <a:noFill/>
          <a:ln cap="flat" cmpd="sng" w="19050">
            <a:solidFill>
              <a:schemeClr val="dk2"/>
            </a:solidFill>
            <a:prstDash val="solid"/>
            <a:round/>
            <a:headEnd len="med" w="med" type="none"/>
            <a:tailEnd len="med" w="med" type="triangle"/>
          </a:ln>
        </p:spPr>
      </p:cxnSp>
      <p:sp>
        <p:nvSpPr>
          <p:cNvPr id="1028" name="Google Shape;1028;p62"/>
          <p:cNvSpPr txBox="1"/>
          <p:nvPr/>
        </p:nvSpPr>
        <p:spPr>
          <a:xfrm>
            <a:off x="6905750" y="3494375"/>
            <a:ext cx="14433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Voice </a:t>
            </a:r>
            <a:endParaRPr/>
          </a:p>
          <a:p>
            <a:pPr indent="0" lvl="0" marL="0" rtl="0" algn="l">
              <a:spcBef>
                <a:spcPts val="0"/>
              </a:spcBef>
              <a:spcAft>
                <a:spcPts val="0"/>
              </a:spcAft>
              <a:buNone/>
            </a:pPr>
            <a:r>
              <a:rPr lang="el"/>
              <a:t>Detection and</a:t>
            </a:r>
            <a:endParaRPr/>
          </a:p>
          <a:p>
            <a:pPr indent="0" lvl="0" marL="0" rtl="0" algn="l">
              <a:spcBef>
                <a:spcPts val="0"/>
              </a:spcBef>
              <a:spcAft>
                <a:spcPts val="0"/>
              </a:spcAft>
              <a:buNone/>
            </a:pPr>
            <a:r>
              <a:rPr lang="el"/>
              <a:t>Classification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First things first. What is an API?</a:t>
            </a:r>
            <a:endParaRPr/>
          </a:p>
        </p:txBody>
      </p:sp>
      <p:sp>
        <p:nvSpPr>
          <p:cNvPr id="1034" name="Google Shape;1034;p63"/>
          <p:cNvSpPr txBox="1"/>
          <p:nvPr/>
        </p:nvSpPr>
        <p:spPr>
          <a:xfrm>
            <a:off x="174125" y="1017725"/>
            <a:ext cx="8331300" cy="17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solidFill>
                  <a:srgbClr val="FF00FF"/>
                </a:solidFill>
              </a:rPr>
              <a:t>Definition:</a:t>
            </a:r>
            <a:endParaRPr sz="1200">
              <a:solidFill>
                <a:srgbClr val="FF00FF"/>
              </a:solidFill>
            </a:endParaRPr>
          </a:p>
          <a:p>
            <a:pPr indent="0" lvl="0" marL="0" rtl="0" algn="l">
              <a:spcBef>
                <a:spcPts val="0"/>
              </a:spcBef>
              <a:spcAft>
                <a:spcPts val="0"/>
              </a:spcAft>
              <a:buNone/>
            </a:pPr>
            <a:r>
              <a:rPr lang="el" sz="1200"/>
              <a:t>Application Programming Interface (API) is a set of rules by which different software applications can communicate with each other!</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l" sz="1200">
                <a:solidFill>
                  <a:srgbClr val="FF00FF"/>
                </a:solidFill>
              </a:rPr>
              <a:t>Analogy:</a:t>
            </a:r>
            <a:endParaRPr sz="1200">
              <a:solidFill>
                <a:srgbClr val="FF00FF"/>
              </a:solidFill>
            </a:endParaRPr>
          </a:p>
          <a:p>
            <a:pPr indent="0" lvl="0" marL="0" rtl="0" algn="l">
              <a:spcBef>
                <a:spcPts val="0"/>
              </a:spcBef>
              <a:spcAft>
                <a:spcPts val="0"/>
              </a:spcAft>
              <a:buNone/>
            </a:pPr>
            <a:r>
              <a:rPr lang="el" sz="1200"/>
              <a:t>Think of an API as a waiter in a restaurant. You (the Customer) make a </a:t>
            </a:r>
            <a:r>
              <a:rPr lang="el" sz="1200" u="sng"/>
              <a:t>request</a:t>
            </a:r>
            <a:r>
              <a:rPr lang="el" sz="1200"/>
              <a:t> for a dish, the waiter(the API) takes the request to the kitchen (the System), and then he brings the dish to you.</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l" sz="1200">
                <a:solidFill>
                  <a:srgbClr val="FF00FF"/>
                </a:solidFill>
              </a:rPr>
              <a:t>Examples</a:t>
            </a:r>
            <a:endParaRPr sz="1200">
              <a:solidFill>
                <a:srgbClr val="FF00FF"/>
              </a:solidFill>
            </a:endParaRPr>
          </a:p>
        </p:txBody>
      </p:sp>
      <p:pic>
        <p:nvPicPr>
          <p:cNvPr id="1035" name="Google Shape;1035;p63"/>
          <p:cNvPicPr preferRelativeResize="0"/>
          <p:nvPr/>
        </p:nvPicPr>
        <p:blipFill>
          <a:blip r:embed="rId3">
            <a:alphaModFix/>
          </a:blip>
          <a:stretch>
            <a:fillRect/>
          </a:stretch>
        </p:blipFill>
        <p:spPr>
          <a:xfrm>
            <a:off x="133950" y="3505656"/>
            <a:ext cx="2940150" cy="1563919"/>
          </a:xfrm>
          <a:prstGeom prst="rect">
            <a:avLst/>
          </a:prstGeom>
          <a:noFill/>
          <a:ln>
            <a:noFill/>
          </a:ln>
        </p:spPr>
      </p:pic>
      <p:pic>
        <p:nvPicPr>
          <p:cNvPr id="1036" name="Google Shape;1036;p63"/>
          <p:cNvPicPr preferRelativeResize="0"/>
          <p:nvPr/>
        </p:nvPicPr>
        <p:blipFill>
          <a:blip r:embed="rId4">
            <a:alphaModFix/>
          </a:blip>
          <a:stretch>
            <a:fillRect/>
          </a:stretch>
        </p:blipFill>
        <p:spPr>
          <a:xfrm>
            <a:off x="5063250" y="3784400"/>
            <a:ext cx="3802549" cy="1245000"/>
          </a:xfrm>
          <a:prstGeom prst="rect">
            <a:avLst/>
          </a:prstGeom>
          <a:noFill/>
          <a:ln>
            <a:noFill/>
          </a:ln>
        </p:spPr>
      </p:pic>
      <p:sp>
        <p:nvSpPr>
          <p:cNvPr id="1037" name="Google Shape;1037;p63"/>
          <p:cNvSpPr txBox="1"/>
          <p:nvPr/>
        </p:nvSpPr>
        <p:spPr>
          <a:xfrm>
            <a:off x="107150" y="2846088"/>
            <a:ext cx="2323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With Twitter API you interact with Twitter data. Make request to make or get a tweet</a:t>
            </a:r>
            <a:endParaRPr sz="1100"/>
          </a:p>
        </p:txBody>
      </p:sp>
      <p:sp>
        <p:nvSpPr>
          <p:cNvPr id="1038" name="Google Shape;1038;p63"/>
          <p:cNvSpPr txBox="1"/>
          <p:nvPr/>
        </p:nvSpPr>
        <p:spPr>
          <a:xfrm>
            <a:off x="5094975" y="2846100"/>
            <a:ext cx="2323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With Google Maps API you retrieve data from Google Maps</a:t>
            </a:r>
            <a:endParaRPr sz="11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APIs in the ML world</a:t>
            </a:r>
            <a:endParaRPr/>
          </a:p>
        </p:txBody>
      </p:sp>
      <p:sp>
        <p:nvSpPr>
          <p:cNvPr id="1044" name="Google Shape;1044;p64"/>
          <p:cNvSpPr txBox="1"/>
          <p:nvPr/>
        </p:nvSpPr>
        <p:spPr>
          <a:xfrm>
            <a:off x="408525" y="1125150"/>
            <a:ext cx="8472000" cy="11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APIs bridge model implementations to applications!</a:t>
            </a:r>
            <a:endParaRPr>
              <a:solidFill>
                <a:srgbClr val="FF00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l"/>
              <a:t>In simple terms it allows the integration of (pretrained) ML models (or other components) into application systems.</a:t>
            </a:r>
            <a:endParaRPr/>
          </a:p>
          <a:p>
            <a:pPr indent="0" lvl="0" marL="0" rtl="0" algn="l">
              <a:spcBef>
                <a:spcPts val="0"/>
              </a:spcBef>
              <a:spcAft>
                <a:spcPts val="0"/>
              </a:spcAft>
              <a:buNone/>
            </a:pPr>
            <a:r>
              <a:t/>
            </a:r>
            <a:endParaRPr/>
          </a:p>
        </p:txBody>
      </p:sp>
      <p:sp>
        <p:nvSpPr>
          <p:cNvPr id="1045" name="Google Shape;1045;p64"/>
          <p:cNvSpPr txBox="1"/>
          <p:nvPr/>
        </p:nvSpPr>
        <p:spPr>
          <a:xfrm>
            <a:off x="535775" y="2169925"/>
            <a:ext cx="2859900" cy="19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1200">
                <a:solidFill>
                  <a:srgbClr val="FF00FF"/>
                </a:solidFill>
              </a:rPr>
              <a:t>Scenario 1:</a:t>
            </a:r>
            <a:endParaRPr sz="1200">
              <a:solidFill>
                <a:srgbClr val="FF00FF"/>
              </a:solidFill>
            </a:endParaRPr>
          </a:p>
          <a:p>
            <a:pPr indent="0" lvl="0" marL="0" rtl="0" algn="ctr">
              <a:spcBef>
                <a:spcPts val="0"/>
              </a:spcBef>
              <a:spcAft>
                <a:spcPts val="0"/>
              </a:spcAft>
              <a:buNone/>
            </a:pPr>
            <a:r>
              <a:t/>
            </a:r>
            <a:endParaRPr sz="1200"/>
          </a:p>
          <a:p>
            <a:pPr indent="0" lvl="0" marL="0" rtl="0" algn="l">
              <a:spcBef>
                <a:spcPts val="0"/>
              </a:spcBef>
              <a:spcAft>
                <a:spcPts val="0"/>
              </a:spcAft>
              <a:buNone/>
            </a:pPr>
            <a:r>
              <a:rPr lang="el" sz="1200"/>
              <a:t>A retail company has developed a demand forecasting model. Through an API, this model can be integrated into the company's inventory management system to help automate re-stocking decisions.</a:t>
            </a:r>
            <a:endParaRPr sz="1200"/>
          </a:p>
        </p:txBody>
      </p:sp>
      <p:sp>
        <p:nvSpPr>
          <p:cNvPr id="1046" name="Google Shape;1046;p64"/>
          <p:cNvSpPr txBox="1"/>
          <p:nvPr/>
        </p:nvSpPr>
        <p:spPr>
          <a:xfrm>
            <a:off x="4512300" y="2116350"/>
            <a:ext cx="2859900" cy="190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1200">
                <a:solidFill>
                  <a:srgbClr val="FF00FF"/>
                </a:solidFill>
              </a:rPr>
              <a:t>Scenario 2:</a:t>
            </a:r>
            <a:endParaRPr sz="1200">
              <a:solidFill>
                <a:srgbClr val="FF00FF"/>
              </a:solidFill>
            </a:endParaRPr>
          </a:p>
          <a:p>
            <a:pPr indent="0" lvl="0" marL="0" rtl="0" algn="ctr">
              <a:spcBef>
                <a:spcPts val="0"/>
              </a:spcBef>
              <a:spcAft>
                <a:spcPts val="0"/>
              </a:spcAft>
              <a:buNone/>
            </a:pPr>
            <a:r>
              <a:t/>
            </a:r>
            <a:endParaRPr sz="1200"/>
          </a:p>
          <a:p>
            <a:pPr indent="0" lvl="0" marL="0" rtl="0" algn="l">
              <a:spcBef>
                <a:spcPts val="0"/>
              </a:spcBef>
              <a:spcAft>
                <a:spcPts val="0"/>
              </a:spcAft>
              <a:buNone/>
            </a:pPr>
            <a:r>
              <a:rPr lang="el" sz="1200"/>
              <a:t>A financial services firm has multiple ML models for fraud detection, risk assessment, etc. APIs enable these models to work in parallel or be accessed by various internal or external systems.</a:t>
            </a:r>
            <a:endParaRPr sz="1200"/>
          </a:p>
        </p:txBody>
      </p:sp>
      <p:pic>
        <p:nvPicPr>
          <p:cNvPr id="1047" name="Google Shape;1047;p64"/>
          <p:cNvPicPr preferRelativeResize="0"/>
          <p:nvPr/>
        </p:nvPicPr>
        <p:blipFill rotWithShape="1">
          <a:blip r:embed="rId3">
            <a:alphaModFix/>
          </a:blip>
          <a:srcRect b="14092" l="0" r="0" t="7223"/>
          <a:stretch/>
        </p:blipFill>
        <p:spPr>
          <a:xfrm>
            <a:off x="2440775" y="3787175"/>
            <a:ext cx="4152999" cy="13563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APIs run modern applications</a:t>
            </a:r>
            <a:endParaRPr/>
          </a:p>
        </p:txBody>
      </p:sp>
      <p:pic>
        <p:nvPicPr>
          <p:cNvPr id="1053" name="Google Shape;1053;p65"/>
          <p:cNvPicPr preferRelativeResize="0"/>
          <p:nvPr/>
        </p:nvPicPr>
        <p:blipFill>
          <a:blip r:embed="rId3">
            <a:alphaModFix/>
          </a:blip>
          <a:stretch>
            <a:fillRect/>
          </a:stretch>
        </p:blipFill>
        <p:spPr>
          <a:xfrm>
            <a:off x="2971950" y="1183500"/>
            <a:ext cx="2927335" cy="38209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APIs run modern applications</a:t>
            </a:r>
            <a:endParaRPr/>
          </a:p>
        </p:txBody>
      </p:sp>
      <p:sp>
        <p:nvSpPr>
          <p:cNvPr id="1059" name="Google Shape;1059;p66"/>
          <p:cNvSpPr txBox="1"/>
          <p:nvPr/>
        </p:nvSpPr>
        <p:spPr>
          <a:xfrm>
            <a:off x="0" y="1017725"/>
            <a:ext cx="5183700" cy="5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Why? </a:t>
            </a:r>
            <a:endParaRPr/>
          </a:p>
          <a:p>
            <a:pPr indent="0" lvl="0" marL="0" rtl="0" algn="l">
              <a:spcBef>
                <a:spcPts val="0"/>
              </a:spcBef>
              <a:spcAft>
                <a:spcPts val="0"/>
              </a:spcAft>
              <a:buNone/>
            </a:pPr>
            <a:r>
              <a:rPr lang="el"/>
              <a:t>Simple API calls to Large Pretrained Models make cool startups!</a:t>
            </a:r>
            <a:endParaRPr/>
          </a:p>
        </p:txBody>
      </p:sp>
      <p:pic>
        <p:nvPicPr>
          <p:cNvPr id="1060" name="Google Shape;1060;p66"/>
          <p:cNvPicPr preferRelativeResize="0"/>
          <p:nvPr/>
        </p:nvPicPr>
        <p:blipFill rotWithShape="1">
          <a:blip r:embed="rId3">
            <a:alphaModFix/>
          </a:blip>
          <a:srcRect b="0" l="0" r="12111" t="0"/>
          <a:stretch/>
        </p:blipFill>
        <p:spPr>
          <a:xfrm>
            <a:off x="0" y="2277050"/>
            <a:ext cx="4471925" cy="1624350"/>
          </a:xfrm>
          <a:prstGeom prst="rect">
            <a:avLst/>
          </a:prstGeom>
          <a:noFill/>
          <a:ln>
            <a:noFill/>
          </a:ln>
        </p:spPr>
      </p:pic>
      <p:sp>
        <p:nvSpPr>
          <p:cNvPr id="1061" name="Google Shape;1061;p66"/>
          <p:cNvSpPr txBox="1"/>
          <p:nvPr/>
        </p:nvSpPr>
        <p:spPr>
          <a:xfrm>
            <a:off x="133950" y="1942175"/>
            <a:ext cx="4065300" cy="2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API call to Zephyr-7b from Hugging Face</a:t>
            </a:r>
            <a:endParaRPr/>
          </a:p>
        </p:txBody>
      </p:sp>
      <p:pic>
        <p:nvPicPr>
          <p:cNvPr id="1062" name="Google Shape;1062;p66"/>
          <p:cNvPicPr preferRelativeResize="0"/>
          <p:nvPr/>
        </p:nvPicPr>
        <p:blipFill>
          <a:blip r:embed="rId4">
            <a:alphaModFix/>
          </a:blip>
          <a:stretch>
            <a:fillRect/>
          </a:stretch>
        </p:blipFill>
        <p:spPr>
          <a:xfrm>
            <a:off x="5940475" y="1350625"/>
            <a:ext cx="3130125" cy="3761050"/>
          </a:xfrm>
          <a:prstGeom prst="rect">
            <a:avLst/>
          </a:prstGeom>
          <a:noFill/>
          <a:ln>
            <a:noFill/>
          </a:ln>
        </p:spPr>
      </p:pic>
      <p:sp>
        <p:nvSpPr>
          <p:cNvPr id="1063" name="Google Shape;1063;p66"/>
          <p:cNvSpPr txBox="1"/>
          <p:nvPr/>
        </p:nvSpPr>
        <p:spPr>
          <a:xfrm>
            <a:off x="6012525" y="1017725"/>
            <a:ext cx="2673900" cy="27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API call to gpt-3 from openAI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 why APIs for deployment?</a:t>
            </a:r>
            <a:endParaRPr/>
          </a:p>
        </p:txBody>
      </p:sp>
      <p:sp>
        <p:nvSpPr>
          <p:cNvPr id="1069" name="Google Shape;1069;p67"/>
          <p:cNvSpPr txBox="1"/>
          <p:nvPr/>
        </p:nvSpPr>
        <p:spPr>
          <a:xfrm>
            <a:off x="164375" y="1533675"/>
            <a:ext cx="5514900" cy="2491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Assume you have trained a predictive model for real estate price estimation.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You have packaged your model and is ready for deployment</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Another team is responsible for developing a web application where users estimate the price of their property!</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l"/>
              <a:t>You need to create a robust API for your model so the second team can integrate it into their application!!</a:t>
            </a:r>
            <a:endParaRPr/>
          </a:p>
          <a:p>
            <a:pPr indent="0" lvl="0" marL="0" rtl="0" algn="l">
              <a:spcBef>
                <a:spcPts val="0"/>
              </a:spcBef>
              <a:spcAft>
                <a:spcPts val="0"/>
              </a:spcAft>
              <a:buNone/>
            </a:pPr>
            <a:r>
              <a:t/>
            </a:r>
            <a:endParaRPr/>
          </a:p>
        </p:txBody>
      </p:sp>
      <p:pic>
        <p:nvPicPr>
          <p:cNvPr id="1070" name="Google Shape;1070;p67"/>
          <p:cNvPicPr preferRelativeResize="0"/>
          <p:nvPr/>
        </p:nvPicPr>
        <p:blipFill>
          <a:blip r:embed="rId3">
            <a:alphaModFix/>
          </a:blip>
          <a:stretch>
            <a:fillRect/>
          </a:stretch>
        </p:blipFill>
        <p:spPr>
          <a:xfrm>
            <a:off x="5831675" y="1170125"/>
            <a:ext cx="3159925" cy="3180444"/>
          </a:xfrm>
          <a:prstGeom prst="rect">
            <a:avLst/>
          </a:prstGeom>
          <a:noFill/>
          <a:ln>
            <a:noFill/>
          </a:ln>
        </p:spPr>
      </p:pic>
      <p:sp>
        <p:nvSpPr>
          <p:cNvPr id="1071" name="Google Shape;1071;p67"/>
          <p:cNvSpPr/>
          <p:nvPr/>
        </p:nvSpPr>
        <p:spPr>
          <a:xfrm>
            <a:off x="6584000" y="2474100"/>
            <a:ext cx="1383600" cy="2058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68"/>
          <p:cNvSpPr txBox="1"/>
          <p:nvPr/>
        </p:nvSpPr>
        <p:spPr>
          <a:xfrm>
            <a:off x="198425" y="1355100"/>
            <a:ext cx="4823400" cy="378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Definition</a:t>
            </a:r>
            <a:endParaRPr sz="1600"/>
          </a:p>
          <a:p>
            <a:pPr indent="-330200" lvl="0" marL="457200" rtl="0" algn="l">
              <a:spcBef>
                <a:spcPts val="0"/>
              </a:spcBef>
              <a:spcAft>
                <a:spcPts val="0"/>
              </a:spcAft>
              <a:buSzPts val="1600"/>
              <a:buChar char="●"/>
            </a:pPr>
            <a:r>
              <a:rPr lang="el" sz="1600"/>
              <a:t>FastAPI is a user-friendly framework for creating APIs with python.</a:t>
            </a:r>
            <a:endParaRPr sz="1600"/>
          </a:p>
          <a:p>
            <a:pPr indent="-330200" lvl="0" marL="457200" rtl="0" algn="l">
              <a:spcBef>
                <a:spcPts val="0"/>
              </a:spcBef>
              <a:spcAft>
                <a:spcPts val="0"/>
              </a:spcAft>
              <a:buSzPts val="1600"/>
              <a:buChar char="●"/>
            </a:pPr>
            <a:r>
              <a:rPr lang="el" sz="1600"/>
              <a:t>Its designed to be fast, easy to use and production-ready.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In simple terms it accelerates the </a:t>
            </a:r>
            <a:r>
              <a:rPr lang="el" sz="1600"/>
              <a:t>backend</a:t>
            </a:r>
            <a:r>
              <a:rPr lang="el" sz="1600"/>
              <a:t> development of a website using Python.</a:t>
            </a:r>
            <a:endParaRPr sz="1600"/>
          </a:p>
        </p:txBody>
      </p:sp>
      <p:sp>
        <p:nvSpPr>
          <p:cNvPr id="1077" name="Google Shape;1077;p68"/>
          <p:cNvSpPr txBox="1"/>
          <p:nvPr/>
        </p:nvSpPr>
        <p:spPr>
          <a:xfrm>
            <a:off x="311700" y="3851125"/>
            <a:ext cx="32781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Clear documentation for FastAPI: </a:t>
            </a:r>
            <a:r>
              <a:rPr lang="el" u="sng">
                <a:solidFill>
                  <a:schemeClr val="hlink"/>
                </a:solidFill>
                <a:hlinkClick r:id="rId3"/>
              </a:rPr>
              <a:t>here</a:t>
            </a:r>
            <a:endParaRPr/>
          </a:p>
        </p:txBody>
      </p:sp>
      <p:sp>
        <p:nvSpPr>
          <p:cNvPr id="1078" name="Google Shape;107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Enter FastAPI</a:t>
            </a:r>
            <a:endParaRPr/>
          </a:p>
        </p:txBody>
      </p:sp>
      <p:pic>
        <p:nvPicPr>
          <p:cNvPr id="1079" name="Google Shape;1079;p68"/>
          <p:cNvPicPr preferRelativeResize="0"/>
          <p:nvPr/>
        </p:nvPicPr>
        <p:blipFill>
          <a:blip r:embed="rId4">
            <a:alphaModFix/>
          </a:blip>
          <a:stretch>
            <a:fillRect/>
          </a:stretch>
        </p:blipFill>
        <p:spPr>
          <a:xfrm>
            <a:off x="5403550" y="8"/>
            <a:ext cx="3292226" cy="1646125"/>
          </a:xfrm>
          <a:prstGeom prst="rect">
            <a:avLst/>
          </a:prstGeom>
          <a:noFill/>
          <a:ln>
            <a:noFill/>
          </a:ln>
        </p:spPr>
      </p:pic>
      <p:pic>
        <p:nvPicPr>
          <p:cNvPr id="1080" name="Google Shape;1080;p68"/>
          <p:cNvPicPr preferRelativeResize="0"/>
          <p:nvPr/>
        </p:nvPicPr>
        <p:blipFill>
          <a:blip r:embed="rId5">
            <a:alphaModFix/>
          </a:blip>
          <a:stretch>
            <a:fillRect/>
          </a:stretch>
        </p:blipFill>
        <p:spPr>
          <a:xfrm>
            <a:off x="5060375" y="1751633"/>
            <a:ext cx="3817373" cy="27737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FastAPI?</a:t>
            </a:r>
            <a:endParaRPr/>
          </a:p>
        </p:txBody>
      </p:sp>
      <p:graphicFrame>
        <p:nvGraphicFramePr>
          <p:cNvPr id="1086" name="Google Shape;1086;p69"/>
          <p:cNvGraphicFramePr/>
          <p:nvPr/>
        </p:nvGraphicFramePr>
        <p:xfrm>
          <a:off x="952500" y="1741150"/>
          <a:ext cx="3000000" cy="3000000"/>
        </p:xfrm>
        <a:graphic>
          <a:graphicData uri="http://schemas.openxmlformats.org/drawingml/2006/table">
            <a:tbl>
              <a:tblPr>
                <a:noFill/>
                <a:tableStyleId>{AA45AE19-1236-4AD8-867F-5F50ACB620E5}</a:tableStyleId>
              </a:tblPr>
              <a:tblGrid>
                <a:gridCol w="2413000"/>
                <a:gridCol w="2413000"/>
                <a:gridCol w="2413000"/>
              </a:tblGrid>
              <a:tr h="381000">
                <a:tc>
                  <a:txBody>
                    <a:bodyPr/>
                    <a:lstStyle/>
                    <a:p>
                      <a:pPr indent="0" lvl="0" marL="0" rtl="0" algn="l">
                        <a:spcBef>
                          <a:spcPts val="0"/>
                        </a:spcBef>
                        <a:spcAft>
                          <a:spcPts val="0"/>
                        </a:spcAft>
                        <a:buNone/>
                      </a:pPr>
                      <a:r>
                        <a:rPr b="1" lang="el"/>
                        <a:t>Features</a:t>
                      </a:r>
                      <a:endParaRPr b="1"/>
                    </a:p>
                  </a:txBody>
                  <a:tcPr marT="91425" marB="91425" marR="91425" marL="91425"/>
                </a:tc>
                <a:tc>
                  <a:txBody>
                    <a:bodyPr/>
                    <a:lstStyle/>
                    <a:p>
                      <a:pPr indent="0" lvl="0" marL="0" rtl="0" algn="l">
                        <a:spcBef>
                          <a:spcPts val="0"/>
                        </a:spcBef>
                        <a:spcAft>
                          <a:spcPts val="0"/>
                        </a:spcAft>
                        <a:buNone/>
                      </a:pPr>
                      <a:r>
                        <a:rPr b="1" lang="el"/>
                        <a:t>FastAPI</a:t>
                      </a:r>
                      <a:endParaRPr b="1"/>
                    </a:p>
                  </a:txBody>
                  <a:tcPr marT="91425" marB="91425" marR="91425" marL="91425"/>
                </a:tc>
                <a:tc>
                  <a:txBody>
                    <a:bodyPr/>
                    <a:lstStyle/>
                    <a:p>
                      <a:pPr indent="0" lvl="0" marL="0" rtl="0" algn="l">
                        <a:spcBef>
                          <a:spcPts val="0"/>
                        </a:spcBef>
                        <a:spcAft>
                          <a:spcPts val="0"/>
                        </a:spcAft>
                        <a:buNone/>
                      </a:pPr>
                      <a:r>
                        <a:rPr b="1" lang="el"/>
                        <a:t>Flask</a:t>
                      </a:r>
                      <a:endParaRPr b="1"/>
                    </a:p>
                  </a:txBody>
                  <a:tcPr marT="91425" marB="91425" marR="91425" marL="91425"/>
                </a:tc>
              </a:tr>
              <a:tr h="381000">
                <a:tc>
                  <a:txBody>
                    <a:bodyPr/>
                    <a:lstStyle/>
                    <a:p>
                      <a:pPr indent="0" lvl="0" marL="0" rtl="0" algn="l">
                        <a:spcBef>
                          <a:spcPts val="0"/>
                        </a:spcBef>
                        <a:spcAft>
                          <a:spcPts val="0"/>
                        </a:spcAft>
                        <a:buNone/>
                      </a:pPr>
                      <a:r>
                        <a:rPr lang="el">
                          <a:solidFill>
                            <a:srgbClr val="FF0000"/>
                          </a:solidFill>
                        </a:rPr>
                        <a:t>Ease of Learning</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l"/>
                        <a:t>Intuitive with automatic interactive documentation</a:t>
                      </a:r>
                      <a:endParaRPr/>
                    </a:p>
                  </a:txBody>
                  <a:tcPr marT="91425" marB="91425" marR="91425" marL="91425"/>
                </a:tc>
                <a:tc>
                  <a:txBody>
                    <a:bodyPr/>
                    <a:lstStyle/>
                    <a:p>
                      <a:pPr indent="0" lvl="0" marL="0" rtl="0" algn="l">
                        <a:spcBef>
                          <a:spcPts val="0"/>
                        </a:spcBef>
                        <a:spcAft>
                          <a:spcPts val="0"/>
                        </a:spcAft>
                        <a:buNone/>
                      </a:pPr>
                      <a:r>
                        <a:rPr lang="el"/>
                        <a:t>Simple and beginner Friendly</a:t>
                      </a:r>
                      <a:endParaRPr/>
                    </a:p>
                  </a:txBody>
                  <a:tcPr marT="91425" marB="91425" marR="91425" marL="91425"/>
                </a:tc>
              </a:tr>
              <a:tr h="381000">
                <a:tc>
                  <a:txBody>
                    <a:bodyPr/>
                    <a:lstStyle/>
                    <a:p>
                      <a:pPr indent="0" lvl="0" marL="0" rtl="0" algn="l">
                        <a:spcBef>
                          <a:spcPts val="0"/>
                        </a:spcBef>
                        <a:spcAft>
                          <a:spcPts val="0"/>
                        </a:spcAft>
                        <a:buNone/>
                      </a:pPr>
                      <a:r>
                        <a:rPr lang="el">
                          <a:solidFill>
                            <a:srgbClr val="FF0000"/>
                          </a:solidFill>
                        </a:rPr>
                        <a:t>Performance</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l"/>
                        <a:t>Faster execution due to type checking</a:t>
                      </a:r>
                      <a:endParaRPr/>
                    </a:p>
                  </a:txBody>
                  <a:tcPr marT="91425" marB="91425" marR="91425" marL="91425"/>
                </a:tc>
                <a:tc>
                  <a:txBody>
                    <a:bodyPr/>
                    <a:lstStyle/>
                    <a:p>
                      <a:pPr indent="0" lvl="0" marL="0" rtl="0" algn="l">
                        <a:spcBef>
                          <a:spcPts val="0"/>
                        </a:spcBef>
                        <a:spcAft>
                          <a:spcPts val="0"/>
                        </a:spcAft>
                        <a:buNone/>
                      </a:pPr>
                      <a:r>
                        <a:rPr lang="el"/>
                        <a:t>Good but slower than FastAPI</a:t>
                      </a:r>
                      <a:endParaRPr/>
                    </a:p>
                  </a:txBody>
                  <a:tcPr marT="91425" marB="91425" marR="91425" marL="91425"/>
                </a:tc>
              </a:tr>
              <a:tr h="381000">
                <a:tc>
                  <a:txBody>
                    <a:bodyPr/>
                    <a:lstStyle/>
                    <a:p>
                      <a:pPr indent="0" lvl="0" marL="0" rtl="0" algn="l">
                        <a:spcBef>
                          <a:spcPts val="0"/>
                        </a:spcBef>
                        <a:spcAft>
                          <a:spcPts val="0"/>
                        </a:spcAft>
                        <a:buNone/>
                      </a:pPr>
                      <a:r>
                        <a:rPr lang="el">
                          <a:solidFill>
                            <a:srgbClr val="FF0000"/>
                          </a:solidFill>
                        </a:rPr>
                        <a:t>Data Validation</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l"/>
                        <a:t>Automatic validation</a:t>
                      </a:r>
                      <a:endParaRPr/>
                    </a:p>
                  </a:txBody>
                  <a:tcPr marT="91425" marB="91425" marR="91425" marL="91425"/>
                </a:tc>
                <a:tc>
                  <a:txBody>
                    <a:bodyPr/>
                    <a:lstStyle/>
                    <a:p>
                      <a:pPr indent="0" lvl="0" marL="0" rtl="0" algn="l">
                        <a:spcBef>
                          <a:spcPts val="0"/>
                        </a:spcBef>
                        <a:spcAft>
                          <a:spcPts val="0"/>
                        </a:spcAft>
                        <a:buNone/>
                      </a:pPr>
                      <a:r>
                        <a:rPr lang="el"/>
                        <a:t>Manual setup required</a:t>
                      </a:r>
                      <a:endParaRPr/>
                    </a:p>
                  </a:txBody>
                  <a:tcPr marT="91425" marB="91425" marR="91425" marL="91425"/>
                </a:tc>
              </a:tr>
              <a:tr h="381000">
                <a:tc>
                  <a:txBody>
                    <a:bodyPr/>
                    <a:lstStyle/>
                    <a:p>
                      <a:pPr indent="0" lvl="0" marL="0" rtl="0" algn="l">
                        <a:spcBef>
                          <a:spcPts val="0"/>
                        </a:spcBef>
                        <a:spcAft>
                          <a:spcPts val="0"/>
                        </a:spcAft>
                        <a:buNone/>
                      </a:pPr>
                      <a:r>
                        <a:rPr lang="el">
                          <a:solidFill>
                            <a:srgbClr val="FF0000"/>
                          </a:solidFill>
                        </a:rPr>
                        <a:t>API Documentation</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l"/>
                        <a:t>Automatic generation</a:t>
                      </a:r>
                      <a:endParaRPr/>
                    </a:p>
                  </a:txBody>
                  <a:tcPr marT="91425" marB="91425" marR="91425" marL="91425"/>
                </a:tc>
                <a:tc>
                  <a:txBody>
                    <a:bodyPr/>
                    <a:lstStyle/>
                    <a:p>
                      <a:pPr indent="0" lvl="0" marL="0" rtl="0" algn="l">
                        <a:spcBef>
                          <a:spcPts val="0"/>
                        </a:spcBef>
                        <a:spcAft>
                          <a:spcPts val="0"/>
                        </a:spcAft>
                        <a:buNone/>
                      </a:pPr>
                      <a:r>
                        <a:rPr lang="el"/>
                        <a:t>Manual setup</a:t>
                      </a:r>
                      <a:endParaRPr/>
                    </a:p>
                  </a:txBody>
                  <a:tcPr marT="91425" marB="91425" marR="91425" marL="91425"/>
                </a:tc>
              </a:tr>
            </a:tbl>
          </a:graphicData>
        </a:graphic>
      </p:graphicFrame>
      <p:sp>
        <p:nvSpPr>
          <p:cNvPr id="1087" name="Google Shape;1087;p69"/>
          <p:cNvSpPr txBox="1"/>
          <p:nvPr/>
        </p:nvSpPr>
        <p:spPr>
          <a:xfrm>
            <a:off x="1133275" y="4230050"/>
            <a:ext cx="7053600" cy="7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We will be working with FastAPI because of its speed and easy of use.</a:t>
            </a:r>
            <a:endParaRPr/>
          </a:p>
          <a:p>
            <a:pPr indent="0" lvl="0" marL="0" rtl="0" algn="l">
              <a:spcBef>
                <a:spcPts val="0"/>
              </a:spcBef>
              <a:spcAft>
                <a:spcPts val="0"/>
              </a:spcAft>
              <a:buNone/>
            </a:pPr>
            <a:r>
              <a:rPr lang="el"/>
              <a:t>It aligns with our focus on building fast user-friendly APIs for AI applications.</a:t>
            </a:r>
            <a:endParaRPr/>
          </a:p>
        </p:txBody>
      </p:sp>
      <p:sp>
        <p:nvSpPr>
          <p:cNvPr id="1088" name="Google Shape;1088;p69"/>
          <p:cNvSpPr txBox="1"/>
          <p:nvPr/>
        </p:nvSpPr>
        <p:spPr>
          <a:xfrm>
            <a:off x="439800" y="1114850"/>
            <a:ext cx="4871100" cy="5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Flask is the most well framework for APIs, but: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to deploy a Scikit-Learn Model using FastAPI</a:t>
            </a:r>
            <a:endParaRPr/>
          </a:p>
        </p:txBody>
      </p:sp>
      <p:sp>
        <p:nvSpPr>
          <p:cNvPr id="1094" name="Google Shape;1094;p70"/>
          <p:cNvSpPr txBox="1"/>
          <p:nvPr/>
        </p:nvSpPr>
        <p:spPr>
          <a:xfrm>
            <a:off x="127250" y="1149175"/>
            <a:ext cx="16476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Step 1: Install libraries</a:t>
            </a:r>
            <a:endParaRPr sz="1100"/>
          </a:p>
        </p:txBody>
      </p:sp>
      <p:sp>
        <p:nvSpPr>
          <p:cNvPr id="1095" name="Google Shape;1095;p70"/>
          <p:cNvSpPr txBox="1"/>
          <p:nvPr/>
        </p:nvSpPr>
        <p:spPr>
          <a:xfrm>
            <a:off x="-48350" y="1927200"/>
            <a:ext cx="29163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Step 2: Train and save the model to a file</a:t>
            </a:r>
            <a:endParaRPr sz="1100"/>
          </a:p>
          <a:p>
            <a:pPr indent="0" lvl="0" marL="0" rtl="0" algn="l">
              <a:spcBef>
                <a:spcPts val="0"/>
              </a:spcBef>
              <a:spcAft>
                <a:spcPts val="0"/>
              </a:spcAft>
              <a:buNone/>
            </a:pPr>
            <a:r>
              <a:rPr lang="el" sz="1100"/>
              <a:t>(pickle is the go-to here)</a:t>
            </a:r>
            <a:endParaRPr sz="1100"/>
          </a:p>
        </p:txBody>
      </p:sp>
      <p:pic>
        <p:nvPicPr>
          <p:cNvPr id="1096" name="Google Shape;1096;p70"/>
          <p:cNvPicPr preferRelativeResize="0"/>
          <p:nvPr/>
        </p:nvPicPr>
        <p:blipFill>
          <a:blip r:embed="rId3">
            <a:alphaModFix/>
          </a:blip>
          <a:stretch>
            <a:fillRect/>
          </a:stretch>
        </p:blipFill>
        <p:spPr>
          <a:xfrm>
            <a:off x="8714" y="1481250"/>
            <a:ext cx="2802159" cy="370625"/>
          </a:xfrm>
          <a:prstGeom prst="rect">
            <a:avLst/>
          </a:prstGeom>
          <a:noFill/>
          <a:ln>
            <a:noFill/>
          </a:ln>
        </p:spPr>
      </p:pic>
      <p:pic>
        <p:nvPicPr>
          <p:cNvPr id="1097" name="Google Shape;1097;p70"/>
          <p:cNvPicPr preferRelativeResize="0"/>
          <p:nvPr/>
        </p:nvPicPr>
        <p:blipFill>
          <a:blip r:embed="rId4">
            <a:alphaModFix/>
          </a:blip>
          <a:stretch>
            <a:fillRect/>
          </a:stretch>
        </p:blipFill>
        <p:spPr>
          <a:xfrm>
            <a:off x="78900" y="2417725"/>
            <a:ext cx="2390925" cy="1460500"/>
          </a:xfrm>
          <a:prstGeom prst="rect">
            <a:avLst/>
          </a:prstGeom>
          <a:noFill/>
          <a:ln>
            <a:noFill/>
          </a:ln>
        </p:spPr>
      </p:pic>
      <p:sp>
        <p:nvSpPr>
          <p:cNvPr id="1098" name="Google Shape;1098;p70"/>
          <p:cNvSpPr txBox="1"/>
          <p:nvPr/>
        </p:nvSpPr>
        <p:spPr>
          <a:xfrm>
            <a:off x="2949800" y="1064600"/>
            <a:ext cx="26067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Step 3: Create a FastAPI application </a:t>
            </a:r>
            <a:endParaRPr sz="1100"/>
          </a:p>
          <a:p>
            <a:pPr indent="0" lvl="0" marL="0" rtl="0" algn="l">
              <a:spcBef>
                <a:spcPts val="0"/>
              </a:spcBef>
              <a:spcAft>
                <a:spcPts val="0"/>
              </a:spcAft>
              <a:buNone/>
            </a:pPr>
            <a:r>
              <a:rPr lang="el" sz="1100"/>
              <a:t>and define an endpoint to your API</a:t>
            </a:r>
            <a:endParaRPr sz="1100"/>
          </a:p>
        </p:txBody>
      </p:sp>
      <p:pic>
        <p:nvPicPr>
          <p:cNvPr id="1099" name="Google Shape;1099;p70"/>
          <p:cNvPicPr preferRelativeResize="0"/>
          <p:nvPr/>
        </p:nvPicPr>
        <p:blipFill>
          <a:blip r:embed="rId5">
            <a:alphaModFix/>
          </a:blip>
          <a:stretch>
            <a:fillRect/>
          </a:stretch>
        </p:blipFill>
        <p:spPr>
          <a:xfrm>
            <a:off x="3010100" y="1512641"/>
            <a:ext cx="2916299" cy="1354208"/>
          </a:xfrm>
          <a:prstGeom prst="rect">
            <a:avLst/>
          </a:prstGeom>
          <a:noFill/>
          <a:ln>
            <a:noFill/>
          </a:ln>
        </p:spPr>
      </p:pic>
      <p:sp>
        <p:nvSpPr>
          <p:cNvPr id="1100" name="Google Shape;1100;p70"/>
          <p:cNvSpPr txBox="1"/>
          <p:nvPr/>
        </p:nvSpPr>
        <p:spPr>
          <a:xfrm>
            <a:off x="6095875" y="1064600"/>
            <a:ext cx="26067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Step 4: Define a function that loads the model and makes predictions</a:t>
            </a:r>
            <a:endParaRPr sz="1100"/>
          </a:p>
        </p:txBody>
      </p:sp>
      <p:pic>
        <p:nvPicPr>
          <p:cNvPr id="1101" name="Google Shape;1101;p70"/>
          <p:cNvPicPr preferRelativeResize="0"/>
          <p:nvPr/>
        </p:nvPicPr>
        <p:blipFill>
          <a:blip r:embed="rId6">
            <a:alphaModFix/>
          </a:blip>
          <a:stretch>
            <a:fillRect/>
          </a:stretch>
        </p:blipFill>
        <p:spPr>
          <a:xfrm>
            <a:off x="6152428" y="1564375"/>
            <a:ext cx="2576975" cy="1285925"/>
          </a:xfrm>
          <a:prstGeom prst="rect">
            <a:avLst/>
          </a:prstGeom>
          <a:noFill/>
          <a:ln>
            <a:noFill/>
          </a:ln>
        </p:spPr>
      </p:pic>
      <p:sp>
        <p:nvSpPr>
          <p:cNvPr id="1102" name="Google Shape;1102;p70"/>
          <p:cNvSpPr txBox="1"/>
          <p:nvPr/>
        </p:nvSpPr>
        <p:spPr>
          <a:xfrm>
            <a:off x="2620188" y="2899700"/>
            <a:ext cx="31830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Step 5: Return the predictions in the API response</a:t>
            </a:r>
            <a:endParaRPr sz="1100"/>
          </a:p>
        </p:txBody>
      </p:sp>
      <p:pic>
        <p:nvPicPr>
          <p:cNvPr id="1103" name="Google Shape;1103;p70"/>
          <p:cNvPicPr preferRelativeResize="0"/>
          <p:nvPr/>
        </p:nvPicPr>
        <p:blipFill>
          <a:blip r:embed="rId7">
            <a:alphaModFix/>
          </a:blip>
          <a:stretch>
            <a:fillRect/>
          </a:stretch>
        </p:blipFill>
        <p:spPr>
          <a:xfrm>
            <a:off x="2660117" y="3321850"/>
            <a:ext cx="2982578" cy="1390650"/>
          </a:xfrm>
          <a:prstGeom prst="rect">
            <a:avLst/>
          </a:prstGeom>
          <a:noFill/>
          <a:ln>
            <a:noFill/>
          </a:ln>
        </p:spPr>
      </p:pic>
      <p:sp>
        <p:nvSpPr>
          <p:cNvPr id="1104" name="Google Shape;1104;p70"/>
          <p:cNvSpPr txBox="1"/>
          <p:nvPr/>
        </p:nvSpPr>
        <p:spPr>
          <a:xfrm>
            <a:off x="5807713" y="3139150"/>
            <a:ext cx="3183000" cy="41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Step 6: Send a POST request to your API</a:t>
            </a:r>
            <a:endParaRPr sz="1100"/>
          </a:p>
        </p:txBody>
      </p:sp>
      <p:pic>
        <p:nvPicPr>
          <p:cNvPr id="1105" name="Google Shape;1105;p70"/>
          <p:cNvPicPr preferRelativeResize="0"/>
          <p:nvPr/>
        </p:nvPicPr>
        <p:blipFill>
          <a:blip r:embed="rId8">
            <a:alphaModFix/>
          </a:blip>
          <a:stretch>
            <a:fillRect/>
          </a:stretch>
        </p:blipFill>
        <p:spPr>
          <a:xfrm>
            <a:off x="5741762" y="3495150"/>
            <a:ext cx="3398299" cy="2194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FastAPI and Docker</a:t>
            </a:r>
            <a:endParaRPr/>
          </a:p>
        </p:txBody>
      </p:sp>
      <p:sp>
        <p:nvSpPr>
          <p:cNvPr id="1111" name="Google Shape;1111;p71"/>
          <p:cNvSpPr txBox="1"/>
          <p:nvPr/>
        </p:nvSpPr>
        <p:spPr>
          <a:xfrm>
            <a:off x="127250" y="1390050"/>
            <a:ext cx="3797400" cy="236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FastAPI</a:t>
            </a:r>
            <a:r>
              <a:rPr lang="el" sz="1600"/>
              <a:t> is used for communicating with your model/database etc</a:t>
            </a:r>
            <a:endParaRPr sz="1600"/>
          </a:p>
          <a:p>
            <a:pPr indent="0" lvl="0" marL="0" rtl="0" algn="l">
              <a:lnSpc>
                <a:spcPct val="115000"/>
              </a:lnSpc>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Docker</a:t>
            </a:r>
            <a:r>
              <a:rPr lang="el" sz="1600"/>
              <a:t> ensures the application runs the same way everywhere by packaging it with all its dependencies</a:t>
            </a:r>
            <a:endParaRPr sz="1600"/>
          </a:p>
        </p:txBody>
      </p:sp>
      <p:pic>
        <p:nvPicPr>
          <p:cNvPr id="1112" name="Google Shape;1112;p71"/>
          <p:cNvPicPr preferRelativeResize="0"/>
          <p:nvPr/>
        </p:nvPicPr>
        <p:blipFill rotWithShape="1">
          <a:blip r:embed="rId3">
            <a:alphaModFix/>
          </a:blip>
          <a:srcRect b="0" l="3448" r="3093" t="0"/>
          <a:stretch/>
        </p:blipFill>
        <p:spPr>
          <a:xfrm>
            <a:off x="4306350" y="814975"/>
            <a:ext cx="4806249" cy="3008676"/>
          </a:xfrm>
          <a:prstGeom prst="rect">
            <a:avLst/>
          </a:prstGeom>
          <a:noFill/>
          <a:ln>
            <a:noFill/>
          </a:ln>
        </p:spPr>
      </p:pic>
      <p:sp>
        <p:nvSpPr>
          <p:cNvPr id="1113" name="Google Shape;1113;p71"/>
          <p:cNvSpPr txBox="1"/>
          <p:nvPr/>
        </p:nvSpPr>
        <p:spPr>
          <a:xfrm>
            <a:off x="127250" y="4022825"/>
            <a:ext cx="8942400" cy="6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By combining the two, you get a consistent environment offering easy deployment and scalability </a:t>
            </a:r>
            <a:endParaRPr sz="16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Combine Docker with FastAPI</a:t>
            </a:r>
            <a:endParaRPr/>
          </a:p>
        </p:txBody>
      </p:sp>
      <p:sp>
        <p:nvSpPr>
          <p:cNvPr id="1119" name="Google Shape;1119;p72"/>
          <p:cNvSpPr txBox="1"/>
          <p:nvPr/>
        </p:nvSpPr>
        <p:spPr>
          <a:xfrm>
            <a:off x="133925" y="1017725"/>
            <a:ext cx="3422400" cy="4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Assume you have already developed an API for your pretrained model</a:t>
            </a:r>
            <a:endParaRPr sz="1100"/>
          </a:p>
        </p:txBody>
      </p:sp>
      <p:pic>
        <p:nvPicPr>
          <p:cNvPr id="1120" name="Google Shape;1120;p72"/>
          <p:cNvPicPr preferRelativeResize="0"/>
          <p:nvPr/>
        </p:nvPicPr>
        <p:blipFill>
          <a:blip r:embed="rId3">
            <a:alphaModFix/>
          </a:blip>
          <a:stretch>
            <a:fillRect/>
          </a:stretch>
        </p:blipFill>
        <p:spPr>
          <a:xfrm>
            <a:off x="163600" y="1480250"/>
            <a:ext cx="3289375" cy="2973249"/>
          </a:xfrm>
          <a:prstGeom prst="rect">
            <a:avLst/>
          </a:prstGeom>
          <a:noFill/>
          <a:ln>
            <a:noFill/>
          </a:ln>
        </p:spPr>
      </p:pic>
      <p:sp>
        <p:nvSpPr>
          <p:cNvPr id="1121" name="Google Shape;1121;p72"/>
          <p:cNvSpPr txBox="1"/>
          <p:nvPr/>
        </p:nvSpPr>
        <p:spPr>
          <a:xfrm>
            <a:off x="4305000" y="987725"/>
            <a:ext cx="4527300" cy="4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You dockerize it by building the DockerFile</a:t>
            </a:r>
            <a:endParaRPr sz="1100"/>
          </a:p>
          <a:p>
            <a:pPr indent="0" lvl="0" marL="0" rtl="0" algn="l">
              <a:spcBef>
                <a:spcPts val="0"/>
              </a:spcBef>
              <a:spcAft>
                <a:spcPts val="0"/>
              </a:spcAft>
              <a:buNone/>
            </a:pPr>
            <a:r>
              <a:rPr lang="el" sz="1100">
                <a:solidFill>
                  <a:srgbClr val="FF00FF"/>
                </a:solidFill>
              </a:rPr>
              <a:t>Careful</a:t>
            </a:r>
            <a:r>
              <a:rPr lang="el" sz="1100">
                <a:solidFill>
                  <a:srgbClr val="FF00FF"/>
                </a:solidFill>
              </a:rPr>
              <a:t>: You also copy the model from pickle into the container!!!</a:t>
            </a:r>
            <a:endParaRPr sz="1100">
              <a:solidFill>
                <a:srgbClr val="FF00FF"/>
              </a:solidFill>
            </a:endParaRPr>
          </a:p>
          <a:p>
            <a:pPr indent="0" lvl="0" marL="0" rtl="0" algn="l">
              <a:spcBef>
                <a:spcPts val="0"/>
              </a:spcBef>
              <a:spcAft>
                <a:spcPts val="0"/>
              </a:spcAft>
              <a:buNone/>
            </a:pPr>
            <a:r>
              <a:t/>
            </a:r>
            <a:endParaRPr sz="1100"/>
          </a:p>
        </p:txBody>
      </p:sp>
      <p:pic>
        <p:nvPicPr>
          <p:cNvPr id="1122" name="Google Shape;1122;p72"/>
          <p:cNvPicPr preferRelativeResize="0"/>
          <p:nvPr/>
        </p:nvPicPr>
        <p:blipFill>
          <a:blip r:embed="rId4">
            <a:alphaModFix/>
          </a:blip>
          <a:stretch>
            <a:fillRect/>
          </a:stretch>
        </p:blipFill>
        <p:spPr>
          <a:xfrm>
            <a:off x="4371975" y="1449722"/>
            <a:ext cx="3763301" cy="1425350"/>
          </a:xfrm>
          <a:prstGeom prst="rect">
            <a:avLst/>
          </a:prstGeom>
          <a:noFill/>
          <a:ln>
            <a:noFill/>
          </a:ln>
        </p:spPr>
      </p:pic>
      <p:sp>
        <p:nvSpPr>
          <p:cNvPr id="1123" name="Google Shape;1123;p72"/>
          <p:cNvSpPr txBox="1"/>
          <p:nvPr/>
        </p:nvSpPr>
        <p:spPr>
          <a:xfrm>
            <a:off x="4305000" y="2875075"/>
            <a:ext cx="4246200" cy="4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You build the Docker </a:t>
            </a:r>
            <a:r>
              <a:rPr lang="el" sz="1100"/>
              <a:t>image and the container</a:t>
            </a:r>
            <a:endParaRPr sz="1100"/>
          </a:p>
        </p:txBody>
      </p:sp>
      <p:pic>
        <p:nvPicPr>
          <p:cNvPr id="1124" name="Google Shape;1124;p72"/>
          <p:cNvPicPr preferRelativeResize="0"/>
          <p:nvPr/>
        </p:nvPicPr>
        <p:blipFill>
          <a:blip r:embed="rId5">
            <a:alphaModFix/>
          </a:blip>
          <a:stretch>
            <a:fillRect/>
          </a:stretch>
        </p:blipFill>
        <p:spPr>
          <a:xfrm>
            <a:off x="4371972" y="3236780"/>
            <a:ext cx="2838725" cy="1164945"/>
          </a:xfrm>
          <a:prstGeom prst="rect">
            <a:avLst/>
          </a:prstGeom>
          <a:noFill/>
          <a:ln>
            <a:noFill/>
          </a:ln>
        </p:spPr>
      </p:pic>
      <p:sp>
        <p:nvSpPr>
          <p:cNvPr id="1125" name="Google Shape;1125;p72"/>
          <p:cNvSpPr/>
          <p:nvPr/>
        </p:nvSpPr>
        <p:spPr>
          <a:xfrm>
            <a:off x="3939000" y="2074700"/>
            <a:ext cx="2751000" cy="3342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Combine Docker with FastAPI</a:t>
            </a:r>
            <a:endParaRPr/>
          </a:p>
        </p:txBody>
      </p:sp>
      <p:sp>
        <p:nvSpPr>
          <p:cNvPr id="1131" name="Google Shape;1131;p73"/>
          <p:cNvSpPr txBox="1"/>
          <p:nvPr/>
        </p:nvSpPr>
        <p:spPr>
          <a:xfrm>
            <a:off x="80375" y="1017725"/>
            <a:ext cx="3938100" cy="130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Once the FastAPI application is running in a Docker container, you can create a simple Python script to make a request to the API. </a:t>
            </a:r>
            <a:endParaRPr sz="1100"/>
          </a:p>
          <a:p>
            <a:pPr indent="0" lvl="0" marL="0" rtl="0" algn="l">
              <a:spcBef>
                <a:spcPts val="0"/>
              </a:spcBef>
              <a:spcAft>
                <a:spcPts val="0"/>
              </a:spcAft>
              <a:buNone/>
            </a:pPr>
            <a:r>
              <a:t/>
            </a:r>
            <a:endParaRPr sz="1100"/>
          </a:p>
          <a:p>
            <a:pPr indent="0" lvl="0" marL="0" rtl="0" algn="l">
              <a:spcBef>
                <a:spcPts val="0"/>
              </a:spcBef>
              <a:spcAft>
                <a:spcPts val="0"/>
              </a:spcAft>
              <a:buClr>
                <a:schemeClr val="dk1"/>
              </a:buClr>
              <a:buSzPts val="1100"/>
              <a:buFont typeface="Arial"/>
              <a:buNone/>
            </a:pPr>
            <a:r>
              <a:rPr lang="el" sz="1100"/>
              <a:t>Create a file named request.py:</a:t>
            </a:r>
            <a:endParaRPr sz="1100"/>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sz="1100"/>
          </a:p>
        </p:txBody>
      </p:sp>
      <p:pic>
        <p:nvPicPr>
          <p:cNvPr id="1132" name="Google Shape;1132;p73"/>
          <p:cNvPicPr preferRelativeResize="0"/>
          <p:nvPr/>
        </p:nvPicPr>
        <p:blipFill>
          <a:blip r:embed="rId3">
            <a:alphaModFix/>
          </a:blip>
          <a:stretch>
            <a:fillRect/>
          </a:stretch>
        </p:blipFill>
        <p:spPr>
          <a:xfrm>
            <a:off x="133950" y="2082824"/>
            <a:ext cx="3630549" cy="2539050"/>
          </a:xfrm>
          <a:prstGeom prst="rect">
            <a:avLst/>
          </a:prstGeom>
          <a:noFill/>
          <a:ln>
            <a:noFill/>
          </a:ln>
        </p:spPr>
      </p:pic>
      <p:sp>
        <p:nvSpPr>
          <p:cNvPr id="1133" name="Google Shape;1133;p73"/>
          <p:cNvSpPr txBox="1"/>
          <p:nvPr/>
        </p:nvSpPr>
        <p:spPr>
          <a:xfrm>
            <a:off x="5619025" y="1406075"/>
            <a:ext cx="1667700" cy="34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100"/>
              <a:t>or just use the terminal</a:t>
            </a:r>
            <a:endParaRPr sz="1100"/>
          </a:p>
        </p:txBody>
      </p:sp>
      <p:sp>
        <p:nvSpPr>
          <p:cNvPr id="1134" name="Google Shape;1134;p73"/>
          <p:cNvSpPr txBox="1"/>
          <p:nvPr/>
        </p:nvSpPr>
        <p:spPr>
          <a:xfrm>
            <a:off x="4572000" y="1908725"/>
            <a:ext cx="4426800" cy="10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050">
                <a:solidFill>
                  <a:srgbClr val="FFFFFF"/>
                </a:solidFill>
                <a:highlight>
                  <a:schemeClr val="dk1"/>
                </a:highlight>
                <a:latin typeface="Ubuntu Mono"/>
                <a:ea typeface="Ubuntu Mono"/>
                <a:cs typeface="Ubuntu Mono"/>
                <a:sym typeface="Ubuntu Mono"/>
              </a:rPr>
              <a:t>curl -X POST </a:t>
            </a:r>
            <a:r>
              <a:rPr lang="el" sz="1050">
                <a:solidFill>
                  <a:srgbClr val="00A67D"/>
                </a:solidFill>
                <a:highlight>
                  <a:schemeClr val="dk1"/>
                </a:highlight>
                <a:latin typeface="Ubuntu Mono"/>
                <a:ea typeface="Ubuntu Mono"/>
                <a:cs typeface="Ubuntu Mono"/>
                <a:sym typeface="Ubuntu Mono"/>
              </a:rPr>
              <a:t>"http://localhost:8000/predict"</a:t>
            </a:r>
            <a:r>
              <a:rPr lang="el" sz="1050">
                <a:solidFill>
                  <a:srgbClr val="FFFFFF"/>
                </a:solidFill>
                <a:highlight>
                  <a:schemeClr val="dk1"/>
                </a:highlight>
                <a:latin typeface="Ubuntu Mono"/>
                <a:ea typeface="Ubuntu Mono"/>
                <a:cs typeface="Ubuntu Mono"/>
                <a:sym typeface="Ubuntu Mono"/>
              </a:rPr>
              <a:t> -H </a:t>
            </a:r>
            <a:r>
              <a:rPr lang="el" sz="1050">
                <a:solidFill>
                  <a:srgbClr val="00A67D"/>
                </a:solidFill>
                <a:highlight>
                  <a:schemeClr val="dk1"/>
                </a:highlight>
                <a:latin typeface="Ubuntu Mono"/>
                <a:ea typeface="Ubuntu Mono"/>
                <a:cs typeface="Ubuntu Mono"/>
                <a:sym typeface="Ubuntu Mono"/>
              </a:rPr>
              <a:t>"accept: application/json"</a:t>
            </a:r>
            <a:r>
              <a:rPr lang="el" sz="1050">
                <a:solidFill>
                  <a:srgbClr val="FFFFFF"/>
                </a:solidFill>
                <a:highlight>
                  <a:schemeClr val="dk1"/>
                </a:highlight>
                <a:latin typeface="Ubuntu Mono"/>
                <a:ea typeface="Ubuntu Mono"/>
                <a:cs typeface="Ubuntu Mono"/>
                <a:sym typeface="Ubuntu Mono"/>
              </a:rPr>
              <a:t> -H </a:t>
            </a:r>
            <a:r>
              <a:rPr lang="el" sz="1050">
                <a:solidFill>
                  <a:srgbClr val="00A67D"/>
                </a:solidFill>
                <a:highlight>
                  <a:schemeClr val="dk1"/>
                </a:highlight>
                <a:latin typeface="Ubuntu Mono"/>
                <a:ea typeface="Ubuntu Mono"/>
                <a:cs typeface="Ubuntu Mono"/>
                <a:sym typeface="Ubuntu Mono"/>
              </a:rPr>
              <a:t>"Content-Type: application/json"</a:t>
            </a:r>
            <a:r>
              <a:rPr lang="el" sz="1050">
                <a:solidFill>
                  <a:srgbClr val="FFFFFF"/>
                </a:solidFill>
                <a:highlight>
                  <a:schemeClr val="dk1"/>
                </a:highlight>
                <a:latin typeface="Ubuntu Mono"/>
                <a:ea typeface="Ubuntu Mono"/>
                <a:cs typeface="Ubuntu Mono"/>
                <a:sym typeface="Ubuntu Mono"/>
              </a:rPr>
              <a:t> -d </a:t>
            </a:r>
            <a:r>
              <a:rPr lang="el" sz="1050">
                <a:solidFill>
                  <a:srgbClr val="00A67D"/>
                </a:solidFill>
                <a:highlight>
                  <a:schemeClr val="dk1"/>
                </a:highlight>
                <a:latin typeface="Ubuntu Mono"/>
                <a:ea typeface="Ubuntu Mono"/>
                <a:cs typeface="Ubuntu Mono"/>
                <a:sym typeface="Ubuntu Mono"/>
              </a:rPr>
              <a:t>'{"feature1":1.0,"feature2":2.0}'</a:t>
            </a:r>
            <a:endParaRPr/>
          </a:p>
        </p:txBody>
      </p:sp>
      <p:sp>
        <p:nvSpPr>
          <p:cNvPr id="1135" name="Google Shape;1135;p73"/>
          <p:cNvSpPr txBox="1"/>
          <p:nvPr/>
        </p:nvSpPr>
        <p:spPr>
          <a:xfrm>
            <a:off x="4384500" y="2638725"/>
            <a:ext cx="4759500" cy="21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000"/>
              <a:t>In this curl command:</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l" sz="1000"/>
              <a:t>-X POST specifies that this is a POST request.</a:t>
            </a:r>
            <a:endParaRPr sz="1000"/>
          </a:p>
          <a:p>
            <a:pPr indent="0" lvl="0" marL="0" rtl="0" algn="l">
              <a:spcBef>
                <a:spcPts val="0"/>
              </a:spcBef>
              <a:spcAft>
                <a:spcPts val="0"/>
              </a:spcAft>
              <a:buNone/>
            </a:pPr>
            <a:r>
              <a:rPr lang="el" sz="1000"/>
              <a:t>The URL http://localhost:8000/predict is where the request is being sent.</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None/>
            </a:pPr>
            <a:r>
              <a:rPr lang="el" sz="1000"/>
              <a:t>-H "accept: application/json" and -H "Content-Type: application/json" are headers specifying that the request and response should be in JSON format.</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l" sz="1000"/>
              <a:t>-d '{"feature1":1.0,"feature2":2.0}' is the data being sent in the request body, formatted as a JSON object.</a:t>
            </a:r>
            <a:endParaRPr sz="1000"/>
          </a:p>
          <a:p>
            <a:pPr indent="0" lvl="0" marL="0" rtl="0" algn="l">
              <a:spcBef>
                <a:spcPts val="0"/>
              </a:spcBef>
              <a:spcAft>
                <a:spcPts val="0"/>
              </a:spcAft>
              <a:buNone/>
            </a:pPr>
            <a:r>
              <a:t/>
            </a:r>
            <a:endParaRPr sz="10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